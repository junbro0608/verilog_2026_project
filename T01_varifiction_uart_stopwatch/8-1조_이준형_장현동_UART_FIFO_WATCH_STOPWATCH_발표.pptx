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4" r:id="rId5"/>
    <p:sldId id="342" r:id="rId6"/>
    <p:sldId id="275" r:id="rId7"/>
    <p:sldId id="278" r:id="rId8"/>
    <p:sldId id="279" r:id="rId9"/>
    <p:sldId id="280" r:id="rId10"/>
    <p:sldId id="266" r:id="rId11"/>
    <p:sldId id="265" r:id="rId12"/>
    <p:sldId id="268" r:id="rId13"/>
    <p:sldId id="283" r:id="rId14"/>
    <p:sldId id="281" r:id="rId15"/>
    <p:sldId id="276" r:id="rId16"/>
    <p:sldId id="290" r:id="rId17"/>
    <p:sldId id="291" r:id="rId18"/>
    <p:sldId id="292" r:id="rId19"/>
    <p:sldId id="267" r:id="rId20"/>
    <p:sldId id="289" r:id="rId21"/>
    <p:sldId id="270" r:id="rId22"/>
    <p:sldId id="277" r:id="rId23"/>
    <p:sldId id="284" r:id="rId24"/>
    <p:sldId id="273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09" r:id="rId42"/>
    <p:sldId id="310" r:id="rId43"/>
    <p:sldId id="311" r:id="rId44"/>
    <p:sldId id="312" r:id="rId45"/>
    <p:sldId id="313" r:id="rId46"/>
    <p:sldId id="314" r:id="rId47"/>
    <p:sldId id="315" r:id="rId48"/>
    <p:sldId id="316" r:id="rId49"/>
    <p:sldId id="317" r:id="rId50"/>
    <p:sldId id="318" r:id="rId51"/>
    <p:sldId id="319" r:id="rId52"/>
    <p:sldId id="320" r:id="rId53"/>
    <p:sldId id="321" r:id="rId54"/>
    <p:sldId id="322" r:id="rId55"/>
    <p:sldId id="323" r:id="rId56"/>
    <p:sldId id="324" r:id="rId57"/>
    <p:sldId id="325" r:id="rId58"/>
    <p:sldId id="326" r:id="rId59"/>
    <p:sldId id="327" r:id="rId60"/>
    <p:sldId id="328" r:id="rId61"/>
    <p:sldId id="329" r:id="rId62"/>
    <p:sldId id="330" r:id="rId63"/>
    <p:sldId id="331" r:id="rId64"/>
    <p:sldId id="332" r:id="rId65"/>
    <p:sldId id="333" r:id="rId66"/>
    <p:sldId id="334" r:id="rId67"/>
    <p:sldId id="335" r:id="rId68"/>
    <p:sldId id="336" r:id="rId69"/>
    <p:sldId id="337" r:id="rId70"/>
    <p:sldId id="338" r:id="rId71"/>
    <p:sldId id="339" r:id="rId72"/>
    <p:sldId id="344" r:id="rId73"/>
    <p:sldId id="340" r:id="rId74"/>
    <p:sldId id="343" r:id="rId75"/>
    <p:sldId id="345" r:id="rId76"/>
    <p:sldId id="341" r:id="rId77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76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90" autoAdjust="0"/>
    <p:restoredTop sz="94622" autoAdjust="0"/>
  </p:normalViewPr>
  <p:slideViewPr>
    <p:cSldViewPr>
      <p:cViewPr varScale="1">
        <p:scale>
          <a:sx n="78" d="100"/>
          <a:sy n="78" d="100"/>
        </p:scale>
        <p:origin x="570" y="114"/>
      </p:cViewPr>
      <p:guideLst>
        <p:guide orient="horz" pos="4319"/>
        <p:guide pos="76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5.png"/><Relationship Id="rId7" Type="http://schemas.openxmlformats.org/officeDocument/2006/relationships/image" Target="../media/image4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5.png"/><Relationship Id="rId4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7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.png"/><Relationship Id="rId4" Type="http://schemas.openxmlformats.org/officeDocument/2006/relationships/image" Target="../media/image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image" Target="../media/image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.png"/><Relationship Id="rId7" Type="http://schemas.openxmlformats.org/officeDocument/2006/relationships/image" Target="../media/image7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81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83.png"/><Relationship Id="rId4" Type="http://schemas.openxmlformats.org/officeDocument/2006/relationships/image" Target="../media/image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png"/><Relationship Id="rId4" Type="http://schemas.openxmlformats.org/officeDocument/2006/relationships/image" Target="../media/image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png"/><Relationship Id="rId4" Type="http://schemas.openxmlformats.org/officeDocument/2006/relationships/image" Target="../media/image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8.png"/><Relationship Id="rId4" Type="http://schemas.openxmlformats.org/officeDocument/2006/relationships/image" Target="../media/image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7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2.png"/><Relationship Id="rId4" Type="http://schemas.openxmlformats.org/officeDocument/2006/relationships/image" Target="../media/image7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7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3.png"/><Relationship Id="rId4" Type="http://schemas.openxmlformats.org/officeDocument/2006/relationships/image" Target="../media/image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089400" y="4648200"/>
            <a:ext cx="16192500" cy="3962400"/>
          </a:xfrm>
          <a:prstGeom prst="rect">
            <a:avLst/>
          </a:prstGeom>
        </p:spPr>
        <p:txBody>
          <a:bodyPr lIns="0" tIns="15240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120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System Verilog Verification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55100" y="9156700"/>
            <a:ext cx="6261100" cy="660400"/>
          </a:xfrm>
          <a:prstGeom prst="rect">
            <a:avLst/>
          </a:prstGeom>
        </p:spPr>
        <p:txBody>
          <a:bodyPr lIns="0" tIns="23706" rIns="0" bIns="0" anchor="t"/>
          <a:lstStyle/>
          <a:p>
            <a:pPr lvl="0" algn="ctr">
              <a:lnSpc>
                <a:spcPct val="107899"/>
              </a:lnSpc>
              <a:defRPr/>
            </a:pPr>
            <a:r>
              <a:rPr lang="en-US" sz="3733" b="0" i="0" u="none" strike="noStrike" dirty="0" smtClean="0">
                <a:solidFill>
                  <a:srgbClr val="000000"/>
                </a:solidFill>
                <a:latin typeface="맑은 고딕"/>
                <a:cs typeface="Pretendard Bold"/>
              </a:rPr>
              <a:t>8-1</a:t>
            </a:r>
            <a:r>
              <a:rPr lang="ko-KR" altLang="en-US" sz="3733" b="0" i="0" u="none" strike="noStrike" dirty="0" smtClean="0">
                <a:solidFill>
                  <a:srgbClr val="000000"/>
                </a:solidFill>
                <a:latin typeface="맑은 고딕"/>
                <a:cs typeface="Pretendard Bold"/>
              </a:rPr>
              <a:t>조</a:t>
            </a:r>
            <a:endParaRPr lang="en-US" sz="3733" b="0" i="0" u="none" strike="noStrike" dirty="0" smtClean="0">
              <a:solidFill>
                <a:srgbClr val="000000"/>
              </a:solidFill>
              <a:latin typeface="맑은 고딕"/>
              <a:cs typeface="Pretendard Bold"/>
            </a:endParaRPr>
          </a:p>
          <a:p>
            <a:pPr lvl="0" algn="ctr">
              <a:lnSpc>
                <a:spcPct val="107899"/>
              </a:lnSpc>
              <a:defRPr/>
            </a:pPr>
            <a:r>
              <a:rPr lang="en-US" sz="3733" b="0" i="0" u="none" strike="noStrike" dirty="0" err="1" smtClean="0">
                <a:solidFill>
                  <a:srgbClr val="000000"/>
                </a:solidFill>
                <a:latin typeface="맑은 고딕"/>
                <a:cs typeface="Pretendard Bold"/>
              </a:rPr>
              <a:t>발표자</a:t>
            </a:r>
            <a:r>
              <a:rPr lang="en-US" sz="3733" b="0" i="0" u="none" strike="noStrike" dirty="0">
                <a:solidFill>
                  <a:srgbClr val="000000"/>
                </a:solidFill>
                <a:latin typeface="맑은 고딕"/>
                <a:cs typeface="Pretendard Regular"/>
              </a:rPr>
              <a:t>   </a:t>
            </a:r>
            <a:r>
              <a:rPr lang="ko-KR" altLang="en-US" sz="3733" b="0" i="0" u="none" strike="noStrike" dirty="0">
                <a:solidFill>
                  <a:srgbClr val="000000"/>
                </a:solidFill>
                <a:latin typeface="맑은 고딕"/>
                <a:cs typeface="Pretendard Regular"/>
              </a:rPr>
              <a:t>이준형</a:t>
            </a:r>
            <a:r>
              <a:rPr lang="en-US" sz="3733" b="0" i="0" u="none" strike="noStrike" dirty="0">
                <a:solidFill>
                  <a:srgbClr val="000000"/>
                </a:solidFill>
                <a:latin typeface="맑은 고딕"/>
                <a:cs typeface="Pretendard Regular"/>
              </a:rPr>
              <a:t>  </a:t>
            </a:r>
            <a:r>
              <a:rPr lang="en-US" sz="3733" b="0" i="0" u="none" strike="noStrike" dirty="0">
                <a:solidFill>
                  <a:srgbClr val="C2C2C2"/>
                </a:solidFill>
                <a:latin typeface="맑은 고딕"/>
                <a:cs typeface="Pretendard ExtraLight"/>
              </a:rPr>
              <a:t>|</a:t>
            </a:r>
            <a:r>
              <a:rPr lang="ko-KR" altLang="en-US" sz="3733" b="0" i="0" u="none" strike="noStrike" dirty="0">
                <a:solidFill>
                  <a:srgbClr val="C2C2C2"/>
                </a:solidFill>
                <a:latin typeface="맑은 고딕"/>
                <a:cs typeface="Pretendard ExtraLight"/>
              </a:rPr>
              <a:t> </a:t>
            </a:r>
            <a:r>
              <a:rPr lang="en-US" sz="3733" b="0" i="0" u="none" strike="noStrike" dirty="0">
                <a:solidFill>
                  <a:srgbClr val="000000"/>
                </a:solidFill>
                <a:latin typeface="맑은 고딕"/>
                <a:cs typeface="Pretendard Regular"/>
              </a:rPr>
              <a:t> </a:t>
            </a:r>
            <a:r>
              <a:rPr lang="ko-KR" altLang="en-US" sz="3733" b="0" i="0" u="none" strike="noStrike" dirty="0" err="1">
                <a:solidFill>
                  <a:srgbClr val="000000"/>
                </a:solidFill>
                <a:latin typeface="맑은 고딕"/>
                <a:cs typeface="Pretendard Regular"/>
              </a:rPr>
              <a:t>장현동</a:t>
            </a:r>
            <a:endParaRPr lang="ko-KR" altLang="en-US" sz="3733" b="0" i="0" u="none" strike="noStrike" dirty="0">
              <a:solidFill>
                <a:srgbClr val="000000"/>
              </a:solidFill>
              <a:latin typeface="맑은 고딕"/>
              <a:cs typeface="Pretendard Regula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16000" y="11938000"/>
            <a:ext cx="3441700" cy="571500"/>
          </a:xfrm>
          <a:prstGeom prst="rect">
            <a:avLst/>
          </a:prstGeom>
        </p:spPr>
        <p:txBody>
          <a:bodyPr lIns="0" tIns="20319" rIns="0" bIns="0" anchor="t"/>
          <a:lstStyle/>
          <a:p>
            <a:pPr lvl="0" algn="l">
              <a:lnSpc>
                <a:spcPct val="1078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20</a:t>
            </a:r>
            <a:r>
              <a:rPr lang="en-US" altLang="ko-KR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26</a:t>
            </a: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.0</a:t>
            </a:r>
            <a:r>
              <a:rPr lang="en-US" altLang="ko-KR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3</a:t>
            </a: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.0</a:t>
            </a:r>
            <a:r>
              <a:rPr lang="en-US" altLang="ko-KR" sz="3200" b="0" i="0" u="none" strike="noStrike">
                <a:solidFill>
                  <a:srgbClr val="000000"/>
                </a:solidFill>
                <a:latin typeface="맑은 고딕"/>
                <a:cs typeface="Pretendard Regular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686300" y="6032500"/>
            <a:ext cx="2413000" cy="166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9333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목차</a:t>
            </a:r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1176000" y="4000500"/>
          <a:ext cx="4368800" cy="5715000"/>
        </p:xfrm>
        <a:graphic>
          <a:graphicData uri="http://schemas.openxmlformats.org/drawingml/2006/table">
            <a:tbl>
              <a:tblPr firstRow="1" bandRow="1"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01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개요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02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목표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03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ko-KR" altLang="en-US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블럭도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6941800" y="4000500"/>
          <a:ext cx="4368800" cy="5715000"/>
        </p:xfrm>
        <a:graphic>
          <a:graphicData uri="http://schemas.openxmlformats.org/drawingml/2006/table">
            <a:tbl>
              <a:tblPr firstRow="1" bandRow="1"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04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Stopwatch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05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Clock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0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999" b="0" i="0" u="none" strike="noStrike">
                          <a:solidFill>
                            <a:srgbClr val="C2C2C2"/>
                          </a:solidFill>
                          <a:latin typeface="맑은 고딕"/>
                          <a:cs typeface="Pretendard SemiBold"/>
                        </a:rPr>
                        <a:t>06</a:t>
                      </a:r>
                      <a:endParaRPr lang="en-US" sz="1100">
                        <a:latin typeface="맑은 고딕"/>
                      </a:endParaRPr>
                    </a:p>
                  </a:txBody>
                  <a:tcPr marL="25400" marR="25400" marT="100328" marB="100328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altLang="ko-KR" sz="4266" b="0" i="0" u="none" strike="noStrike">
                          <a:solidFill>
                            <a:srgbClr val="000000"/>
                          </a:solidFill>
                          <a:latin typeface="맑은 고딕"/>
                          <a:cs typeface="Pretendard SemiBold"/>
                        </a:rPr>
                        <a:t>Uart Fifo</a:t>
                      </a:r>
                    </a:p>
                  </a:txBody>
                  <a:tcPr marL="25400" marR="25400" marT="105324" marB="105324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69999" y="2743200"/>
            <a:ext cx="2844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6666" b="0" i="0" u="none" strike="noStrike">
                <a:solidFill>
                  <a:srgbClr val="000000"/>
                </a:solidFill>
                <a:latin typeface="맑은 고딕"/>
                <a:cs typeface="Arial"/>
              </a:rPr>
              <a:t>개요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295400" y="4876800"/>
            <a:ext cx="12302490" cy="41414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Verification Objective</a:t>
            </a:r>
          </a:p>
          <a:p>
            <a:pPr lvl="0" algn="l">
              <a:defRPr/>
            </a:pPr>
            <a:endParaRPr sz="3800" b="0" i="0" strike="noStrike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Stopwatch / Clock 기능 정확성 검증</a:t>
            </a:r>
          </a:p>
          <a:p>
            <a:pPr lvl="0" algn="l">
              <a:defRPr/>
            </a:pPr>
            <a:endParaRPr sz="3800" b="0" i="0" strike="noStrike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모듈 간 인터페이스 및 타이밍 검증</a:t>
            </a:r>
          </a:p>
          <a:p>
            <a:pPr lvl="0" algn="l">
              <a:defRPr/>
            </a:pPr>
            <a:endParaRPr sz="3800" b="0" i="0" strike="noStrike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SystemVerilog 기반 Self-checking Testbench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95400" y="1943100"/>
            <a:ext cx="2616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6666" b="0" i="0" u="none" strike="noStrike">
                <a:solidFill>
                  <a:srgbClr val="000000"/>
                </a:solidFill>
                <a:latin typeface="맑은 고딕"/>
                <a:cs typeface="Arial"/>
              </a:rPr>
              <a:t>목표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295400" y="3893820"/>
            <a:ext cx="15849600" cy="769441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lvl="0" algn="l">
              <a:defRPr/>
            </a:pP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Verification Goal</a:t>
            </a:r>
          </a:p>
          <a:p>
            <a:pPr lvl="0" algn="l">
              <a:defRPr/>
            </a:pP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본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프로젝트의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목표는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SystemVerilog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기반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Testbench를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구축하여</a:t>
            </a: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>
              <a:defRPr/>
            </a:pP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UART RX → </a:t>
            </a:r>
            <a:r>
              <a:rPr sz="3800"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FIFO</a:t>
            </a:r>
            <a:r>
              <a:rPr lang="en-US" sz="3800" dirty="0" smtClean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&amp; </a:t>
            </a:r>
            <a:r>
              <a:rPr lang="en-US" altLang="ko-KR" sz="3800" dirty="0" smtClean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FIFO </a:t>
            </a:r>
            <a:r>
              <a:rPr lang="ko-KR" altLang="en-US" sz="3800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→ </a:t>
            </a:r>
            <a:r>
              <a:rPr sz="3800"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UART </a:t>
            </a:r>
            <a:r>
              <a:rPr sz="3800" b="0" i="0" strike="noStrike" dirty="0" err="1" smtClean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TX데이터</a:t>
            </a:r>
            <a:r>
              <a:rPr sz="3800" b="0" i="0" strike="noStrike" dirty="0" smtClean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흐름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검증</a:t>
            </a: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FIFO Full/Empty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동작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검증</a:t>
            </a: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Baud Rate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기반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UART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타이밍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정확성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검증</a:t>
            </a: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Stopwatch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기능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검증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(Start/Stop/Reset)</a:t>
            </a:r>
          </a:p>
          <a:p>
            <a:pPr lvl="0" algn="l">
              <a:defRPr/>
            </a:pP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  <a:p>
            <a:pPr lvl="0" algn="l">
              <a:defRPr/>
            </a:pP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Clock </a:t>
            </a:r>
            <a:r>
              <a:rPr lang="ko-KR" altLang="en-US"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시간설정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정확성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검증</a:t>
            </a:r>
            <a:r>
              <a:rPr lang="en-US" altLang="ko-KR"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 </a:t>
            </a:r>
            <a:r>
              <a:rPr sz="3800" b="0" i="0" strike="noStrike" dirty="0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을 </a:t>
            </a:r>
            <a:r>
              <a:rPr sz="3800" b="0" i="0" strike="noStrike" dirty="0" err="1">
                <a:solidFill>
                  <a:srgbClr val="000000">
                    <a:alpha val="100000"/>
                  </a:srgbClr>
                </a:solidFill>
                <a:latin typeface="맑은 고딕"/>
                <a:cs typeface="Arial"/>
              </a:rPr>
              <a:t>수행</a:t>
            </a:r>
            <a:endParaRPr sz="3800" b="0" i="0" strike="noStrike" dirty="0">
              <a:solidFill>
                <a:srgbClr val="000000">
                  <a:alpha val="100000"/>
                </a:srgbClr>
              </a:solidFill>
              <a:latin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1491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500699"/>
            <a:ext cx="20170152" cy="9605497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295400" y="1943100"/>
            <a:ext cx="2616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ko-KR" altLang="en-US" sz="6666" dirty="0" err="1" smtClean="0">
                <a:solidFill>
                  <a:srgbClr val="000000"/>
                </a:solidFill>
                <a:latin typeface="맑은 고딕"/>
                <a:cs typeface="Arial"/>
              </a:rPr>
              <a:t>블럭도</a:t>
            </a:r>
            <a:endParaRPr lang="ko-KR" altLang="en-US" sz="6666" b="0" i="0" u="none" strike="noStrike" dirty="0">
              <a:solidFill>
                <a:srgbClr val="000000"/>
              </a:solidFill>
              <a:latin typeface="맑은 고딕"/>
              <a:cs typeface="Arial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3335000" y="2667000"/>
            <a:ext cx="3048000" cy="4855839"/>
          </a:xfrm>
          <a:prstGeom prst="rect">
            <a:avLst/>
          </a:prstGeom>
          <a:noFill/>
          <a:ln w="762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3403600" y="6697709"/>
            <a:ext cx="3733800" cy="1905000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11685276" y="9954128"/>
            <a:ext cx="3962400" cy="1624180"/>
          </a:xfrm>
          <a:prstGeom prst="rect">
            <a:avLst/>
          </a:prstGeom>
          <a:noFill/>
          <a:ln w="762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206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533400" y="1638299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datapath</a:t>
            </a:r>
          </a:p>
        </p:txBody>
      </p:sp>
      <p:sp>
        <p:nvSpPr>
          <p:cNvPr id="9" name="TextBox 10"/>
          <p:cNvSpPr txBox="1"/>
          <p:nvPr/>
        </p:nvSpPr>
        <p:spPr>
          <a:xfrm>
            <a:off x="11074401" y="1879599"/>
            <a:ext cx="114300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53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tick gen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4696516" y="3745324"/>
            <a:ext cx="5953685" cy="8244651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15087600" y="5257800"/>
            <a:ext cx="358140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3" name="가로 글상자 12"/>
          <p:cNvSpPr txBox="1"/>
          <p:nvPr/>
        </p:nvSpPr>
        <p:spPr>
          <a:xfrm>
            <a:off x="17678400" y="4038600"/>
            <a:ext cx="6705600" cy="720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100">
                <a:latin typeface="맑은 고딕"/>
              </a:rPr>
              <a:t>100hz -&gt; clk</a:t>
            </a:r>
            <a:r>
              <a:rPr lang="ko-KR" altLang="en-US" sz="4100">
                <a:latin typeface="맑은 고딕"/>
              </a:rPr>
              <a:t>단위로 변경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54518" y="3083768"/>
            <a:ext cx="5575024" cy="9567747"/>
          </a:xfrm>
          <a:prstGeom prst="rect">
            <a:avLst/>
          </a:prstGeom>
        </p:spPr>
      </p:pic>
      <p:sp>
        <p:nvSpPr>
          <p:cNvPr id="15" name="가로 글상자 14"/>
          <p:cNvSpPr txBox="1"/>
          <p:nvPr/>
        </p:nvSpPr>
        <p:spPr>
          <a:xfrm>
            <a:off x="6629400" y="5612130"/>
            <a:ext cx="6934200" cy="1101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300">
                <a:latin typeface="맑은 고딕"/>
              </a:rPr>
              <a:t>run/stop </a:t>
            </a:r>
            <a:r>
              <a:rPr lang="ko-KR" altLang="en-US" sz="3300">
                <a:latin typeface="맑은 고딕"/>
              </a:rPr>
              <a:t>이 </a:t>
            </a:r>
            <a:r>
              <a:rPr lang="en-US" altLang="ko-KR" sz="3300">
                <a:latin typeface="맑은 고딕"/>
              </a:rPr>
              <a:t>1</a:t>
            </a:r>
            <a:r>
              <a:rPr lang="ko-KR" altLang="en-US" sz="3300">
                <a:latin typeface="맑은 고딕"/>
              </a:rPr>
              <a:t> 일 때 </a:t>
            </a:r>
            <a:r>
              <a:rPr lang="en-US" altLang="ko-KR" sz="3300">
                <a:latin typeface="맑은 고딕"/>
              </a:rPr>
              <a:t>mode </a:t>
            </a:r>
            <a:r>
              <a:rPr lang="ko-KR" altLang="en-US" sz="3300">
                <a:latin typeface="맑은 고딕"/>
              </a:rPr>
              <a:t>가 </a:t>
            </a:r>
            <a:r>
              <a:rPr lang="en-US" altLang="ko-KR" sz="3300">
                <a:latin typeface="맑은 고딕"/>
              </a:rPr>
              <a:t>1</a:t>
            </a:r>
            <a:r>
              <a:rPr lang="ko-KR" altLang="en-US" sz="3300">
                <a:latin typeface="맑은 고딕"/>
              </a:rPr>
              <a:t>이면 </a:t>
            </a:r>
            <a:r>
              <a:rPr lang="en-US" altLang="ko-KR" sz="3300">
                <a:latin typeface="맑은 고딕"/>
              </a:rPr>
              <a:t>up count, 0</a:t>
            </a:r>
            <a:r>
              <a:rPr lang="ko-KR" altLang="en-US" sz="3300">
                <a:latin typeface="맑은 고딕"/>
              </a:rPr>
              <a:t>이면 </a:t>
            </a:r>
            <a:r>
              <a:rPr lang="en-US" altLang="ko-KR" sz="3300">
                <a:latin typeface="맑은 고딕"/>
              </a:rPr>
              <a:t>down count </a:t>
            </a:r>
            <a:r>
              <a:rPr lang="ko-KR" altLang="en-US" sz="3300">
                <a:latin typeface="맑은 고딕"/>
              </a:rPr>
              <a:t>동작</a:t>
            </a:r>
          </a:p>
        </p:txBody>
      </p:sp>
    </p:spTree>
    <p:extLst>
      <p:ext uri="{BB962C8B-B14F-4D97-AF65-F5344CB8AC3E}">
        <p14:creationId xmlns:p14="http://schemas.microsoft.com/office/powerpoint/2010/main" val="1875721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660400" y="14097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datapath  run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95604" y="5029200"/>
            <a:ext cx="11186797" cy="466764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1653509" y="5029183"/>
            <a:ext cx="12486812" cy="4610515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7620000" y="6629400"/>
            <a:ext cx="3962399" cy="533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4" name="가로 글상자 13"/>
          <p:cNvSpPr txBox="1"/>
          <p:nvPr/>
        </p:nvSpPr>
        <p:spPr>
          <a:xfrm>
            <a:off x="8305800" y="5777230"/>
            <a:ext cx="1295400" cy="71691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>
                <a:solidFill>
                  <a:schemeClr val="dk1"/>
                </a:solidFill>
                <a:latin typeface="맑은 고딕"/>
              </a:rPr>
              <a:t>run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7373600" y="6553200"/>
            <a:ext cx="6781800" cy="533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6" name="가로 글상자 15"/>
          <p:cNvSpPr txBox="1"/>
          <p:nvPr/>
        </p:nvSpPr>
        <p:spPr>
          <a:xfrm>
            <a:off x="18745200" y="5867400"/>
            <a:ext cx="1295400" cy="71691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>
                <a:solidFill>
                  <a:schemeClr val="dk1"/>
                </a:solidFill>
                <a:latin typeface="맑은 고딕"/>
              </a:rPr>
              <a:t>run</a:t>
            </a:r>
          </a:p>
        </p:txBody>
      </p:sp>
    </p:spTree>
    <p:extLst>
      <p:ext uri="{BB962C8B-B14F-4D97-AF65-F5344CB8AC3E}">
        <p14:creationId xmlns:p14="http://schemas.microsoft.com/office/powerpoint/2010/main" val="4249174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609600" y="14478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datapath  stop / clear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505200" y="4114800"/>
            <a:ext cx="15925800" cy="6734596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13182600" y="5638800"/>
            <a:ext cx="533399" cy="3886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3" name="가로 글상자 12"/>
          <p:cNvSpPr txBox="1"/>
          <p:nvPr/>
        </p:nvSpPr>
        <p:spPr>
          <a:xfrm>
            <a:off x="13944599" y="6324600"/>
            <a:ext cx="3048001" cy="71691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>
                <a:solidFill>
                  <a:schemeClr val="dk1"/>
                </a:solidFill>
                <a:latin typeface="맑은 고딕"/>
              </a:rPr>
              <a:t>Stop / Clear</a:t>
            </a:r>
          </a:p>
        </p:txBody>
      </p:sp>
    </p:spTree>
    <p:extLst>
      <p:ext uri="{BB962C8B-B14F-4D97-AF65-F5344CB8AC3E}">
        <p14:creationId xmlns:p14="http://schemas.microsoft.com/office/powerpoint/2010/main" val="3888523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609600" y="14478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datapath  sw[0] downcount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495800" y="3684143"/>
            <a:ext cx="14376410" cy="7441057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12877800" y="8382000"/>
            <a:ext cx="6324600" cy="5334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4" name="가로 글상자 13"/>
          <p:cNvSpPr txBox="1"/>
          <p:nvPr/>
        </p:nvSpPr>
        <p:spPr>
          <a:xfrm>
            <a:off x="14630400" y="7360285"/>
            <a:ext cx="1905000" cy="71500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>
                <a:solidFill>
                  <a:schemeClr val="dk1"/>
                </a:solidFill>
                <a:latin typeface="맑은 고딕"/>
              </a:rPr>
              <a:t>mode </a:t>
            </a:r>
          </a:p>
        </p:txBody>
      </p:sp>
    </p:spTree>
    <p:extLst>
      <p:ext uri="{BB962C8B-B14F-4D97-AF65-F5344CB8AC3E}">
        <p14:creationId xmlns:p14="http://schemas.microsoft.com/office/powerpoint/2010/main" val="2209065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Simulate Scenario</a:t>
            </a:r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5524502" y="4222750"/>
            <a:ext cx="889000" cy="527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1049002" y="4222750"/>
            <a:ext cx="889000" cy="527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16560802" y="4222750"/>
            <a:ext cx="889000" cy="527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1625602" y="8121650"/>
            <a:ext cx="34290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5400000">
            <a:off x="7150102" y="8121650"/>
            <a:ext cx="3429000" cy="12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5400000">
            <a:off x="12674602" y="8121650"/>
            <a:ext cx="3429000" cy="1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835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599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맑은 고딕"/>
                <a:cs typeface="Pretendard Bold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84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맑은 고딕"/>
                <a:cs typeface="Pretendard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35400" y="7600950"/>
            <a:ext cx="35941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run/stop = 0 or 1</a:t>
            </a:r>
          </a:p>
          <a:p>
            <a:pPr lvl="0" algn="l">
              <a:lnSpc>
                <a:spcPct val="120350"/>
              </a:lnSpc>
              <a:defRPr/>
            </a:pPr>
            <a:endParaRPr lang="en-US" altLang="ko-KR" sz="3500" b="0" i="0" u="none" strike="noStrike">
              <a:solidFill>
                <a:srgbClr val="000000"/>
              </a:solidFill>
              <a:latin typeface="맑은 고딕"/>
              <a:cs typeface="Pretendard Semi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359900" y="7600950"/>
            <a:ext cx="38989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mode 0 or 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884400" y="7600950"/>
            <a:ext cx="36703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run/stop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mode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clear </a:t>
            </a:r>
          </a:p>
        </p:txBody>
      </p:sp>
      <p:pic>
        <p:nvPicPr>
          <p:cNvPr id="27" name="Picture 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43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888999" y="1638300"/>
            <a:ext cx="13131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verification Block</a:t>
            </a: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9200" y="4263909"/>
            <a:ext cx="2895600" cy="3290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239000" y="2590800"/>
            <a:ext cx="8305221" cy="10455681"/>
          </a:xfrm>
          <a:prstGeom prst="rect">
            <a:avLst/>
          </a:prstGeom>
        </p:spPr>
      </p:pic>
      <p:sp>
        <p:nvSpPr>
          <p:cNvPr id="13" name="가로 글상자 12"/>
          <p:cNvSpPr txBox="1"/>
          <p:nvPr/>
        </p:nvSpPr>
        <p:spPr>
          <a:xfrm>
            <a:off x="2438400" y="8001000"/>
            <a:ext cx="4572000" cy="168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negedge #4</a:t>
            </a:r>
            <a:endParaRPr lang="ko-KR" altLang="en-US" sz="3500">
              <a:latin typeface="맑은 고딕"/>
            </a:endParaRP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interface </a:t>
            </a:r>
            <a:r>
              <a:rPr lang="ko-KR" altLang="en-US" sz="3500">
                <a:latin typeface="맑은 고딕"/>
              </a:rPr>
              <a:t>로 기대값</a:t>
            </a:r>
            <a:r>
              <a:rPr lang="en-US" altLang="ko-KR" sz="3500">
                <a:latin typeface="맑은 고딕"/>
              </a:rPr>
              <a:t>,</a:t>
            </a:r>
            <a:r>
              <a:rPr lang="ko-KR" altLang="en-US" sz="3500">
                <a:latin typeface="맑은 고딕"/>
              </a:rPr>
              <a:t> 입력값 </a:t>
            </a:r>
            <a:r>
              <a:rPr lang="en-US" altLang="ko-KR" sz="3500">
                <a:latin typeface="맑은 고딕"/>
              </a:rPr>
              <a:t>drive</a:t>
            </a:r>
          </a:p>
        </p:txBody>
      </p:sp>
      <p:sp>
        <p:nvSpPr>
          <p:cNvPr id="14" name="가로 글상자 13"/>
          <p:cNvSpPr txBox="1"/>
          <p:nvPr/>
        </p:nvSpPr>
        <p:spPr>
          <a:xfrm>
            <a:off x="16078200" y="7723187"/>
            <a:ext cx="4572000" cy="2219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posedge #1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monitor </a:t>
            </a:r>
            <a:r>
              <a:rPr lang="ko-KR" altLang="en-US" sz="3500">
                <a:latin typeface="맑은 고딕"/>
              </a:rPr>
              <a:t>에서 출력값 샘플해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scorboard</a:t>
            </a:r>
            <a:r>
              <a:rPr lang="ko-KR" altLang="en-US" sz="3500">
                <a:latin typeface="맑은 고딕"/>
              </a:rPr>
              <a:t>로 전달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7696200" y="71628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1658600" y="71628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7696200" y="32766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1734800" y="32766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가로 글상자 18"/>
          <p:cNvSpPr txBox="1"/>
          <p:nvPr/>
        </p:nvSpPr>
        <p:spPr>
          <a:xfrm>
            <a:off x="2667000" y="3124200"/>
            <a:ext cx="4572000" cy="2217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run/stop, mode, clear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randomize</a:t>
            </a:r>
            <a:r>
              <a:rPr lang="ko-KR" altLang="en-US" sz="3500">
                <a:latin typeface="맑은 고딕"/>
              </a:rPr>
              <a:t> 생성</a:t>
            </a: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기댓값 생성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hour, min, sec, msec</a:t>
            </a:r>
            <a:endParaRPr lang="ko-KR" altLang="en-US" sz="3500">
              <a:latin typeface="맑은 고딕"/>
            </a:endParaRPr>
          </a:p>
        </p:txBody>
      </p:sp>
      <p:sp>
        <p:nvSpPr>
          <p:cNvPr id="20" name="가로 글상자 19"/>
          <p:cNvSpPr txBox="1"/>
          <p:nvPr/>
        </p:nvSpPr>
        <p:spPr>
          <a:xfrm>
            <a:off x="16154400" y="3490595"/>
            <a:ext cx="5791200" cy="1691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>
                <a:latin typeface="맑은 고딕"/>
              </a:rPr>
              <a:t>기대값과 </a:t>
            </a:r>
            <a:r>
              <a:rPr lang="en-US" altLang="ko-KR" sz="3500">
                <a:latin typeface="맑은 고딕"/>
              </a:rPr>
              <a:t>dut </a:t>
            </a:r>
            <a:r>
              <a:rPr lang="ko-KR" altLang="en-US" sz="3500">
                <a:latin typeface="맑은 고딕"/>
              </a:rPr>
              <a:t>출력값을 받아 비교 후 </a:t>
            </a:r>
            <a:r>
              <a:rPr lang="en-US" altLang="ko-KR" sz="3500">
                <a:latin typeface="맑은 고딕"/>
              </a:rPr>
              <a:t>Pass or Fail</a:t>
            </a: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이후 </a:t>
            </a:r>
            <a:r>
              <a:rPr lang="en-US" altLang="ko-KR" sz="3500">
                <a:latin typeface="맑은 고딕"/>
              </a:rPr>
              <a:t>gen_next_event</a:t>
            </a:r>
          </a:p>
        </p:txBody>
      </p:sp>
    </p:spTree>
    <p:extLst>
      <p:ext uri="{BB962C8B-B14F-4D97-AF65-F5344CB8AC3E}">
        <p14:creationId xmlns:p14="http://schemas.microsoft.com/office/powerpoint/2010/main" val="4214435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193800" y="15240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Simulate  run / stop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14400" y="3657600"/>
            <a:ext cx="8973214" cy="848866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351469" y="2971800"/>
            <a:ext cx="21422932" cy="6824163"/>
          </a:xfrm>
          <a:prstGeom prst="rect">
            <a:avLst/>
          </a:prstGeom>
        </p:spPr>
      </p:pic>
      <p:cxnSp>
        <p:nvCxnSpPr>
          <p:cNvPr id="13" name="선 12"/>
          <p:cNvCxnSpPr/>
          <p:nvPr/>
        </p:nvCxnSpPr>
        <p:spPr>
          <a:xfrm rot="16200000" flipH="1">
            <a:off x="12001500" y="6667500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선 15"/>
          <p:cNvCxnSpPr/>
          <p:nvPr/>
        </p:nvCxnSpPr>
        <p:spPr>
          <a:xfrm rot="16200000" flipH="1">
            <a:off x="10858500" y="6667500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선 17"/>
          <p:cNvCxnSpPr/>
          <p:nvPr/>
        </p:nvCxnSpPr>
        <p:spPr>
          <a:xfrm rot="16200000" flipH="1">
            <a:off x="12382500" y="6667500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가로 글상자 19"/>
          <p:cNvSpPr txBox="1"/>
          <p:nvPr/>
        </p:nvSpPr>
        <p:spPr>
          <a:xfrm>
            <a:off x="12192000" y="9495155"/>
            <a:ext cx="5562600" cy="71564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>
                <a:solidFill>
                  <a:schemeClr val="dk1"/>
                </a:solidFill>
                <a:latin typeface="맑은 고딕"/>
              </a:rPr>
              <a:t>run -&gt; stop -&gt; run </a:t>
            </a:r>
          </a:p>
        </p:txBody>
      </p:sp>
    </p:spTree>
    <p:extLst>
      <p:ext uri="{BB962C8B-B14F-4D97-AF65-F5344CB8AC3E}">
        <p14:creationId xmlns:p14="http://schemas.microsoft.com/office/powerpoint/2010/main" val="3488443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193800" y="15240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Simulate  mode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85800" y="4243275"/>
            <a:ext cx="9372602" cy="8101125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286000" y="2705451"/>
            <a:ext cx="21077678" cy="7505349"/>
          </a:xfrm>
          <a:prstGeom prst="rect">
            <a:avLst/>
          </a:prstGeom>
        </p:spPr>
      </p:pic>
      <p:cxnSp>
        <p:nvCxnSpPr>
          <p:cNvPr id="12" name="선 11"/>
          <p:cNvCxnSpPr/>
          <p:nvPr/>
        </p:nvCxnSpPr>
        <p:spPr>
          <a:xfrm rot="16200000" flipH="1">
            <a:off x="11391900" y="6134100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선 16"/>
          <p:cNvCxnSpPr/>
          <p:nvPr/>
        </p:nvCxnSpPr>
        <p:spPr>
          <a:xfrm rot="16200000" flipH="1">
            <a:off x="12458700" y="6210299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선 18"/>
          <p:cNvCxnSpPr/>
          <p:nvPr/>
        </p:nvCxnSpPr>
        <p:spPr>
          <a:xfrm rot="16200000" flipH="1">
            <a:off x="12077698" y="6134099"/>
            <a:ext cx="5410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가로 글상자 20"/>
          <p:cNvSpPr txBox="1"/>
          <p:nvPr/>
        </p:nvSpPr>
        <p:spPr>
          <a:xfrm>
            <a:off x="11887200" y="9093200"/>
            <a:ext cx="5562600" cy="715645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4100">
                <a:solidFill>
                  <a:schemeClr val="dk1"/>
                </a:solidFill>
                <a:latin typeface="맑은 고딕"/>
              </a:rPr>
              <a:t>Down -&gt; Up -&gt; down </a:t>
            </a:r>
          </a:p>
        </p:txBody>
      </p:sp>
    </p:spTree>
    <p:extLst>
      <p:ext uri="{BB962C8B-B14F-4D97-AF65-F5344CB8AC3E}">
        <p14:creationId xmlns:p14="http://schemas.microsoft.com/office/powerpoint/2010/main" val="1553372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193800" y="15240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Stopwatch Simulate  all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61342" y="3276600"/>
            <a:ext cx="9192258" cy="8980277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989482" y="2680179"/>
            <a:ext cx="18965518" cy="7315734"/>
          </a:xfrm>
          <a:prstGeom prst="rect">
            <a:avLst/>
          </a:prstGeom>
        </p:spPr>
      </p:pic>
      <p:cxnSp>
        <p:nvCxnSpPr>
          <p:cNvPr id="14" name="선 13"/>
          <p:cNvCxnSpPr/>
          <p:nvPr/>
        </p:nvCxnSpPr>
        <p:spPr>
          <a:xfrm rot="16200000" flipH="1">
            <a:off x="5181600" y="6972300"/>
            <a:ext cx="6400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선 23"/>
          <p:cNvCxnSpPr/>
          <p:nvPr/>
        </p:nvCxnSpPr>
        <p:spPr>
          <a:xfrm rot="16200000" flipH="1">
            <a:off x="7620000" y="6934200"/>
            <a:ext cx="6400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0"/>
          <p:cNvSpPr txBox="1"/>
          <p:nvPr/>
        </p:nvSpPr>
        <p:spPr>
          <a:xfrm>
            <a:off x="7543800" y="9563100"/>
            <a:ext cx="1524000" cy="1181100"/>
          </a:xfrm>
          <a:prstGeom prst="rect">
            <a:avLst/>
          </a:prstGeom>
          <a:solidFill>
            <a:srgbClr val="FFFF00"/>
          </a:solidFill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50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Clear</a:t>
            </a:r>
          </a:p>
        </p:txBody>
      </p:sp>
      <p:sp>
        <p:nvSpPr>
          <p:cNvPr id="21" name="TextBox 10"/>
          <p:cNvSpPr txBox="1"/>
          <p:nvPr/>
        </p:nvSpPr>
        <p:spPr>
          <a:xfrm>
            <a:off x="9982200" y="9563100"/>
            <a:ext cx="1905000" cy="1181100"/>
          </a:xfrm>
          <a:prstGeom prst="rect">
            <a:avLst/>
          </a:prstGeom>
          <a:solidFill>
            <a:srgbClr val="FFFF00"/>
          </a:solidFill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50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down </a:t>
            </a:r>
          </a:p>
        </p:txBody>
      </p:sp>
      <p:cxnSp>
        <p:nvCxnSpPr>
          <p:cNvPr id="26" name="선 25"/>
          <p:cNvCxnSpPr/>
          <p:nvPr/>
        </p:nvCxnSpPr>
        <p:spPr>
          <a:xfrm rot="16200000" flipH="1">
            <a:off x="11658600" y="6858000"/>
            <a:ext cx="6400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선 27"/>
          <p:cNvCxnSpPr/>
          <p:nvPr/>
        </p:nvCxnSpPr>
        <p:spPr>
          <a:xfrm rot="16200000" flipH="1">
            <a:off x="13258800" y="6858000"/>
            <a:ext cx="64008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0"/>
          <p:cNvSpPr txBox="1"/>
          <p:nvPr/>
        </p:nvSpPr>
        <p:spPr>
          <a:xfrm>
            <a:off x="14173200" y="9563100"/>
            <a:ext cx="3276600" cy="1181100"/>
          </a:xfrm>
          <a:prstGeom prst="rect">
            <a:avLst/>
          </a:prstGeom>
          <a:solidFill>
            <a:srgbClr val="FFFF00"/>
          </a:solidFill>
        </p:spPr>
        <p:txBody>
          <a:bodyPr lIns="0" tIns="0" rIns="0" bIns="0" anchor="t"/>
          <a:lstStyle/>
          <a:p>
            <a:pPr lvl="0" algn="ctr">
              <a:lnSpc>
                <a:spcPct val="116199"/>
              </a:lnSpc>
              <a:defRPr/>
            </a:pPr>
            <a:r>
              <a:rPr lang="en-US" altLang="ko-KR" sz="50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run / stop </a:t>
            </a:r>
          </a:p>
        </p:txBody>
      </p:sp>
    </p:spTree>
    <p:extLst>
      <p:ext uri="{BB962C8B-B14F-4D97-AF65-F5344CB8AC3E}">
        <p14:creationId xmlns:p14="http://schemas.microsoft.com/office/powerpoint/2010/main" val="1657663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19200" y="20955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Clock datapath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4696516" y="3745324"/>
            <a:ext cx="5953685" cy="824465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506200" y="2133600"/>
            <a:ext cx="114300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53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Clock tick gen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5087600" y="5257800"/>
            <a:ext cx="3581400" cy="45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3" name="가로 글상자 12"/>
          <p:cNvSpPr txBox="1"/>
          <p:nvPr/>
        </p:nvSpPr>
        <p:spPr>
          <a:xfrm>
            <a:off x="17449800" y="3851910"/>
            <a:ext cx="6705600" cy="720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100">
                <a:latin typeface="맑은 고딕"/>
              </a:rPr>
              <a:t>100hz -&gt; clk</a:t>
            </a:r>
            <a:r>
              <a:rPr lang="ko-KR" altLang="en-US" sz="4100">
                <a:latin typeface="맑은 고딕"/>
              </a:rPr>
              <a:t>단위로 변경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66800" y="3695183"/>
            <a:ext cx="6497117" cy="5742327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7629218" y="3352799"/>
            <a:ext cx="3576414" cy="8004355"/>
          </a:xfrm>
          <a:prstGeom prst="rect">
            <a:avLst/>
          </a:prstGeom>
        </p:spPr>
      </p:pic>
      <p:sp>
        <p:nvSpPr>
          <p:cNvPr id="17" name="가로 글상자 16"/>
          <p:cNvSpPr txBox="1"/>
          <p:nvPr/>
        </p:nvSpPr>
        <p:spPr>
          <a:xfrm>
            <a:off x="1143000" y="9753600"/>
            <a:ext cx="6705600" cy="720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100">
                <a:latin typeface="맑은 고딕"/>
              </a:rPr>
              <a:t>단위별 </a:t>
            </a:r>
            <a:r>
              <a:rPr lang="en-US" altLang="ko-KR" sz="4100">
                <a:latin typeface="맑은 고딕"/>
              </a:rPr>
              <a:t>up/down </a:t>
            </a:r>
            <a:r>
              <a:rPr lang="ko-KR" altLang="en-US" sz="4100">
                <a:latin typeface="맑은 고딕"/>
              </a:rPr>
              <a:t>동작</a:t>
            </a:r>
          </a:p>
        </p:txBody>
      </p:sp>
    </p:spTree>
    <p:extLst>
      <p:ext uri="{BB962C8B-B14F-4D97-AF65-F5344CB8AC3E}">
        <p14:creationId xmlns:p14="http://schemas.microsoft.com/office/powerpoint/2010/main" val="1145200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9200" y="4263909"/>
            <a:ext cx="2895600" cy="3290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6" name="TextBox 10"/>
          <p:cNvSpPr txBox="1"/>
          <p:nvPr/>
        </p:nvSpPr>
        <p:spPr>
          <a:xfrm>
            <a:off x="1219200" y="20955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Clock datapath</a:t>
            </a:r>
            <a:r>
              <a:rPr lang="ko-KR" altLang="en-US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up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14400" y="4536877"/>
            <a:ext cx="22938094" cy="6572646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13030200" y="6400800"/>
            <a:ext cx="3505200" cy="4800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6459200" y="7315200"/>
            <a:ext cx="3505200" cy="3124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9812000" y="7924800"/>
            <a:ext cx="3581400" cy="1905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202763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9200" y="4263909"/>
            <a:ext cx="2895600" cy="3290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6" name="TextBox 10"/>
          <p:cNvSpPr txBox="1"/>
          <p:nvPr/>
        </p:nvSpPr>
        <p:spPr>
          <a:xfrm>
            <a:off x="1219200" y="20955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Clock datapath down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13284" y="4495800"/>
            <a:ext cx="23757432" cy="6810770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13030200" y="6400800"/>
            <a:ext cx="3505200" cy="4800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6459200" y="7315200"/>
            <a:ext cx="3505200" cy="3124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9812000" y="7924800"/>
            <a:ext cx="3581400" cy="1905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17612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9200" y="4263909"/>
            <a:ext cx="2895600" cy="3290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6" name="TextBox 10"/>
          <p:cNvSpPr txBox="1"/>
          <p:nvPr/>
        </p:nvSpPr>
        <p:spPr>
          <a:xfrm>
            <a:off x="1219200" y="20955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Clock datapath up/down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38200" y="3657599"/>
            <a:ext cx="22910976" cy="7753850"/>
          </a:xfrm>
          <a:prstGeom prst="rect">
            <a:avLst/>
          </a:prstGeom>
        </p:spPr>
      </p:pic>
      <p:sp>
        <p:nvSpPr>
          <p:cNvPr id="18" name="직사각형 17"/>
          <p:cNvSpPr/>
          <p:nvPr/>
        </p:nvSpPr>
        <p:spPr>
          <a:xfrm>
            <a:off x="9448802" y="6477000"/>
            <a:ext cx="2971799" cy="4800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2344400" y="6477000"/>
            <a:ext cx="3657600" cy="4267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9050000" y="6858000"/>
            <a:ext cx="2133600" cy="4419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697494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Clock Simulate Scenario</a:t>
            </a: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5276850" y="3936999"/>
            <a:ext cx="889000" cy="5270500"/>
          </a:xfrm>
          <a:prstGeom prst="rect">
            <a:avLst/>
          </a:prstGeom>
        </p:spPr>
      </p:pic>
      <p:pic>
        <p:nvPicPr>
          <p:cNvPr id="10" name="Picture 1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0801350" y="3936999"/>
            <a:ext cx="889000" cy="5270500"/>
          </a:xfrm>
          <a:prstGeom prst="rect">
            <a:avLst/>
          </a:prstGeom>
        </p:spPr>
      </p:pic>
      <p:pic>
        <p:nvPicPr>
          <p:cNvPr id="11" name="Picture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16313150" y="3936999"/>
            <a:ext cx="889000" cy="5270500"/>
          </a:xfrm>
          <a:prstGeom prst="rect">
            <a:avLst/>
          </a:prstGeom>
        </p:spPr>
      </p:pic>
      <p:pic>
        <p:nvPicPr>
          <p:cNvPr id="13" name="Picture 15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1377949" y="7835900"/>
            <a:ext cx="3429000" cy="12700"/>
          </a:xfrm>
          <a:prstGeom prst="rect">
            <a:avLst/>
          </a:prstGeom>
        </p:spPr>
      </p:pic>
      <p:pic>
        <p:nvPicPr>
          <p:cNvPr id="14" name="Picture 16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5400000">
            <a:off x="6902450" y="7835900"/>
            <a:ext cx="3429000" cy="12700"/>
          </a:xfrm>
          <a:prstGeom prst="rect">
            <a:avLst/>
          </a:prstGeom>
        </p:spPr>
      </p:pic>
      <p:pic>
        <p:nvPicPr>
          <p:cNvPr id="15" name="Picture 1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5400000">
            <a:off x="12426950" y="7835900"/>
            <a:ext cx="3429000" cy="12700"/>
          </a:xfrm>
          <a:prstGeom prst="rect">
            <a:avLst/>
          </a:prstGeom>
        </p:spPr>
      </p:pic>
      <p:sp>
        <p:nvSpPr>
          <p:cNvPr id="17" name="TextBox 19"/>
          <p:cNvSpPr txBox="1"/>
          <p:nvPr/>
        </p:nvSpPr>
        <p:spPr>
          <a:xfrm>
            <a:off x="3587749" y="62865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01</a:t>
            </a:r>
          </a:p>
        </p:txBody>
      </p:sp>
      <p:sp>
        <p:nvSpPr>
          <p:cNvPr id="18" name="TextBox 20"/>
          <p:cNvSpPr txBox="1"/>
          <p:nvPr/>
        </p:nvSpPr>
        <p:spPr>
          <a:xfrm>
            <a:off x="9112250" y="62865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맑은 고딕"/>
                <a:cs typeface="Pretendard Bold"/>
              </a:rPr>
              <a:t>02</a:t>
            </a:r>
          </a:p>
        </p:txBody>
      </p:sp>
      <p:sp>
        <p:nvSpPr>
          <p:cNvPr id="19" name="TextBox 21"/>
          <p:cNvSpPr txBox="1"/>
          <p:nvPr/>
        </p:nvSpPr>
        <p:spPr>
          <a:xfrm>
            <a:off x="14636750" y="62865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맑은 고딕"/>
                <a:cs typeface="Pretendard Bold"/>
              </a:rPr>
              <a:t>03</a:t>
            </a:r>
          </a:p>
        </p:txBody>
      </p:sp>
      <p:sp>
        <p:nvSpPr>
          <p:cNvPr id="21" name="TextBox 23"/>
          <p:cNvSpPr txBox="1"/>
          <p:nvPr/>
        </p:nvSpPr>
        <p:spPr>
          <a:xfrm>
            <a:off x="3587747" y="7391400"/>
            <a:ext cx="35941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hour up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min up 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sec up</a:t>
            </a:r>
          </a:p>
          <a:p>
            <a:pPr lvl="0" algn="l">
              <a:lnSpc>
                <a:spcPct val="120350"/>
              </a:lnSpc>
              <a:defRPr/>
            </a:pPr>
            <a:endParaRPr lang="en-US" altLang="ko-KR" sz="2666" b="0" i="0" u="none" strike="noStrike">
              <a:solidFill>
                <a:srgbClr val="000000"/>
              </a:solidFill>
              <a:latin typeface="맑은 고딕"/>
              <a:cs typeface="Pretendard SemiBold"/>
            </a:endParaRPr>
          </a:p>
        </p:txBody>
      </p:sp>
      <p:sp>
        <p:nvSpPr>
          <p:cNvPr id="22" name="TextBox 24"/>
          <p:cNvSpPr txBox="1"/>
          <p:nvPr/>
        </p:nvSpPr>
        <p:spPr>
          <a:xfrm>
            <a:off x="9112248" y="7391400"/>
            <a:ext cx="38989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randomioze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hour down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min down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sec down</a:t>
            </a:r>
          </a:p>
        </p:txBody>
      </p:sp>
      <p:sp>
        <p:nvSpPr>
          <p:cNvPr id="23" name="TextBox 25"/>
          <p:cNvSpPr txBox="1"/>
          <p:nvPr/>
        </p:nvSpPr>
        <p:spPr>
          <a:xfrm>
            <a:off x="14636748" y="7391400"/>
            <a:ext cx="36703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hour up/down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min up/down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2666" b="0" i="0" u="none" strike="noStrike">
                <a:solidFill>
                  <a:srgbClr val="000000"/>
                </a:solidFill>
                <a:latin typeface="맑은 고딕"/>
                <a:cs typeface="Pretendard SemiBold"/>
              </a:rPr>
              <a:t>sec up/down</a:t>
            </a:r>
          </a:p>
        </p:txBody>
      </p:sp>
      <p:pic>
        <p:nvPicPr>
          <p:cNvPr id="25" name="Picture 7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340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888999" y="1638300"/>
            <a:ext cx="13131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Clock verification Block</a:t>
            </a: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9200" y="4263909"/>
            <a:ext cx="2895600" cy="3290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400800" y="2895838"/>
            <a:ext cx="9829800" cy="10522983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7315200" y="7475221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7" name="가로 글상자 16"/>
          <p:cNvSpPr txBox="1"/>
          <p:nvPr/>
        </p:nvSpPr>
        <p:spPr>
          <a:xfrm>
            <a:off x="2438400" y="8001000"/>
            <a:ext cx="4572000" cy="168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negedge #4</a:t>
            </a:r>
            <a:endParaRPr lang="ko-KR" altLang="en-US" sz="3500">
              <a:latin typeface="맑은 고딕"/>
            </a:endParaRP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interface </a:t>
            </a:r>
            <a:r>
              <a:rPr lang="ko-KR" altLang="en-US" sz="3500">
                <a:latin typeface="맑은 고딕"/>
              </a:rPr>
              <a:t>로 기대값</a:t>
            </a:r>
            <a:r>
              <a:rPr lang="en-US" altLang="ko-KR" sz="3500">
                <a:latin typeface="맑은 고딕"/>
              </a:rPr>
              <a:t>,</a:t>
            </a:r>
            <a:r>
              <a:rPr lang="ko-KR" altLang="en-US" sz="3500">
                <a:latin typeface="맑은 고딕"/>
              </a:rPr>
              <a:t> 입력값 </a:t>
            </a:r>
            <a:r>
              <a:rPr lang="en-US" altLang="ko-KR" sz="3500">
                <a:latin typeface="맑은 고딕"/>
              </a:rPr>
              <a:t>drive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2039600" y="7391399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19" name="가로 글상자 18"/>
          <p:cNvSpPr txBox="1"/>
          <p:nvPr/>
        </p:nvSpPr>
        <p:spPr>
          <a:xfrm>
            <a:off x="16078200" y="7723187"/>
            <a:ext cx="4572000" cy="2219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posedge #1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monitor </a:t>
            </a:r>
            <a:r>
              <a:rPr lang="ko-KR" altLang="en-US" sz="3500">
                <a:latin typeface="맑은 고딕"/>
              </a:rPr>
              <a:t>에서 출력값 샘플해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scorboard</a:t>
            </a:r>
            <a:r>
              <a:rPr lang="ko-KR" altLang="en-US" sz="3500">
                <a:latin typeface="맑은 고딕"/>
              </a:rPr>
              <a:t>로 전달</a:t>
            </a:r>
          </a:p>
        </p:txBody>
      </p:sp>
      <p:sp>
        <p:nvSpPr>
          <p:cNvPr id="20" name="가로 글상자 19"/>
          <p:cNvSpPr txBox="1"/>
          <p:nvPr/>
        </p:nvSpPr>
        <p:spPr>
          <a:xfrm>
            <a:off x="2057400" y="3429000"/>
            <a:ext cx="4572000" cy="3284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hour up/down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min up/down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sec up/down 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randomize</a:t>
            </a:r>
            <a:r>
              <a:rPr lang="ko-KR" altLang="en-US" sz="3500">
                <a:latin typeface="맑은 고딕"/>
              </a:rPr>
              <a:t> 생성</a:t>
            </a: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기댓값 생성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hour, min, sec, msec</a:t>
            </a:r>
          </a:p>
        </p:txBody>
      </p:sp>
      <p:sp>
        <p:nvSpPr>
          <p:cNvPr id="21" name="가로 글상자 20"/>
          <p:cNvSpPr txBox="1"/>
          <p:nvPr/>
        </p:nvSpPr>
        <p:spPr>
          <a:xfrm>
            <a:off x="16306800" y="3602990"/>
            <a:ext cx="5791200" cy="1691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3500">
                <a:latin typeface="맑은 고딕"/>
              </a:rPr>
              <a:t>기대값과 </a:t>
            </a:r>
            <a:r>
              <a:rPr lang="en-US" altLang="ko-KR" sz="3500">
                <a:latin typeface="맑은 고딕"/>
              </a:rPr>
              <a:t>dut </a:t>
            </a:r>
            <a:r>
              <a:rPr lang="ko-KR" altLang="en-US" sz="3500">
                <a:latin typeface="맑은 고딕"/>
              </a:rPr>
              <a:t>출력값을 받아 비교 후 </a:t>
            </a:r>
            <a:r>
              <a:rPr lang="en-US" altLang="ko-KR" sz="3500">
                <a:latin typeface="맑은 고딕"/>
              </a:rPr>
              <a:t>Pass or Fail</a:t>
            </a: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이후 </a:t>
            </a:r>
            <a:r>
              <a:rPr lang="en-US" altLang="ko-KR" sz="3500">
                <a:latin typeface="맑은 고딕"/>
              </a:rPr>
              <a:t>gen_next_event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7239000" y="35052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2039600" y="3581400"/>
            <a:ext cx="3429000" cy="259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7972104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7200" y="4724400"/>
            <a:ext cx="13540134" cy="7820944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371600" y="12573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Clock Simulate  UP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246709" y="2438400"/>
            <a:ext cx="17260492" cy="8070333"/>
          </a:xfrm>
          <a:prstGeom prst="rect">
            <a:avLst/>
          </a:prstGeom>
        </p:spPr>
      </p:pic>
      <p:cxnSp>
        <p:nvCxnSpPr>
          <p:cNvPr id="13" name="선 12"/>
          <p:cNvCxnSpPr/>
          <p:nvPr/>
        </p:nvCxnSpPr>
        <p:spPr>
          <a:xfrm rot="16200000" flipH="1">
            <a:off x="8305800" y="6858000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선 13"/>
          <p:cNvCxnSpPr/>
          <p:nvPr/>
        </p:nvCxnSpPr>
        <p:spPr>
          <a:xfrm rot="16200000" flipH="1">
            <a:off x="18249900" y="12611100"/>
            <a:ext cx="11430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선 15"/>
          <p:cNvCxnSpPr/>
          <p:nvPr/>
        </p:nvCxnSpPr>
        <p:spPr>
          <a:xfrm rot="16200000" flipH="1">
            <a:off x="10287000" y="6858000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가로 글상자 17"/>
          <p:cNvSpPr txBox="1"/>
          <p:nvPr/>
        </p:nvSpPr>
        <p:spPr>
          <a:xfrm>
            <a:off x="10058400" y="10578465"/>
            <a:ext cx="3200400" cy="1156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sec</a:t>
            </a:r>
            <a:r>
              <a:rPr lang="ko-KR" altLang="en-US" sz="3500">
                <a:latin typeface="맑은 고딕"/>
              </a:rPr>
              <a:t> </a:t>
            </a:r>
            <a:r>
              <a:rPr lang="en-US" altLang="ko-KR" sz="3500">
                <a:latin typeface="맑은 고딕"/>
              </a:rPr>
              <a:t>min hour</a:t>
            </a:r>
            <a:endParaRPr lang="ko-KR" altLang="en-US" sz="3500">
              <a:latin typeface="맑은 고딕"/>
            </a:endParaRP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동시 상승</a:t>
            </a:r>
          </a:p>
        </p:txBody>
      </p:sp>
      <p:sp>
        <p:nvSpPr>
          <p:cNvPr id="19" name="가로 글상자 18"/>
          <p:cNvSpPr txBox="1"/>
          <p:nvPr/>
        </p:nvSpPr>
        <p:spPr>
          <a:xfrm>
            <a:off x="13258800" y="10584180"/>
            <a:ext cx="2514600" cy="1150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sec</a:t>
            </a:r>
            <a:r>
              <a:rPr lang="ko-KR" altLang="en-US" sz="3500">
                <a:latin typeface="맑은 고딕"/>
              </a:rPr>
              <a:t> </a:t>
            </a:r>
            <a:r>
              <a:rPr lang="en-US" altLang="ko-KR" sz="3500">
                <a:latin typeface="맑은 고딕"/>
              </a:rPr>
              <a:t>min </a:t>
            </a:r>
            <a:endParaRPr lang="ko-KR" altLang="en-US" sz="3500">
              <a:latin typeface="맑은 고딕"/>
            </a:endParaRP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동시 상승</a:t>
            </a:r>
          </a:p>
        </p:txBody>
      </p:sp>
    </p:spTree>
    <p:extLst>
      <p:ext uri="{BB962C8B-B14F-4D97-AF65-F5344CB8AC3E}">
        <p14:creationId xmlns:p14="http://schemas.microsoft.com/office/powerpoint/2010/main" val="3325463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12954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Clock Simulate  DOWN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52400" y="4572000"/>
            <a:ext cx="13258800" cy="7416838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941886" y="2308106"/>
            <a:ext cx="18936914" cy="7521694"/>
          </a:xfrm>
          <a:prstGeom prst="rect">
            <a:avLst/>
          </a:prstGeom>
        </p:spPr>
      </p:pic>
      <p:cxnSp>
        <p:nvCxnSpPr>
          <p:cNvPr id="15" name="선 14"/>
          <p:cNvCxnSpPr/>
          <p:nvPr/>
        </p:nvCxnSpPr>
        <p:spPr>
          <a:xfrm rot="16200000" flipH="1">
            <a:off x="8763000" y="6553200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선 15"/>
          <p:cNvCxnSpPr/>
          <p:nvPr/>
        </p:nvCxnSpPr>
        <p:spPr>
          <a:xfrm rot="16200000" flipH="1">
            <a:off x="12954000" y="6553200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가로 글상자 16"/>
          <p:cNvSpPr txBox="1"/>
          <p:nvPr/>
        </p:nvSpPr>
        <p:spPr>
          <a:xfrm>
            <a:off x="10972800" y="10210800"/>
            <a:ext cx="3352799" cy="1153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sec</a:t>
            </a:r>
            <a:r>
              <a:rPr lang="ko-KR" altLang="en-US" sz="3500">
                <a:latin typeface="맑은 고딕"/>
              </a:rPr>
              <a:t> </a:t>
            </a:r>
            <a:r>
              <a:rPr lang="en-US" altLang="ko-KR" sz="3500">
                <a:latin typeface="맑은 고딕"/>
              </a:rPr>
              <a:t>min hour</a:t>
            </a:r>
            <a:endParaRPr lang="ko-KR" altLang="en-US" sz="3500">
              <a:latin typeface="맑은 고딕"/>
            </a:endParaRP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동시 하강</a:t>
            </a:r>
          </a:p>
        </p:txBody>
      </p:sp>
      <p:sp>
        <p:nvSpPr>
          <p:cNvPr id="18" name="가로 글상자 17"/>
          <p:cNvSpPr txBox="1"/>
          <p:nvPr/>
        </p:nvSpPr>
        <p:spPr>
          <a:xfrm>
            <a:off x="15468600" y="10354309"/>
            <a:ext cx="3352800" cy="618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min</a:t>
            </a:r>
            <a:r>
              <a:rPr lang="ko-KR" altLang="en-US" sz="3500">
                <a:latin typeface="맑은 고딕"/>
              </a:rPr>
              <a:t> 하강</a:t>
            </a:r>
          </a:p>
        </p:txBody>
      </p:sp>
    </p:spTree>
    <p:extLst>
      <p:ext uri="{BB962C8B-B14F-4D97-AF65-F5344CB8AC3E}">
        <p14:creationId xmlns:p14="http://schemas.microsoft.com/office/powerpoint/2010/main" val="1751014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95400" y="1219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Arial"/>
              </a:rPr>
              <a:t>Clock Simulate  ALL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05544" y="4807181"/>
            <a:ext cx="13029456" cy="753721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903680" y="2542564"/>
            <a:ext cx="18822720" cy="7592036"/>
          </a:xfrm>
          <a:prstGeom prst="rect">
            <a:avLst/>
          </a:prstGeom>
        </p:spPr>
      </p:pic>
      <p:cxnSp>
        <p:nvCxnSpPr>
          <p:cNvPr id="13" name="선 12"/>
          <p:cNvCxnSpPr/>
          <p:nvPr/>
        </p:nvCxnSpPr>
        <p:spPr>
          <a:xfrm rot="16200000" flipH="1">
            <a:off x="8915400" y="6705600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가로 글상자 13"/>
          <p:cNvSpPr txBox="1"/>
          <p:nvPr/>
        </p:nvSpPr>
        <p:spPr>
          <a:xfrm>
            <a:off x="10896600" y="10276864"/>
            <a:ext cx="3352800" cy="2218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sec</a:t>
            </a:r>
            <a:r>
              <a:rPr lang="ko-KR" altLang="en-US" sz="3500">
                <a:latin typeface="맑은 고딕"/>
              </a:rPr>
              <a:t> </a:t>
            </a:r>
            <a:r>
              <a:rPr lang="en-US" altLang="ko-KR" sz="3500">
                <a:latin typeface="맑은 고딕"/>
              </a:rPr>
              <a:t>up / down </a:t>
            </a:r>
            <a:r>
              <a:rPr lang="ko-KR" altLang="en-US" sz="3500">
                <a:latin typeface="맑은 고딕"/>
              </a:rPr>
              <a:t>동시 </a:t>
            </a:r>
            <a:r>
              <a:rPr lang="en-US" altLang="ko-KR" sz="3500">
                <a:latin typeface="맑은 고딕"/>
              </a:rPr>
              <a:t>=</a:t>
            </a:r>
            <a:r>
              <a:rPr lang="ko-KR" altLang="en-US" sz="3500">
                <a:latin typeface="맑은 고딕"/>
              </a:rPr>
              <a:t> </a:t>
            </a:r>
            <a:r>
              <a:rPr lang="en-US" altLang="ko-KR" sz="3500">
                <a:latin typeface="맑은 고딕"/>
              </a:rPr>
              <a:t>up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min down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hour up</a:t>
            </a:r>
          </a:p>
        </p:txBody>
      </p:sp>
      <p:cxnSp>
        <p:nvCxnSpPr>
          <p:cNvPr id="15" name="선 14"/>
          <p:cNvCxnSpPr/>
          <p:nvPr/>
        </p:nvCxnSpPr>
        <p:spPr>
          <a:xfrm rot="16200000" flipH="1">
            <a:off x="13106400" y="6705600"/>
            <a:ext cx="7315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가로 글상자 15"/>
          <p:cNvSpPr txBox="1"/>
          <p:nvPr/>
        </p:nvSpPr>
        <p:spPr>
          <a:xfrm>
            <a:off x="15087599" y="10409885"/>
            <a:ext cx="3352796" cy="22183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500">
                <a:latin typeface="맑은 고딕"/>
              </a:rPr>
              <a:t>sec down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min up / down </a:t>
            </a:r>
          </a:p>
          <a:p>
            <a:pPr lvl="0">
              <a:defRPr/>
            </a:pPr>
            <a:r>
              <a:rPr lang="ko-KR" altLang="en-US" sz="3500">
                <a:latin typeface="맑은 고딕"/>
              </a:rPr>
              <a:t>동시 </a:t>
            </a:r>
            <a:r>
              <a:rPr lang="en-US" altLang="ko-KR" sz="3500">
                <a:latin typeface="맑은 고딕"/>
              </a:rPr>
              <a:t>=</a:t>
            </a:r>
            <a:r>
              <a:rPr lang="ko-KR" altLang="en-US" sz="3500">
                <a:latin typeface="맑은 고딕"/>
              </a:rPr>
              <a:t> </a:t>
            </a:r>
            <a:r>
              <a:rPr lang="en-US" altLang="ko-KR" sz="3500">
                <a:latin typeface="맑은 고딕"/>
              </a:rPr>
              <a:t>up</a:t>
            </a:r>
          </a:p>
          <a:p>
            <a:pPr lvl="0">
              <a:defRPr/>
            </a:pPr>
            <a:r>
              <a:rPr lang="en-US" altLang="ko-KR" sz="3500">
                <a:latin typeface="맑은 고딕"/>
              </a:rPr>
              <a:t>hour up</a:t>
            </a:r>
          </a:p>
        </p:txBody>
      </p:sp>
    </p:spTree>
    <p:extLst>
      <p:ext uri="{BB962C8B-B14F-4D97-AF65-F5344CB8AC3E}">
        <p14:creationId xmlns:p14="http://schemas.microsoft.com/office/powerpoint/2010/main" val="775206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pic>
        <p:nvPicPr>
          <p:cNvPr id="4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190500" y="-165100"/>
            <a:ext cx="24752300" cy="1435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193799" y="13335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맑은 고딕"/>
                <a:cs typeface="Pretendard Bold"/>
              </a:rPr>
              <a:t>Trouble shooting </a:t>
            </a: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09600" y="2742596"/>
            <a:ext cx="12722624" cy="7087204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487400" y="2714459"/>
            <a:ext cx="5487414" cy="3610141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3448976" y="6858000"/>
            <a:ext cx="4153224" cy="3472368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9887868" y="6858000"/>
            <a:ext cx="3734132" cy="4167292"/>
          </a:xfrm>
          <a:prstGeom prst="rect">
            <a:avLst/>
          </a:prstGeom>
        </p:spPr>
      </p:pic>
      <p:sp>
        <p:nvSpPr>
          <p:cNvPr id="21" name="오른쪽 화살표 20"/>
          <p:cNvSpPr/>
          <p:nvPr/>
        </p:nvSpPr>
        <p:spPr>
          <a:xfrm>
            <a:off x="17297400" y="7848600"/>
            <a:ext cx="2209800" cy="914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9D9D9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lvl="0" algn="ctr"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138971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 Simulate Scenario</a:t>
            </a:r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524502" y="4222750"/>
            <a:ext cx="889000" cy="527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11049002" y="4222750"/>
            <a:ext cx="889000" cy="527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6560802" y="4222750"/>
            <a:ext cx="889000" cy="527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1625602" y="8121650"/>
            <a:ext cx="34290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7150102" y="8121650"/>
            <a:ext cx="3429000" cy="12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12674602" y="8121650"/>
            <a:ext cx="3429000" cy="1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835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599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84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35400" y="7600950"/>
            <a:ext cx="35941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>
              <a:lnSpc>
                <a:spcPct val="120350"/>
              </a:lnSpc>
              <a:defRPr/>
            </a:pPr>
            <a:r>
              <a:rPr lang="en-US" altLang="ko-KR" sz="35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Only Push/Only Pop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 </a:t>
            </a:r>
          </a:p>
          <a:p>
            <a:pPr lvl="0" algn="l">
              <a:lnSpc>
                <a:spcPct val="120350"/>
              </a:lnSpc>
              <a:defRPr/>
            </a:pPr>
            <a:endParaRPr lang="en-US" altLang="ko-KR" sz="3500" b="0" i="0" u="none" strike="noStrike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150162" y="7600950"/>
            <a:ext cx="52578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Push + Pop at the same time</a:t>
            </a:r>
            <a:endParaRPr lang="en-US" altLang="ko-KR" sz="3500" b="0" i="0" u="none" strike="noStrike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4884400" y="7600950"/>
            <a:ext cx="43815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</a:t>
            </a: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Push/pop </a:t>
            </a: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1000 cycle</a:t>
            </a:r>
          </a:p>
        </p:txBody>
      </p:sp>
      <p:pic>
        <p:nvPicPr>
          <p:cNvPr id="27" name="Picture 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401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77491" y="2159246"/>
            <a:ext cx="8170218" cy="10201145"/>
          </a:xfrm>
          <a:prstGeom prst="rect">
            <a:avLst/>
          </a:prstGeom>
        </p:spPr>
      </p:pic>
      <p:graphicFrame>
        <p:nvGraphicFramePr>
          <p:cNvPr id="16" name="Table 12"/>
          <p:cNvGraphicFramePr>
            <a:graphicFrameLocks noGrp="1"/>
          </p:cNvGraphicFramePr>
          <p:nvPr/>
        </p:nvGraphicFramePr>
        <p:xfrm>
          <a:off x="13030200" y="4100031"/>
          <a:ext cx="7941858" cy="5515937"/>
        </p:xfrm>
        <a:graphic>
          <a:graphicData uri="http://schemas.openxmlformats.org/drawingml/2006/table">
            <a:tbl>
              <a:tblPr/>
              <a:tblGrid>
                <a:gridCol w="1843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9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Type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name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Rand 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we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Rand 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re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Rand 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wdata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Logic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rdata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bit</a:t>
                      </a:r>
                      <a:endParaRPr kumimoji="0" lang="en-US" altLang="ko-KR" sz="36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full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bit</a:t>
                      </a:r>
                      <a:endParaRPr kumimoji="0" lang="en-US" altLang="ko-KR" sz="36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6929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3600" b="0" i="0" u="none" strike="noStrike" kern="1200" cap="none" spc="0" normalizeH="0" baseline="0"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Pretendard Regular"/>
                          <a:ea typeface="+mn-ea"/>
                          <a:cs typeface="+mn-cs"/>
                        </a:rPr>
                        <a:t>empty</a:t>
                      </a:r>
                      <a:endParaRPr kumimoji="0" lang="en-US" altLang="ko-KR" sz="3600" b="0" i="0" u="none" strike="noStrike" kern="1200" cap="none" spc="0" normalizeH="0" baseline="0"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400" marR="25400" marT="70356" marB="70356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6929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1828800" y="2590800"/>
            <a:ext cx="3276600" cy="131016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2588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070627" y="3887439"/>
            <a:ext cx="13007220" cy="6907561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477491" y="2159246"/>
            <a:ext cx="8170218" cy="10201145"/>
          </a:xfrm>
          <a:prstGeom prst="rect">
            <a:avLst/>
          </a:prstGeom>
        </p:spPr>
      </p:pic>
      <p:sp>
        <p:nvSpPr>
          <p:cNvPr id="22" name="화살표: 아래쪽 21"/>
          <p:cNvSpPr/>
          <p:nvPr/>
        </p:nvSpPr>
        <p:spPr>
          <a:xfrm>
            <a:off x="13812348" y="3266293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0" name="화살표: 아래쪽 29"/>
          <p:cNvSpPr/>
          <p:nvPr/>
        </p:nvSpPr>
        <p:spPr>
          <a:xfrm>
            <a:off x="15116275" y="3266292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5" name="화살표: 아래쪽 34"/>
          <p:cNvSpPr/>
          <p:nvPr/>
        </p:nvSpPr>
        <p:spPr>
          <a:xfrm>
            <a:off x="16525122" y="3290176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3" name="화살표: 아래쪽 42"/>
          <p:cNvSpPr/>
          <p:nvPr/>
        </p:nvSpPr>
        <p:spPr>
          <a:xfrm>
            <a:off x="17838720" y="3304135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4" name="화살표: 아래쪽 43"/>
          <p:cNvSpPr/>
          <p:nvPr/>
        </p:nvSpPr>
        <p:spPr>
          <a:xfrm>
            <a:off x="19232644" y="3285627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5" name="화살표: 아래쪽 44"/>
          <p:cNvSpPr/>
          <p:nvPr/>
        </p:nvSpPr>
        <p:spPr>
          <a:xfrm>
            <a:off x="20570072" y="3275391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6" name="화살표: 아래쪽 45"/>
          <p:cNvSpPr/>
          <p:nvPr/>
        </p:nvSpPr>
        <p:spPr>
          <a:xfrm>
            <a:off x="21907500" y="3253782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9" name="화살표: 아래쪽 48"/>
          <p:cNvSpPr/>
          <p:nvPr/>
        </p:nvSpPr>
        <p:spPr>
          <a:xfrm>
            <a:off x="14325600" y="7362828"/>
            <a:ext cx="228600" cy="406582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0" name="화살표: 아래쪽 49"/>
          <p:cNvSpPr/>
          <p:nvPr/>
        </p:nvSpPr>
        <p:spPr>
          <a:xfrm>
            <a:off x="15663304" y="7362828"/>
            <a:ext cx="228600" cy="406582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1" name="화살표: 아래쪽 50"/>
          <p:cNvSpPr/>
          <p:nvPr/>
        </p:nvSpPr>
        <p:spPr>
          <a:xfrm>
            <a:off x="17001008" y="7341219"/>
            <a:ext cx="228600" cy="406582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2" name="화살표: 아래쪽 51"/>
          <p:cNvSpPr/>
          <p:nvPr/>
        </p:nvSpPr>
        <p:spPr>
          <a:xfrm>
            <a:off x="19682326" y="10414000"/>
            <a:ext cx="228600" cy="100214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3" name="화살표: 아래쪽 52"/>
          <p:cNvSpPr/>
          <p:nvPr/>
        </p:nvSpPr>
        <p:spPr>
          <a:xfrm>
            <a:off x="21123032" y="10427854"/>
            <a:ext cx="228600" cy="100214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4" name="화살표: 아래쪽 53"/>
          <p:cNvSpPr/>
          <p:nvPr/>
        </p:nvSpPr>
        <p:spPr>
          <a:xfrm>
            <a:off x="18224412" y="7362828"/>
            <a:ext cx="245807" cy="406717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6" name="직사각형 55"/>
          <p:cNvSpPr/>
          <p:nvPr/>
        </p:nvSpPr>
        <p:spPr>
          <a:xfrm>
            <a:off x="14554200" y="2286000"/>
            <a:ext cx="5562600" cy="5892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5400">
                <a:solidFill>
                  <a:srgbClr val="FF0000"/>
                </a:solidFill>
              </a:rPr>
              <a:t>driver</a:t>
            </a:r>
            <a:endParaRPr lang="ko-KR" altLang="en-US" sz="5400">
              <a:solidFill>
                <a:srgbClr val="FF0000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14554200" y="11687517"/>
            <a:ext cx="5562600" cy="5892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5400">
                <a:solidFill>
                  <a:srgbClr val="0070C0"/>
                </a:solidFill>
              </a:rPr>
              <a:t>monitor</a:t>
            </a:r>
            <a:endParaRPr lang="ko-KR" altLang="en-US" sz="5400">
              <a:solidFill>
                <a:srgbClr val="0070C0"/>
              </a:solidFill>
            </a:endParaRPr>
          </a:p>
        </p:txBody>
      </p:sp>
      <p:sp>
        <p:nvSpPr>
          <p:cNvPr id="58" name="화살표: 아래쪽 57"/>
          <p:cNvSpPr/>
          <p:nvPr/>
        </p:nvSpPr>
        <p:spPr>
          <a:xfrm>
            <a:off x="13812348" y="3284490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9" name="화살표: 아래쪽 58"/>
          <p:cNvSpPr/>
          <p:nvPr/>
        </p:nvSpPr>
        <p:spPr>
          <a:xfrm>
            <a:off x="14325600" y="7381025"/>
            <a:ext cx="228600" cy="406582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1828800" y="5282128"/>
            <a:ext cx="7315200" cy="172827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072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77491" y="2247900"/>
            <a:ext cx="8170218" cy="10201145"/>
          </a:xfrm>
          <a:prstGeom prst="rect">
            <a:avLst/>
          </a:prstGeom>
        </p:spPr>
      </p:pic>
      <p:sp>
        <p:nvSpPr>
          <p:cNvPr id="14" name="직사각형 13"/>
          <p:cNvSpPr/>
          <p:nvPr/>
        </p:nvSpPr>
        <p:spPr>
          <a:xfrm>
            <a:off x="14226146" y="4089310"/>
            <a:ext cx="3551707" cy="11176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6000">
                <a:solidFill>
                  <a:schemeClr val="tx1"/>
                </a:solidFill>
              </a:rPr>
              <a:t>Q list</a:t>
            </a:r>
            <a:endParaRPr lang="ko-KR" altLang="en-US" sz="600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935199" y="2133600"/>
            <a:ext cx="213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/>
              <a:t>wdata</a:t>
            </a:r>
            <a:endParaRPr lang="ko-KR" altLang="en-US" sz="5400"/>
          </a:p>
        </p:txBody>
      </p:sp>
      <p:cxnSp>
        <p:nvCxnSpPr>
          <p:cNvPr id="18" name="직선 화살표 연결선 17"/>
          <p:cNvCxnSpPr>
            <a:endCxn id="14" idx="0"/>
          </p:cNvCxnSpPr>
          <p:nvPr/>
        </p:nvCxnSpPr>
        <p:spPr>
          <a:xfrm>
            <a:off x="16001999" y="3022510"/>
            <a:ext cx="1" cy="10668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>
            <a:off x="16078200" y="5206915"/>
            <a:ext cx="0" cy="185146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3868400" y="7083214"/>
            <a:ext cx="46481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/>
              <a:t>First input data</a:t>
            </a:r>
            <a:endParaRPr lang="ko-KR" altLang="en-US" sz="5400"/>
          </a:p>
        </p:txBody>
      </p:sp>
      <p:sp>
        <p:nvSpPr>
          <p:cNvPr id="21" name="TextBox 20"/>
          <p:cNvSpPr txBox="1"/>
          <p:nvPr/>
        </p:nvSpPr>
        <p:spPr>
          <a:xfrm>
            <a:off x="19888200" y="2348570"/>
            <a:ext cx="2133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/>
              <a:t>rdata</a:t>
            </a:r>
            <a:endParaRPr lang="ko-KR" altLang="en-US" sz="5400"/>
          </a:p>
        </p:txBody>
      </p:sp>
      <p:sp>
        <p:nvSpPr>
          <p:cNvPr id="22" name="직사각형 21"/>
          <p:cNvSpPr/>
          <p:nvPr/>
        </p:nvSpPr>
        <p:spPr>
          <a:xfrm>
            <a:off x="16971492" y="8975125"/>
            <a:ext cx="3551707" cy="11176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6000">
                <a:solidFill>
                  <a:schemeClr val="tx1"/>
                </a:solidFill>
              </a:rPr>
              <a:t>T/F</a:t>
            </a:r>
            <a:endParaRPr lang="ko-KR" altLang="en-US" sz="6000">
              <a:solidFill>
                <a:schemeClr val="tx1"/>
              </a:solidFill>
            </a:endParaRPr>
          </a:p>
        </p:txBody>
      </p:sp>
      <p:cxnSp>
        <p:nvCxnSpPr>
          <p:cNvPr id="26" name="연결선: 꺾임 25"/>
          <p:cNvCxnSpPr/>
          <p:nvPr/>
        </p:nvCxnSpPr>
        <p:spPr>
          <a:xfrm rot="16200000" flipH="1">
            <a:off x="15697067" y="8336312"/>
            <a:ext cx="1553957" cy="944094"/>
          </a:xfrm>
          <a:prstGeom prst="bentConnector3">
            <a:avLst>
              <a:gd name="adj1" fmla="val 100061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/>
          <p:cNvCxnSpPr>
            <a:endCxn id="22" idx="3"/>
          </p:cNvCxnSpPr>
          <p:nvPr/>
        </p:nvCxnSpPr>
        <p:spPr>
          <a:xfrm rot="5400000">
            <a:off x="17534192" y="6240119"/>
            <a:ext cx="6282818" cy="304800"/>
          </a:xfrm>
          <a:prstGeom prst="bentConnector2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3129658" y="3233622"/>
            <a:ext cx="36110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2800"/>
              <a:t>We &amp;&amp; !full</a:t>
            </a:r>
            <a:endParaRPr lang="ko-KR" altLang="en-US" sz="2800"/>
          </a:p>
        </p:txBody>
      </p:sp>
      <p:sp>
        <p:nvSpPr>
          <p:cNvPr id="38" name="TextBox 37"/>
          <p:cNvSpPr txBox="1"/>
          <p:nvPr/>
        </p:nvSpPr>
        <p:spPr>
          <a:xfrm>
            <a:off x="18211800" y="10631061"/>
            <a:ext cx="36110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2800"/>
              <a:t>Re &amp;&amp; !empty</a:t>
            </a:r>
            <a:endParaRPr lang="ko-KR" altLang="en-US" sz="2800"/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18747346" y="10092730"/>
            <a:ext cx="0" cy="185146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6167531" y="2628808"/>
            <a:ext cx="3276600" cy="131016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8304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068129"/>
            <a:ext cx="24384000" cy="6030153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5400" y="2144799"/>
            <a:ext cx="6400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</a:t>
            </a:r>
            <a:endParaRPr lang="ko-KR" altLang="en-US" sz="5400" b="1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6"/>
          <a:srcRect b="54140"/>
          <a:stretch>
            <a:fillRect/>
          </a:stretch>
        </p:blipFill>
        <p:spPr>
          <a:xfrm>
            <a:off x="6248400" y="9118601"/>
            <a:ext cx="10739269" cy="3555999"/>
          </a:xfrm>
          <a:prstGeom prst="rect">
            <a:avLst/>
          </a:prstGeom>
        </p:spPr>
      </p:pic>
      <p:sp>
        <p:nvSpPr>
          <p:cNvPr id="15" name="화살표: 아래쪽 14"/>
          <p:cNvSpPr/>
          <p:nvPr/>
        </p:nvSpPr>
        <p:spPr>
          <a:xfrm>
            <a:off x="12420600" y="2196772"/>
            <a:ext cx="190500" cy="149646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화살표: 아래쪽 15"/>
          <p:cNvSpPr/>
          <p:nvPr/>
        </p:nvSpPr>
        <p:spPr>
          <a:xfrm rot="10800000">
            <a:off x="13487400" y="2242488"/>
            <a:ext cx="190500" cy="144278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직사각형 19"/>
          <p:cNvSpPr/>
          <p:nvPr/>
        </p:nvSpPr>
        <p:spPr>
          <a:xfrm>
            <a:off x="7620000" y="9702800"/>
            <a:ext cx="9525000" cy="6404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7620000" y="10388550"/>
            <a:ext cx="9525000" cy="64041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408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068128"/>
            <a:ext cx="24384000" cy="6030153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5400" y="2144799"/>
            <a:ext cx="6400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</a:t>
            </a:r>
            <a:endParaRPr lang="ko-KR" altLang="en-US" sz="5400" b="1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583150" y="9220200"/>
            <a:ext cx="10739269" cy="3987799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6620680" y="10287001"/>
            <a:ext cx="1913719" cy="30827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4859000" y="3068127"/>
            <a:ext cx="2895600" cy="5990348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2980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 dirty="0"/>
              <a:t>- Verification(16</a:t>
            </a:r>
            <a:r>
              <a:rPr lang="ko-KR" altLang="en-US" sz="5400" b="1" dirty="0"/>
              <a:t>번 </a:t>
            </a:r>
            <a:r>
              <a:rPr lang="en-US" altLang="ko-KR" sz="5400" b="1" dirty="0"/>
              <a:t>we)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9739743"/>
            <a:ext cx="1574070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we -&gt;    empty = 0</a:t>
            </a:r>
          </a:p>
          <a:p>
            <a:pPr lvl="0">
              <a:defRPr/>
            </a:pPr>
            <a:r>
              <a:rPr lang="en-US" altLang="ko-KR" sz="5400" b="1"/>
              <a:t>We -&gt;   (wptr_next == rptr_reg)    -&gt;    full = 1</a:t>
            </a:r>
          </a:p>
          <a:p>
            <a:pPr lvl="0">
              <a:defRPr/>
            </a:pPr>
            <a:r>
              <a:rPr lang="en-US" altLang="ko-KR" sz="5400" b="1"/>
              <a:t>Re  -&gt;    full = 0</a:t>
            </a:r>
            <a:endParaRPr lang="ko-KR" altLang="en-US" sz="5400" b="1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145404"/>
            <a:ext cx="24384000" cy="624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428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66907" y="3318827"/>
            <a:ext cx="22850186" cy="744974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Verification(16</a:t>
            </a:r>
            <a:r>
              <a:rPr lang="ko-KR" altLang="en-US" sz="5400" b="1"/>
              <a:t>번 </a:t>
            </a:r>
            <a:r>
              <a:rPr lang="en-US" altLang="ko-KR" sz="5400" b="1"/>
              <a:t>we)</a:t>
            </a:r>
          </a:p>
        </p:txBody>
      </p:sp>
    </p:spTree>
    <p:extLst>
      <p:ext uri="{BB962C8B-B14F-4D97-AF65-F5344CB8AC3E}">
        <p14:creationId xmlns:p14="http://schemas.microsoft.com/office/powerpoint/2010/main" val="8487329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25497" y="10892923"/>
            <a:ext cx="145977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Re -&gt;   (wptr_reg == rptr_next)    -&gt;    empty = 1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-1137" y="3554606"/>
            <a:ext cx="24385136" cy="685183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Verification(16</a:t>
            </a:r>
            <a:r>
              <a:rPr lang="ko-KR" altLang="en-US" sz="5400" b="1"/>
              <a:t>번 </a:t>
            </a:r>
            <a:r>
              <a:rPr lang="en-US" altLang="ko-KR" sz="5400" b="1"/>
              <a:t>re)</a:t>
            </a:r>
          </a:p>
        </p:txBody>
      </p:sp>
    </p:spTree>
    <p:extLst>
      <p:ext uri="{BB962C8B-B14F-4D97-AF65-F5344CB8AC3E}">
        <p14:creationId xmlns:p14="http://schemas.microsoft.com/office/powerpoint/2010/main" val="9921782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25497" y="11195145"/>
            <a:ext cx="145977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we</a:t>
            </a:r>
            <a:r>
              <a:rPr lang="ko-KR" altLang="en-US" sz="5400" b="1"/>
              <a:t> </a:t>
            </a:r>
            <a:r>
              <a:rPr lang="en-US" altLang="ko-KR" sz="5400" b="1"/>
              <a:t>=</a:t>
            </a:r>
            <a:r>
              <a:rPr lang="ko-KR" altLang="en-US" sz="5400" b="1"/>
              <a:t> </a:t>
            </a:r>
            <a:r>
              <a:rPr lang="en-US" altLang="ko-KR" sz="5400" b="1"/>
              <a:t>1, re = 1   -&gt;  wptr_reg++, rptr_reg++;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ko-KR" altLang="en-US" sz="5400" b="1"/>
              <a:t>동시 </a:t>
            </a:r>
            <a:r>
              <a:rPr lang="en-US" altLang="ko-KR" sz="5400" b="1"/>
              <a:t>we= 1, re = 1)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-26158" y="3372928"/>
            <a:ext cx="24410158" cy="741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6044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77897" y="10601447"/>
            <a:ext cx="145977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full == 1 </a:t>
            </a:r>
            <a:r>
              <a:rPr lang="ko-KR" altLang="en-US" sz="5400" b="1"/>
              <a:t>상황</a:t>
            </a:r>
            <a:r>
              <a:rPr lang="en-US" altLang="ko-KR" sz="5400" b="1"/>
              <a:t>:</a:t>
            </a:r>
          </a:p>
          <a:p>
            <a:pPr lvl="1">
              <a:defRPr/>
            </a:pPr>
            <a:r>
              <a:rPr lang="en-US" altLang="ko-KR" sz="5400" b="1"/>
              <a:t>	we</a:t>
            </a:r>
            <a:r>
              <a:rPr lang="ko-KR" altLang="en-US" sz="5400" b="1"/>
              <a:t> </a:t>
            </a:r>
            <a:r>
              <a:rPr lang="en-US" altLang="ko-KR" sz="5400" b="1"/>
              <a:t>=</a:t>
            </a:r>
            <a:r>
              <a:rPr lang="ko-KR" altLang="en-US" sz="5400" b="1"/>
              <a:t> </a:t>
            </a:r>
            <a:r>
              <a:rPr lang="en-US" altLang="ko-KR" sz="5400" b="1"/>
              <a:t>1, re = 1   -&gt;  full = 0, rptr_reg++;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ko-KR" altLang="en-US" sz="5400" b="1"/>
              <a:t>동시 </a:t>
            </a:r>
            <a:r>
              <a:rPr lang="en-US" altLang="ko-KR" sz="5400" b="1"/>
              <a:t>we= 1, re = 1)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2982" y="3585901"/>
            <a:ext cx="24377176" cy="667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18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77897" y="10779647"/>
            <a:ext cx="145977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empty == 1 </a:t>
            </a:r>
            <a:r>
              <a:rPr lang="ko-KR" altLang="en-US" sz="5400" b="1"/>
              <a:t>상황</a:t>
            </a:r>
            <a:r>
              <a:rPr lang="en-US" altLang="ko-KR" sz="5400" b="1"/>
              <a:t>:</a:t>
            </a:r>
          </a:p>
          <a:p>
            <a:pPr lvl="1">
              <a:defRPr/>
            </a:pPr>
            <a:r>
              <a:rPr lang="en-US" altLang="ko-KR" sz="5400" b="1"/>
              <a:t>	we</a:t>
            </a:r>
            <a:r>
              <a:rPr lang="ko-KR" altLang="en-US" sz="5400" b="1"/>
              <a:t> </a:t>
            </a:r>
            <a:r>
              <a:rPr lang="en-US" altLang="ko-KR" sz="5400" b="1"/>
              <a:t>=</a:t>
            </a:r>
            <a:r>
              <a:rPr lang="ko-KR" altLang="en-US" sz="5400" b="1"/>
              <a:t> </a:t>
            </a:r>
            <a:r>
              <a:rPr lang="en-US" altLang="ko-KR" sz="5400" b="1"/>
              <a:t>1, re = 1   -&gt;  empty = 0, wptr_reg++;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ko-KR" altLang="en-US" sz="5400" b="1"/>
              <a:t>동시 </a:t>
            </a:r>
            <a:r>
              <a:rPr lang="en-US" altLang="ko-KR" sz="5400" b="1"/>
              <a:t>we= 1, re = 1)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-11373" y="3772109"/>
            <a:ext cx="24395372" cy="690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0117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8534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95400" y="2144799"/>
            <a:ext cx="9372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Verification(random 1000 cycle)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848600" y="3426986"/>
            <a:ext cx="9258296" cy="797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1123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 Simulate Scenario</a:t>
            </a:r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524502" y="4222750"/>
            <a:ext cx="889000" cy="527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11049002" y="4222750"/>
            <a:ext cx="889000" cy="5270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6560802" y="4222750"/>
            <a:ext cx="889000" cy="527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1625602" y="8121650"/>
            <a:ext cx="34290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7150102" y="8121650"/>
            <a:ext cx="3429000" cy="127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5400000">
            <a:off x="12674602" y="8121650"/>
            <a:ext cx="3429000" cy="1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3835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599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84402" y="657225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35400" y="7600950"/>
            <a:ext cx="4768852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Run 1 cycle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Check Rx + FIFO data Flow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59900" y="7600950"/>
            <a:ext cx="38989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Run 1000 cycle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884400" y="7600950"/>
            <a:ext cx="58293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</a:t>
            </a: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Baud delay rate Allowable range</a:t>
            </a:r>
          </a:p>
        </p:txBody>
      </p:sp>
      <p:pic>
        <p:nvPicPr>
          <p:cNvPr id="27" name="Picture 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408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47800" y="2163250"/>
            <a:ext cx="7846440" cy="102065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0363200" y="2144799"/>
            <a:ext cx="11839211" cy="5007288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1441710" y="7322622"/>
            <a:ext cx="9739340" cy="500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3548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47800" y="2163250"/>
            <a:ext cx="7846440" cy="10206550"/>
          </a:xfrm>
          <a:prstGeom prst="rect">
            <a:avLst/>
          </a:prstGeom>
        </p:spPr>
      </p:pic>
      <p:graphicFrame>
        <p:nvGraphicFramePr>
          <p:cNvPr id="5" name="Table 12"/>
          <p:cNvGraphicFramePr>
            <a:graphicFrameLocks noGrp="1"/>
          </p:cNvGraphicFramePr>
          <p:nvPr/>
        </p:nvGraphicFramePr>
        <p:xfrm>
          <a:off x="13030200" y="4100031"/>
          <a:ext cx="7941858" cy="5015609"/>
        </p:xfrm>
        <a:graphic>
          <a:graphicData uri="http://schemas.openxmlformats.org/drawingml/2006/table">
            <a:tbl>
              <a:tblPr/>
              <a:tblGrid>
                <a:gridCol w="1843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9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Type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name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Randc 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ascii_data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re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logic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Fifo_data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</a:rPr>
                        <a:t>full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Bit</a:t>
                      </a: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empty</a:t>
                      </a:r>
                    </a:p>
                  </a:txBody>
                  <a:tcPr marL="25400" marR="25400" marT="70356" marB="70356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1600200" y="2667000"/>
            <a:ext cx="3276600" cy="131016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8752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47800" y="2163250"/>
            <a:ext cx="7846440" cy="1020655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600200" y="4992321"/>
            <a:ext cx="4848367" cy="19308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7728820" y="2455412"/>
            <a:ext cx="5893558" cy="86300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097000" y="11435938"/>
            <a:ext cx="8305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600"/>
              <a:t>BAUD_REPIOD = (100MHz / 9600bpm)*10</a:t>
            </a:r>
            <a:endParaRPr lang="ko-KR" altLang="en-US" sz="3600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385021" y="2392439"/>
            <a:ext cx="6253018" cy="863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4358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47800" y="2163250"/>
            <a:ext cx="7846440" cy="10206550"/>
          </a:xfrm>
          <a:prstGeom prst="rect">
            <a:avLst/>
          </a:prstGeom>
        </p:spPr>
      </p:pic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13921346" y="5651310"/>
            <a:ext cx="3551707" cy="111760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 sz="6000">
                <a:solidFill>
                  <a:schemeClr val="tx1"/>
                </a:solidFill>
              </a:rPr>
              <a:t>mailbox</a:t>
            </a:r>
            <a:endParaRPr lang="ko-KR" altLang="en-US" sz="6000" b="1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10800" y="2373399"/>
            <a:ext cx="120418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6000">
                <a:solidFill>
                  <a:prstClr val="black"/>
                </a:solidFill>
                <a:latin typeface="Calibri"/>
                <a:ea typeface="맑은 고딕"/>
              </a:rPr>
              <a:t>Ascii data + Interface I/O</a:t>
            </a:r>
            <a:endParaRPr kumimoji="0" lang="ko-KR" altLang="en-US" sz="6000" b="1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15697200" y="3389062"/>
            <a:ext cx="0" cy="22497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15697199" y="6768915"/>
            <a:ext cx="0" cy="22497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542404" y="9223991"/>
            <a:ext cx="8309589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6000">
                <a:solidFill>
                  <a:prstClr val="black"/>
                </a:solidFill>
                <a:latin typeface="Calibri"/>
                <a:ea typeface="맑은 고딕"/>
              </a:rPr>
              <a:t>Scoreboard</a:t>
            </a:r>
          </a:p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en-US" altLang="ko-KR" sz="6000" b="1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altLang="ko-KR" sz="6000">
                <a:solidFill>
                  <a:prstClr val="black"/>
                </a:solidFill>
                <a:latin typeface="Calibri"/>
                <a:ea typeface="맑은 고딕"/>
              </a:rPr>
              <a:t>ASCII DATA == tr.rx_data</a:t>
            </a:r>
            <a:endParaRPr kumimoji="0" lang="ko-KR" altLang="en-US" sz="6000" i="0" u="none" strike="noStrike" kern="1200" cap="none" spc="0" normalizeH="0" baseline="0">
              <a:solidFill>
                <a:prstClr val="black"/>
              </a:solidFill>
              <a:effectLst/>
              <a:uLnTx/>
              <a:uFillTx/>
              <a:latin typeface="Calibri"/>
              <a:ea typeface="맑은 고딕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090857" y="3968789"/>
            <a:ext cx="47643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2800"/>
              <a:t>@(pop_fifo_ev)</a:t>
            </a:r>
            <a:endParaRPr lang="ko-KR" altLang="en-US" sz="2800"/>
          </a:p>
        </p:txBody>
      </p:sp>
      <p:sp>
        <p:nvSpPr>
          <p:cNvPr id="19" name="직사각형 18"/>
          <p:cNvSpPr/>
          <p:nvPr/>
        </p:nvSpPr>
        <p:spPr>
          <a:xfrm>
            <a:off x="5994739" y="2257309"/>
            <a:ext cx="2969527" cy="46006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7059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Verification(check gen RX)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970392" y="5767736"/>
            <a:ext cx="12727808" cy="486363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931176" y="3809807"/>
            <a:ext cx="8305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600"/>
              <a:t>BAUD_REPIOD = (100MHz / 9600bpm)*10 = 104160</a:t>
            </a:r>
            <a:endParaRPr lang="ko-KR" altLang="en-US" sz="360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85800" y="3809807"/>
            <a:ext cx="9709986" cy="7102526"/>
          </a:xfrm>
          <a:prstGeom prst="rect">
            <a:avLst/>
          </a:prstGeom>
        </p:spPr>
      </p:pic>
      <p:sp>
        <p:nvSpPr>
          <p:cNvPr id="16" name="직사각형 15"/>
          <p:cNvSpPr/>
          <p:nvPr/>
        </p:nvSpPr>
        <p:spPr>
          <a:xfrm>
            <a:off x="10972800" y="5791200"/>
            <a:ext cx="5257800" cy="486519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5466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Verification(check gen RX)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9464" y="11294070"/>
            <a:ext cx="145977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Rx  = 10bit * 104160 = 1041600ns = 1041.6us 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117118"/>
            <a:ext cx="24384000" cy="640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3198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Verification(module RX)</a:t>
            </a: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372929"/>
            <a:ext cx="24384000" cy="711727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0" y="10972883"/>
            <a:ext cx="173705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B_tick  = 100Mhz / (9600bps * 16</a:t>
            </a:r>
            <a:r>
              <a:rPr lang="ko-KR" altLang="en-US" sz="5400" b="1"/>
              <a:t>배</a:t>
            </a:r>
            <a:r>
              <a:rPr lang="en-US" altLang="ko-KR" sz="5400" b="1"/>
              <a:t>)= 6.51us</a:t>
            </a:r>
          </a:p>
        </p:txBody>
      </p:sp>
    </p:spTree>
    <p:extLst>
      <p:ext uri="{BB962C8B-B14F-4D97-AF65-F5344CB8AC3E}">
        <p14:creationId xmlns:p14="http://schemas.microsoft.com/office/powerpoint/2010/main" val="37527722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Verification(module RX) input(8’hB6)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5"/>
          <a:srcRect t="9050"/>
          <a:stretch>
            <a:fillRect/>
          </a:stretch>
        </p:blipFill>
        <p:spPr>
          <a:xfrm>
            <a:off x="20472" y="3835399"/>
            <a:ext cx="24363528" cy="7137484"/>
          </a:xfrm>
          <a:prstGeom prst="rect">
            <a:avLst/>
          </a:prstGeom>
        </p:spPr>
      </p:pic>
      <p:sp>
        <p:nvSpPr>
          <p:cNvPr id="18" name="타원 17"/>
          <p:cNvSpPr/>
          <p:nvPr/>
        </p:nvSpPr>
        <p:spPr>
          <a:xfrm>
            <a:off x="9906000" y="5562600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cxnSp>
        <p:nvCxnSpPr>
          <p:cNvPr id="22" name="직선 화살표 연결선 21"/>
          <p:cNvCxnSpPr/>
          <p:nvPr/>
        </p:nvCxnSpPr>
        <p:spPr>
          <a:xfrm>
            <a:off x="10591800" y="6633570"/>
            <a:ext cx="1981200" cy="144363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2801600" y="7048981"/>
            <a:ext cx="1981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>
                <a:highlight>
                  <a:srgbClr val="FFFF00"/>
                </a:highlight>
              </a:rPr>
              <a:t>START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135600" y="7048981"/>
            <a:ext cx="1981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>
                <a:highlight>
                  <a:srgbClr val="FFFF00"/>
                </a:highlight>
              </a:rPr>
              <a:t>DATA</a:t>
            </a:r>
            <a:endParaRPr lang="ko-KR" altLang="en-US" sz="5400">
              <a:highlight>
                <a:srgbClr val="FFFF00"/>
              </a:highlight>
            </a:endParaRPr>
          </a:p>
        </p:txBody>
      </p:sp>
      <p:cxnSp>
        <p:nvCxnSpPr>
          <p:cNvPr id="4" name="직선 화살표 연결선 3"/>
          <p:cNvCxnSpPr/>
          <p:nvPr/>
        </p:nvCxnSpPr>
        <p:spPr>
          <a:xfrm>
            <a:off x="14782800" y="7490174"/>
            <a:ext cx="3200400" cy="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3297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351320"/>
            <a:ext cx="24384000" cy="8008315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Verification(module RX) input(8’hB6)</a:t>
            </a:r>
          </a:p>
        </p:txBody>
      </p:sp>
      <p:cxnSp>
        <p:nvCxnSpPr>
          <p:cNvPr id="4" name="직선 화살표 연결선 3"/>
          <p:cNvCxnSpPr/>
          <p:nvPr/>
        </p:nvCxnSpPr>
        <p:spPr>
          <a:xfrm>
            <a:off x="10210800" y="6395689"/>
            <a:ext cx="3352800" cy="38151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18135600" y="6395689"/>
            <a:ext cx="3352800" cy="38151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타원 30"/>
          <p:cNvSpPr/>
          <p:nvPr/>
        </p:nvSpPr>
        <p:spPr>
          <a:xfrm>
            <a:off x="9220200" y="5836889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17145000" y="5740400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4267200" y="11446470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B_tick_cnt </a:t>
            </a:r>
            <a:r>
              <a:rPr lang="ko-KR" altLang="en-US" sz="5400" b="1"/>
              <a:t> </a:t>
            </a:r>
            <a:r>
              <a:rPr lang="en-US" altLang="ko-KR" sz="5400" b="1"/>
              <a:t>15</a:t>
            </a:r>
            <a:r>
              <a:rPr lang="ko-KR" altLang="en-US" sz="5400" b="1"/>
              <a:t>마다 </a:t>
            </a:r>
            <a:r>
              <a:rPr lang="en-US" altLang="ko-KR" sz="5400" b="1"/>
              <a:t>buf_reg</a:t>
            </a:r>
            <a:r>
              <a:rPr lang="ko-KR" altLang="en-US" sz="5400" b="1"/>
              <a:t>의 </a:t>
            </a:r>
            <a:r>
              <a:rPr lang="en-US" altLang="ko-KR" sz="5400" b="1"/>
              <a:t>MSB</a:t>
            </a:r>
            <a:r>
              <a:rPr lang="ko-KR" altLang="en-US" sz="5400" b="1"/>
              <a:t>에 반영 및 </a:t>
            </a:r>
            <a:r>
              <a:rPr lang="en-US" altLang="ko-KR" sz="5400" b="1"/>
              <a:t>shift </a:t>
            </a:r>
            <a:r>
              <a:rPr lang="ko-KR" altLang="en-US" sz="5400" b="1"/>
              <a:t>발생</a:t>
            </a:r>
            <a:endParaRPr lang="en-US" altLang="ko-KR" sz="5400" b="1"/>
          </a:p>
        </p:txBody>
      </p:sp>
    </p:spTree>
    <p:extLst>
      <p:ext uri="{BB962C8B-B14F-4D97-AF65-F5344CB8AC3E}">
        <p14:creationId xmlns:p14="http://schemas.microsoft.com/office/powerpoint/2010/main" val="41973418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351320"/>
            <a:ext cx="24384000" cy="8008315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Verification(module RX) input(8’hB6)</a:t>
            </a:r>
          </a:p>
        </p:txBody>
      </p:sp>
      <p:cxnSp>
        <p:nvCxnSpPr>
          <p:cNvPr id="4" name="직선 화살표 연결선 3"/>
          <p:cNvCxnSpPr/>
          <p:nvPr/>
        </p:nvCxnSpPr>
        <p:spPr>
          <a:xfrm>
            <a:off x="10210800" y="6395689"/>
            <a:ext cx="3352800" cy="38151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>
            <a:off x="18135600" y="6395689"/>
            <a:ext cx="3352800" cy="3815111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타원 30"/>
          <p:cNvSpPr/>
          <p:nvPr/>
        </p:nvSpPr>
        <p:spPr>
          <a:xfrm>
            <a:off x="9220200" y="5836889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17145000" y="5740400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4267200" y="11446470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B_tick_cnt </a:t>
            </a:r>
            <a:r>
              <a:rPr lang="ko-KR" altLang="en-US" sz="5400" b="1"/>
              <a:t> </a:t>
            </a:r>
            <a:r>
              <a:rPr lang="en-US" altLang="ko-KR" sz="5400" b="1"/>
              <a:t>15</a:t>
            </a:r>
            <a:r>
              <a:rPr lang="ko-KR" altLang="en-US" sz="5400" b="1"/>
              <a:t>마다 </a:t>
            </a:r>
            <a:r>
              <a:rPr lang="en-US" altLang="ko-KR" sz="5400" b="1"/>
              <a:t>buf_reg</a:t>
            </a:r>
            <a:r>
              <a:rPr lang="ko-KR" altLang="en-US" sz="5400" b="1"/>
              <a:t>의 </a:t>
            </a:r>
            <a:r>
              <a:rPr lang="en-US" altLang="ko-KR" sz="5400" b="1"/>
              <a:t>MSB</a:t>
            </a:r>
            <a:r>
              <a:rPr lang="ko-KR" altLang="en-US" sz="5400" b="1"/>
              <a:t>에 반영 및 </a:t>
            </a:r>
            <a:r>
              <a:rPr lang="en-US" altLang="ko-KR" sz="5400" b="1"/>
              <a:t>shift </a:t>
            </a:r>
            <a:r>
              <a:rPr lang="ko-KR" altLang="en-US" sz="5400" b="1"/>
              <a:t>발생</a:t>
            </a:r>
            <a:endParaRPr lang="en-US" altLang="ko-KR" sz="5400" b="1"/>
          </a:p>
        </p:txBody>
      </p:sp>
    </p:spTree>
    <p:extLst>
      <p:ext uri="{BB962C8B-B14F-4D97-AF65-F5344CB8AC3E}">
        <p14:creationId xmlns:p14="http://schemas.microsoft.com/office/powerpoint/2010/main" val="16158820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 dirty="0"/>
              <a:t>- Verification(module RX) input(8’hB6)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11109536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(Rx_done == 1) </a:t>
            </a:r>
            <a:r>
              <a:rPr lang="en-US" altLang="ko-KR" sz="5400" b="1">
                <a:sym typeface="Wingdings"/>
              </a:rPr>
              <a:t></a:t>
            </a:r>
            <a:r>
              <a:rPr lang="en-US" altLang="ko-KR" sz="5400" b="1"/>
              <a:t> Rx_data = 8’b6 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211928"/>
            <a:ext cx="24384000" cy="7379872"/>
          </a:xfrm>
          <a:prstGeom prst="rect">
            <a:avLst/>
          </a:prstGeom>
        </p:spPr>
      </p:pic>
      <p:sp>
        <p:nvSpPr>
          <p:cNvPr id="14" name="타원 13"/>
          <p:cNvSpPr/>
          <p:nvPr/>
        </p:nvSpPr>
        <p:spPr>
          <a:xfrm>
            <a:off x="22872700" y="7315200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849584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Verification(RX </a:t>
            </a:r>
            <a:r>
              <a:rPr lang="en-US" altLang="ko-KR" sz="5400" b="1">
                <a:sym typeface="Wingdings"/>
              </a:rPr>
              <a:t> FIFO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4118" y="3505200"/>
            <a:ext cx="24349880" cy="7289800"/>
          </a:xfrm>
          <a:prstGeom prst="rect">
            <a:avLst/>
          </a:prstGeom>
        </p:spPr>
      </p:pic>
      <p:cxnSp>
        <p:nvCxnSpPr>
          <p:cNvPr id="18" name="직선 화살표 연결선 17"/>
          <p:cNvCxnSpPr/>
          <p:nvPr/>
        </p:nvCxnSpPr>
        <p:spPr>
          <a:xfrm>
            <a:off x="11882651" y="6781337"/>
            <a:ext cx="9072349" cy="320086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/>
          <p:cNvSpPr/>
          <p:nvPr/>
        </p:nvSpPr>
        <p:spPr>
          <a:xfrm>
            <a:off x="10896600" y="5984733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14782800" y="4975283"/>
            <a:ext cx="179581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6360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3713044"/>
            <a:ext cx="17983200" cy="7539156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Verification(RX </a:t>
            </a:r>
            <a:r>
              <a:rPr lang="en-US" altLang="ko-KR" sz="5400" b="1">
                <a:sym typeface="Wingdings"/>
              </a:rPr>
              <a:t> FIFO</a:t>
            </a:r>
            <a:r>
              <a:rPr lang="en-US" altLang="ko-KR" sz="5400" b="1"/>
              <a:t>) input(8’hB6)</a:t>
            </a:r>
          </a:p>
        </p:txBody>
      </p:sp>
      <p:sp>
        <p:nvSpPr>
          <p:cNvPr id="19" name="타원 18"/>
          <p:cNvSpPr/>
          <p:nvPr/>
        </p:nvSpPr>
        <p:spPr>
          <a:xfrm>
            <a:off x="7696200" y="10045875"/>
            <a:ext cx="990600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10439400" y="7315200"/>
            <a:ext cx="103381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5446215" y="11471227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Rx_done</a:t>
            </a:r>
            <a:r>
              <a:rPr lang="ko-KR" altLang="en-US" sz="5400" b="1"/>
              <a:t>은</a:t>
            </a:r>
            <a:r>
              <a:rPr lang="en-US" altLang="ko-KR" sz="5400" b="1"/>
              <a:t> uart_rx</a:t>
            </a:r>
            <a:r>
              <a:rPr lang="ko-KR" altLang="en-US" sz="5400" b="1"/>
              <a:t>신호를 다 보내기 전에 발생</a:t>
            </a:r>
            <a:endParaRPr lang="en-US" altLang="ko-KR" sz="5400" b="1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8080182" y="2585682"/>
            <a:ext cx="6253018" cy="863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6718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Verification(random 1000 clcye)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564562" y="5681450"/>
            <a:ext cx="9936557" cy="5525271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523999" y="4922134"/>
            <a:ext cx="10295441" cy="679379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542084" y="3497249"/>
            <a:ext cx="197083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rx_data </a:t>
            </a:r>
            <a:r>
              <a:rPr lang="ko-KR" altLang="en-US" sz="5400" b="1"/>
              <a:t>검증 </a:t>
            </a:r>
            <a:r>
              <a:rPr lang="en-US" altLang="ko-KR" sz="5400" b="1"/>
              <a:t>data</a:t>
            </a:r>
            <a:r>
              <a:rPr lang="ko-KR" altLang="en-US" sz="5400" b="1"/>
              <a:t> </a:t>
            </a:r>
            <a:r>
              <a:rPr lang="en-US" altLang="ko-KR" sz="5400" b="1"/>
              <a:t>: 14,22,55,59,85,123,185,209</a:t>
            </a:r>
            <a:r>
              <a:rPr lang="ko-KR" altLang="en-US" sz="5400" b="1"/>
              <a:t>제외된 </a:t>
            </a:r>
            <a:r>
              <a:rPr lang="en-US" altLang="ko-KR" sz="5400" b="1"/>
              <a:t>0~255 data</a:t>
            </a:r>
          </a:p>
        </p:txBody>
      </p:sp>
    </p:spTree>
    <p:extLst>
      <p:ext uri="{BB962C8B-B14F-4D97-AF65-F5344CB8AC3E}">
        <p14:creationId xmlns:p14="http://schemas.microsoft.com/office/powerpoint/2010/main" val="33634169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4782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Verification(missing cases 50 clcye)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48000" y="3377478"/>
            <a:ext cx="18821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rx_data </a:t>
            </a:r>
            <a:r>
              <a:rPr lang="ko-KR" altLang="en-US" sz="5400" b="1"/>
              <a:t>추가 검증 </a:t>
            </a:r>
            <a:r>
              <a:rPr lang="en-US" altLang="ko-KR" sz="5400" b="1"/>
              <a:t>data</a:t>
            </a:r>
            <a:r>
              <a:rPr lang="ko-KR" altLang="en-US" sz="5400" b="1"/>
              <a:t> </a:t>
            </a:r>
            <a:r>
              <a:rPr lang="en-US" altLang="ko-KR" sz="5400" b="1"/>
              <a:t>: 14,22,55,59,85,123,185,209</a:t>
            </a: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600200" y="4909174"/>
            <a:ext cx="8435783" cy="6561164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220200" y="6457876"/>
            <a:ext cx="13836450" cy="205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2059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Verification(baud delay rate)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10580" y="5202056"/>
            <a:ext cx="9816197" cy="7386935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810580" y="2960260"/>
            <a:ext cx="9816197" cy="226568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5621000" y="3670385"/>
            <a:ext cx="4575372" cy="800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0538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Verification(baud delay rate)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10580" y="5202056"/>
            <a:ext cx="9816197" cy="7386935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810580" y="2960260"/>
            <a:ext cx="9816197" cy="226568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8792628" y="4055126"/>
            <a:ext cx="4575372" cy="7492296"/>
          </a:xfrm>
          <a:prstGeom prst="rect">
            <a:avLst/>
          </a:prstGeom>
          <a:ln w="127000" cap="sq">
            <a:solidFill>
              <a:srgbClr val="000000"/>
            </a:solidFill>
            <a:miter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2192000" y="4055126"/>
            <a:ext cx="4911026" cy="7461503"/>
          </a:xfrm>
          <a:prstGeom prst="rect">
            <a:avLst/>
          </a:prstGeom>
          <a:ln w="127000" cap="sq">
            <a:solidFill>
              <a:srgbClr val="000000"/>
            </a:solidFill>
            <a:miter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11626777" y="3061305"/>
            <a:ext cx="49169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Add_rate = 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17108" y="3028568"/>
            <a:ext cx="49169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Add_rate = 1.1</a:t>
            </a:r>
          </a:p>
        </p:txBody>
      </p:sp>
    </p:spTree>
    <p:extLst>
      <p:ext uri="{BB962C8B-B14F-4D97-AF65-F5344CB8AC3E}">
        <p14:creationId xmlns:p14="http://schemas.microsoft.com/office/powerpoint/2010/main" val="7607719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08966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pic>
        <p:nvPicPr>
          <p:cNvPr id="3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5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Verification(baud delay rate)</a:t>
            </a:r>
          </a:p>
        </p:txBody>
      </p:sp>
      <p:graphicFrame>
        <p:nvGraphicFramePr>
          <p:cNvPr id="4" name="Table 12"/>
          <p:cNvGraphicFramePr>
            <a:graphicFrameLocks noGrp="1"/>
          </p:cNvGraphicFramePr>
          <p:nvPr/>
        </p:nvGraphicFramePr>
        <p:xfrm>
          <a:off x="4572000" y="4114800"/>
          <a:ext cx="14859001" cy="3602652"/>
        </p:xfrm>
        <a:graphic>
          <a:graphicData uri="http://schemas.openxmlformats.org/drawingml/2006/table">
            <a:tbl>
              <a:tblPr/>
              <a:tblGrid>
                <a:gridCol w="806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57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455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7668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rate</a:t>
                      </a:r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1.1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1.07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1.06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1.05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1.04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1.02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1.0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0.98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0.95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0.94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0.93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474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Total</a:t>
                      </a:r>
                      <a:endParaRPr lang="en-US" sz="360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Pass</a:t>
                      </a:r>
                      <a:endParaRPr lang="en-US" sz="360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99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fail</a:t>
                      </a:r>
                      <a:endParaRPr lang="en-US" sz="3600"/>
                    </a:p>
                  </a:txBody>
                  <a:tcPr marL="25400" marR="25400" marT="65362" marB="6536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-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50</a:t>
                      </a:r>
                    </a:p>
                  </a:txBody>
                  <a:tcPr marL="25400" marR="25400" marT="70356" marB="70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400800" y="9042812"/>
            <a:ext cx="990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Use Rx_delay rate = 95%  ~105%</a:t>
            </a:r>
          </a:p>
        </p:txBody>
      </p:sp>
    </p:spTree>
    <p:extLst>
      <p:ext uri="{BB962C8B-B14F-4D97-AF65-F5344CB8AC3E}">
        <p14:creationId xmlns:p14="http://schemas.microsoft.com/office/powerpoint/2010/main" val="42058986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8" name="TextBox 10"/>
          <p:cNvSpPr txBox="1"/>
          <p:nvPr/>
        </p:nvSpPr>
        <p:spPr>
          <a:xfrm>
            <a:off x="1270000" y="2997200"/>
            <a:ext cx="152654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altLang="ko-KR" sz="6666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</a:t>
            </a:r>
            <a:r>
              <a:rPr lang="en-US" altLang="ko-KR" sz="6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X + FIFO Simulate Scenario</a:t>
            </a:r>
          </a:p>
        </p:txBody>
      </p:sp>
      <p:pic>
        <p:nvPicPr>
          <p:cNvPr id="9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5695950" y="4076700"/>
            <a:ext cx="889000" cy="527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5400000">
            <a:off x="11220450" y="4076700"/>
            <a:ext cx="889000" cy="5270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797050" y="7975600"/>
            <a:ext cx="34290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 rot="5400000">
            <a:off x="7321550" y="7975600"/>
            <a:ext cx="3429000" cy="127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4006850" y="64262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31350" y="64262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006848" y="7454900"/>
            <a:ext cx="4768852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Run 1 cycle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Check Tx + FIFO data Flow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31348" y="7454900"/>
            <a:ext cx="3898900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Run 1000 cycle</a:t>
            </a:r>
          </a:p>
        </p:txBody>
      </p:sp>
      <p:pic>
        <p:nvPicPr>
          <p:cNvPr id="2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4" name="Picture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16744950" y="4076700"/>
            <a:ext cx="889000" cy="5270500"/>
          </a:xfrm>
          <a:prstGeom prst="rect">
            <a:avLst/>
          </a:prstGeom>
        </p:spPr>
      </p:pic>
      <p:pic>
        <p:nvPicPr>
          <p:cNvPr id="17" name="Picture 1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 rot="5400000">
            <a:off x="12846050" y="7975600"/>
            <a:ext cx="3429000" cy="12700"/>
          </a:xfrm>
          <a:prstGeom prst="rect">
            <a:avLst/>
          </a:prstGeom>
        </p:spPr>
      </p:pic>
      <p:sp>
        <p:nvSpPr>
          <p:cNvPr id="18" name="TextBox 19"/>
          <p:cNvSpPr txBox="1"/>
          <p:nvPr/>
        </p:nvSpPr>
        <p:spPr>
          <a:xfrm>
            <a:off x="15055850" y="6426200"/>
            <a:ext cx="3352800" cy="571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r>
              <a:rPr lang="en-US" sz="3200" b="0" i="0" u="none" strike="noStrike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03</a:t>
            </a:r>
            <a:endParaRPr lang="en-US" sz="3200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1" name="TextBox 23"/>
          <p:cNvSpPr txBox="1"/>
          <p:nvPr/>
        </p:nvSpPr>
        <p:spPr>
          <a:xfrm>
            <a:off x="15055848" y="7454900"/>
            <a:ext cx="6356352" cy="1460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0350"/>
              </a:lnSpc>
              <a:defRPr/>
            </a:pPr>
            <a:r>
              <a:rPr lang="en-US" altLang="ko-KR" sz="3500" b="0" i="0" u="none" strike="noStrike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randomize</a:t>
            </a:r>
          </a:p>
          <a:p>
            <a:pPr lvl="0">
              <a:lnSpc>
                <a:spcPct val="120350"/>
              </a:lnSpc>
              <a:defRPr/>
            </a:pPr>
            <a:r>
              <a:rPr lang="en-US" altLang="ko-KR" sz="3600" dirty="0" err="1" smtClean="0"/>
              <a:t>fifo</a:t>
            </a:r>
            <a:r>
              <a:rPr lang="en-US" altLang="ko-KR" sz="3600" dirty="0" smtClean="0"/>
              <a:t>[full</a:t>
            </a:r>
            <a:r>
              <a:rPr lang="en-US" altLang="ko-KR" sz="3600" dirty="0"/>
              <a:t>] -&gt; </a:t>
            </a:r>
            <a:r>
              <a:rPr lang="en-US" altLang="ko-KR" sz="3600" dirty="0">
                <a:solidFill>
                  <a:srgbClr val="000000"/>
                </a:solidFill>
                <a:latin typeface="noto"/>
              </a:rPr>
              <a:t>continuous output</a:t>
            </a:r>
            <a:endParaRPr lang="en-US" altLang="ko-KR" sz="3500" i="0" u="none" strike="noStrike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371504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5"/>
          <a:srcRect l="650" r="1230" b="3250"/>
          <a:stretch>
            <a:fillRect/>
          </a:stretch>
        </p:blipFill>
        <p:spPr>
          <a:xfrm>
            <a:off x="10210800" y="2667000"/>
            <a:ext cx="12573000" cy="490220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049000" y="7239000"/>
            <a:ext cx="11403623" cy="483601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0" y="2144798"/>
            <a:ext cx="7924800" cy="1035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7476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44798"/>
            <a:ext cx="7924800" cy="10351677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983473" y="2667000"/>
            <a:ext cx="4874527" cy="22860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  <p:graphicFrame>
        <p:nvGraphicFramePr>
          <p:cNvPr id="11" name="Table 12"/>
          <p:cNvGraphicFramePr>
            <a:graphicFrameLocks noGrp="1"/>
          </p:cNvGraphicFramePr>
          <p:nvPr/>
        </p:nvGraphicFramePr>
        <p:xfrm>
          <a:off x="13030200" y="4100031"/>
          <a:ext cx="7941858" cy="5861035"/>
        </p:xfrm>
        <a:graphic>
          <a:graphicData uri="http://schemas.openxmlformats.org/drawingml/2006/table">
            <a:tbl>
              <a:tblPr/>
              <a:tblGrid>
                <a:gridCol w="1843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9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Type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name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666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Fifo_we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14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Randc 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Fifo_wdata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Tx_busy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Bold"/>
                        </a:rPr>
                        <a:t>bit</a:t>
                      </a:r>
                      <a:endParaRPr lang="en-US" sz="3600"/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Tx_done</a:t>
                      </a:r>
                      <a:endParaRPr lang="en-US" sz="3600"/>
                    </a:p>
                  </a:txBody>
                  <a:tcPr marL="25400" marR="25400" marT="70356" marB="70356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bit</a:t>
                      </a: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Uart_Tx</a:t>
                      </a:r>
                    </a:p>
                  </a:txBody>
                  <a:tcPr marL="25400" marR="25400" marT="70356" marB="70356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4909"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bit</a:t>
                      </a:r>
                    </a:p>
                  </a:txBody>
                  <a:tcPr marL="25400" marR="25400" marT="65362" marB="65362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91714"/>
                        </a:lnSpc>
                        <a:defRPr/>
                      </a:pPr>
                      <a:r>
                        <a:rPr lang="en-US" sz="3600"/>
                        <a:t>PC_data</a:t>
                      </a:r>
                    </a:p>
                  </a:txBody>
                  <a:tcPr marL="25400" marR="25400" marT="70356" marB="70356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96612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44798"/>
            <a:ext cx="7924800" cy="10351677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733643" y="5105400"/>
            <a:ext cx="2969527" cy="203035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030200" y="3187162"/>
            <a:ext cx="7098997" cy="743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1847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그림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44798"/>
            <a:ext cx="7924800" cy="10351677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172200" y="4892790"/>
            <a:ext cx="2969527" cy="203035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6"/>
          <a:srcRect l="3220" b="54040"/>
          <a:stretch>
            <a:fillRect/>
          </a:stretch>
        </p:blipFill>
        <p:spPr>
          <a:xfrm>
            <a:off x="9829800" y="6212573"/>
            <a:ext cx="13778408" cy="2767189"/>
          </a:xfrm>
          <a:prstGeom prst="rect">
            <a:avLst/>
          </a:prstGeom>
        </p:spPr>
      </p:pic>
      <p:sp>
        <p:nvSpPr>
          <p:cNvPr id="18" name="화살표: 위쪽 17"/>
          <p:cNvSpPr/>
          <p:nvPr/>
        </p:nvSpPr>
        <p:spPr>
          <a:xfrm>
            <a:off x="11288073" y="907956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화살표: 위쪽 18"/>
          <p:cNvSpPr/>
          <p:nvPr/>
        </p:nvSpPr>
        <p:spPr>
          <a:xfrm>
            <a:off x="15632608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화살표: 위쪽 19"/>
          <p:cNvSpPr/>
          <p:nvPr/>
        </p:nvSpPr>
        <p:spPr>
          <a:xfrm>
            <a:off x="13118010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1" name="화살표: 위쪽 20"/>
          <p:cNvSpPr/>
          <p:nvPr/>
        </p:nvSpPr>
        <p:spPr>
          <a:xfrm>
            <a:off x="14299108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2" name="화살표: 위쪽 21"/>
          <p:cNvSpPr/>
          <p:nvPr/>
        </p:nvSpPr>
        <p:spPr>
          <a:xfrm>
            <a:off x="16851808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3" name="화살표: 위쪽 22"/>
          <p:cNvSpPr/>
          <p:nvPr/>
        </p:nvSpPr>
        <p:spPr>
          <a:xfrm>
            <a:off x="18072144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4" name="화살표: 위쪽 23"/>
          <p:cNvSpPr/>
          <p:nvPr/>
        </p:nvSpPr>
        <p:spPr>
          <a:xfrm>
            <a:off x="19274330" y="9154950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5" name="화살표: 위쪽 24"/>
          <p:cNvSpPr/>
          <p:nvPr/>
        </p:nvSpPr>
        <p:spPr>
          <a:xfrm>
            <a:off x="20467326" y="9085343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6" name="화살표: 위쪽 25"/>
          <p:cNvSpPr/>
          <p:nvPr/>
        </p:nvSpPr>
        <p:spPr>
          <a:xfrm>
            <a:off x="21627196" y="9088944"/>
            <a:ext cx="228600" cy="1260708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3087303" y="2558205"/>
            <a:ext cx="9906481" cy="3942356"/>
          </a:xfrm>
          <a:prstGeom prst="rect">
            <a:avLst/>
          </a:prstGeom>
        </p:spPr>
      </p:pic>
      <p:cxnSp>
        <p:nvCxnSpPr>
          <p:cNvPr id="30" name="직선 화살표 연결선 29"/>
          <p:cNvCxnSpPr/>
          <p:nvPr/>
        </p:nvCxnSpPr>
        <p:spPr>
          <a:xfrm>
            <a:off x="11516673" y="10473683"/>
            <a:ext cx="1715637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>
            <a:off x="13232310" y="1050712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14463118" y="10519415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15682318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>
            <a:off x="16902656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18186444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>
            <a:off x="19412136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>
            <a:off x="20675600" y="10545354"/>
            <a:ext cx="116949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13243918" y="11772036"/>
            <a:ext cx="8611879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610436" y="10738741"/>
            <a:ext cx="63189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BAUD/2 + BAUD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783308" y="10776971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003645" y="10776971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173135" y="10776971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393472" y="10728559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707440" y="10703626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927778" y="10703626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177124" y="10733243"/>
            <a:ext cx="16786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173135" y="12035135"/>
            <a:ext cx="31926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2400" b="1"/>
              <a:t>BAUD * 8cycle</a:t>
            </a:r>
          </a:p>
        </p:txBody>
      </p:sp>
    </p:spTree>
    <p:extLst>
      <p:ext uri="{BB962C8B-B14F-4D97-AF65-F5344CB8AC3E}">
        <p14:creationId xmlns:p14="http://schemas.microsoft.com/office/powerpoint/2010/main" val="10386182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144798"/>
            <a:ext cx="7924800" cy="10351677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4703170" y="2590800"/>
            <a:ext cx="4286157" cy="120800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c</a:t>
            </a:r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3335000" y="3733800"/>
            <a:ext cx="5565831" cy="66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749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005457" y="4654277"/>
            <a:ext cx="15643839" cy="4407445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21488400" y="6597694"/>
            <a:ext cx="2133600" cy="246402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3639800" y="4526276"/>
            <a:ext cx="2362200" cy="13586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12287250" y="2603719"/>
            <a:ext cx="50673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Generate wdata</a:t>
            </a:r>
            <a:endParaRPr lang="ko-KR" altLang="en-US" sz="5400" b="1"/>
          </a:p>
        </p:txBody>
      </p:sp>
      <p:sp>
        <p:nvSpPr>
          <p:cNvPr id="19" name="TextBox 18"/>
          <p:cNvSpPr txBox="1"/>
          <p:nvPr/>
        </p:nvSpPr>
        <p:spPr>
          <a:xfrm>
            <a:off x="16405746" y="10420144"/>
            <a:ext cx="55842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 b="1"/>
              <a:t>Tx_read data</a:t>
            </a:r>
            <a:endParaRPr lang="ko-KR" altLang="en-US" sz="5400" b="1"/>
          </a:p>
        </p:txBody>
      </p:sp>
      <p:cxnSp>
        <p:nvCxnSpPr>
          <p:cNvPr id="21" name="직선 화살표 연결선 20"/>
          <p:cNvCxnSpPr>
            <a:stCxn id="18" idx="2"/>
            <a:endCxn id="16" idx="0"/>
          </p:cNvCxnSpPr>
          <p:nvPr/>
        </p:nvCxnSpPr>
        <p:spPr>
          <a:xfrm>
            <a:off x="14820900" y="3527049"/>
            <a:ext cx="0" cy="99922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19" idx="0"/>
          </p:cNvCxnSpPr>
          <p:nvPr/>
        </p:nvCxnSpPr>
        <p:spPr>
          <a:xfrm flipV="1">
            <a:off x="19197852" y="9017255"/>
            <a:ext cx="3096904" cy="140288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3275" y="3701296"/>
            <a:ext cx="5891632" cy="769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7776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04800" y="3401508"/>
            <a:ext cx="23545800" cy="7730110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Verification(FIFO </a:t>
            </a:r>
            <a:r>
              <a:rPr lang="en-US" altLang="ko-KR" sz="5400" b="1">
                <a:sym typeface="Wingdings"/>
              </a:rPr>
              <a:t> TX</a:t>
            </a:r>
            <a:r>
              <a:rPr lang="en-US" altLang="ko-KR" sz="5400" b="1"/>
              <a:t>) input(8’hB6)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8153400" y="3401508"/>
            <a:ext cx="2286000" cy="773011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5446215" y="11471227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We==1 Re==1 </a:t>
            </a:r>
            <a:r>
              <a:rPr lang="en-US" altLang="ko-KR" sz="5400" b="1">
                <a:sym typeface="Wingdings"/>
              </a:rPr>
              <a:t> rdata = b6,empty = 0  tx_start = 1 </a:t>
            </a:r>
            <a:endParaRPr lang="en-US" altLang="ko-KR" sz="5400" b="1"/>
          </a:p>
        </p:txBody>
      </p:sp>
    </p:spTree>
    <p:extLst>
      <p:ext uri="{BB962C8B-B14F-4D97-AF65-F5344CB8AC3E}">
        <p14:creationId xmlns:p14="http://schemas.microsoft.com/office/powerpoint/2010/main" val="37570488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57616" y="3253682"/>
            <a:ext cx="23668768" cy="8165098"/>
          </a:xfrm>
          <a:prstGeom prst="rect">
            <a:avLst/>
          </a:prstGeom>
        </p:spPr>
      </p:pic>
      <p:sp>
        <p:nvSpPr>
          <p:cNvPr id="21" name="타원 20"/>
          <p:cNvSpPr/>
          <p:nvPr/>
        </p:nvSpPr>
        <p:spPr>
          <a:xfrm>
            <a:off x="11450472" y="5257800"/>
            <a:ext cx="264652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14935200" y="7336231"/>
            <a:ext cx="165592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22370456" y="10065490"/>
            <a:ext cx="1655928" cy="11176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16002000" y="6350000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>
                <a:highlight>
                  <a:srgbClr val="FFFF00"/>
                </a:highlight>
              </a:rPr>
              <a:t>Uart_tx = 0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534796" y="9808520"/>
            <a:ext cx="4343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>
                <a:highlight>
                  <a:srgbClr val="FFFF00"/>
                </a:highlight>
              </a:rPr>
              <a:t>Save tx_data</a:t>
            </a:r>
            <a:endParaRPr lang="ko-KR" altLang="en-US" sz="54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161227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065854"/>
            <a:ext cx="24384000" cy="7353379"/>
          </a:xfrm>
          <a:prstGeom prst="rect">
            <a:avLst/>
          </a:prstGeom>
        </p:spPr>
      </p:pic>
      <p:sp>
        <p:nvSpPr>
          <p:cNvPr id="12" name="타원 11"/>
          <p:cNvSpPr/>
          <p:nvPr/>
        </p:nvSpPr>
        <p:spPr>
          <a:xfrm>
            <a:off x="10917072" y="5370059"/>
            <a:ext cx="1274928" cy="92333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4" name="타원 13"/>
          <p:cNvSpPr/>
          <p:nvPr/>
        </p:nvSpPr>
        <p:spPr>
          <a:xfrm>
            <a:off x="9144000" y="7696200"/>
            <a:ext cx="1274928" cy="92333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22730536" y="7772400"/>
            <a:ext cx="1274928" cy="92333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10418928" y="8229600"/>
            <a:ext cx="12311608" cy="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29000" y="11106860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5400" b="1"/>
              <a:t>B_tick </a:t>
            </a:r>
            <a:r>
              <a:rPr lang="ko-KR" altLang="en-US" sz="5400" b="1"/>
              <a:t>발생 </a:t>
            </a:r>
            <a:r>
              <a:rPr lang="en-US" altLang="ko-KR" sz="5400" b="1">
                <a:sym typeface="Wingdings"/>
              </a:rPr>
              <a:t> bt_cnt16_reg ++</a:t>
            </a:r>
            <a:endParaRPr lang="en-US" altLang="ko-KR" sz="5400" b="1"/>
          </a:p>
        </p:txBody>
      </p:sp>
    </p:spTree>
    <p:extLst>
      <p:ext uri="{BB962C8B-B14F-4D97-AF65-F5344CB8AC3E}">
        <p14:creationId xmlns:p14="http://schemas.microsoft.com/office/powerpoint/2010/main" val="33073429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FIFO</a:t>
            </a:r>
            <a:r>
              <a:rPr lang="ko-KR" altLang="en-US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144413"/>
            <a:ext cx="24384000" cy="796244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20400" y="6858000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START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523200" y="6839803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DATA</a:t>
            </a:r>
            <a:endParaRPr lang="ko-KR" altLang="en-US" sz="54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201304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144413"/>
            <a:ext cx="24384000" cy="796244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20400" y="6858000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START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523200" y="6839803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DATA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6" name="타원 5"/>
          <p:cNvSpPr/>
          <p:nvPr/>
        </p:nvSpPr>
        <p:spPr>
          <a:xfrm>
            <a:off x="17145000" y="8077200"/>
            <a:ext cx="990600" cy="92333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1758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0961596"/>
            <a:ext cx="1665178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5400" b="1"/>
              <a:t>DATA bit</a:t>
            </a:r>
            <a:r>
              <a:rPr lang="ko-KR" altLang="en-US" sz="5400" b="1"/>
              <a:t>별 </a:t>
            </a:r>
            <a:r>
              <a:rPr lang="en-US" altLang="ko-KR" sz="5400" b="1"/>
              <a:t>send time = 104.16us</a:t>
            </a:r>
          </a:p>
          <a:p>
            <a:pPr lvl="1" algn="ctr">
              <a:defRPr/>
            </a:pPr>
            <a:r>
              <a:rPr lang="en-US" altLang="ko-KR" sz="5400" b="1"/>
              <a:t>STOP bt send time = 104.16us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3111197"/>
            <a:ext cx="24384000" cy="768145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754892" y="3817913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DATA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9202400" y="3817913"/>
            <a:ext cx="3530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STOP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24400" y="3724870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START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17678400" y="9258622"/>
            <a:ext cx="6019800" cy="1524000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90794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-2275" y="3212989"/>
            <a:ext cx="24386276" cy="7649488"/>
          </a:xfrm>
          <a:prstGeom prst="rect">
            <a:avLst/>
          </a:prstGeom>
        </p:spPr>
      </p:pic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</a:t>
            </a:r>
            <a:r>
              <a:rPr lang="en-US" altLang="ko-KR" sz="5400" b="1">
                <a:sym typeface="Wingdings"/>
              </a:rPr>
              <a:t>TX</a:t>
            </a:r>
            <a:r>
              <a:rPr lang="en-US" altLang="ko-KR" sz="5400" b="1"/>
              <a:t>) input(8’hB6)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10961596"/>
            <a:ext cx="166517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defRPr/>
            </a:pPr>
            <a:r>
              <a:rPr lang="en-US" altLang="ko-KR" sz="5400" b="1"/>
              <a:t>(STOP -&gt; IDLE) </a:t>
            </a:r>
            <a:r>
              <a:rPr lang="en-US" altLang="ko-KR" sz="5400" b="1">
                <a:sym typeface="Wingdings"/>
              </a:rPr>
              <a:t> done 1 tick </a:t>
            </a:r>
            <a:r>
              <a:rPr lang="ko-KR" altLang="en-US" sz="5400" b="1">
                <a:sym typeface="Wingdings"/>
              </a:rPr>
              <a:t>발생 및 </a:t>
            </a:r>
            <a:r>
              <a:rPr lang="en-US" altLang="ko-KR" sz="5400" b="1">
                <a:sym typeface="Wingdings"/>
              </a:rPr>
              <a:t>busy = 0</a:t>
            </a:r>
            <a:endParaRPr lang="en-US" altLang="ko-KR" sz="5400" b="1"/>
          </a:p>
        </p:txBody>
      </p:sp>
      <p:sp>
        <p:nvSpPr>
          <p:cNvPr id="22" name="TextBox 21"/>
          <p:cNvSpPr txBox="1"/>
          <p:nvPr/>
        </p:nvSpPr>
        <p:spPr>
          <a:xfrm>
            <a:off x="8273576" y="4176209"/>
            <a:ext cx="350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STOP</a:t>
            </a:r>
            <a:endParaRPr lang="ko-KR" altLang="en-US" sz="5400">
              <a:highlight>
                <a:srgbClr val="FFFF00"/>
              </a:highlight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059400" y="4105605"/>
            <a:ext cx="3530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5400">
                <a:highlight>
                  <a:srgbClr val="FFFF00"/>
                </a:highlight>
              </a:rPr>
              <a:t>IDLE</a:t>
            </a:r>
            <a:endParaRPr lang="ko-KR" altLang="en-US" sz="540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868382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 dirty="0"/>
              <a:t>- Verification(random </a:t>
            </a:r>
            <a:r>
              <a:rPr lang="en-US" altLang="ko-KR" sz="5400" b="1" dirty="0">
                <a:sym typeface="Wingdings"/>
              </a:rPr>
              <a:t>1000 cycle</a:t>
            </a:r>
            <a:r>
              <a:rPr lang="en-US" altLang="ko-KR" sz="5400" b="1" dirty="0"/>
              <a:t>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28800" y="3733800"/>
            <a:ext cx="11049939" cy="721887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277600" y="3821151"/>
            <a:ext cx="12651178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92469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Verification(random </a:t>
            </a:r>
            <a:r>
              <a:rPr lang="en-US" altLang="ko-KR" sz="5400" b="1">
                <a:sym typeface="Wingdings"/>
              </a:rPr>
              <a:t>1000 cycle</a:t>
            </a:r>
            <a:r>
              <a:rPr lang="en-US" altLang="ko-KR" sz="5400" b="1"/>
              <a:t>)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28800" y="3733800"/>
            <a:ext cx="11049939" cy="7218871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1277600" y="3821151"/>
            <a:ext cx="12651178" cy="551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48835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143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/>
              <a:t>- Verification(random </a:t>
            </a:r>
            <a:r>
              <a:rPr lang="en-US" altLang="ko-KR" sz="5400" b="1">
                <a:sym typeface="Wingdings"/>
              </a:rPr>
              <a:t>1000 cycle</a:t>
            </a:r>
            <a:r>
              <a:rPr lang="en-US" altLang="ko-KR" sz="5400" b="1"/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85" y="3497249"/>
            <a:ext cx="18821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/>
            </a:pPr>
            <a:r>
              <a:rPr lang="en-US" altLang="ko-KR" sz="5400" b="1"/>
              <a:t>rx_data </a:t>
            </a:r>
            <a:r>
              <a:rPr lang="ko-KR" altLang="en-US" sz="5400" b="1"/>
              <a:t>검증 </a:t>
            </a:r>
            <a:r>
              <a:rPr lang="en-US" altLang="ko-KR" sz="5400" b="1"/>
              <a:t>data</a:t>
            </a:r>
            <a:r>
              <a:rPr lang="ko-KR" altLang="en-US" sz="5400" b="1"/>
              <a:t> </a:t>
            </a:r>
            <a:r>
              <a:rPr lang="en-US" altLang="ko-KR" sz="5400" b="1"/>
              <a:t>: 18,246,223</a:t>
            </a: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7086600" y="4460469"/>
            <a:ext cx="9829800" cy="771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17213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3639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 dirty="0"/>
              <a:t>- </a:t>
            </a:r>
            <a:r>
              <a:rPr lang="en-US" altLang="ko-KR" sz="5400" b="1" dirty="0" smtClean="0"/>
              <a:t>Verification(</a:t>
            </a:r>
            <a:r>
              <a:rPr lang="en-US" altLang="ko-KR" sz="5400" b="1" dirty="0" err="1" smtClean="0"/>
              <a:t>fifo</a:t>
            </a:r>
            <a:r>
              <a:rPr lang="en-US" altLang="ko-KR" sz="5400" b="1" dirty="0"/>
              <a:t>[</a:t>
            </a:r>
            <a:r>
              <a:rPr lang="en-US" altLang="ko-KR" sz="5400" b="1" dirty="0" smtClean="0"/>
              <a:t>full] -&gt; </a:t>
            </a:r>
            <a:r>
              <a:rPr lang="en-US" altLang="ko-KR" sz="5400" b="1" dirty="0" smtClean="0">
                <a:solidFill>
                  <a:srgbClr val="000000"/>
                </a:solidFill>
                <a:latin typeface="noto"/>
              </a:rPr>
              <a:t>continuous </a:t>
            </a:r>
            <a:r>
              <a:rPr lang="en-US" altLang="ko-KR" sz="5400" b="1" dirty="0">
                <a:solidFill>
                  <a:srgbClr val="000000"/>
                </a:solidFill>
                <a:latin typeface="noto"/>
              </a:rPr>
              <a:t>output</a:t>
            </a:r>
            <a:r>
              <a:rPr lang="en-US" altLang="ko-KR" sz="5400" b="1" dirty="0" smtClean="0"/>
              <a:t>)</a:t>
            </a:r>
            <a:endParaRPr lang="en-US" altLang="ko-KR" sz="5400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3182762"/>
            <a:ext cx="6980475" cy="921998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7600" y="3068128"/>
            <a:ext cx="16436546" cy="864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38040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6000" y="12674600"/>
            <a:ext cx="22352000" cy="25400"/>
          </a:xfrm>
          <a:prstGeom prst="rect">
            <a:avLst/>
          </a:prstGeom>
        </p:spPr>
      </p:pic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8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TX + </a:t>
            </a:r>
            <a:r>
              <a:rPr lang="en-US" altLang="ko-KR" sz="9600" b="1" dirty="0" smtClean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FIFO</a:t>
            </a:r>
            <a:endParaRPr lang="ko-KR" altLang="en-US" sz="9600" b="1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3" name="Picture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0828000" y="12369800"/>
            <a:ext cx="2540000" cy="3048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16200000">
            <a:off x="20523200" y="12369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5400" y="2144799"/>
            <a:ext cx="13639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5400" b="1" dirty="0"/>
              <a:t>- </a:t>
            </a:r>
            <a:r>
              <a:rPr lang="en-US" altLang="ko-KR" sz="5400" b="1" dirty="0" smtClean="0"/>
              <a:t>Verification(</a:t>
            </a:r>
            <a:r>
              <a:rPr lang="en-US" altLang="ko-KR" sz="5400" b="1" dirty="0" err="1" smtClean="0"/>
              <a:t>fifo</a:t>
            </a:r>
            <a:r>
              <a:rPr lang="en-US" altLang="ko-KR" sz="5400" b="1" dirty="0"/>
              <a:t>[</a:t>
            </a:r>
            <a:r>
              <a:rPr lang="en-US" altLang="ko-KR" sz="5400" b="1" dirty="0" smtClean="0"/>
              <a:t>full] -&gt; </a:t>
            </a:r>
            <a:r>
              <a:rPr lang="en-US" altLang="ko-KR" sz="5400" b="1" dirty="0" smtClean="0">
                <a:solidFill>
                  <a:srgbClr val="000000"/>
                </a:solidFill>
                <a:latin typeface="noto"/>
              </a:rPr>
              <a:t>continuous </a:t>
            </a:r>
            <a:r>
              <a:rPr lang="en-US" altLang="ko-KR" sz="5400" b="1" dirty="0">
                <a:solidFill>
                  <a:srgbClr val="000000"/>
                </a:solidFill>
                <a:latin typeface="noto"/>
              </a:rPr>
              <a:t>output</a:t>
            </a:r>
            <a:r>
              <a:rPr lang="en-US" altLang="ko-KR" sz="5400" b="1" dirty="0" smtClean="0"/>
              <a:t>)</a:t>
            </a:r>
            <a:endParaRPr lang="en-US" altLang="ko-KR" sz="5400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800" y="3249013"/>
            <a:ext cx="6980475" cy="921998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3291" y="3991359"/>
            <a:ext cx="9782309" cy="708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03915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0"/>
          <p:cNvSpPr txBox="1"/>
          <p:nvPr/>
        </p:nvSpPr>
        <p:spPr>
          <a:xfrm>
            <a:off x="1096370" y="838200"/>
            <a:ext cx="36068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16199"/>
              </a:lnSpc>
              <a:defRPr/>
            </a:pPr>
            <a:endParaRPr lang="ko-KR" altLang="en-US" sz="6666" b="0" i="0" u="none" strike="noStrike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 flipV="1">
            <a:off x="1045570" y="2059190"/>
            <a:ext cx="21814430" cy="45719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1295400" y="609600"/>
            <a:ext cx="11125200" cy="1181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>
              <a:lnSpc>
                <a:spcPct val="116199"/>
              </a:lnSpc>
              <a:defRPr/>
            </a:pPr>
            <a:r>
              <a:rPr lang="en-US" altLang="ko-KR" sz="9600" b="1" i="0">
                <a:solidFill>
                  <a:srgbClr val="000000"/>
                </a:solidFill>
                <a:effectLst/>
                <a:latin typeface="noto"/>
              </a:rPr>
              <a:t>Troubleshooting</a:t>
            </a:r>
            <a:endParaRPr lang="ko-KR" altLang="en-US" sz="9600" b="1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47800" y="4732548"/>
            <a:ext cx="12656528" cy="8384088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083251" y="4695120"/>
            <a:ext cx="7338553" cy="845894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95400" y="2144799"/>
            <a:ext cx="21412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600" b="1"/>
              <a:t>RX + FIFO (uart_push </a:t>
            </a:r>
            <a:r>
              <a:rPr lang="ko-KR" altLang="en-US" sz="3600" b="1"/>
              <a:t>후 </a:t>
            </a:r>
            <a:r>
              <a:rPr lang="en-US" altLang="ko-KR" sz="3600" b="1"/>
              <a:t>FIFO rdata</a:t>
            </a:r>
            <a:r>
              <a:rPr lang="ko-KR" altLang="en-US" sz="3600" b="1"/>
              <a:t>를 </a:t>
            </a:r>
            <a:r>
              <a:rPr lang="en-US" altLang="ko-KR" sz="3600" b="1"/>
              <a:t>read </a:t>
            </a:r>
            <a:r>
              <a:rPr lang="ko-KR" altLang="en-US" sz="3600" b="1"/>
              <a:t>해야할 상황</a:t>
            </a:r>
            <a:r>
              <a:rPr lang="en-US" altLang="ko-KR" sz="3600" b="1"/>
              <a:t>)</a:t>
            </a:r>
          </a:p>
          <a:p>
            <a:pPr lvl="0">
              <a:defRPr/>
            </a:pPr>
            <a:r>
              <a:rPr lang="ko-KR" altLang="en-US" sz="3600" b="1"/>
              <a:t>문제</a:t>
            </a:r>
            <a:r>
              <a:rPr lang="en-US" altLang="ko-KR" sz="3600" b="1"/>
              <a:t>: Empty == 0 </a:t>
            </a:r>
            <a:r>
              <a:rPr lang="ko-KR" altLang="en-US" sz="3600" b="1"/>
              <a:t>일때</a:t>
            </a:r>
            <a:r>
              <a:rPr lang="en-US" altLang="ko-KR" sz="3600" b="1"/>
              <a:t>, pop </a:t>
            </a:r>
            <a:r>
              <a:rPr lang="ko-KR" altLang="en-US" sz="3600" b="1"/>
              <a:t>수행하려 시도</a:t>
            </a:r>
            <a:r>
              <a:rPr lang="en-US" altLang="ko-KR" sz="3600" b="1"/>
              <a:t> </a:t>
            </a:r>
            <a:r>
              <a:rPr lang="ko-KR" altLang="en-US" sz="3600" b="1"/>
              <a:t>하였지만 </a:t>
            </a:r>
            <a:r>
              <a:rPr lang="en-US" altLang="ko-KR" sz="3600" b="1"/>
              <a:t>re </a:t>
            </a:r>
            <a:r>
              <a:rPr lang="ko-KR" altLang="en-US" sz="3600" b="1"/>
              <a:t>발생 하지 않음</a:t>
            </a:r>
          </a:p>
          <a:p>
            <a:pPr lvl="0">
              <a:defRPr/>
            </a:pPr>
            <a:r>
              <a:rPr lang="ko-KR" altLang="en-US" sz="3600" b="1"/>
              <a:t>원인</a:t>
            </a:r>
            <a:r>
              <a:rPr lang="en-US" altLang="ko-KR" sz="3600" b="1"/>
              <a:t>: uart_push</a:t>
            </a:r>
            <a:r>
              <a:rPr lang="ko-KR" altLang="en-US" sz="3600" b="1"/>
              <a:t>와 </a:t>
            </a:r>
            <a:r>
              <a:rPr lang="en-US" altLang="ko-KR" sz="3600" b="1"/>
              <a:t>wait </a:t>
            </a:r>
            <a:r>
              <a:rPr lang="ko-KR" altLang="en-US" sz="3600" b="1"/>
              <a:t>타이밍의 문제</a:t>
            </a:r>
          </a:p>
          <a:p>
            <a:pPr lvl="0">
              <a:defRPr/>
            </a:pPr>
            <a:r>
              <a:rPr lang="ko-KR" altLang="en-US" sz="3600" b="1"/>
              <a:t>해결</a:t>
            </a:r>
            <a:r>
              <a:rPr lang="en-US" altLang="ko-KR" sz="3600" b="1"/>
              <a:t>: wait </a:t>
            </a:r>
            <a:r>
              <a:rPr lang="ko-KR" altLang="en-US" sz="3600" b="1"/>
              <a:t>동작을 거치지 않고 </a:t>
            </a:r>
            <a:r>
              <a:rPr lang="en-US" altLang="ko-KR" sz="3600" b="1"/>
              <a:t>uart_push task</a:t>
            </a:r>
            <a:r>
              <a:rPr lang="ko-KR" altLang="en-US" sz="3600" b="1"/>
              <a:t>가 끝나면 </a:t>
            </a:r>
            <a:r>
              <a:rPr lang="en-US" altLang="ko-KR" sz="3600" b="1"/>
              <a:t>read</a:t>
            </a:r>
            <a:r>
              <a:rPr lang="ko-KR" altLang="en-US" sz="3600" b="1"/>
              <a:t> 진행</a:t>
            </a:r>
            <a:endParaRPr lang="en-US" altLang="ko-KR" sz="3600" b="1"/>
          </a:p>
        </p:txBody>
      </p:sp>
      <p:sp>
        <p:nvSpPr>
          <p:cNvPr id="18" name="타원 17"/>
          <p:cNvSpPr/>
          <p:nvPr/>
        </p:nvSpPr>
        <p:spPr>
          <a:xfrm>
            <a:off x="6096000" y="9601200"/>
            <a:ext cx="1104900" cy="601544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6438900" y="7278361"/>
            <a:ext cx="838200" cy="765925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570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1211</Words>
  <Application>Microsoft Office PowerPoint</Application>
  <PresentationFormat>사용자 지정</PresentationFormat>
  <Paragraphs>421</Paragraphs>
  <Slides>76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76</vt:i4>
      </vt:variant>
    </vt:vector>
  </HeadingPairs>
  <TitlesOfParts>
    <vt:vector size="86" baseType="lpstr">
      <vt:lpstr>noto</vt:lpstr>
      <vt:lpstr>Pretendard Bold</vt:lpstr>
      <vt:lpstr>Pretendard ExtraLight</vt:lpstr>
      <vt:lpstr>Pretendard Regular</vt:lpstr>
      <vt:lpstr>Pretendard SemiBold</vt:lpstr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kccistc</cp:lastModifiedBy>
  <cp:revision>161</cp:revision>
  <dcterms:created xsi:type="dcterms:W3CDTF">2006-08-16T00:00:00Z</dcterms:created>
  <dcterms:modified xsi:type="dcterms:W3CDTF">2026-03-03T02:57:50Z</dcterms:modified>
  <cp:version/>
</cp:coreProperties>
</file>