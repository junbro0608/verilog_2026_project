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2"/>
    <p:sldId id="292" r:id="rId3"/>
    <p:sldId id="296" r:id="rId4"/>
    <p:sldId id="297" r:id="rId5"/>
    <p:sldId id="299" r:id="rId6"/>
    <p:sldId id="300" r:id="rId7"/>
    <p:sldId id="307" r:id="rId8"/>
    <p:sldId id="308" r:id="rId9"/>
    <p:sldId id="306" r:id="rId10"/>
    <p:sldId id="311" r:id="rId11"/>
    <p:sldId id="309" r:id="rId12"/>
    <p:sldId id="310" r:id="rId13"/>
    <p:sldId id="298" r:id="rId14"/>
    <p:sldId id="348" r:id="rId15"/>
    <p:sldId id="318" r:id="rId16"/>
    <p:sldId id="295" r:id="rId17"/>
    <p:sldId id="312" r:id="rId18"/>
    <p:sldId id="313" r:id="rId19"/>
    <p:sldId id="315" r:id="rId20"/>
    <p:sldId id="316" r:id="rId21"/>
    <p:sldId id="314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8" r:id="rId30"/>
    <p:sldId id="345" r:id="rId31"/>
    <p:sldId id="346" r:id="rId32"/>
    <p:sldId id="347" r:id="rId33"/>
    <p:sldId id="349" r:id="rId34"/>
    <p:sldId id="294" r:id="rId35"/>
    <p:sldId id="326" r:id="rId36"/>
    <p:sldId id="327" r:id="rId37"/>
    <p:sldId id="329" r:id="rId38"/>
    <p:sldId id="330" r:id="rId39"/>
    <p:sldId id="340" r:id="rId40"/>
    <p:sldId id="331" r:id="rId41"/>
    <p:sldId id="332" r:id="rId42"/>
    <p:sldId id="333" r:id="rId43"/>
    <p:sldId id="334" r:id="rId44"/>
    <p:sldId id="335" r:id="rId45"/>
    <p:sldId id="338" r:id="rId46"/>
    <p:sldId id="339" r:id="rId47"/>
    <p:sldId id="342" r:id="rId48"/>
    <p:sldId id="341" r:id="rId49"/>
    <p:sldId id="343" r:id="rId5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128" y="288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4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8.png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>
              <a:lnSpc>
                <a:spcPct val="120350"/>
              </a:lnSpc>
              <a:defRPr/>
            </a:pPr>
            <a:r>
              <a:rPr lang="en-US" altLang="ko-KR" sz="35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Only Push/Only Pop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50162" y="760095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 + Pop at the same time</a:t>
            </a:r>
            <a:endParaRPr lang="en-US" altLang="ko-KR" sz="3500" b="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43815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Push/pop 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DB9A-C73C-FFFC-2A75-2F5DA24C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7F9C50F4-BA39-C005-5D36-530C31884A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474DDA7-B5AA-E1E9-2E6E-A8DE2A665769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90C4DBF-1D49-3073-D883-6A4ECF8684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E5EC7-568D-B054-AE51-1E8523870F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E753E9DE-0BAD-08D1-D75A-F54D2E7967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12FE54B7-B042-0D34-BEE3-FE88737F67F4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50F8604-9764-DDEA-137B-EA09F59C5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graphicFrame>
        <p:nvGraphicFramePr>
          <p:cNvPr id="16" name="Table 12">
            <a:extLst>
              <a:ext uri="{FF2B5EF4-FFF2-40B4-BE49-F238E27FC236}">
                <a16:creationId xmlns:a16="http://schemas.microsoft.com/office/drawing/2014/main" id="{933A3C2C-C6A6-5884-7437-B4213A180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137755"/>
              </p:ext>
            </p:extLst>
          </p:nvPr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we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full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empty</a:t>
                      </a:r>
                      <a:endParaRPr kumimoji="0" lang="en-US" altLang="ko-KR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34365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26D629D-ED54-8E93-3185-7176BE8503A8}"/>
              </a:ext>
            </a:extLst>
          </p:cNvPr>
          <p:cNvSpPr/>
          <p:nvPr/>
        </p:nvSpPr>
        <p:spPr>
          <a:xfrm>
            <a:off x="1828800" y="25908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978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CB99-D12E-DA2C-DE00-35B990C36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BEA34F9A-20E8-9F28-6CEF-88146874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627" y="3887439"/>
            <a:ext cx="13007220" cy="6907561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ABFC04A4-2A9E-5516-94B4-1FA8AA4D30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283B16A-035E-6D37-BBEF-83BD81143B99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E0AA8E9E-9508-1788-05D5-5C554F4BC5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27DAA-07A7-1F3B-8632-766803192E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12F5750F-A4BD-FF26-846A-B9BC988A90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80B99A62-58D9-8182-3403-5757B727E7B8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A3733B4-1163-B1F7-5C7C-6A35DACFB2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42EF88D8-9920-F272-8EB8-AD0F2B0389DA}"/>
              </a:ext>
            </a:extLst>
          </p:cNvPr>
          <p:cNvSpPr/>
          <p:nvPr/>
        </p:nvSpPr>
        <p:spPr>
          <a:xfrm>
            <a:off x="13812348" y="3266293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C4924BD7-3D0B-B043-2DCD-74B1C076EB7C}"/>
              </a:ext>
            </a:extLst>
          </p:cNvPr>
          <p:cNvSpPr/>
          <p:nvPr/>
        </p:nvSpPr>
        <p:spPr>
          <a:xfrm>
            <a:off x="15116275" y="3266292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B05BD1CA-2806-EAFC-6ADE-59C333FD8D8F}"/>
              </a:ext>
            </a:extLst>
          </p:cNvPr>
          <p:cNvSpPr/>
          <p:nvPr/>
        </p:nvSpPr>
        <p:spPr>
          <a:xfrm>
            <a:off x="16525122" y="3290176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83BB8234-93EC-4320-42DF-A172124A5D09}"/>
              </a:ext>
            </a:extLst>
          </p:cNvPr>
          <p:cNvSpPr/>
          <p:nvPr/>
        </p:nvSpPr>
        <p:spPr>
          <a:xfrm>
            <a:off x="17838719" y="3304135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화살표: 아래쪽 43">
            <a:extLst>
              <a:ext uri="{FF2B5EF4-FFF2-40B4-BE49-F238E27FC236}">
                <a16:creationId xmlns:a16="http://schemas.microsoft.com/office/drawing/2014/main" id="{813C250D-31CD-CE18-1C6F-25374A7EC9E2}"/>
              </a:ext>
            </a:extLst>
          </p:cNvPr>
          <p:cNvSpPr/>
          <p:nvPr/>
        </p:nvSpPr>
        <p:spPr>
          <a:xfrm>
            <a:off x="19232644" y="3285627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아래쪽 44">
            <a:extLst>
              <a:ext uri="{FF2B5EF4-FFF2-40B4-BE49-F238E27FC236}">
                <a16:creationId xmlns:a16="http://schemas.microsoft.com/office/drawing/2014/main" id="{1C9B9681-3F63-5BAF-DE53-352AB5B98B53}"/>
              </a:ext>
            </a:extLst>
          </p:cNvPr>
          <p:cNvSpPr/>
          <p:nvPr/>
        </p:nvSpPr>
        <p:spPr>
          <a:xfrm>
            <a:off x="20570072" y="3275391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화살표: 아래쪽 45">
            <a:extLst>
              <a:ext uri="{FF2B5EF4-FFF2-40B4-BE49-F238E27FC236}">
                <a16:creationId xmlns:a16="http://schemas.microsoft.com/office/drawing/2014/main" id="{92328999-0ED1-093A-2928-0DA9FA45BFCA}"/>
              </a:ext>
            </a:extLst>
          </p:cNvPr>
          <p:cNvSpPr/>
          <p:nvPr/>
        </p:nvSpPr>
        <p:spPr>
          <a:xfrm>
            <a:off x="21907500" y="3253782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화살표: 아래쪽 48">
            <a:extLst>
              <a:ext uri="{FF2B5EF4-FFF2-40B4-BE49-F238E27FC236}">
                <a16:creationId xmlns:a16="http://schemas.microsoft.com/office/drawing/2014/main" id="{1707BDA3-841E-1D28-2AF5-A095B36F728C}"/>
              </a:ext>
            </a:extLst>
          </p:cNvPr>
          <p:cNvSpPr/>
          <p:nvPr/>
        </p:nvSpPr>
        <p:spPr>
          <a:xfrm>
            <a:off x="14325600" y="7362828"/>
            <a:ext cx="228600" cy="406582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5952A336-55CB-6A28-9B46-0715AC5E1B8D}"/>
              </a:ext>
            </a:extLst>
          </p:cNvPr>
          <p:cNvSpPr/>
          <p:nvPr/>
        </p:nvSpPr>
        <p:spPr>
          <a:xfrm>
            <a:off x="15663304" y="7362828"/>
            <a:ext cx="228600" cy="406582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CC21EBE5-0EB6-9455-3D4C-66BE354EB45E}"/>
              </a:ext>
            </a:extLst>
          </p:cNvPr>
          <p:cNvSpPr/>
          <p:nvPr/>
        </p:nvSpPr>
        <p:spPr>
          <a:xfrm>
            <a:off x="17001008" y="7341219"/>
            <a:ext cx="228600" cy="406582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33067F18-6DDB-1000-D448-A996720CD0F8}"/>
              </a:ext>
            </a:extLst>
          </p:cNvPr>
          <p:cNvSpPr/>
          <p:nvPr/>
        </p:nvSpPr>
        <p:spPr>
          <a:xfrm>
            <a:off x="19682326" y="10414000"/>
            <a:ext cx="228600" cy="1002146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16DC8C8D-E866-05D6-6AA9-6FA38BCDD53D}"/>
              </a:ext>
            </a:extLst>
          </p:cNvPr>
          <p:cNvSpPr/>
          <p:nvPr/>
        </p:nvSpPr>
        <p:spPr>
          <a:xfrm>
            <a:off x="21123033" y="10427854"/>
            <a:ext cx="228600" cy="1002146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화살표: 아래쪽 53">
            <a:extLst>
              <a:ext uri="{FF2B5EF4-FFF2-40B4-BE49-F238E27FC236}">
                <a16:creationId xmlns:a16="http://schemas.microsoft.com/office/drawing/2014/main" id="{695942B5-4FE2-2687-E2CB-89D43A641670}"/>
              </a:ext>
            </a:extLst>
          </p:cNvPr>
          <p:cNvSpPr/>
          <p:nvPr/>
        </p:nvSpPr>
        <p:spPr>
          <a:xfrm>
            <a:off x="18224411" y="7362828"/>
            <a:ext cx="245807" cy="4067172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31A0E59-10D5-F072-8A3F-763680513F56}"/>
              </a:ext>
            </a:extLst>
          </p:cNvPr>
          <p:cNvSpPr/>
          <p:nvPr/>
        </p:nvSpPr>
        <p:spPr>
          <a:xfrm>
            <a:off x="14554200" y="2286000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>
                <a:solidFill>
                  <a:srgbClr val="FF0000"/>
                </a:solidFill>
              </a:rPr>
              <a:t>driver</a:t>
            </a:r>
            <a:endParaRPr lang="ko-KR" altLang="en-US" sz="5400" dirty="0">
              <a:solidFill>
                <a:srgbClr val="FF0000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370A1E6-D185-BA93-F147-4ACC150887BE}"/>
              </a:ext>
            </a:extLst>
          </p:cNvPr>
          <p:cNvSpPr/>
          <p:nvPr/>
        </p:nvSpPr>
        <p:spPr>
          <a:xfrm>
            <a:off x="14554200" y="11687517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dirty="0">
                <a:solidFill>
                  <a:srgbClr val="0070C0"/>
                </a:solidFill>
              </a:rPr>
              <a:t>monitor</a:t>
            </a:r>
            <a:endParaRPr lang="ko-KR" altLang="en-US" sz="5400" dirty="0">
              <a:solidFill>
                <a:srgbClr val="0070C0"/>
              </a:solidFill>
            </a:endParaRPr>
          </a:p>
        </p:txBody>
      </p:sp>
      <p:sp>
        <p:nvSpPr>
          <p:cNvPr id="58" name="화살표: 아래쪽 57">
            <a:extLst>
              <a:ext uri="{FF2B5EF4-FFF2-40B4-BE49-F238E27FC236}">
                <a16:creationId xmlns:a16="http://schemas.microsoft.com/office/drawing/2014/main" id="{204AE813-C7B1-C7CC-DCBA-2F49F3E06B6B}"/>
              </a:ext>
            </a:extLst>
          </p:cNvPr>
          <p:cNvSpPr/>
          <p:nvPr/>
        </p:nvSpPr>
        <p:spPr>
          <a:xfrm>
            <a:off x="13812348" y="3284490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화살표: 아래쪽 58">
            <a:extLst>
              <a:ext uri="{FF2B5EF4-FFF2-40B4-BE49-F238E27FC236}">
                <a16:creationId xmlns:a16="http://schemas.microsoft.com/office/drawing/2014/main" id="{CB6CB634-8596-1D8D-D7C8-4F8497602DBF}"/>
              </a:ext>
            </a:extLst>
          </p:cNvPr>
          <p:cNvSpPr/>
          <p:nvPr/>
        </p:nvSpPr>
        <p:spPr>
          <a:xfrm>
            <a:off x="14325600" y="7381025"/>
            <a:ext cx="228600" cy="4065829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D5D5E4-69B4-46B8-BB75-4171B5BC496E}"/>
              </a:ext>
            </a:extLst>
          </p:cNvPr>
          <p:cNvSpPr/>
          <p:nvPr/>
        </p:nvSpPr>
        <p:spPr>
          <a:xfrm>
            <a:off x="1828800" y="5282128"/>
            <a:ext cx="7315200" cy="1728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88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78B1-BF2D-C7A5-D30D-68056778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1C06314-8906-30D5-C213-423963BB58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7795505F-5C33-20A5-7590-2275004D1076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38A8974E-99BB-BCC1-AE5D-2BC641B468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1930FB-5539-D498-6179-30173AB73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7E0B827-969E-6B6D-BA59-090E976F42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EDD5D58-FE86-6D3C-4F53-565E77AE8460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AECDFAC-7216-8A2F-97DC-46DC65E9C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491" y="2247900"/>
            <a:ext cx="8170218" cy="1020114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8E0E89-667E-0C92-ACDB-AB28A68585FD}"/>
              </a:ext>
            </a:extLst>
          </p:cNvPr>
          <p:cNvSpPr/>
          <p:nvPr/>
        </p:nvSpPr>
        <p:spPr>
          <a:xfrm>
            <a:off x="14226146" y="4089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dirty="0">
                <a:solidFill>
                  <a:schemeClr val="tx1"/>
                </a:solidFill>
              </a:rPr>
              <a:t>Q list</a:t>
            </a:r>
            <a:endParaRPr lang="ko-KR" altLang="en-US" sz="6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4157A-4930-94A3-37FC-BC6CAFCD2718}"/>
              </a:ext>
            </a:extLst>
          </p:cNvPr>
          <p:cNvSpPr txBox="1"/>
          <p:nvPr/>
        </p:nvSpPr>
        <p:spPr>
          <a:xfrm>
            <a:off x="14935199" y="213360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/>
              <a:t>wdata</a:t>
            </a:r>
            <a:endParaRPr lang="ko-KR" altLang="en-US" sz="54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48AD4B4-B4FC-7E57-26C3-82317BC9EC9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6001999" y="3022510"/>
            <a:ext cx="1" cy="10668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04CB5D4-8EF1-F544-436C-17C6C11378C8}"/>
              </a:ext>
            </a:extLst>
          </p:cNvPr>
          <p:cNvCxnSpPr/>
          <p:nvPr/>
        </p:nvCxnSpPr>
        <p:spPr>
          <a:xfrm>
            <a:off x="16078200" y="5206915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8FF87A-AE62-4A71-F44C-858A86C0D936}"/>
              </a:ext>
            </a:extLst>
          </p:cNvPr>
          <p:cNvSpPr txBox="1"/>
          <p:nvPr/>
        </p:nvSpPr>
        <p:spPr>
          <a:xfrm>
            <a:off x="13868400" y="7083214"/>
            <a:ext cx="4648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/>
              <a:t>First input data</a:t>
            </a:r>
            <a:endParaRPr lang="ko-KR" altLang="en-US" sz="5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E52C6-CBCA-CA4A-8461-108DC26C3F43}"/>
              </a:ext>
            </a:extLst>
          </p:cNvPr>
          <p:cNvSpPr txBox="1"/>
          <p:nvPr/>
        </p:nvSpPr>
        <p:spPr>
          <a:xfrm>
            <a:off x="19888200" y="234857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/>
              <a:t>rdata</a:t>
            </a:r>
            <a:endParaRPr lang="ko-KR" altLang="en-US" sz="5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13B273-6C8B-B055-447B-AB6304BAB660}"/>
              </a:ext>
            </a:extLst>
          </p:cNvPr>
          <p:cNvSpPr/>
          <p:nvPr/>
        </p:nvSpPr>
        <p:spPr>
          <a:xfrm>
            <a:off x="16971493" y="8975125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dirty="0">
                <a:solidFill>
                  <a:schemeClr val="tx1"/>
                </a:solidFill>
              </a:rPr>
              <a:t>T/F</a:t>
            </a:r>
            <a:endParaRPr lang="ko-KR" altLang="en-US" sz="6000" dirty="0">
              <a:solidFill>
                <a:schemeClr val="tx1"/>
              </a:solidFill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BC0D104C-CC2C-C681-0CD2-E9F108A3E5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697068" y="8336312"/>
            <a:ext cx="1553957" cy="944094"/>
          </a:xfrm>
          <a:prstGeom prst="bentConnector3">
            <a:avLst>
              <a:gd name="adj1" fmla="val 100061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F1FDAFB3-6058-59F9-CB65-6151B8E84A9F}"/>
              </a:ext>
            </a:extLst>
          </p:cNvPr>
          <p:cNvCxnSpPr>
            <a:cxnSpLocks/>
            <a:endCxn id="22" idx="3"/>
          </p:cNvCxnSpPr>
          <p:nvPr/>
        </p:nvCxnSpPr>
        <p:spPr>
          <a:xfrm rot="5400000">
            <a:off x="17534191" y="6240119"/>
            <a:ext cx="6282818" cy="304800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0105B3-7225-5313-38B8-94F7852C41AF}"/>
              </a:ext>
            </a:extLst>
          </p:cNvPr>
          <p:cNvSpPr txBox="1"/>
          <p:nvPr/>
        </p:nvSpPr>
        <p:spPr>
          <a:xfrm>
            <a:off x="13129658" y="3233622"/>
            <a:ext cx="361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We &amp;&amp; !full</a:t>
            </a:r>
            <a:endParaRPr lang="ko-KR" altLang="en-US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C4AC35-46F9-2909-1645-F8868B134283}"/>
              </a:ext>
            </a:extLst>
          </p:cNvPr>
          <p:cNvSpPr txBox="1"/>
          <p:nvPr/>
        </p:nvSpPr>
        <p:spPr>
          <a:xfrm>
            <a:off x="18211800" y="10631061"/>
            <a:ext cx="3611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Re &amp;&amp; !empty</a:t>
            </a:r>
            <a:endParaRPr lang="ko-KR" altLang="en-US" sz="280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78F1C48-93BD-A3A5-5397-C2CC741AD7CC}"/>
              </a:ext>
            </a:extLst>
          </p:cNvPr>
          <p:cNvCxnSpPr/>
          <p:nvPr/>
        </p:nvCxnSpPr>
        <p:spPr>
          <a:xfrm>
            <a:off x="18747346" y="10092730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799530-6F06-BDE4-C77F-04EC5B5D3E7F}"/>
              </a:ext>
            </a:extLst>
          </p:cNvPr>
          <p:cNvSpPr/>
          <p:nvPr/>
        </p:nvSpPr>
        <p:spPr>
          <a:xfrm>
            <a:off x="6167531" y="2628808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12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6156-0F11-FD2D-DAD0-F1722109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33090CCA-ECC6-558B-6D3A-01A436D25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129"/>
            <a:ext cx="24384000" cy="6030153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3B53EC16-A65B-A3CA-648C-E79E6F4FBF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55AF166E-F623-AE02-452E-6D81AA066F5C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44F1E11-ECDC-D81E-C1B6-E394781D8D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7FFEFD-9750-8D3D-0A93-6A9889C4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90EC822D-4B06-25FC-4E37-64DB6E6C54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8A1B582C-53BF-F73A-4F67-E7789497A5CF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D4A6AF-856B-DCF7-BA54-CDEEFCD01902}"/>
              </a:ext>
            </a:extLst>
          </p:cNvPr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</a:t>
            </a:r>
            <a:endParaRPr lang="ko-KR" altLang="en-US" sz="54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2AB183E-CD43-57E2-ACE7-4D101CD06D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140"/>
          <a:stretch>
            <a:fillRect/>
          </a:stretch>
        </p:blipFill>
        <p:spPr>
          <a:xfrm>
            <a:off x="6248400" y="9118601"/>
            <a:ext cx="10739269" cy="3555999"/>
          </a:xfrm>
          <a:prstGeom prst="rect">
            <a:avLst/>
          </a:prstGeom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B700F1F0-4BA2-BAAE-10C8-0159A4946FCA}"/>
              </a:ext>
            </a:extLst>
          </p:cNvPr>
          <p:cNvSpPr/>
          <p:nvPr/>
        </p:nvSpPr>
        <p:spPr>
          <a:xfrm>
            <a:off x="12420600" y="2196772"/>
            <a:ext cx="190500" cy="149646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F82F76B9-F2D9-33E4-50BC-1D2EBA756243}"/>
              </a:ext>
            </a:extLst>
          </p:cNvPr>
          <p:cNvSpPr/>
          <p:nvPr/>
        </p:nvSpPr>
        <p:spPr>
          <a:xfrm rot="10800000">
            <a:off x="13487400" y="2242488"/>
            <a:ext cx="190500" cy="1442787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125F87-9C81-4899-48B5-BC713AD029AC}"/>
              </a:ext>
            </a:extLst>
          </p:cNvPr>
          <p:cNvSpPr/>
          <p:nvPr/>
        </p:nvSpPr>
        <p:spPr>
          <a:xfrm>
            <a:off x="7620000" y="9702800"/>
            <a:ext cx="9525000" cy="640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36755A-4E89-B6D9-4359-3983EB94171E}"/>
              </a:ext>
            </a:extLst>
          </p:cNvPr>
          <p:cNvSpPr/>
          <p:nvPr/>
        </p:nvSpPr>
        <p:spPr>
          <a:xfrm>
            <a:off x="7620000" y="10388550"/>
            <a:ext cx="9525000" cy="6404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0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0BCB-CFA5-EAA5-89CE-D3280A13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82F6EDF-002F-C323-4F6A-8D4A0DF0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8128"/>
            <a:ext cx="24384000" cy="6030153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5A3AFA30-48FF-4150-2B7C-B0A3E18FAD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E77DC1E-AC84-DD4F-479D-4A0AF036AE1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676F4C9-FEFC-CAC6-634B-460713AEC9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7382B2-5165-2B0A-6D1B-BDDBB558E0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1E0FD328-5294-E849-04ED-2B6030D082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2F192AA4-87D6-8B56-AF48-1FCB6E3D4B63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F21FD-B6DA-DABA-C2F1-7E4CA55F799C}"/>
              </a:ext>
            </a:extLst>
          </p:cNvPr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</a:t>
            </a:r>
            <a:endParaRPr lang="ko-KR" altLang="en-US" sz="5400" b="1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2D2E221-9CED-B076-EB9E-9B30B537F2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150" y="9220200"/>
            <a:ext cx="10739269" cy="398779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F93E62A-78D0-9B4D-E799-A1715E089334}"/>
              </a:ext>
            </a:extLst>
          </p:cNvPr>
          <p:cNvSpPr/>
          <p:nvPr/>
        </p:nvSpPr>
        <p:spPr>
          <a:xfrm>
            <a:off x="6620680" y="10287001"/>
            <a:ext cx="1913719" cy="3082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15CC73-F059-9218-2522-EE9635A6C6B8}"/>
              </a:ext>
            </a:extLst>
          </p:cNvPr>
          <p:cNvSpPr/>
          <p:nvPr/>
        </p:nvSpPr>
        <p:spPr>
          <a:xfrm>
            <a:off x="14859000" y="3068127"/>
            <a:ext cx="2895600" cy="599034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63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3CDF-D3EA-E41B-2605-73152910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B1B62343-461F-51F5-3265-FD22DE1C28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1930AF0-FE97-982A-5A89-817D3249FD05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74103B5-E252-CF72-66B8-C71F3A77F0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E4C9F6-4CD7-37A7-5296-2115E843D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EA04B54C-051A-5FCE-7B51-1060C22383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156C03B3-2677-4376-CB4F-75F611E5B0B9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2108F1-B078-E29A-3056-9D1BE2E4FF70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4AC89D-96C9-5827-8141-A5D7CF9F93A2}"/>
              </a:ext>
            </a:extLst>
          </p:cNvPr>
          <p:cNvSpPr txBox="1"/>
          <p:nvPr/>
        </p:nvSpPr>
        <p:spPr>
          <a:xfrm>
            <a:off x="5715000" y="9739743"/>
            <a:ext cx="157407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we -&gt;    empty = 0</a:t>
            </a:r>
          </a:p>
          <a:p>
            <a:r>
              <a:rPr lang="en-US" altLang="ko-KR" sz="5400" b="1" dirty="0"/>
              <a:t>We -&gt;   (</a:t>
            </a:r>
            <a:r>
              <a:rPr lang="en-US" altLang="ko-KR" sz="5400" b="1" dirty="0" err="1"/>
              <a:t>wptr_next</a:t>
            </a:r>
            <a:r>
              <a:rPr lang="en-US" altLang="ko-KR" sz="5400" b="1" dirty="0"/>
              <a:t> == </a:t>
            </a:r>
            <a:r>
              <a:rPr lang="en-US" altLang="ko-KR" sz="5400" b="1" dirty="0" err="1"/>
              <a:t>rptr_reg</a:t>
            </a:r>
            <a:r>
              <a:rPr lang="en-US" altLang="ko-KR" sz="5400" b="1" dirty="0"/>
              <a:t>)    -&gt;    full = 1</a:t>
            </a:r>
          </a:p>
          <a:p>
            <a:r>
              <a:rPr lang="en-US" altLang="ko-KR" sz="5400" b="1" dirty="0"/>
              <a:t>Re  -&gt;    full = 0</a:t>
            </a:r>
            <a:endParaRPr lang="ko-KR" altLang="en-US" sz="5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180DDA-3FB5-599A-1316-E00D30269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45404"/>
            <a:ext cx="24384000" cy="624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2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6CE1-424F-F9B1-94CC-95020D85A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E4A22412-D902-4F7C-7965-576444672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5E466BA-A476-2207-B067-F4FBE0037E9C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C5B014D-A022-37A9-8E47-2E3446EA06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317399-26E4-2E86-61F0-4FA7070C8D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96F09FDF-C6B1-B321-53D8-F81718C174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1865CBAC-6033-3DC1-FC46-C9B62B44498C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F4C905-F26C-4E97-451A-1E425A59E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07" y="3318827"/>
            <a:ext cx="22850186" cy="74497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0F2887-7499-2F30-BD07-11075525202C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</p:spTree>
    <p:extLst>
      <p:ext uri="{BB962C8B-B14F-4D97-AF65-F5344CB8AC3E}">
        <p14:creationId xmlns:p14="http://schemas.microsoft.com/office/powerpoint/2010/main" val="323188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A0F5-0552-B1B2-DB7B-E38A4F09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F220BF8-0BF1-F5EE-D083-175AF914ED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61C9125C-E59B-FC6A-795B-940A215A0C37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AC4E33C-DAE3-9ED9-B455-B9E0C248E7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0B1ED-6C6E-F2E5-A8B1-D4C17C5E7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4D3CE82-1EDC-396E-5ACE-2B4ACFA902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2FB2097B-8BE1-31A1-BCC0-754FA01D838D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AF82B-23DD-5BA5-FE64-805A9129B7BC}"/>
              </a:ext>
            </a:extLst>
          </p:cNvPr>
          <p:cNvSpPr txBox="1"/>
          <p:nvPr/>
        </p:nvSpPr>
        <p:spPr>
          <a:xfrm>
            <a:off x="5925497" y="10892923"/>
            <a:ext cx="14597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Re -&gt;   (</a:t>
            </a:r>
            <a:r>
              <a:rPr lang="en-US" altLang="ko-KR" sz="5400" b="1" dirty="0" err="1"/>
              <a:t>wptr_reg</a:t>
            </a:r>
            <a:r>
              <a:rPr lang="en-US" altLang="ko-KR" sz="5400" b="1" dirty="0"/>
              <a:t> == </a:t>
            </a:r>
            <a:r>
              <a:rPr lang="en-US" altLang="ko-KR" sz="5400" b="1" dirty="0" err="1"/>
              <a:t>rptr_next</a:t>
            </a:r>
            <a:r>
              <a:rPr lang="en-US" altLang="ko-KR" sz="5400" b="1" dirty="0"/>
              <a:t>)    -&gt;    empty = 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956302-F094-6365-A990-170D76582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37" y="3554606"/>
            <a:ext cx="24385137" cy="68518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F72E6D-F9A1-3792-A9BB-0F5EDFF84356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re)</a:t>
            </a:r>
          </a:p>
        </p:txBody>
      </p:sp>
    </p:spTree>
    <p:extLst>
      <p:ext uri="{BB962C8B-B14F-4D97-AF65-F5344CB8AC3E}">
        <p14:creationId xmlns:p14="http://schemas.microsoft.com/office/powerpoint/2010/main" val="378971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D55E-E6F6-4A78-81B4-D7A26DCCD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44B102FD-9E0E-F52C-DBDE-26A1755FD1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361F6F36-42EE-7C9B-C29B-9B33476F8DF2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4B066CD-C448-9A30-30DB-2EFDAFC925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1F743C-9DC5-04D1-F156-B0C688ADA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A1CA4D6-EBF3-581F-FC85-607C3C6B2D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E7A0590-6095-4C96-75A3-5E868FBDA91D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AC5A7-857A-EBFF-0E32-55448FECDCEF}"/>
              </a:ext>
            </a:extLst>
          </p:cNvPr>
          <p:cNvSpPr txBox="1"/>
          <p:nvPr/>
        </p:nvSpPr>
        <p:spPr>
          <a:xfrm>
            <a:off x="5925497" y="11195145"/>
            <a:ext cx="14597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we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=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1, re = 1   -&gt;  </a:t>
            </a:r>
            <a:r>
              <a:rPr lang="en-US" altLang="ko-KR" sz="5400" b="1" dirty="0" err="1"/>
              <a:t>wptr_reg</a:t>
            </a:r>
            <a:r>
              <a:rPr lang="en-US" altLang="ko-KR" sz="5400" b="1" dirty="0"/>
              <a:t>++, </a:t>
            </a:r>
            <a:r>
              <a:rPr lang="en-US" altLang="ko-KR" sz="5400" b="1" dirty="0" err="1"/>
              <a:t>rptr_reg</a:t>
            </a:r>
            <a:r>
              <a:rPr lang="en-US" altLang="ko-KR" sz="5400" b="1" dirty="0"/>
              <a:t>++;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8F9259-1699-C540-812C-8672B4977BDD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ko-KR" altLang="en-US" sz="5400" b="1" dirty="0"/>
              <a:t>동시 </a:t>
            </a:r>
            <a:r>
              <a:rPr lang="en-US" altLang="ko-KR" sz="5400" b="1" dirty="0"/>
              <a:t>we= 1, re = 1)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B26284-5F19-FCB1-A644-74EE254C2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158" y="3372928"/>
            <a:ext cx="24410158" cy="74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1EB2-FFC6-929D-C24F-895629AF3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116A0F7-D2B1-C4B2-69E2-987D2C14FF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49083BD1-126D-9A77-0E45-4295A72CD7C1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B62B516-24AF-B09A-2895-71330A1D31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67E881-7133-CDBC-7834-20743A7487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272ED190-111D-4F10-C562-D71521B0D9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90E16A0E-9609-E2A2-A8FE-BDF469022F54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6C5C4-0D4D-B142-94A5-3EAE46F24584}"/>
              </a:ext>
            </a:extLst>
          </p:cNvPr>
          <p:cNvSpPr txBox="1"/>
          <p:nvPr/>
        </p:nvSpPr>
        <p:spPr>
          <a:xfrm>
            <a:off x="6077897" y="10601447"/>
            <a:ext cx="14597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full == 1 </a:t>
            </a:r>
            <a:r>
              <a:rPr lang="ko-KR" altLang="en-US" sz="5400" b="1" dirty="0"/>
              <a:t>상황</a:t>
            </a:r>
            <a:r>
              <a:rPr lang="en-US" altLang="ko-KR" sz="5400" b="1" dirty="0"/>
              <a:t>:</a:t>
            </a:r>
          </a:p>
          <a:p>
            <a:pPr lvl="1"/>
            <a:r>
              <a:rPr lang="en-US" altLang="ko-KR" sz="5400" b="1" dirty="0"/>
              <a:t>	we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=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1, re = 1   -&gt;  full = 0, </a:t>
            </a:r>
            <a:r>
              <a:rPr lang="en-US" altLang="ko-KR" sz="5400" b="1" dirty="0" err="1"/>
              <a:t>rptr_reg</a:t>
            </a:r>
            <a:r>
              <a:rPr lang="en-US" altLang="ko-KR" sz="5400" b="1" dirty="0"/>
              <a:t>++;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543751-B010-02C0-A36D-DBBA2967F1D6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ko-KR" altLang="en-US" sz="5400" b="1" dirty="0"/>
              <a:t>동시 </a:t>
            </a:r>
            <a:r>
              <a:rPr lang="en-US" altLang="ko-KR" sz="5400" b="1" dirty="0"/>
              <a:t>we= 1, re = 1)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97ECEB-A4FA-92AB-074F-AA315633E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2" y="3585901"/>
            <a:ext cx="24377176" cy="66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9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DD76-B6BD-89B7-3D7B-7D52CB6EE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B90EA1BF-8A80-D648-E9CF-A5AD51FC0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27F43AA0-E0EA-EAC8-1FAC-E3E51BEB710E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1720E3D0-24AA-47EF-C3B2-8C58B564E1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79CD91-327A-7288-D175-5B2125033F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54B2829-11F2-DA1C-7DD1-A6DDD763A0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6B128AB2-8E21-27EF-28D0-85C398917688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F8EEC-4C5F-8F4D-28E9-74E7C3BCD30A}"/>
              </a:ext>
            </a:extLst>
          </p:cNvPr>
          <p:cNvSpPr txBox="1"/>
          <p:nvPr/>
        </p:nvSpPr>
        <p:spPr>
          <a:xfrm>
            <a:off x="6077897" y="10779647"/>
            <a:ext cx="14597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empty == 1 </a:t>
            </a:r>
            <a:r>
              <a:rPr lang="ko-KR" altLang="en-US" sz="5400" b="1" dirty="0"/>
              <a:t>상황</a:t>
            </a:r>
            <a:r>
              <a:rPr lang="en-US" altLang="ko-KR" sz="5400" b="1" dirty="0"/>
              <a:t>:</a:t>
            </a:r>
          </a:p>
          <a:p>
            <a:pPr lvl="1"/>
            <a:r>
              <a:rPr lang="en-US" altLang="ko-KR" sz="5400" b="1" dirty="0"/>
              <a:t>	we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=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1, re = 1   -&gt;  empty = 0, </a:t>
            </a:r>
            <a:r>
              <a:rPr lang="en-US" altLang="ko-KR" sz="5400" b="1" dirty="0" err="1"/>
              <a:t>wptr_reg</a:t>
            </a:r>
            <a:r>
              <a:rPr lang="en-US" altLang="ko-KR" sz="5400" b="1" dirty="0"/>
              <a:t>++;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14273-86D1-D249-A003-1491F3181A32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ko-KR" altLang="en-US" sz="5400" b="1" dirty="0"/>
              <a:t>동시 </a:t>
            </a:r>
            <a:r>
              <a:rPr lang="en-US" altLang="ko-KR" sz="5400" b="1" dirty="0"/>
              <a:t>we= 1, re = 1)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4EF3CF-2F6B-0974-B046-1C6E0B20E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373" y="3772109"/>
            <a:ext cx="24395373" cy="69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1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F997A-04D0-DD7B-733F-69AE3FF5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FF3E3C8B-000F-A76C-B8DA-3119EE7CED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76CDA91A-5351-701A-4960-F61B82A14FE6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CA2FB7D-89A5-1D8D-5969-26C680854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CBEE8F-29CF-F9C4-D0F0-2AEE2F4B45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D60104B-37A6-EBD1-E31B-AB20D01E26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738B890-14DC-09CF-273A-99B821B85003}"/>
              </a:ext>
            </a:extLst>
          </p:cNvPr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38F5D6-6640-9971-E583-92E667E63EAF}"/>
              </a:ext>
            </a:extLst>
          </p:cNvPr>
          <p:cNvSpPr txBox="1"/>
          <p:nvPr/>
        </p:nvSpPr>
        <p:spPr>
          <a:xfrm>
            <a:off x="1295400" y="2144799"/>
            <a:ext cx="937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Verification(random 1000 cycle)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72204E-E288-A4A3-D4EB-7AEE35AB0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3426986"/>
            <a:ext cx="9258296" cy="79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1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5762D-55FA-AD57-A4C5-6CC256A0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D50CFF74-A02B-FC62-EB5C-356D56D678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1216525A-453B-2628-BA97-084EB4D64870}"/>
              </a:ext>
            </a:extLst>
          </p:cNvPr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 Simulate Scenario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0709E0F-3182-E213-B41C-1B06679C46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A705F55-688C-DE52-BE14-9D0FF0AE09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1467FAD-E75B-5396-4B61-0A707D2FA3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78DB281-3A7E-4EA7-15A1-F4119363E6B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BD344EC5-13D3-1781-6AFE-07E8329183E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CDE3EA9E-B237-1F74-2B21-43C5F2CB0F8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70BCBD6B-CCB3-AB75-80C4-F8ECC2F9719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C90771F7-B476-F536-D312-526B4DB7EAFD}"/>
              </a:ext>
            </a:extLst>
          </p:cNvPr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CB5738B-B02D-37CB-0F2D-22F4ED7C3012}"/>
              </a:ext>
            </a:extLst>
          </p:cNvPr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D353849-C77A-2776-B433-E63F9E335E0C}"/>
              </a:ext>
            </a:extLst>
          </p:cNvPr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9E4C470-293C-A2B2-77AF-1942CD918F54}"/>
              </a:ext>
            </a:extLst>
          </p:cNvPr>
          <p:cNvSpPr txBox="1"/>
          <p:nvPr/>
        </p:nvSpPr>
        <p:spPr>
          <a:xfrm>
            <a:off x="3835400" y="760095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Rx + FIFO data Flow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05E6AAF-CBB9-98A2-0D3C-5288172C0099}"/>
              </a:ext>
            </a:extLst>
          </p:cNvPr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D9B3A52-FCB2-E09C-68A3-810520F1EECB}"/>
              </a:ext>
            </a:extLst>
          </p:cNvPr>
          <p:cNvSpPr txBox="1"/>
          <p:nvPr/>
        </p:nvSpPr>
        <p:spPr>
          <a:xfrm>
            <a:off x="14884400" y="7600950"/>
            <a:ext cx="5829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Baud delay rate Allowable range</a:t>
            </a:r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1FA16361-ED0E-A252-ED2F-55E142D26E0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5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87B1-81E0-4A45-2363-959AAB6B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795C5256-7978-5EF8-F75D-BF073125C0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2C047543-23CE-D02A-187E-9C3DFAA5C7BD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872C8D8-4FBF-CA65-5ACA-8BDED389DD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B15331-177B-AB19-ECE6-B9D033627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B17725D-22A7-6946-6068-ACF094E68D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18C0F5CC-07B5-FCAA-4E3B-596A860F1604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ACCFC1-09B5-6FF8-17AD-09917ACAC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8A2814-3686-96DE-5DDA-F112CA68A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2144799"/>
            <a:ext cx="11839211" cy="50072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013A5E8-A87A-DDFA-0BD8-A1CBD120CB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41710" y="7322622"/>
            <a:ext cx="9739340" cy="5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94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2FF4-F7D5-8CC4-4FBE-9ECA494C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AAAC6CC-DA96-518D-9565-A56A6EBE0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55EE100-F03B-8096-65F7-584FAE061DE8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DC27CC6-E911-5F7C-80F3-0E1F61A7F7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743EDA-3A17-6109-A951-FBAA06BD85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9A05DEC-FC8F-0929-D38A-B716BA82A2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51B2926D-916D-553F-4852-1EE935588B05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9D5D02-99F2-7B9A-69A0-DA14B9CF5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233058E8-1F4A-28FE-A600-966D1161B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903063"/>
              </p:ext>
            </p:extLst>
          </p:nvPr>
        </p:nvGraphicFramePr>
        <p:xfrm>
          <a:off x="13030200" y="4100031"/>
          <a:ext cx="7941858" cy="4701028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ascii_data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</a:rPr>
                        <a:t>Fifo_data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Regular"/>
                        </a:rPr>
                        <a:t>full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empty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0273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8DAD5E-CA99-7742-CAC0-E9EE857879E8}"/>
              </a:ext>
            </a:extLst>
          </p:cNvPr>
          <p:cNvSpPr/>
          <p:nvPr/>
        </p:nvSpPr>
        <p:spPr>
          <a:xfrm>
            <a:off x="1600200" y="26670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2507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B0BF-F4DE-5A3A-550A-CDB6B855F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F5C3946D-0ACB-9421-FA01-7F5EAC74A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0C350EE-A706-B0A1-BD13-2D536B280041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881F55D-8566-38E7-950A-996F52D318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74BCB-70F8-444B-78A6-D8BABA1ECE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A4C14C8-4263-E82A-494A-0CC3426269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B88BA1AC-505E-343C-9783-1B2BB8DB7A95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2DE6E5-4D8D-2D9F-6C5C-136BE4F5E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2039881-F74C-15B8-BB10-7E53CD5D004E}"/>
              </a:ext>
            </a:extLst>
          </p:cNvPr>
          <p:cNvSpPr/>
          <p:nvPr/>
        </p:nvSpPr>
        <p:spPr>
          <a:xfrm>
            <a:off x="1600200" y="4992321"/>
            <a:ext cx="4848367" cy="19308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5A1B7D-040A-01AA-F16E-6EFC093C83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8821" y="2455412"/>
            <a:ext cx="5893558" cy="8630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AFEBD3-D914-C3A8-E311-9AE792FFB7A6}"/>
              </a:ext>
            </a:extLst>
          </p:cNvPr>
          <p:cNvSpPr txBox="1"/>
          <p:nvPr/>
        </p:nvSpPr>
        <p:spPr>
          <a:xfrm>
            <a:off x="14097000" y="11435938"/>
            <a:ext cx="830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BAUD_REPIOD = (100MHz / 9600bpm)*10</a:t>
            </a:r>
            <a:endParaRPr lang="ko-KR" altLang="en-US" sz="3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9A8760A-6727-1A77-CCBD-2B83B115F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5021" y="2392439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3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CC67-F5D9-45A5-3136-D5E4FA5D2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B693A220-2D50-133E-132F-26C10209F9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C950CAD-FC59-7EEE-99D0-5A9A2F0719BB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A3F77DD-C8DB-36AE-3F70-E2DEE93ED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17627A-F2C0-9E58-04D3-CF03C8C751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68F98EB-230B-72C2-1BC5-6A705CC2B6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9A0EE42B-0E32-8662-A51E-C6AD070DDE69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201155-5E0D-7E75-9096-74A9CE26A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8E8B0878-D0F2-919E-776B-5851D590FD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CD915D66-4372-0294-2445-5957276C6E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297259-0B2C-5C19-8EA9-C074315ACD16}"/>
              </a:ext>
            </a:extLst>
          </p:cNvPr>
          <p:cNvSpPr/>
          <p:nvPr/>
        </p:nvSpPr>
        <p:spPr>
          <a:xfrm>
            <a:off x="13921346" y="5651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dirty="0">
                <a:solidFill>
                  <a:schemeClr val="tx1"/>
                </a:solidFill>
              </a:rPr>
              <a:t>mailbox</a:t>
            </a:r>
            <a:endParaRPr lang="ko-KR" altLang="en-US" sz="6000" b="1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CA7BC-77F5-8371-E5A9-7C627687E276}"/>
              </a:ext>
            </a:extLst>
          </p:cNvPr>
          <p:cNvSpPr txBox="1"/>
          <p:nvPr/>
        </p:nvSpPr>
        <p:spPr>
          <a:xfrm>
            <a:off x="10210800" y="2373399"/>
            <a:ext cx="12041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Ascii data + Interface I/O</a:t>
            </a:r>
            <a:endParaRPr kumimoji="0" lang="ko-KR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5B30ED0-97A5-7FF6-9C56-62BA5EB0EF62}"/>
              </a:ext>
            </a:extLst>
          </p:cNvPr>
          <p:cNvCxnSpPr>
            <a:cxnSpLocks/>
          </p:cNvCxnSpPr>
          <p:nvPr/>
        </p:nvCxnSpPr>
        <p:spPr>
          <a:xfrm>
            <a:off x="15697200" y="3389062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8FC013B-B769-52BC-93BC-1433F5AAEF97}"/>
              </a:ext>
            </a:extLst>
          </p:cNvPr>
          <p:cNvCxnSpPr>
            <a:cxnSpLocks/>
          </p:cNvCxnSpPr>
          <p:nvPr/>
        </p:nvCxnSpPr>
        <p:spPr>
          <a:xfrm>
            <a:off x="15697199" y="6768915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E6901A6-B48B-914C-EDA6-9C22A6A56B39}"/>
              </a:ext>
            </a:extLst>
          </p:cNvPr>
          <p:cNvSpPr txBox="1"/>
          <p:nvPr/>
        </p:nvSpPr>
        <p:spPr>
          <a:xfrm>
            <a:off x="11542404" y="9223991"/>
            <a:ext cx="83095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Scoreboard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60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ASCII DATA == </a:t>
            </a:r>
            <a:r>
              <a:rPr lang="en-US" altLang="ko-KR" sz="6000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tr.rx_data</a:t>
            </a:r>
            <a:endParaRPr kumimoji="0" lang="ko-KR" altLang="en-US" sz="6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989D31-AFB6-1707-1B12-21238A55C2F6}"/>
              </a:ext>
            </a:extLst>
          </p:cNvPr>
          <p:cNvSpPr txBox="1"/>
          <p:nvPr/>
        </p:nvSpPr>
        <p:spPr>
          <a:xfrm>
            <a:off x="15090857" y="3968789"/>
            <a:ext cx="476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/>
              <a:t>@(pop_fifo_ev)</a:t>
            </a:r>
            <a:endParaRPr lang="ko-KR" altLang="en-US" sz="28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E90EC66-2ED1-18C6-3CB7-B84CDF80CE53}"/>
              </a:ext>
            </a:extLst>
          </p:cNvPr>
          <p:cNvSpPr/>
          <p:nvPr/>
        </p:nvSpPr>
        <p:spPr>
          <a:xfrm>
            <a:off x="5994739" y="2257309"/>
            <a:ext cx="2969527" cy="4600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8969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6277-1BCF-ECDB-E060-B322D00F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BBF73870-97AF-E1BF-F4C7-A07392DC3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1E79BD81-6F1F-6FDA-3758-B12D6BD8434B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6662818-8907-1D3E-A142-7577D5DD6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ABEF87-BDC2-19BF-8070-7CF02A7D9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9C99AF-6E10-E6D4-03B5-4C8C7DB630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05591F66-96D7-EC19-CD4D-BC970182F264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FCDF6713-98FF-D31A-0C5C-4907478CA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D7BAE5A-2DFD-1AEC-70EF-1F88D6AA48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8DFB1E-7045-6281-827D-D90507C2914E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Verification(check gen RX)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75DB23-F8DE-CBA0-8615-8BE5F3EDA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0392" y="5767736"/>
            <a:ext cx="12727808" cy="48636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572FCE-7F95-DC90-579E-9A93B2F95F34}"/>
              </a:ext>
            </a:extLst>
          </p:cNvPr>
          <p:cNvSpPr txBox="1"/>
          <p:nvPr/>
        </p:nvSpPr>
        <p:spPr>
          <a:xfrm>
            <a:off x="11931176" y="3809807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BAUD_REPIOD = (100MHz / 9600bpm)*10 = 104160</a:t>
            </a:r>
            <a:endParaRPr lang="ko-KR" altLang="en-US" sz="36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D1BD629-1805-EBCD-0A3E-C60450C56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09807"/>
            <a:ext cx="9709986" cy="710252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524DC1-B008-284F-5D86-96DBF6A73EF1}"/>
              </a:ext>
            </a:extLst>
          </p:cNvPr>
          <p:cNvSpPr/>
          <p:nvPr/>
        </p:nvSpPr>
        <p:spPr>
          <a:xfrm>
            <a:off x="10972800" y="5791200"/>
            <a:ext cx="5257800" cy="48651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56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D88E-CEFB-3A40-A526-5F9F3138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F8F0FB7B-D07B-DE50-2EFA-AEB9FFB0AF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6C85EBDA-0430-781B-96CC-972383CBE83E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D79C735-7BAF-6C9C-293C-BC4423C360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CFCAF8-698B-E3A4-550B-FC5E65A4BE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AF867FA-85E0-7AD2-BB29-6A9909F973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0F33B460-068A-A5B0-31B0-5594383DD870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9777E0BF-F598-1E33-AD97-6B1EA1F37D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C77BFCF3-6C11-1ED7-92B8-70E7A6E715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EC082D-D676-E0CB-E6AB-5C3FE786C6D7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Verification(check gen RX)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DEF24D-2C16-025E-FABA-25F53DC380B9}"/>
              </a:ext>
            </a:extLst>
          </p:cNvPr>
          <p:cNvSpPr txBox="1"/>
          <p:nvPr/>
        </p:nvSpPr>
        <p:spPr>
          <a:xfrm>
            <a:off x="6049464" y="11294070"/>
            <a:ext cx="14597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Rx  = 10bit * 104160 = 1041600ns = 1041.6us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2E84272-8245-BBD3-3F76-0F10602CE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17118"/>
            <a:ext cx="24384000" cy="64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70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78E6E-639F-1906-4C19-01B33BEC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D058412-67D0-CE22-8510-5D8A0BBC6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6145092-0F2B-7B03-1C09-2FC743F18444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8623CB1-C25D-5EDB-9634-69E3B38E21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FD0C09-BD35-E379-4498-403719D44B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BE06450-B71F-0B1F-1C56-742D5641BD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93BC6DD1-2F41-ABA0-D283-DA7EC3D542B1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CD62ABD9-7B8D-72F7-808B-817F93C4112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C54615A2-B920-21FD-DD5F-5E22E6D830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4DA2FA-A9B6-D6B1-36F6-7975DEC3A9AE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Verification(module RX)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82FD686-A236-EE40-B692-C4D4DD3CD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72929"/>
            <a:ext cx="24384000" cy="711727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1A92742-B37F-F44D-D190-ED55AE452570}"/>
              </a:ext>
            </a:extLst>
          </p:cNvPr>
          <p:cNvSpPr txBox="1"/>
          <p:nvPr/>
        </p:nvSpPr>
        <p:spPr>
          <a:xfrm>
            <a:off x="5334000" y="10972883"/>
            <a:ext cx="17370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B_tick</a:t>
            </a:r>
            <a:r>
              <a:rPr lang="en-US" altLang="ko-KR" sz="5400" b="1" dirty="0"/>
              <a:t>  = 100Mhz / (9600bps * 16</a:t>
            </a:r>
            <a:r>
              <a:rPr lang="ko-KR" altLang="en-US" sz="5400" b="1" dirty="0"/>
              <a:t>배</a:t>
            </a:r>
            <a:r>
              <a:rPr lang="en-US" altLang="ko-KR" sz="5400" b="1" dirty="0"/>
              <a:t>)= 6.51us</a:t>
            </a:r>
          </a:p>
        </p:txBody>
      </p:sp>
    </p:spTree>
    <p:extLst>
      <p:ext uri="{BB962C8B-B14F-4D97-AF65-F5344CB8AC3E}">
        <p14:creationId xmlns:p14="http://schemas.microsoft.com/office/powerpoint/2010/main" val="1151801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F81-3EBE-19BF-6A26-8EE392959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A7CAEFA-6CF7-8402-5548-FC94F4D3D9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16B57EA0-9199-94C0-BFEA-F2CAD07DC2C9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478733D-BA31-AEBE-C50E-48D2190EBF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23EB6-9B8C-1157-85FE-5CE79D08F3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5DA97913-C213-FD05-C312-CAEDC4204B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1AFF83E3-D6B7-F355-4AFF-C920E5683054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09C8F48-8D4E-C20F-51B3-BB330E53D0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60C61F1-16BD-20F2-F64F-087FD13A18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928CC-47D5-0AA2-3FDD-8C82063EB6E6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Verification(module RX) input(8’hB6)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1631672-1577-CC1B-FCEF-DD9894E52C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1"/>
          <a:stretch>
            <a:fillRect/>
          </a:stretch>
        </p:blipFill>
        <p:spPr>
          <a:xfrm>
            <a:off x="20472" y="3835399"/>
            <a:ext cx="24363528" cy="7137484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B88C303A-50B0-DF9B-45AC-AC708527C720}"/>
              </a:ext>
            </a:extLst>
          </p:cNvPr>
          <p:cNvSpPr/>
          <p:nvPr/>
        </p:nvSpPr>
        <p:spPr>
          <a:xfrm>
            <a:off x="9906000" y="55626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EC6FF6C-B665-9BBA-FFA6-DD54A075117F}"/>
              </a:ext>
            </a:extLst>
          </p:cNvPr>
          <p:cNvCxnSpPr>
            <a:cxnSpLocks/>
          </p:cNvCxnSpPr>
          <p:nvPr/>
        </p:nvCxnSpPr>
        <p:spPr>
          <a:xfrm>
            <a:off x="10591800" y="6633570"/>
            <a:ext cx="1981200" cy="14436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525F2B-53C9-A653-98A3-197156459C4C}"/>
              </a:ext>
            </a:extLst>
          </p:cNvPr>
          <p:cNvSpPr txBox="1"/>
          <p:nvPr/>
        </p:nvSpPr>
        <p:spPr>
          <a:xfrm>
            <a:off x="12801600" y="7048981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highlight>
                  <a:srgbClr val="FFFF00"/>
                </a:highlight>
              </a:rPr>
              <a:t>START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EE88AF-F603-C54B-BC2C-B4F69303C1E8}"/>
              </a:ext>
            </a:extLst>
          </p:cNvPr>
          <p:cNvSpPr txBox="1"/>
          <p:nvPr/>
        </p:nvSpPr>
        <p:spPr>
          <a:xfrm>
            <a:off x="18135600" y="7048981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highlight>
                  <a:srgbClr val="FFFF00"/>
                </a:highlight>
              </a:rPr>
              <a:t>DATA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2519123-278A-9F33-C1B8-1E86BD56BAD3}"/>
              </a:ext>
            </a:extLst>
          </p:cNvPr>
          <p:cNvCxnSpPr>
            <a:cxnSpLocks/>
          </p:cNvCxnSpPr>
          <p:nvPr/>
        </p:nvCxnSpPr>
        <p:spPr>
          <a:xfrm>
            <a:off x="14782800" y="7490174"/>
            <a:ext cx="32004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154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59F6-44EE-313C-2294-1AF2E627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68050EA1-5C03-9C24-EF44-017657393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47B979F0-7911-9827-AE07-446A184310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F0392266-F5E8-3680-1736-9CA005BBFE06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1F0DD463-19C0-26E4-F7E9-3CCE9734A3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F541A2-A9FB-BBAC-E719-503F331966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C4E5E5D5-3A30-B6A7-29D3-3D5A0D35CB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B7C6D6DE-CA29-BB5E-146E-E1BB9C4FAAD3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E4CF9ED5-A126-35EB-0750-68F425EE04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1E0928AE-5987-21BA-18D5-EE42A2AB92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163362-A438-18AD-2EAE-C80CDEB83FC1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Verification(module RX) input(8’hB6)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E2AC0787-259F-4DB0-8EE5-A49E376C4F93}"/>
              </a:ext>
            </a:extLst>
          </p:cNvPr>
          <p:cNvCxnSpPr>
            <a:cxnSpLocks/>
          </p:cNvCxnSpPr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A70607A-F26E-11F0-C42F-DD6C9145B888}"/>
              </a:ext>
            </a:extLst>
          </p:cNvPr>
          <p:cNvCxnSpPr>
            <a:cxnSpLocks/>
          </p:cNvCxnSpPr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697F47D1-8235-B134-CB01-50B243FE2176}"/>
              </a:ext>
            </a:extLst>
          </p:cNvPr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3D30BA5-0701-92B7-1CDE-DD6226D9766B}"/>
              </a:ext>
            </a:extLst>
          </p:cNvPr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E7A141-A728-3B6F-99D9-67AAD2DD2513}"/>
              </a:ext>
            </a:extLst>
          </p:cNvPr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B_tick_cnt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15</a:t>
            </a:r>
            <a:r>
              <a:rPr lang="ko-KR" altLang="en-US" sz="5400" b="1" dirty="0"/>
              <a:t>마다 </a:t>
            </a:r>
            <a:r>
              <a:rPr lang="en-US" altLang="ko-KR" sz="5400" b="1" dirty="0" err="1"/>
              <a:t>buf_reg</a:t>
            </a:r>
            <a:r>
              <a:rPr lang="ko-KR" altLang="en-US" sz="5400" b="1" dirty="0"/>
              <a:t>의 </a:t>
            </a:r>
            <a:r>
              <a:rPr lang="en-US" altLang="ko-KR" sz="5400" b="1" dirty="0"/>
              <a:t>MSB</a:t>
            </a:r>
            <a:r>
              <a:rPr lang="ko-KR" altLang="en-US" sz="5400" b="1" dirty="0"/>
              <a:t>에 반영 및 </a:t>
            </a:r>
            <a:r>
              <a:rPr lang="en-US" altLang="ko-KR" sz="5400" b="1" dirty="0"/>
              <a:t>shift </a:t>
            </a:r>
            <a:r>
              <a:rPr lang="ko-KR" altLang="en-US" sz="5400" b="1" dirty="0"/>
              <a:t>발생</a:t>
            </a:r>
            <a:endParaRPr lang="en-US" altLang="ko-KR" sz="5400" b="1" dirty="0"/>
          </a:p>
        </p:txBody>
      </p:sp>
    </p:spTree>
    <p:extLst>
      <p:ext uri="{BB962C8B-B14F-4D97-AF65-F5344CB8AC3E}">
        <p14:creationId xmlns:p14="http://schemas.microsoft.com/office/powerpoint/2010/main" val="2017018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17B51-19D8-41B2-756F-7DC336C3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D49FDFD2-D2C9-7BDB-6174-01C10029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C7F19865-2801-7B69-1247-BAF4D1172E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FD7874E-102B-2163-ED5B-3279799D656B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55F658C-0A57-F986-DDA9-35A7BAE4AB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30E21-2D33-207C-3725-C155FCDD06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C9F3CCE-CAF0-34F1-4319-C06F0CA0123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5CDC2EF0-490D-816F-EE46-3A5DD117F672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0901B9B-2397-89B0-C253-1BEFEC2B6F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F8E16540-E204-55B4-4679-D5AE8F718D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248E4B-D1C8-E3DA-E4DB-4F85311A01D4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Verification(module RX) input(8’hB6)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871421B-D8E8-E3DC-A9B2-C82B3183EB3E}"/>
              </a:ext>
            </a:extLst>
          </p:cNvPr>
          <p:cNvCxnSpPr>
            <a:cxnSpLocks/>
          </p:cNvCxnSpPr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68B2E7D-355D-B95A-2A6C-B79B13187772}"/>
              </a:ext>
            </a:extLst>
          </p:cNvPr>
          <p:cNvCxnSpPr>
            <a:cxnSpLocks/>
          </p:cNvCxnSpPr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31753444-9C7B-F38E-3DC8-1CB8DB935511}"/>
              </a:ext>
            </a:extLst>
          </p:cNvPr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FA97AEA-41AF-E5B3-A1FE-6D3B45CF5F3E}"/>
              </a:ext>
            </a:extLst>
          </p:cNvPr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539777-07FF-3F20-DAFF-EF2F1A60BA86}"/>
              </a:ext>
            </a:extLst>
          </p:cNvPr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B_tick_cnt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15</a:t>
            </a:r>
            <a:r>
              <a:rPr lang="ko-KR" altLang="en-US" sz="5400" b="1" dirty="0"/>
              <a:t>마다 </a:t>
            </a:r>
            <a:r>
              <a:rPr lang="en-US" altLang="ko-KR" sz="5400" b="1" dirty="0" err="1"/>
              <a:t>buf_reg</a:t>
            </a:r>
            <a:r>
              <a:rPr lang="ko-KR" altLang="en-US" sz="5400" b="1" dirty="0"/>
              <a:t>의 </a:t>
            </a:r>
            <a:r>
              <a:rPr lang="en-US" altLang="ko-KR" sz="5400" b="1" dirty="0"/>
              <a:t>MSB</a:t>
            </a:r>
            <a:r>
              <a:rPr lang="ko-KR" altLang="en-US" sz="5400" b="1" dirty="0"/>
              <a:t>에 반영 및 </a:t>
            </a:r>
            <a:r>
              <a:rPr lang="en-US" altLang="ko-KR" sz="5400" b="1" dirty="0"/>
              <a:t>shift </a:t>
            </a:r>
            <a:r>
              <a:rPr lang="ko-KR" altLang="en-US" sz="5400" b="1" dirty="0"/>
              <a:t>발생</a:t>
            </a:r>
            <a:endParaRPr lang="en-US" altLang="ko-KR" sz="5400" b="1" dirty="0"/>
          </a:p>
        </p:txBody>
      </p:sp>
    </p:spTree>
    <p:extLst>
      <p:ext uri="{BB962C8B-B14F-4D97-AF65-F5344CB8AC3E}">
        <p14:creationId xmlns:p14="http://schemas.microsoft.com/office/powerpoint/2010/main" val="1643861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5CAB6-875F-62A9-4FA2-AC586774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FD369016-ECA4-4863-B76F-857360522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CA2829E3-D9AC-D376-4E9C-B0953425D8CA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CCF90F8-3171-BEEA-989A-AABEB327A2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927DB4-E41B-DA96-8015-7FCF7EB5F2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CD1B5DDC-32BE-B5DE-6268-0D8FD2057C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D93A8582-F8F6-313A-795A-C2EFBC56D996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DC59452C-C982-1B7D-5567-038C0C13B8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3AD067F-4188-F693-F90A-134799FEF5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3E872F-EECA-678F-A2C7-47E201650D9D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Verification(module RX) input(8’hB6)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949BF4-3B02-0F14-75D3-6EA6578B7366}"/>
              </a:ext>
            </a:extLst>
          </p:cNvPr>
          <p:cNvSpPr txBox="1"/>
          <p:nvPr/>
        </p:nvSpPr>
        <p:spPr>
          <a:xfrm>
            <a:off x="5943600" y="11109536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(</a:t>
            </a:r>
            <a:r>
              <a:rPr lang="en-US" altLang="ko-KR" sz="5400" b="1" dirty="0" err="1"/>
              <a:t>Rx_done</a:t>
            </a:r>
            <a:r>
              <a:rPr lang="en-US" altLang="ko-KR" sz="5400" b="1" dirty="0"/>
              <a:t> == 1) </a:t>
            </a:r>
            <a:r>
              <a:rPr lang="en-US" altLang="ko-KR" sz="5400" b="1" dirty="0">
                <a:sym typeface="Wingdings" panose="05000000000000000000" pitchFamily="2" charset="2"/>
              </a:rPr>
              <a:t></a:t>
            </a:r>
            <a:r>
              <a:rPr lang="en-US" altLang="ko-KR" sz="5400" b="1" dirty="0"/>
              <a:t> </a:t>
            </a:r>
            <a:r>
              <a:rPr lang="en-US" altLang="ko-KR" sz="5400" b="1" dirty="0" err="1"/>
              <a:t>Rx_data</a:t>
            </a:r>
            <a:r>
              <a:rPr lang="en-US" altLang="ko-KR" sz="5400" b="1" dirty="0"/>
              <a:t> = 8’b6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05C8DD-2871-F6E5-6B57-4F03E8A12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11928"/>
            <a:ext cx="24384000" cy="7379872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93C1C352-D5DF-D9CC-46B9-AE43D796205B}"/>
              </a:ext>
            </a:extLst>
          </p:cNvPr>
          <p:cNvSpPr/>
          <p:nvPr/>
        </p:nvSpPr>
        <p:spPr>
          <a:xfrm>
            <a:off x="22872700" y="73152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089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918A-CCB7-F2B9-12AF-758ACB69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627045F4-B0A4-6F4E-B15B-EB354BB5FB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9C67AF6-89FA-86D3-DD99-BC6822BA09D8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A92C884D-C524-6BD3-3AC6-70DB05AC39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F82D1-3C57-EE45-EFDE-9C18E3749B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8BA06E5D-DDCD-1431-DA0C-1DEB9A4D91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ACC10469-C227-2347-D073-F0A6A4A30E5D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A72A991-60C5-EC64-860E-4DC642517A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AB61902B-2A15-42DB-790D-4F8F4B243E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CBD76D-3A8C-8C5C-6945-87D7E220D057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Verification(RX </a:t>
            </a:r>
            <a:r>
              <a:rPr lang="en-US" altLang="ko-KR" sz="5400" b="1" dirty="0">
                <a:sym typeface="Wingdings" panose="05000000000000000000" pitchFamily="2" charset="2"/>
              </a:rPr>
              <a:t> FIFO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E62611-652D-185A-0176-227667F2A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18" y="3505200"/>
            <a:ext cx="24349881" cy="7289800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082F956-396E-6267-2211-67546ACB0FE6}"/>
              </a:ext>
            </a:extLst>
          </p:cNvPr>
          <p:cNvCxnSpPr>
            <a:cxnSpLocks/>
          </p:cNvCxnSpPr>
          <p:nvPr/>
        </p:nvCxnSpPr>
        <p:spPr>
          <a:xfrm>
            <a:off x="11882651" y="6781337"/>
            <a:ext cx="9072349" cy="32008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E1757537-6CCB-FB40-8EEC-C1DE5C550BE8}"/>
              </a:ext>
            </a:extLst>
          </p:cNvPr>
          <p:cNvSpPr/>
          <p:nvPr/>
        </p:nvSpPr>
        <p:spPr>
          <a:xfrm>
            <a:off x="10896600" y="5984733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D412EAC-0E6A-497D-06F9-DBA67169E867}"/>
              </a:ext>
            </a:extLst>
          </p:cNvPr>
          <p:cNvSpPr/>
          <p:nvPr/>
        </p:nvSpPr>
        <p:spPr>
          <a:xfrm>
            <a:off x="14782800" y="4975283"/>
            <a:ext cx="1795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002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B3D5E-FBDF-591C-CD94-EBA5F2B5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FBE507F-FB04-2CE2-36E8-A7CAA7095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3044"/>
            <a:ext cx="17983200" cy="7539156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95FB70CC-1E7A-40C8-CA4D-FAA4418BED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97A327C4-71FB-417D-0568-06574681588B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490DADC-99E3-A2E7-D108-FAAC4427BC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185B38-9C10-3DE7-C816-F94D4A19D1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ECC0CC81-561A-098F-EA3D-95D0040D6DC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EF0CCA8-E9B0-5A2A-727F-DD6E2F267815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3DBB9927-105C-84E2-22AE-E38F1223D2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AC50484-E32A-513A-43BE-652BF5D548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5456C5-7781-2D47-476E-EAF58B55DE8A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Verification(RX </a:t>
            </a:r>
            <a:r>
              <a:rPr lang="en-US" altLang="ko-KR" sz="5400" b="1" dirty="0">
                <a:sym typeface="Wingdings" panose="05000000000000000000" pitchFamily="2" charset="2"/>
              </a:rPr>
              <a:t> FIFO</a:t>
            </a:r>
            <a:r>
              <a:rPr lang="en-US" altLang="ko-KR" sz="5400" b="1" dirty="0"/>
              <a:t>) input(8’hB6)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63082B6-9E6C-D62D-D183-D30C031AEFB4}"/>
              </a:ext>
            </a:extLst>
          </p:cNvPr>
          <p:cNvSpPr/>
          <p:nvPr/>
        </p:nvSpPr>
        <p:spPr>
          <a:xfrm>
            <a:off x="7696200" y="10045875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99FF52B-8646-9BDC-F40A-04711D543743}"/>
              </a:ext>
            </a:extLst>
          </p:cNvPr>
          <p:cNvSpPr/>
          <p:nvPr/>
        </p:nvSpPr>
        <p:spPr>
          <a:xfrm>
            <a:off x="10439400" y="7315200"/>
            <a:ext cx="1033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1721C-5007-0778-063E-981E19E54595}"/>
              </a:ext>
            </a:extLst>
          </p:cNvPr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Rx_done</a:t>
            </a:r>
            <a:r>
              <a:rPr lang="ko-KR" altLang="en-US" sz="5400" b="1" dirty="0"/>
              <a:t>은</a:t>
            </a:r>
            <a:r>
              <a:rPr lang="en-US" altLang="ko-KR" sz="5400" b="1" dirty="0"/>
              <a:t> </a:t>
            </a:r>
            <a:r>
              <a:rPr lang="en-US" altLang="ko-KR" sz="5400" b="1" dirty="0" err="1"/>
              <a:t>uart_rx</a:t>
            </a:r>
            <a:r>
              <a:rPr lang="ko-KR" altLang="en-US" sz="5400" b="1" dirty="0"/>
              <a:t>신호를 다 보내기 전에 발생</a:t>
            </a:r>
            <a:endParaRPr lang="en-US" altLang="ko-KR" sz="5400" b="1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4894364-D672-3B83-6CA7-F2AA34D9A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80182" y="2585682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63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4AD7-A7A9-7838-02DE-F2E093100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7869ADAB-4117-1D58-303A-092E62D9D8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547D826-380E-3F7C-80B2-74312072C0C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A852F71-0884-AD07-E7F0-276104569E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8FF41-49F0-0CA3-A6B1-D482DEBD44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BE4A9528-81FA-0DDE-864A-05B35607CC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2435E5DB-9963-8925-65EA-05A18C51BD14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7005892-7660-554E-AC51-DCEC33BE6C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A9451CEF-F8E0-54F2-8DD8-930969A972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EB2C00-A681-CEFD-AE57-FC77DAD20B37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Verification(random 1000 </a:t>
            </a:r>
            <a:r>
              <a:rPr lang="en-US" altLang="ko-KR" sz="5400" b="1" dirty="0" err="1"/>
              <a:t>clcye</a:t>
            </a:r>
            <a:r>
              <a:rPr lang="en-US" altLang="ko-KR" sz="5400" b="1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D856EFC-0B18-700D-C5E1-EC7FC9EF9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4562" y="5681450"/>
            <a:ext cx="9936557" cy="552527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584969-0BC4-3F86-1158-3B64C955B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999" y="4922134"/>
            <a:ext cx="10295441" cy="67937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A65FBC-3553-A2D7-FF7C-2FBDD5C0110A}"/>
              </a:ext>
            </a:extLst>
          </p:cNvPr>
          <p:cNvSpPr txBox="1"/>
          <p:nvPr/>
        </p:nvSpPr>
        <p:spPr>
          <a:xfrm>
            <a:off x="2542084" y="3497249"/>
            <a:ext cx="19708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rx_data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검증 </a:t>
            </a:r>
            <a:r>
              <a:rPr lang="en-US" altLang="ko-KR" sz="5400" b="1" dirty="0"/>
              <a:t>data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: 14,22,55,59,85,123,185,209</a:t>
            </a:r>
            <a:r>
              <a:rPr lang="ko-KR" altLang="en-US" sz="5400" b="1" dirty="0"/>
              <a:t>제외된 </a:t>
            </a:r>
            <a:r>
              <a:rPr lang="en-US" altLang="ko-KR" sz="5400" b="1" dirty="0"/>
              <a:t>0~255 data</a:t>
            </a:r>
          </a:p>
        </p:txBody>
      </p:sp>
    </p:spTree>
    <p:extLst>
      <p:ext uri="{BB962C8B-B14F-4D97-AF65-F5344CB8AC3E}">
        <p14:creationId xmlns:p14="http://schemas.microsoft.com/office/powerpoint/2010/main" val="1524558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6ACA-983F-F5BC-80D8-6947E06B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E4F0E7F-7E21-0F48-A1ED-0D8316DC4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3C6E0AA1-75BD-249C-72FC-E9B19662F007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EB8C02D4-9072-6B3B-617C-F7680570D9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FF5255-2DFF-3EF0-005D-BA6709068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1D96F17A-B399-C64F-4493-6E17056D3B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CFFA29AF-8EC8-CFF7-819C-968EDAB38A27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1E19A88-E396-5F35-195C-7D9DA59D6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6E087B4B-4A50-7D40-E850-D9D69BAB52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A33B56-B1B6-C3C9-3D4E-4D7B0DC5CB54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Verification(missing cases 50 </a:t>
            </a:r>
            <a:r>
              <a:rPr lang="en-US" altLang="ko-KR" sz="5400" b="1" dirty="0" err="1"/>
              <a:t>clcye</a:t>
            </a:r>
            <a:r>
              <a:rPr lang="en-US" altLang="ko-KR" sz="5400" b="1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743BB6-35EF-8B65-BE42-8E14C95DD87A}"/>
              </a:ext>
            </a:extLst>
          </p:cNvPr>
          <p:cNvSpPr txBox="1"/>
          <p:nvPr/>
        </p:nvSpPr>
        <p:spPr>
          <a:xfrm>
            <a:off x="3048000" y="3377478"/>
            <a:ext cx="1882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rx_data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추가 검증 </a:t>
            </a:r>
            <a:r>
              <a:rPr lang="en-US" altLang="ko-KR" sz="5400" b="1" dirty="0"/>
              <a:t>data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: 14,22,55,59,85,123,185,209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95BE09F-9304-3042-1350-5FBEDC62A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909174"/>
            <a:ext cx="8435783" cy="65611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EB3DFD2-F21E-404F-50D0-6F70741EE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200" y="6457876"/>
            <a:ext cx="13836450" cy="20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3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D68E-2201-D754-95AA-1E9302A0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EC2CDBE-6482-2C7B-2FA1-7F4554D73A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6FB1F9B9-CDA5-8744-6309-9D51BE397A5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3423AD6-0A6C-EF60-CD3A-9B9F5803B8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0EF23C-13F7-680D-E9C8-A1D036C116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C340ECEF-BC52-6D04-A141-42A0152E7E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8A5A592D-758B-ECD2-2F77-67B0BE90B570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A0ED9F0A-212F-30DC-F06B-6749356F11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F7114E5D-1423-1F88-83F8-CD704731DD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7301F-E287-0A1C-0496-7AFCA04CB927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Verification(baud delay rate)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59C7A28-321C-E29E-6EFA-FC69106C9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DEE8753-0B0E-86DC-BD04-E0D0A66A7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E2F5FF5-F9CE-0CF0-C288-5274A3B0AD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0" y="3670385"/>
            <a:ext cx="4575372" cy="8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43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98D46-9FD2-4EF7-49B1-8B045CEBF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6B58712D-09CE-9EA8-DA13-EA772830B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6BEBFA5-B0E6-4445-5A7F-0FF5AE6F7D5C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95CF839-8D9C-288C-A512-5B0CA1D19E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2EE3B2-BDE4-1DCC-B5D1-97D480E5E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5F31CF63-79EC-192E-D588-06319F72ED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AD449C85-8CCD-AAD1-E57A-115F281BE4E7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F13A2AB2-B845-5904-7646-EEEF4027F3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F557FFF-34CF-3084-FCF8-08BB1EB3D9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3C6858-6AFE-FC07-2B6C-914D673F0955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Verification(baud delay rate)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58681DD-515A-94A4-03C8-668835A36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F70861C-79DF-60F0-EDC6-1ED8904A1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C3FF858-74E5-B141-7081-915949FB6F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2628" y="4055126"/>
            <a:ext cx="4575372" cy="749229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5BE7CB4-8C49-02DA-2B12-8384FD0372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0" y="4055126"/>
            <a:ext cx="4911026" cy="746150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FD6576-8E89-667B-3672-0A4B1C4DC2AD}"/>
              </a:ext>
            </a:extLst>
          </p:cNvPr>
          <p:cNvSpPr txBox="1"/>
          <p:nvPr/>
        </p:nvSpPr>
        <p:spPr>
          <a:xfrm>
            <a:off x="11626777" y="3061305"/>
            <a:ext cx="4916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Add_rate</a:t>
            </a:r>
            <a:r>
              <a:rPr lang="en-US" altLang="ko-KR" sz="5400" b="1" dirty="0"/>
              <a:t> = 1.0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6E349-8E7A-9532-C4B4-8F124F8572C7}"/>
              </a:ext>
            </a:extLst>
          </p:cNvPr>
          <p:cNvSpPr txBox="1"/>
          <p:nvPr/>
        </p:nvSpPr>
        <p:spPr>
          <a:xfrm>
            <a:off x="18217107" y="3028568"/>
            <a:ext cx="4916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Add_rate</a:t>
            </a:r>
            <a:r>
              <a:rPr lang="en-US" altLang="ko-KR" sz="5400" b="1" dirty="0"/>
              <a:t> = 1.1</a:t>
            </a:r>
          </a:p>
        </p:txBody>
      </p:sp>
    </p:spTree>
    <p:extLst>
      <p:ext uri="{BB962C8B-B14F-4D97-AF65-F5344CB8AC3E}">
        <p14:creationId xmlns:p14="http://schemas.microsoft.com/office/powerpoint/2010/main" val="2537117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A519-F289-6E70-5BDA-BB198DDB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0ACD5AD-E984-05D8-B16A-7E52E9FE46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714F993-AF99-3118-2351-9571E83B9A7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CDBEE9B-2188-2181-441D-2F35457E27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884376-517D-E9EE-6620-B32638CA6D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C53305C-CDD8-0F46-6FC6-DDB5971058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6537FC1F-107B-942E-1009-EE7FEAF775DD}"/>
              </a:ext>
            </a:extLst>
          </p:cNvPr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FD3A8E66-8386-BDF8-4233-8FD28125E98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AC525C89-2FBA-1EA8-04EC-7EED42C713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C4E6E-C920-CD8B-39A7-601E00F3A1CE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Verification(baud delay rate)</a:t>
            </a: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38960E8C-9ADB-622E-DA47-D7312E11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13566"/>
              </p:ext>
            </p:extLst>
          </p:nvPr>
        </p:nvGraphicFramePr>
        <p:xfrm>
          <a:off x="4572000" y="4114800"/>
          <a:ext cx="14859001" cy="3602652"/>
        </p:xfrm>
        <a:graphic>
          <a:graphicData uri="http://schemas.openxmlformats.org/drawingml/2006/table">
            <a:tbl>
              <a:tblPr/>
              <a:tblGrid>
                <a:gridCol w="80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131793033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3981309366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1542190776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1707261917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1508283153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300905520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1630213123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103979822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145644565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96951853"/>
                    </a:ext>
                  </a:extLst>
                </a:gridCol>
              </a:tblGrid>
              <a:tr h="67668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rate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1.1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1.07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1.06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1.02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1.0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0.98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0.95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0.94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0.93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458606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Total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Pass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fail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4E73110-DADE-14C6-DA7D-AFE69B6BD742}"/>
              </a:ext>
            </a:extLst>
          </p:cNvPr>
          <p:cNvSpPr txBox="1"/>
          <p:nvPr/>
        </p:nvSpPr>
        <p:spPr>
          <a:xfrm>
            <a:off x="6400800" y="9042812"/>
            <a:ext cx="990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Use </a:t>
            </a:r>
            <a:r>
              <a:rPr lang="en-US" altLang="ko-KR" sz="5400" b="1" dirty="0" err="1"/>
              <a:t>Rx_delay</a:t>
            </a:r>
            <a:r>
              <a:rPr lang="en-US" altLang="ko-KR" sz="5400" b="1" dirty="0"/>
              <a:t> rate = 95%  ~105%</a:t>
            </a:r>
          </a:p>
        </p:txBody>
      </p:sp>
    </p:spTree>
    <p:extLst>
      <p:ext uri="{BB962C8B-B14F-4D97-AF65-F5344CB8AC3E}">
        <p14:creationId xmlns:p14="http://schemas.microsoft.com/office/powerpoint/2010/main" val="24811744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BCBD-F972-CDB9-EACF-CC60386D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C5A2A7BB-4E1B-DB73-E3B7-A70C95ADB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E0DFA786-5B22-8D47-8E3B-B02C1C08B497}"/>
              </a:ext>
            </a:extLst>
          </p:cNvPr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 + FIFO Simulate Scenario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0F55B644-F00B-1760-B567-72324EE990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D74B17A-B381-E8BB-FC82-DC07A92A03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7753350" y="4076700"/>
            <a:ext cx="889000" cy="52705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8FF2BAE1-B39D-0136-9642-F98594CDD4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3277850" y="4076700"/>
            <a:ext cx="889000" cy="52705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F0C370EC-95E9-E235-D7C9-686680E7CC5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3854450" y="7975600"/>
            <a:ext cx="3429000" cy="127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58A55D25-D662-A627-E007-5A89363A5DA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9378950" y="7975600"/>
            <a:ext cx="3429000" cy="127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805BED00-2244-EA6A-A5EE-341F1835363E}"/>
              </a:ext>
            </a:extLst>
          </p:cNvPr>
          <p:cNvSpPr txBox="1"/>
          <p:nvPr/>
        </p:nvSpPr>
        <p:spPr>
          <a:xfrm>
            <a:off x="60642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990AF8F-19FA-4015-4B81-5BBFDE1D1D8B}"/>
              </a:ext>
            </a:extLst>
          </p:cNvPr>
          <p:cNvSpPr txBox="1"/>
          <p:nvPr/>
        </p:nvSpPr>
        <p:spPr>
          <a:xfrm>
            <a:off x="115887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365F1DC-7F3D-FD9B-C1D5-EE9A262E8689}"/>
              </a:ext>
            </a:extLst>
          </p:cNvPr>
          <p:cNvSpPr txBox="1"/>
          <p:nvPr/>
        </p:nvSpPr>
        <p:spPr>
          <a:xfrm>
            <a:off x="6064248" y="745490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Tx + FIFO data Flow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0B34D5F-7C34-C722-3259-5E570D9C0EEE}"/>
              </a:ext>
            </a:extLst>
          </p:cNvPr>
          <p:cNvSpPr txBox="1"/>
          <p:nvPr/>
        </p:nvSpPr>
        <p:spPr>
          <a:xfrm>
            <a:off x="11588748" y="74549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7B8DC6A3-2947-BFA4-AB19-184E557B8FF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27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8556-7B88-005F-CF0D-AC6DA83B6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4B447406-6405-1DF1-32E0-8EB7262CC8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25F31C00-4797-714E-5451-5D7DEC62E717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6147FD9-A647-B059-080B-B95D17FD62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EC0931-DAC6-8D39-0471-AE9A18507A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AF74291-C753-877C-0115-A0DC769435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F8B831B2-FB5F-40FF-2D79-95BB2F8EA175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1523D80-520E-8AEC-4FD2-9C87E504DD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B59BE94B-0EA2-2CC0-A586-A3CE2E3CC0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61E015E-D935-757D-F69D-E3A8641121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6" r="1225" b="3249"/>
          <a:stretch>
            <a:fillRect/>
          </a:stretch>
        </p:blipFill>
        <p:spPr>
          <a:xfrm>
            <a:off x="10210800" y="2667000"/>
            <a:ext cx="12573000" cy="49022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EA727AB-C227-7A1C-CA33-31BDD3A9C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0" y="7239000"/>
            <a:ext cx="11403623" cy="48360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9FBF9ED-E2BC-91CF-7627-246CA6C71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381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C64F-4B4C-17F0-2BB4-600108E8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ACF5615-40EB-F138-C9C6-C18E8C4F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B478BFCD-34A9-73A7-4EC6-B517B268E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3F72D95-C422-9154-E964-3622C397B029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6F49EC4D-757A-18FC-EF49-5604345B37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BB0482-B316-F632-850A-79AE57FAF5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95E3498-4E3D-C363-CAA4-83B4CEB8456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7326F1DE-1CB9-392B-06A9-F6D951986796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4024FD0-B405-8E69-E055-2363BF0FF6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EEA74938-F054-C2A2-71F9-6C49D675997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4086DB7-CA92-26E3-2854-FAE18AE99B1E}"/>
              </a:ext>
            </a:extLst>
          </p:cNvPr>
          <p:cNvSpPr/>
          <p:nvPr/>
        </p:nvSpPr>
        <p:spPr>
          <a:xfrm>
            <a:off x="1983473" y="2667000"/>
            <a:ext cx="4874527" cy="2286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29D77F5C-D508-9D28-34D3-6CC9BE611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768797"/>
              </p:ext>
            </p:extLst>
          </p:nvPr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Fifo_we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Tx_busy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 dirty="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Tx_done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Uart_Tx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16577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dirty="0" err="1"/>
                        <a:t>PC_data</a:t>
                      </a:r>
                      <a:endParaRPr lang="en-US" sz="3600" dirty="0"/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5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872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449B-395B-F611-BF26-8D874605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3FEAD84-6C4D-8C10-8397-A23C6A97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CE2EB7E7-9964-F64E-ED8A-B5F2EA556A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014DC74-D225-9B16-03A4-4EA15C6AD260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57BC5B2A-4BB6-D6D6-9085-8035C43BF9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BFAE63-0434-0443-C251-800F12E95A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EF5ABDD1-10E6-D84E-5A50-BD909C2B5E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DD2953E9-F4D0-B3C3-16E5-887676BE55C1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4212B3E-628F-CAA2-5281-9A44F1F249D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9B7F353E-F645-ED72-EEB6-AAFB909F20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E468E3D-6E56-6D2F-6524-1543EB38F2F8}"/>
              </a:ext>
            </a:extLst>
          </p:cNvPr>
          <p:cNvSpPr/>
          <p:nvPr/>
        </p:nvSpPr>
        <p:spPr>
          <a:xfrm>
            <a:off x="1981200" y="4980044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04BDEF1-E15A-7DCB-28DD-4D0A610320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0200" y="3187162"/>
            <a:ext cx="7098997" cy="743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69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76C0-08C7-58D8-F816-B9A3B5B5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D6B86D30-FD1A-DBA9-3E3D-EC07F31F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E3181AE1-DE36-E8BC-426F-DB5B1736FD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D6783B03-E7B4-D5CB-A6CB-111ABDA76F2D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E8B3234-B474-9D7E-C92B-11E7BF5D19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35353-4D78-3840-88E6-DD09C342CC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8B01E6E2-6BEC-52AD-4AB0-B0CD80E90E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8496AC16-9726-F316-75E3-8FF0FD31F984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990196BC-0C32-27F3-1626-4AE55B0221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8C388CBC-E942-261A-A1C6-4E42980B2B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79215A7-C94F-458E-0E95-8CAABED4F2FD}"/>
              </a:ext>
            </a:extLst>
          </p:cNvPr>
          <p:cNvSpPr/>
          <p:nvPr/>
        </p:nvSpPr>
        <p:spPr>
          <a:xfrm>
            <a:off x="6172200" y="489279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215939-5EFB-07E5-EFA9-C24DBC782F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17" b="54042"/>
          <a:stretch>
            <a:fillRect/>
          </a:stretch>
        </p:blipFill>
        <p:spPr>
          <a:xfrm>
            <a:off x="9829800" y="6212573"/>
            <a:ext cx="13778408" cy="2767189"/>
          </a:xfrm>
          <a:prstGeom prst="rect">
            <a:avLst/>
          </a:prstGeom>
        </p:spPr>
      </p:pic>
      <p:sp>
        <p:nvSpPr>
          <p:cNvPr id="18" name="화살표: 위쪽 17">
            <a:extLst>
              <a:ext uri="{FF2B5EF4-FFF2-40B4-BE49-F238E27FC236}">
                <a16:creationId xmlns:a16="http://schemas.microsoft.com/office/drawing/2014/main" id="{776BD32D-88DC-5386-6C25-3B1C231C0C58}"/>
              </a:ext>
            </a:extLst>
          </p:cNvPr>
          <p:cNvSpPr/>
          <p:nvPr/>
        </p:nvSpPr>
        <p:spPr>
          <a:xfrm>
            <a:off x="11288073" y="907956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59DA5B19-726B-1F71-1C67-AD1E85B50A23}"/>
              </a:ext>
            </a:extLst>
          </p:cNvPr>
          <p:cNvSpPr/>
          <p:nvPr/>
        </p:nvSpPr>
        <p:spPr>
          <a:xfrm>
            <a:off x="15632608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7BB181A4-4CEB-E993-C5BB-6CA21FD6259D}"/>
              </a:ext>
            </a:extLst>
          </p:cNvPr>
          <p:cNvSpPr/>
          <p:nvPr/>
        </p:nvSpPr>
        <p:spPr>
          <a:xfrm>
            <a:off x="13118010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위쪽 20">
            <a:extLst>
              <a:ext uri="{FF2B5EF4-FFF2-40B4-BE49-F238E27FC236}">
                <a16:creationId xmlns:a16="http://schemas.microsoft.com/office/drawing/2014/main" id="{4D339DDA-5F28-3EBB-8B3A-E8FC057AF1B1}"/>
              </a:ext>
            </a:extLst>
          </p:cNvPr>
          <p:cNvSpPr/>
          <p:nvPr/>
        </p:nvSpPr>
        <p:spPr>
          <a:xfrm>
            <a:off x="14299108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위쪽 21">
            <a:extLst>
              <a:ext uri="{FF2B5EF4-FFF2-40B4-BE49-F238E27FC236}">
                <a16:creationId xmlns:a16="http://schemas.microsoft.com/office/drawing/2014/main" id="{E54B0A62-16D9-1B80-214A-82EB5CEED7A6}"/>
              </a:ext>
            </a:extLst>
          </p:cNvPr>
          <p:cNvSpPr/>
          <p:nvPr/>
        </p:nvSpPr>
        <p:spPr>
          <a:xfrm>
            <a:off x="16851808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위쪽 22">
            <a:extLst>
              <a:ext uri="{FF2B5EF4-FFF2-40B4-BE49-F238E27FC236}">
                <a16:creationId xmlns:a16="http://schemas.microsoft.com/office/drawing/2014/main" id="{96FB3A9E-0D2A-ACED-B8E9-9F1A25EAE572}"/>
              </a:ext>
            </a:extLst>
          </p:cNvPr>
          <p:cNvSpPr/>
          <p:nvPr/>
        </p:nvSpPr>
        <p:spPr>
          <a:xfrm>
            <a:off x="18072145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화살표: 위쪽 23">
            <a:extLst>
              <a:ext uri="{FF2B5EF4-FFF2-40B4-BE49-F238E27FC236}">
                <a16:creationId xmlns:a16="http://schemas.microsoft.com/office/drawing/2014/main" id="{45315333-AE01-C77D-D69F-20EC3A7F90C8}"/>
              </a:ext>
            </a:extLst>
          </p:cNvPr>
          <p:cNvSpPr/>
          <p:nvPr/>
        </p:nvSpPr>
        <p:spPr>
          <a:xfrm>
            <a:off x="19274330" y="9154950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화살표: 위쪽 24">
            <a:extLst>
              <a:ext uri="{FF2B5EF4-FFF2-40B4-BE49-F238E27FC236}">
                <a16:creationId xmlns:a16="http://schemas.microsoft.com/office/drawing/2014/main" id="{F4DAB1EC-8172-FC31-FB2A-FF11151EEFC4}"/>
              </a:ext>
            </a:extLst>
          </p:cNvPr>
          <p:cNvSpPr/>
          <p:nvPr/>
        </p:nvSpPr>
        <p:spPr>
          <a:xfrm>
            <a:off x="20467326" y="9085343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화살표: 위쪽 25">
            <a:extLst>
              <a:ext uri="{FF2B5EF4-FFF2-40B4-BE49-F238E27FC236}">
                <a16:creationId xmlns:a16="http://schemas.microsoft.com/office/drawing/2014/main" id="{2841D451-22EA-BBCC-6418-BBD7D5EC476D}"/>
              </a:ext>
            </a:extLst>
          </p:cNvPr>
          <p:cNvSpPr/>
          <p:nvPr/>
        </p:nvSpPr>
        <p:spPr>
          <a:xfrm>
            <a:off x="21627197" y="9088944"/>
            <a:ext cx="228600" cy="1260708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C540F47-49FF-E97F-FEAB-70C254CDB0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7303" y="2558205"/>
            <a:ext cx="9906481" cy="3942356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5B21D2D-D979-00F2-CBE4-2351D697E3EB}"/>
              </a:ext>
            </a:extLst>
          </p:cNvPr>
          <p:cNvCxnSpPr/>
          <p:nvPr/>
        </p:nvCxnSpPr>
        <p:spPr>
          <a:xfrm>
            <a:off x="11516673" y="10473683"/>
            <a:ext cx="171563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913F816-FC49-C19F-279D-9893FC946635}"/>
              </a:ext>
            </a:extLst>
          </p:cNvPr>
          <p:cNvCxnSpPr>
            <a:cxnSpLocks/>
          </p:cNvCxnSpPr>
          <p:nvPr/>
        </p:nvCxnSpPr>
        <p:spPr>
          <a:xfrm>
            <a:off x="13232310" y="1050712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9FA8AA1-FF86-1C7F-66E5-24351E06C8FF}"/>
              </a:ext>
            </a:extLst>
          </p:cNvPr>
          <p:cNvCxnSpPr>
            <a:cxnSpLocks/>
          </p:cNvCxnSpPr>
          <p:nvPr/>
        </p:nvCxnSpPr>
        <p:spPr>
          <a:xfrm>
            <a:off x="14463118" y="10519415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6120809-B63D-B931-D9B4-101FBF6390A0}"/>
              </a:ext>
            </a:extLst>
          </p:cNvPr>
          <p:cNvCxnSpPr>
            <a:cxnSpLocks/>
          </p:cNvCxnSpPr>
          <p:nvPr/>
        </p:nvCxnSpPr>
        <p:spPr>
          <a:xfrm>
            <a:off x="15682318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EECB369-73E8-53CA-1EA3-7A94446C465F}"/>
              </a:ext>
            </a:extLst>
          </p:cNvPr>
          <p:cNvCxnSpPr>
            <a:cxnSpLocks/>
          </p:cNvCxnSpPr>
          <p:nvPr/>
        </p:nvCxnSpPr>
        <p:spPr>
          <a:xfrm>
            <a:off x="16902655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550C3F3-DD22-77DB-7D0E-82C48EF577F9}"/>
              </a:ext>
            </a:extLst>
          </p:cNvPr>
          <p:cNvCxnSpPr>
            <a:cxnSpLocks/>
          </p:cNvCxnSpPr>
          <p:nvPr/>
        </p:nvCxnSpPr>
        <p:spPr>
          <a:xfrm>
            <a:off x="18186445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0991F6B-CCE3-712A-9087-61C52B10D290}"/>
              </a:ext>
            </a:extLst>
          </p:cNvPr>
          <p:cNvCxnSpPr>
            <a:cxnSpLocks/>
          </p:cNvCxnSpPr>
          <p:nvPr/>
        </p:nvCxnSpPr>
        <p:spPr>
          <a:xfrm>
            <a:off x="1941213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D026D94-E7DD-573D-5D20-1BBF1213C15E}"/>
              </a:ext>
            </a:extLst>
          </p:cNvPr>
          <p:cNvCxnSpPr>
            <a:cxnSpLocks/>
          </p:cNvCxnSpPr>
          <p:nvPr/>
        </p:nvCxnSpPr>
        <p:spPr>
          <a:xfrm>
            <a:off x="20675600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1E40972-4C89-09E9-9D8E-6CF9B21EFDAB}"/>
              </a:ext>
            </a:extLst>
          </p:cNvPr>
          <p:cNvCxnSpPr>
            <a:cxnSpLocks/>
          </p:cNvCxnSpPr>
          <p:nvPr/>
        </p:nvCxnSpPr>
        <p:spPr>
          <a:xfrm>
            <a:off x="13243918" y="11772036"/>
            <a:ext cx="861187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CDFA602-9D11-3470-1175-18DED34828D9}"/>
              </a:ext>
            </a:extLst>
          </p:cNvPr>
          <p:cNvSpPr txBox="1"/>
          <p:nvPr/>
        </p:nvSpPr>
        <p:spPr>
          <a:xfrm>
            <a:off x="8610436" y="10738741"/>
            <a:ext cx="6318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BAUD/2 + BAUD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D1B266-8CB0-08DA-1C9C-2790FF44C22D}"/>
              </a:ext>
            </a:extLst>
          </p:cNvPr>
          <p:cNvSpPr txBox="1"/>
          <p:nvPr/>
        </p:nvSpPr>
        <p:spPr>
          <a:xfrm>
            <a:off x="12783308" y="10776971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6C64C1-50DD-3EC0-A37D-D6FC406D089F}"/>
              </a:ext>
            </a:extLst>
          </p:cNvPr>
          <p:cNvSpPr txBox="1"/>
          <p:nvPr/>
        </p:nvSpPr>
        <p:spPr>
          <a:xfrm>
            <a:off x="14003645" y="10776971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2F435F-260E-C85F-760B-60E317C68402}"/>
              </a:ext>
            </a:extLst>
          </p:cNvPr>
          <p:cNvSpPr txBox="1"/>
          <p:nvPr/>
        </p:nvSpPr>
        <p:spPr>
          <a:xfrm>
            <a:off x="15173135" y="10776971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2C379B-F35A-9331-A06D-EDBFD2CDFE92}"/>
              </a:ext>
            </a:extLst>
          </p:cNvPr>
          <p:cNvSpPr txBox="1"/>
          <p:nvPr/>
        </p:nvSpPr>
        <p:spPr>
          <a:xfrm>
            <a:off x="16393472" y="10728559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7D2A0D-85EC-6BE1-7980-D214F0794B57}"/>
              </a:ext>
            </a:extLst>
          </p:cNvPr>
          <p:cNvSpPr txBox="1"/>
          <p:nvPr/>
        </p:nvSpPr>
        <p:spPr>
          <a:xfrm>
            <a:off x="17707441" y="10703626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7D0B4F-CA4B-7E2F-7815-88230A7A7B32}"/>
              </a:ext>
            </a:extLst>
          </p:cNvPr>
          <p:cNvSpPr txBox="1"/>
          <p:nvPr/>
        </p:nvSpPr>
        <p:spPr>
          <a:xfrm>
            <a:off x="18927778" y="10703626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CFDFDB-32B7-3C13-CC38-F6899BCD1587}"/>
              </a:ext>
            </a:extLst>
          </p:cNvPr>
          <p:cNvSpPr txBox="1"/>
          <p:nvPr/>
        </p:nvSpPr>
        <p:spPr>
          <a:xfrm>
            <a:off x="20177124" y="10733243"/>
            <a:ext cx="167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A00C1D-02D9-F07C-1CAD-B894A97268D8}"/>
              </a:ext>
            </a:extLst>
          </p:cNvPr>
          <p:cNvSpPr txBox="1"/>
          <p:nvPr/>
        </p:nvSpPr>
        <p:spPr>
          <a:xfrm>
            <a:off x="15173135" y="12035135"/>
            <a:ext cx="3192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2400" b="1" dirty="0"/>
              <a:t>BAUD * 8cycle</a:t>
            </a:r>
          </a:p>
        </p:txBody>
      </p:sp>
    </p:spTree>
    <p:extLst>
      <p:ext uri="{BB962C8B-B14F-4D97-AF65-F5344CB8AC3E}">
        <p14:creationId xmlns:p14="http://schemas.microsoft.com/office/powerpoint/2010/main" val="2902333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0B98-02CD-3F52-F30C-8FBDFD57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48F0A6E-03EF-17F9-0E09-5DF7F87A7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EEADDFD7-8697-3099-D060-74F0256B1C75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9874CC1-2D5E-E18E-884B-66E24C10BE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2840AF-612E-7376-B562-4D168B9746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1113B476-1831-DE70-DCE8-4834DB8274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E0B61BB7-AFB8-A7B7-66BC-E675AE8971F4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8694EE8-73AB-E6C8-268A-F390823FAE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C901EBD2-4D8E-F18B-0002-BF23217A76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19DBAB2-1A2B-6898-B172-73333E64A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2247900"/>
            <a:ext cx="8008628" cy="1041575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447309-FBB8-0654-3D2E-66794C349F79}"/>
              </a:ext>
            </a:extLst>
          </p:cNvPr>
          <p:cNvSpPr/>
          <p:nvPr/>
        </p:nvSpPr>
        <p:spPr>
          <a:xfrm>
            <a:off x="6400800" y="2667000"/>
            <a:ext cx="2969527" cy="1208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A76EA1-40A8-84C6-213B-2BD113410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0" y="3733800"/>
            <a:ext cx="5565831" cy="6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7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2A9E-CA17-7101-FEF3-BC109FA7C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0DCC0EE4-97D8-859B-83DF-2B66BF39FA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B89E162-6F58-CFFE-B8E7-F3E8C9E8AC87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87407F5-4955-0704-E9F4-587820FE95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F99BE3-1892-B938-4E28-D3ACF3E848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B33531A8-E358-39B5-E09A-96634722D4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DED6DA5F-7CB5-341E-E705-25B76F9B0A79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1334D5C-EAC9-5D60-D57E-F97B26DA52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C73E911B-0543-ABAD-0104-F5EB475D12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848F2C-43F5-5497-25F3-3FA5F696E720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A6F8780-6C4C-797F-195C-20B3B69EB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457" y="4654277"/>
            <a:ext cx="15643839" cy="44074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69BA9EF-9626-00A2-7FC0-8CA43B89D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433450"/>
            <a:ext cx="6858000" cy="891929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D54FD8-2D8F-77F2-14C2-D5711732ED9D}"/>
              </a:ext>
            </a:extLst>
          </p:cNvPr>
          <p:cNvSpPr/>
          <p:nvPr/>
        </p:nvSpPr>
        <p:spPr>
          <a:xfrm>
            <a:off x="21488400" y="6597694"/>
            <a:ext cx="2133600" cy="2464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E5260B-8724-D877-11E2-FF1B219E0F40}"/>
              </a:ext>
            </a:extLst>
          </p:cNvPr>
          <p:cNvSpPr/>
          <p:nvPr/>
        </p:nvSpPr>
        <p:spPr>
          <a:xfrm>
            <a:off x="13639800" y="4526276"/>
            <a:ext cx="2362200" cy="1358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FCF18-C0DF-8BA5-0FA4-D98AA7CC6C53}"/>
              </a:ext>
            </a:extLst>
          </p:cNvPr>
          <p:cNvSpPr txBox="1"/>
          <p:nvPr/>
        </p:nvSpPr>
        <p:spPr>
          <a:xfrm>
            <a:off x="12287250" y="2603719"/>
            <a:ext cx="5067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Generate </a:t>
            </a:r>
            <a:r>
              <a:rPr lang="en-US" altLang="ko-KR" sz="5400" b="1" dirty="0" err="1"/>
              <a:t>wdata</a:t>
            </a:r>
            <a:endParaRPr lang="ko-KR" altLang="en-US" sz="5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E4698-A165-19FB-1D2B-47ED2EC748FC}"/>
              </a:ext>
            </a:extLst>
          </p:cNvPr>
          <p:cNvSpPr txBox="1"/>
          <p:nvPr/>
        </p:nvSpPr>
        <p:spPr>
          <a:xfrm>
            <a:off x="16405746" y="10420144"/>
            <a:ext cx="5584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err="1"/>
              <a:t>Tx_read</a:t>
            </a:r>
            <a:r>
              <a:rPr lang="en-US" altLang="ko-KR" sz="5400" b="1" dirty="0"/>
              <a:t> data</a:t>
            </a:r>
            <a:endParaRPr lang="ko-KR" altLang="en-US" sz="5400" b="1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D6489E1-3E56-C2FB-D8A3-96790F185755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>
            <a:off x="14820900" y="3527049"/>
            <a:ext cx="0" cy="9992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2C352BC-281E-F729-1BD4-2DA79117F8B1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19197851" y="9017255"/>
            <a:ext cx="3096904" cy="14028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929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BAB4-DD7E-6EA1-815F-E50A1C00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B2B954D6-0293-9F27-9E99-8586827BE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401508"/>
            <a:ext cx="23545800" cy="7730110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BD104DD3-34B8-EA45-C9FB-A532DED0CD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47704E79-6C58-F0C7-6DF9-28C73610679D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136D843-37C2-CAA8-EE4A-7B15DD3BF70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BD3FE-5F89-DA3A-5500-890EE2BE3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931ED02-DC46-6620-4C12-AC20A574BE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9C3E1CCA-A164-4966-2D53-6A0D6F2499FC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938635-8CA3-1901-7679-E34E1E33A4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CBD36951-10FC-DACC-31F2-256B8EC4A1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1053B-97EB-D2F4-15D7-8E5047B874AF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Verification(FIFO </a:t>
            </a:r>
            <a:r>
              <a:rPr lang="en-US" altLang="ko-KR" sz="5400" b="1" dirty="0">
                <a:sym typeface="Wingdings" panose="05000000000000000000" pitchFamily="2" charset="2"/>
              </a:rPr>
              <a:t> TX</a:t>
            </a:r>
            <a:r>
              <a:rPr lang="en-US" altLang="ko-KR" sz="5400" b="1" dirty="0"/>
              <a:t>) input(8’hB6)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5AED44-55B7-C9B3-8965-BD388C779E7E}"/>
              </a:ext>
            </a:extLst>
          </p:cNvPr>
          <p:cNvSpPr/>
          <p:nvPr/>
        </p:nvSpPr>
        <p:spPr>
          <a:xfrm>
            <a:off x="8153400" y="3401508"/>
            <a:ext cx="2286000" cy="773011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FB17D9-FB60-3B58-286C-CB94797E2620}"/>
              </a:ext>
            </a:extLst>
          </p:cNvPr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/>
              <a:t>We==1 Re==1 </a:t>
            </a:r>
            <a:r>
              <a:rPr lang="en-US" altLang="ko-KR" sz="5400" b="1" dirty="0">
                <a:sym typeface="Wingdings" panose="05000000000000000000" pitchFamily="2" charset="2"/>
              </a:rPr>
              <a:t> </a:t>
            </a:r>
            <a:r>
              <a:rPr lang="en-US" altLang="ko-KR" sz="5400" b="1" dirty="0" err="1">
                <a:sym typeface="Wingdings" panose="05000000000000000000" pitchFamily="2" charset="2"/>
              </a:rPr>
              <a:t>rdata</a:t>
            </a:r>
            <a:r>
              <a:rPr lang="en-US" altLang="ko-KR" sz="5400" b="1" dirty="0">
                <a:sym typeface="Wingdings" panose="05000000000000000000" pitchFamily="2" charset="2"/>
              </a:rPr>
              <a:t> = b6,empty = 0  </a:t>
            </a:r>
            <a:r>
              <a:rPr lang="en-US" altLang="ko-KR" sz="5400" b="1" dirty="0" err="1">
                <a:sym typeface="Wingdings" panose="05000000000000000000" pitchFamily="2" charset="2"/>
              </a:rPr>
              <a:t>tx_start</a:t>
            </a:r>
            <a:r>
              <a:rPr lang="en-US" altLang="ko-KR" sz="5400" b="1" dirty="0">
                <a:sym typeface="Wingdings" panose="05000000000000000000" pitchFamily="2" charset="2"/>
              </a:rPr>
              <a:t> = 1 </a:t>
            </a:r>
            <a:endParaRPr lang="en-US" altLang="ko-KR" sz="5400" b="1" dirty="0"/>
          </a:p>
        </p:txBody>
      </p:sp>
    </p:spTree>
    <p:extLst>
      <p:ext uri="{BB962C8B-B14F-4D97-AF65-F5344CB8AC3E}">
        <p14:creationId xmlns:p14="http://schemas.microsoft.com/office/powerpoint/2010/main" val="3041210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1F85A-9499-C414-B7B2-7F4C41E1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2950D3A-D4AC-B81C-806A-AED00F25B9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F57606B3-B391-6777-ED66-79F7B727BCA7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24DA9F3-7DC5-44A8-E787-0EEB889DCA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5D0E2-AF70-6FE2-9225-2CB584487D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65D5512B-063A-4E7D-6CEE-FC409A9EFA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2C42BCAC-3407-DB45-4156-B09FAB97E854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4242FCA-C3CA-4BDC-D9BD-0727BACE41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7C3A4FE6-3957-ED8F-5849-33CB45D370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925E5-CE61-CFC8-6AB9-243611CF8CFC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BAB7495-D2C5-D824-8344-BDEC485A8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16" y="3253682"/>
            <a:ext cx="23668768" cy="8165098"/>
          </a:xfrm>
          <a:prstGeom prst="rect">
            <a:avLst/>
          </a:prstGeom>
        </p:spPr>
      </p:pic>
      <p:sp>
        <p:nvSpPr>
          <p:cNvPr id="21" name="타원 20">
            <a:extLst>
              <a:ext uri="{FF2B5EF4-FFF2-40B4-BE49-F238E27FC236}">
                <a16:creationId xmlns:a16="http://schemas.microsoft.com/office/drawing/2014/main" id="{4BA9BF9F-7E61-11BA-D9A0-5D0EA4294195}"/>
              </a:ext>
            </a:extLst>
          </p:cNvPr>
          <p:cNvSpPr/>
          <p:nvPr/>
        </p:nvSpPr>
        <p:spPr>
          <a:xfrm>
            <a:off x="11450472" y="5257800"/>
            <a:ext cx="26465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094B486-02C8-7ABF-1DFF-1FF9D735B844}"/>
              </a:ext>
            </a:extLst>
          </p:cNvPr>
          <p:cNvSpPr/>
          <p:nvPr/>
        </p:nvSpPr>
        <p:spPr>
          <a:xfrm>
            <a:off x="14935200" y="7336231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D9AF366-913A-03CA-3B6C-98CB05A37650}"/>
              </a:ext>
            </a:extLst>
          </p:cNvPr>
          <p:cNvSpPr/>
          <p:nvPr/>
        </p:nvSpPr>
        <p:spPr>
          <a:xfrm>
            <a:off x="22370456" y="10065490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9A36AD-C56A-440A-E9E2-02790502E049}"/>
              </a:ext>
            </a:extLst>
          </p:cNvPr>
          <p:cNvSpPr txBox="1"/>
          <p:nvPr/>
        </p:nvSpPr>
        <p:spPr>
          <a:xfrm>
            <a:off x="16002000" y="635000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 err="1">
                <a:highlight>
                  <a:srgbClr val="FFFF00"/>
                </a:highlight>
              </a:rPr>
              <a:t>Uart_tx</a:t>
            </a:r>
            <a:r>
              <a:rPr lang="en-US" altLang="ko-KR" sz="5400" dirty="0">
                <a:highlight>
                  <a:srgbClr val="FFFF00"/>
                </a:highlight>
              </a:rPr>
              <a:t> = 0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5B1CFB-FCEB-167C-6019-2B2398E6E9D0}"/>
              </a:ext>
            </a:extLst>
          </p:cNvPr>
          <p:cNvSpPr txBox="1"/>
          <p:nvPr/>
        </p:nvSpPr>
        <p:spPr>
          <a:xfrm>
            <a:off x="18534797" y="9808520"/>
            <a:ext cx="434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highlight>
                  <a:srgbClr val="FFFF00"/>
                </a:highlight>
              </a:rPr>
              <a:t>Save </a:t>
            </a:r>
            <a:r>
              <a:rPr lang="en-US" altLang="ko-KR" sz="5400" dirty="0" err="1">
                <a:highlight>
                  <a:srgbClr val="FFFF00"/>
                </a:highlight>
              </a:rPr>
              <a:t>tx_data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447602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3DF92-4487-E27D-0EB9-53DF84C6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6938384-EFC2-4F72-A853-1384B22361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91C0A0C7-51E3-382C-D299-BE3F5365CB8A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603142B0-E424-92E4-0E21-11054A2978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AE0A6-5CF4-DF14-0B8D-7B5ECAC6CB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920AC55B-3CE9-6A23-CEA6-B2E67BA1B5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5F116268-207D-43A9-0EB9-97DB241C11B4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3D1EDF1-C2A3-4273-4D24-E24B4C882F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E2C24C49-8BEC-4818-03CA-487F23B34F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AAD01-2C16-9F71-73C2-9EF9E5E77266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F0864FB-24A1-34A4-FD1F-B7902E7CB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65854"/>
            <a:ext cx="24384000" cy="7353379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196C305-9579-19EF-42C5-F8976BDCA049}"/>
              </a:ext>
            </a:extLst>
          </p:cNvPr>
          <p:cNvSpPr/>
          <p:nvPr/>
        </p:nvSpPr>
        <p:spPr>
          <a:xfrm>
            <a:off x="10917072" y="5370059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2A4DBD25-8DEA-EA6D-097B-17628E48A630}"/>
              </a:ext>
            </a:extLst>
          </p:cNvPr>
          <p:cNvSpPr/>
          <p:nvPr/>
        </p:nvSpPr>
        <p:spPr>
          <a:xfrm>
            <a:off x="9144000" y="76962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E761132-2DD0-886C-30A0-547F2550329D}"/>
              </a:ext>
            </a:extLst>
          </p:cNvPr>
          <p:cNvSpPr/>
          <p:nvPr/>
        </p:nvSpPr>
        <p:spPr>
          <a:xfrm>
            <a:off x="22730536" y="77724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AA879AE-17FA-9EC4-ABC8-F6FAF0F79728}"/>
              </a:ext>
            </a:extLst>
          </p:cNvPr>
          <p:cNvCxnSpPr>
            <a:cxnSpLocks/>
          </p:cNvCxnSpPr>
          <p:nvPr/>
        </p:nvCxnSpPr>
        <p:spPr>
          <a:xfrm>
            <a:off x="10418928" y="8229600"/>
            <a:ext cx="1231160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67A5D5-3157-4827-1B55-5125FA88F52F}"/>
              </a:ext>
            </a:extLst>
          </p:cNvPr>
          <p:cNvSpPr txBox="1"/>
          <p:nvPr/>
        </p:nvSpPr>
        <p:spPr>
          <a:xfrm>
            <a:off x="3429000" y="11106860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5400" b="1" dirty="0" err="1"/>
              <a:t>B_tick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발생 </a:t>
            </a:r>
            <a:r>
              <a:rPr lang="en-US" altLang="ko-KR" sz="5400" b="1" dirty="0">
                <a:sym typeface="Wingdings" panose="05000000000000000000" pitchFamily="2" charset="2"/>
              </a:rPr>
              <a:t> bt_cnt16_reg ++</a:t>
            </a:r>
            <a:endParaRPr lang="en-US" altLang="ko-KR" sz="5400" b="1" dirty="0"/>
          </a:p>
        </p:txBody>
      </p:sp>
    </p:spTree>
    <p:extLst>
      <p:ext uri="{BB962C8B-B14F-4D97-AF65-F5344CB8AC3E}">
        <p14:creationId xmlns:p14="http://schemas.microsoft.com/office/powerpoint/2010/main" val="40606997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22B2-6C71-5AE0-5EC6-9DBD7F82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DF5D32FA-5D0D-A9A7-164C-8CCBA55DCA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243B06C2-5069-AD17-1093-546820738690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974DE685-8929-9A94-0C1A-4A76276C9A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4B77CD-6ABC-6D1D-49C4-85AE6777E9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B6509D48-78CB-6BF1-4D4B-E4FB61E696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85F0F68-5831-E551-525C-5D43B4714D1D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45D7FA4A-B8A1-FA07-CD2C-CFB9395F1F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84040205-5BAF-CF19-1FED-B23F4FC241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8C07B-8CEC-C8F0-B4A8-B6C96C6470C6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E3842A0-7252-8CF7-71FA-BC2910F96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3277820-446F-4F07-4239-586079297B99}"/>
              </a:ext>
            </a:extLst>
          </p:cNvPr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START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ADA0E0-2B67-BA51-EA2D-81CDE31BB134}"/>
              </a:ext>
            </a:extLst>
          </p:cNvPr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DATA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0682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E0FB-30A7-D050-8007-31EABA99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7D7C676-F138-0B09-1657-49732AC413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0458315A-94BC-5244-5184-5BC42ACF36C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E9AAD2B-77C0-5AB1-9AC6-E01F4F555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1E8718-9534-E2C0-AE16-5F1298E897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0B7D4D0D-767B-6295-D6F6-49F6F5DB2F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44FAAFC5-B041-B653-A2DC-D6E6BCD65979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E02D8C1E-58B4-61FA-20D4-AB72AC62D4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2C969162-678E-FF7A-8AC7-6DF682856B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60898E-84A4-E044-6B51-7A71D50C7305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E00B300-BD2C-4040-F462-821B788B0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D6C52E-251C-CC0F-8FCC-C8475FB9344D}"/>
              </a:ext>
            </a:extLst>
          </p:cNvPr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START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D499D5-3211-FF24-1B4A-A2F4BED3B9F6}"/>
              </a:ext>
            </a:extLst>
          </p:cNvPr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DATA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38DB82-5F04-0DFB-C65D-E4EA44541566}"/>
              </a:ext>
            </a:extLst>
          </p:cNvPr>
          <p:cNvSpPr/>
          <p:nvPr/>
        </p:nvSpPr>
        <p:spPr>
          <a:xfrm>
            <a:off x="17145000" y="8077200"/>
            <a:ext cx="990600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535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249B-7819-3034-293B-362A8B2D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7ABE5AAE-7D84-AF79-CE33-1CC0925C78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FA8F4ABB-82D9-D2C2-141C-3A7C7F8C70EE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CCEAC347-B743-5BA1-4408-60F002ADDB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E1DD3-1A9B-5A6A-D755-9A68B50322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5A974DDB-4034-4A28-3584-E5880A64E8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298132FF-9214-1E01-AFD4-2A7DFCD4623D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A95F0DF5-4603-FB50-3512-411857B0D1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007BEB76-ED08-7281-0E38-60F299E906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83D7B3-9F3E-6A86-A30D-FD7CABA0E132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D4CFE-DB1A-35A3-FBD1-35C557F6D200}"/>
              </a:ext>
            </a:extLst>
          </p:cNvPr>
          <p:cNvSpPr txBox="1"/>
          <p:nvPr/>
        </p:nvSpPr>
        <p:spPr>
          <a:xfrm>
            <a:off x="3429000" y="10961596"/>
            <a:ext cx="166517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5400" b="1" dirty="0"/>
              <a:t>DATA bit</a:t>
            </a:r>
            <a:r>
              <a:rPr lang="ko-KR" altLang="en-US" sz="5400" b="1" dirty="0"/>
              <a:t>별 </a:t>
            </a:r>
            <a:r>
              <a:rPr lang="en-US" altLang="ko-KR" sz="5400" b="1" dirty="0"/>
              <a:t>send time = 104.16us</a:t>
            </a:r>
          </a:p>
          <a:p>
            <a:pPr lvl="1" algn="ctr"/>
            <a:r>
              <a:rPr lang="en-US" altLang="ko-KR" sz="5400" b="1" dirty="0"/>
              <a:t>STOP </a:t>
            </a:r>
            <a:r>
              <a:rPr lang="en-US" altLang="ko-KR" sz="5400" b="1" dirty="0" err="1"/>
              <a:t>bt</a:t>
            </a:r>
            <a:r>
              <a:rPr lang="en-US" altLang="ko-KR" sz="5400" b="1" dirty="0"/>
              <a:t> send time = 104.16us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A182172-3063-E89A-12EE-32FA13054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11197"/>
            <a:ext cx="24384000" cy="76814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A08B801-6092-E6DC-EAD8-156C6B1CE576}"/>
              </a:ext>
            </a:extLst>
          </p:cNvPr>
          <p:cNvSpPr txBox="1"/>
          <p:nvPr/>
        </p:nvSpPr>
        <p:spPr>
          <a:xfrm>
            <a:off x="11754892" y="3817913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DATA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CE94E8-FCBC-4DA1-2143-13930FEB156C}"/>
              </a:ext>
            </a:extLst>
          </p:cNvPr>
          <p:cNvSpPr txBox="1"/>
          <p:nvPr/>
        </p:nvSpPr>
        <p:spPr>
          <a:xfrm>
            <a:off x="19202400" y="3817913"/>
            <a:ext cx="35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STOP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180B11-A80E-6CAF-BE71-0AD874BC9563}"/>
              </a:ext>
            </a:extLst>
          </p:cNvPr>
          <p:cNvSpPr txBox="1"/>
          <p:nvPr/>
        </p:nvSpPr>
        <p:spPr>
          <a:xfrm>
            <a:off x="4724400" y="3724870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START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09A04DA-446A-08A9-5099-1359934F2F06}"/>
              </a:ext>
            </a:extLst>
          </p:cNvPr>
          <p:cNvSpPr/>
          <p:nvPr/>
        </p:nvSpPr>
        <p:spPr>
          <a:xfrm>
            <a:off x="17678400" y="9258622"/>
            <a:ext cx="6019800" cy="1524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721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BA4B-D24D-0FC4-37CA-DF3A4251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5C66F06-B9DD-D5B2-754B-F93D53EE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75" y="3212989"/>
            <a:ext cx="24386275" cy="7649488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6E95BBCE-7D19-7FB1-98BB-D7F9F4456D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16C3457C-1E29-E239-E560-7134C41584D0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F23F2C54-FD18-2F80-E2F0-5CA16536A3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2CEA4-B876-FAB5-179B-5E5C36249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9EF8B686-D8C1-C5A6-38EB-E5BF5F1B17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91A32A4-395B-76E9-3CE4-EC84CD6EE4D9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847BB37-9C1F-8433-481F-65DE7A3587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627E503C-C78D-F142-25E5-6A98739460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01B669-22D8-F323-8961-A2BA1FC6840F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</a:t>
            </a:r>
            <a:r>
              <a:rPr lang="en-US" altLang="ko-KR" sz="5400" b="1" dirty="0">
                <a:sym typeface="Wingdings" panose="05000000000000000000" pitchFamily="2" charset="2"/>
              </a:rPr>
              <a:t>TX</a:t>
            </a:r>
            <a:r>
              <a:rPr lang="en-US" altLang="ko-KR" sz="5400" b="1" dirty="0"/>
              <a:t>) input(8’hB6)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42335-FBEB-00FE-7541-D317F38F2B44}"/>
              </a:ext>
            </a:extLst>
          </p:cNvPr>
          <p:cNvSpPr txBox="1"/>
          <p:nvPr/>
        </p:nvSpPr>
        <p:spPr>
          <a:xfrm>
            <a:off x="3429000" y="10961596"/>
            <a:ext cx="16651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altLang="ko-KR" sz="5400" b="1" dirty="0"/>
              <a:t>(STOP -&gt; IDLE) </a:t>
            </a:r>
            <a:r>
              <a:rPr lang="en-US" altLang="ko-KR" sz="5400" b="1" dirty="0">
                <a:sym typeface="Wingdings" panose="05000000000000000000" pitchFamily="2" charset="2"/>
              </a:rPr>
              <a:t> done 1 tick </a:t>
            </a:r>
            <a:r>
              <a:rPr lang="ko-KR" altLang="en-US" sz="5400" b="1" dirty="0">
                <a:sym typeface="Wingdings" panose="05000000000000000000" pitchFamily="2" charset="2"/>
              </a:rPr>
              <a:t>발생 및 </a:t>
            </a:r>
            <a:r>
              <a:rPr lang="en-US" altLang="ko-KR" sz="5400" b="1" dirty="0">
                <a:sym typeface="Wingdings" panose="05000000000000000000" pitchFamily="2" charset="2"/>
              </a:rPr>
              <a:t>busy = 0</a:t>
            </a:r>
            <a:endParaRPr lang="en-US" altLang="ko-KR" sz="5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9843F5-E4A6-2C84-9BC5-63B6440520E5}"/>
              </a:ext>
            </a:extLst>
          </p:cNvPr>
          <p:cNvSpPr txBox="1"/>
          <p:nvPr/>
        </p:nvSpPr>
        <p:spPr>
          <a:xfrm>
            <a:off x="8273576" y="4176209"/>
            <a:ext cx="350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STOP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8A889B-6B2B-6D42-74E6-728C03B4ADB6}"/>
              </a:ext>
            </a:extLst>
          </p:cNvPr>
          <p:cNvSpPr txBox="1"/>
          <p:nvPr/>
        </p:nvSpPr>
        <p:spPr>
          <a:xfrm>
            <a:off x="18059400" y="4105605"/>
            <a:ext cx="353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highlight>
                  <a:srgbClr val="FFFF00"/>
                </a:highlight>
              </a:rPr>
              <a:t>IDLE</a:t>
            </a:r>
            <a:endParaRPr lang="ko-KR" altLang="en-US" sz="5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37516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E46A-417B-E41E-0654-C7E6D25A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DBEB312D-AA62-0379-C414-2EDF7AF35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6DE382C2-0CF6-822F-F916-5225C750CDF3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ACCF3759-62E3-60EF-1D7D-836C103E88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304A08-C33A-2DB6-B815-52679E3A1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C790A759-9DD1-BE58-CD9E-7DAED50970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B8FB7957-3A44-130A-F977-4C487B588085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4C5E049-9F6E-CEC3-5B63-5C90641F5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C2B4A927-403D-5258-52AB-95641C1256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BE5541-D4A6-8455-5969-82AD11BA4CF9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Verification(random </a:t>
            </a:r>
            <a:r>
              <a:rPr lang="en-US" altLang="ko-KR" sz="5400" b="1" dirty="0">
                <a:sym typeface="Wingdings" panose="05000000000000000000" pitchFamily="2" charset="2"/>
              </a:rPr>
              <a:t>1000 cycle</a:t>
            </a:r>
            <a:r>
              <a:rPr lang="en-US" altLang="ko-KR" sz="5400" b="1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E41D17-A2FB-7B9C-1B56-759B66639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0F17EF2-65E3-4FD9-E61A-D538BA5478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112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A024-CB3D-7A67-8DD1-21FEDB32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0C756CF-7E59-8074-9180-52FAADA20C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8822A547-F89F-9C0B-EFD1-74075D5EF9A5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09E83A7-A3E2-E0B7-783E-DA6B2FA18B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652EB4-3BA3-5B0E-1525-346751C0E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A6D815F6-FAAE-6BC0-44B8-89A38D9AF1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A8B3D591-6826-9C80-E81A-E020DC9059DF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Verification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E0090B7-83B6-2E15-666D-B08FFED933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B2CA88B7-DF32-FDB9-F623-65F029BE76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DE78E2-FECF-6DC1-D89A-459A78F397B8}"/>
              </a:ext>
            </a:extLst>
          </p:cNvPr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b="1" dirty="0"/>
              <a:t>- Verification(random </a:t>
            </a:r>
            <a:r>
              <a:rPr lang="en-US" altLang="ko-KR" sz="5400" b="1" dirty="0">
                <a:sym typeface="Wingdings" panose="05000000000000000000" pitchFamily="2" charset="2"/>
              </a:rPr>
              <a:t>1000 cycle</a:t>
            </a:r>
            <a:r>
              <a:rPr lang="en-US" altLang="ko-KR" sz="5400" b="1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1EA6F3-D21A-D3B8-6D6E-2BBE9D87A798}"/>
              </a:ext>
            </a:extLst>
          </p:cNvPr>
          <p:cNvSpPr txBox="1"/>
          <p:nvPr/>
        </p:nvSpPr>
        <p:spPr>
          <a:xfrm>
            <a:off x="2542085" y="3497249"/>
            <a:ext cx="1882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ko-KR" sz="5400" b="1" dirty="0" err="1"/>
              <a:t>rx_data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검증 </a:t>
            </a:r>
            <a:r>
              <a:rPr lang="en-US" altLang="ko-KR" sz="5400" b="1" dirty="0"/>
              <a:t>data</a:t>
            </a:r>
            <a:r>
              <a:rPr lang="ko-KR" altLang="en-US" sz="5400" b="1" dirty="0"/>
              <a:t> </a:t>
            </a:r>
            <a:r>
              <a:rPr lang="en-US" altLang="ko-KR" sz="5400" b="1" dirty="0"/>
              <a:t>: 18,246,223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3EAD6EC-D76E-A594-686E-E749E6B00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4460469"/>
            <a:ext cx="9829800" cy="77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100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3F01-7003-7E2D-A7C1-76781D7A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7906D1A0-0FF9-8B2C-B34D-286B26751098}"/>
              </a:ext>
            </a:extLst>
          </p:cNvPr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02BCA-9549-6C94-2CBA-D630B694D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A9A3C2AE-F97B-0368-4BC3-2420E23CF9D4}"/>
              </a:ext>
            </a:extLst>
          </p:cNvPr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i="0" dirty="0">
                <a:solidFill>
                  <a:srgbClr val="000000"/>
                </a:solidFill>
                <a:effectLst/>
                <a:latin typeface="noto"/>
              </a:rPr>
              <a:t>Troubleshooting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6801058-7099-303A-9171-0BF8F0BD5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732548"/>
            <a:ext cx="12656528" cy="83840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32B19E-D439-912B-71EC-4D3C86676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251" y="4695120"/>
            <a:ext cx="7338553" cy="84589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EF868DB-F09C-916E-A739-3D062F5FA72C}"/>
              </a:ext>
            </a:extLst>
          </p:cNvPr>
          <p:cNvSpPr txBox="1"/>
          <p:nvPr/>
        </p:nvSpPr>
        <p:spPr>
          <a:xfrm>
            <a:off x="1295400" y="2144799"/>
            <a:ext cx="21412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RX + FIFO (</a:t>
            </a:r>
            <a:r>
              <a:rPr lang="en-US" altLang="ko-KR" sz="3600" b="1" dirty="0" err="1"/>
              <a:t>uart_push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후 </a:t>
            </a:r>
            <a:r>
              <a:rPr lang="en-US" altLang="ko-KR" sz="3600" b="1" dirty="0"/>
              <a:t>FIFO </a:t>
            </a:r>
            <a:r>
              <a:rPr lang="en-US" altLang="ko-KR" sz="3600" b="1" dirty="0" err="1"/>
              <a:t>rdata</a:t>
            </a:r>
            <a:r>
              <a:rPr lang="ko-KR" altLang="en-US" sz="3600" b="1" dirty="0"/>
              <a:t>를 </a:t>
            </a:r>
            <a:r>
              <a:rPr lang="en-US" altLang="ko-KR" sz="3600" b="1" dirty="0"/>
              <a:t>read </a:t>
            </a:r>
            <a:r>
              <a:rPr lang="ko-KR" altLang="en-US" sz="3600" b="1" dirty="0" err="1"/>
              <a:t>해야할</a:t>
            </a:r>
            <a:r>
              <a:rPr lang="ko-KR" altLang="en-US" sz="3600" b="1" dirty="0"/>
              <a:t> 상황</a:t>
            </a:r>
            <a:r>
              <a:rPr lang="en-US" altLang="ko-KR" sz="3600" b="1" dirty="0"/>
              <a:t>)</a:t>
            </a:r>
          </a:p>
          <a:p>
            <a:r>
              <a:rPr lang="ko-KR" altLang="en-US" sz="3600" b="1" dirty="0"/>
              <a:t>문제</a:t>
            </a:r>
            <a:r>
              <a:rPr lang="en-US" altLang="ko-KR" sz="3600" b="1" dirty="0"/>
              <a:t>: Empty == 0 </a:t>
            </a:r>
            <a:r>
              <a:rPr lang="ko-KR" altLang="en-US" sz="3600" b="1" dirty="0" err="1"/>
              <a:t>일때</a:t>
            </a:r>
            <a:r>
              <a:rPr lang="en-US" altLang="ko-KR" sz="3600" b="1" dirty="0"/>
              <a:t>, pop </a:t>
            </a:r>
            <a:r>
              <a:rPr lang="ko-KR" altLang="en-US" sz="3600" b="1" dirty="0"/>
              <a:t>수행하려 시도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하였지만 </a:t>
            </a:r>
            <a:r>
              <a:rPr lang="en-US" altLang="ko-KR" sz="3600" b="1" dirty="0"/>
              <a:t>re </a:t>
            </a:r>
            <a:r>
              <a:rPr lang="ko-KR" altLang="en-US" sz="3600" b="1" dirty="0"/>
              <a:t>발생 하지 않음</a:t>
            </a:r>
            <a:endParaRPr lang="en-US" altLang="ko-KR" sz="3600" b="1" dirty="0"/>
          </a:p>
          <a:p>
            <a:r>
              <a:rPr lang="ko-KR" altLang="en-US" sz="3600" b="1" dirty="0"/>
              <a:t>원인</a:t>
            </a:r>
            <a:r>
              <a:rPr lang="en-US" altLang="ko-KR" sz="3600" b="1" dirty="0"/>
              <a:t>: </a:t>
            </a:r>
            <a:r>
              <a:rPr lang="en-US" altLang="ko-KR" sz="3600" b="1" dirty="0" err="1"/>
              <a:t>uart_push</a:t>
            </a:r>
            <a:r>
              <a:rPr lang="ko-KR" altLang="en-US" sz="3600" b="1" dirty="0"/>
              <a:t>와 </a:t>
            </a:r>
            <a:r>
              <a:rPr lang="en-US" altLang="ko-KR" sz="3600" b="1" dirty="0"/>
              <a:t>wait </a:t>
            </a:r>
            <a:r>
              <a:rPr lang="ko-KR" altLang="en-US" sz="3600" b="1" dirty="0"/>
              <a:t>타이밍의 문제</a:t>
            </a:r>
            <a:endParaRPr lang="en-US" altLang="ko-KR" sz="3600" b="1" dirty="0"/>
          </a:p>
          <a:p>
            <a:r>
              <a:rPr lang="ko-KR" altLang="en-US" sz="3600" b="1" dirty="0"/>
              <a:t>해결</a:t>
            </a:r>
            <a:r>
              <a:rPr lang="en-US" altLang="ko-KR" sz="3600" b="1" dirty="0"/>
              <a:t>: wait </a:t>
            </a:r>
            <a:r>
              <a:rPr lang="ko-KR" altLang="en-US" sz="3600" b="1" dirty="0"/>
              <a:t>동작을 거치지 않고 </a:t>
            </a:r>
            <a:r>
              <a:rPr lang="en-US" altLang="ko-KR" sz="3600" b="1" dirty="0" err="1"/>
              <a:t>uart_push</a:t>
            </a:r>
            <a:r>
              <a:rPr lang="en-US" altLang="ko-KR" sz="3600" b="1" dirty="0"/>
              <a:t> task</a:t>
            </a:r>
            <a:r>
              <a:rPr lang="ko-KR" altLang="en-US" sz="3600" b="1" dirty="0"/>
              <a:t>가 끝나면 </a:t>
            </a:r>
            <a:r>
              <a:rPr lang="en-US" altLang="ko-KR" sz="3600" b="1" dirty="0"/>
              <a:t>read</a:t>
            </a:r>
            <a:r>
              <a:rPr lang="ko-KR" altLang="en-US" sz="3600" b="1" dirty="0"/>
              <a:t> 진행</a:t>
            </a:r>
            <a:endParaRPr lang="en-US" altLang="ko-KR" sz="3600" b="1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11CCC4C-322E-7613-3398-9BF22B3C3481}"/>
              </a:ext>
            </a:extLst>
          </p:cNvPr>
          <p:cNvSpPr/>
          <p:nvPr/>
        </p:nvSpPr>
        <p:spPr>
          <a:xfrm>
            <a:off x="6096000" y="9601200"/>
            <a:ext cx="1104900" cy="601544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C9E13BF-35BC-17E6-FA28-555C89D2BD1E}"/>
              </a:ext>
            </a:extLst>
          </p:cNvPr>
          <p:cNvSpPr/>
          <p:nvPr/>
        </p:nvSpPr>
        <p:spPr>
          <a:xfrm>
            <a:off x="6438900" y="7278361"/>
            <a:ext cx="838200" cy="76592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821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1067</Words>
  <Application>Microsoft Office PowerPoint</Application>
  <PresentationFormat>사용자 지정</PresentationFormat>
  <Paragraphs>274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7" baseType="lpstr">
      <vt:lpstr>noto</vt:lpstr>
      <vt:lpstr>Pretendard Bold</vt:lpstr>
      <vt:lpstr>Pretendard Regular</vt:lpstr>
      <vt:lpstr>Pretendard SemiBold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준형 이</cp:lastModifiedBy>
  <cp:revision>79</cp:revision>
  <dcterms:created xsi:type="dcterms:W3CDTF">2006-08-16T00:00:00Z</dcterms:created>
  <dcterms:modified xsi:type="dcterms:W3CDTF">2026-03-02T12:38:17Z</dcterms:modified>
  <cp:version/>
</cp:coreProperties>
</file>