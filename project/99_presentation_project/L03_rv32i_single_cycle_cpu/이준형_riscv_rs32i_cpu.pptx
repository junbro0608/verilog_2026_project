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5"/>
  </p:notesMasterIdLst>
  <p:sldIdLst>
    <p:sldId id="256" r:id="rId2"/>
    <p:sldId id="257" r:id="rId3"/>
    <p:sldId id="295" r:id="rId4"/>
    <p:sldId id="296" r:id="rId5"/>
    <p:sldId id="293" r:id="rId6"/>
    <p:sldId id="297" r:id="rId7"/>
    <p:sldId id="298" r:id="rId8"/>
    <p:sldId id="310" r:id="rId9"/>
    <p:sldId id="304" r:id="rId10"/>
    <p:sldId id="323" r:id="rId11"/>
    <p:sldId id="319" r:id="rId12"/>
    <p:sldId id="320" r:id="rId13"/>
    <p:sldId id="299" r:id="rId14"/>
    <p:sldId id="326" r:id="rId15"/>
    <p:sldId id="305" r:id="rId16"/>
    <p:sldId id="311" r:id="rId17"/>
    <p:sldId id="324" r:id="rId18"/>
    <p:sldId id="321" r:id="rId19"/>
    <p:sldId id="325" r:id="rId20"/>
    <p:sldId id="322" r:id="rId21"/>
    <p:sldId id="300" r:id="rId22"/>
    <p:sldId id="327" r:id="rId23"/>
    <p:sldId id="306" r:id="rId24"/>
    <p:sldId id="312" r:id="rId25"/>
    <p:sldId id="328" r:id="rId26"/>
    <p:sldId id="330" r:id="rId27"/>
    <p:sldId id="331" r:id="rId28"/>
    <p:sldId id="332" r:id="rId29"/>
    <p:sldId id="333" r:id="rId30"/>
    <p:sldId id="334" r:id="rId31"/>
    <p:sldId id="301" r:id="rId32"/>
    <p:sldId id="335" r:id="rId33"/>
    <p:sldId id="307" r:id="rId34"/>
    <p:sldId id="313" r:id="rId35"/>
    <p:sldId id="316" r:id="rId36"/>
    <p:sldId id="317" r:id="rId37"/>
    <p:sldId id="318" r:id="rId38"/>
    <p:sldId id="302" r:id="rId39"/>
    <p:sldId id="308" r:id="rId40"/>
    <p:sldId id="314" r:id="rId41"/>
    <p:sldId id="303" r:id="rId42"/>
    <p:sldId id="309" r:id="rId43"/>
    <p:sldId id="315" r:id="rId44"/>
  </p:sldIdLst>
  <p:sldSz cx="24384000" cy="13716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319">
          <p15:clr>
            <a:srgbClr val="A4A3A4"/>
          </p15:clr>
        </p15:guide>
        <p15:guide id="2" pos="7678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ACF4677E-8BD2-47ae-8A1F-98590045965D">
      <hp:hncThemeShow xmlns="" xmlns:c="http://schemas.openxmlformats.org/drawingml/2006/chart" xmlns:dgm="http://schemas.openxmlformats.org/drawingml/2006/diagram" xmlns:dsp="http://schemas.microsoft.com/office/drawing/2008/diagram" xmlns:hp="http://schemas.haansoft.com/office/presentation/8.0" themeShowType="1" themeSkinType="1" themeTransitionType="1" useThemeTransition="1" byMouseClick="1" attrType="1" dur="200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690" autoAdjust="0"/>
    <p:restoredTop sz="94622" autoAdjust="0"/>
  </p:normalViewPr>
  <p:slideViewPr>
    <p:cSldViewPr>
      <p:cViewPr varScale="1">
        <p:scale>
          <a:sx n="72" d="100"/>
          <a:sy n="72" d="100"/>
        </p:scale>
        <p:origin x="966" y="294"/>
      </p:cViewPr>
      <p:guideLst>
        <p:guide orient="horz" pos="4319"/>
        <p:guide pos="767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1E8289-7649-435B-BFB7-322273429278}" type="datetimeFigureOut">
              <a:rPr lang="ko-KR" altLang="en-US" smtClean="0"/>
              <a:t>2026-03-15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F6844F-5401-47B9-AA5C-B6D924C32B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30576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F6844F-5401-47B9-AA5C-B6D924C32B0D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84309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7C36C1-3147-F265-DC0F-E55C0CD01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875174B-BDAE-1208-51A9-DC132648E2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A02753B-4EA4-EB45-612A-2AFBE6A182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C7EB4D9-C283-03E5-86FD-CCE8466901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F6844F-5401-47B9-AA5C-B6D924C32B0D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62657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3/15/2026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6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0828000" y="12369800"/>
            <a:ext cx="2540000" cy="3048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 rot="16200000">
            <a:off x="20523200" y="12369800"/>
            <a:ext cx="304800" cy="3048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016000" y="12674600"/>
            <a:ext cx="22352000" cy="25400"/>
          </a:xfrm>
          <a:prstGeom prst="rect">
            <a:avLst/>
          </a:prstGeom>
        </p:spPr>
      </p:pic>
      <p:sp>
        <p:nvSpPr>
          <p:cNvPr id="9" name="TextBox 9"/>
          <p:cNvSpPr txBox="1"/>
          <p:nvPr/>
        </p:nvSpPr>
        <p:spPr>
          <a:xfrm>
            <a:off x="4089400" y="4648200"/>
            <a:ext cx="16192500" cy="3962400"/>
          </a:xfrm>
          <a:prstGeom prst="rect">
            <a:avLst/>
          </a:prstGeom>
        </p:spPr>
        <p:txBody>
          <a:bodyPr lIns="0" tIns="152400" rIns="0" bIns="0" anchor="t"/>
          <a:lstStyle/>
          <a:p>
            <a:pPr lvl="0" algn="ctr">
              <a:lnSpc>
                <a:spcPct val="99600"/>
              </a:lnSpc>
              <a:defRPr/>
            </a:pPr>
            <a:r>
              <a:rPr lang="en-US" altLang="ko-KR" sz="12000" dirty="0">
                <a:solidFill>
                  <a:srgbClr val="000000"/>
                </a:solidFill>
                <a:latin typeface="맑은 고딕"/>
                <a:cs typeface="Pretendard SemiBold"/>
              </a:rPr>
              <a:t>RISC-V rv32i</a:t>
            </a:r>
          </a:p>
          <a:p>
            <a:pPr lvl="0" algn="ctr">
              <a:lnSpc>
                <a:spcPct val="99600"/>
              </a:lnSpc>
              <a:defRPr/>
            </a:pPr>
            <a:r>
              <a:rPr lang="en-US" altLang="ko-KR" sz="12000" dirty="0">
                <a:solidFill>
                  <a:srgbClr val="000000"/>
                </a:solidFill>
                <a:latin typeface="맑은 고딕"/>
                <a:cs typeface="Pretendard SemiBold"/>
              </a:rPr>
              <a:t>CPU</a:t>
            </a:r>
            <a:endParaRPr lang="en-US" altLang="ko-KR" sz="12000" b="0" i="0" u="none" strike="noStrike" dirty="0">
              <a:solidFill>
                <a:srgbClr val="000000"/>
              </a:solidFill>
              <a:latin typeface="맑은 고딕"/>
              <a:cs typeface="Pretendard SemiBold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2667000" y="9156700"/>
            <a:ext cx="19126200" cy="660400"/>
          </a:xfrm>
          <a:prstGeom prst="rect">
            <a:avLst/>
          </a:prstGeom>
        </p:spPr>
        <p:txBody>
          <a:bodyPr lIns="0" tIns="23706" rIns="0" bIns="0" anchor="t"/>
          <a:lstStyle/>
          <a:p>
            <a:pPr lvl="0" algn="r">
              <a:lnSpc>
                <a:spcPct val="107899"/>
              </a:lnSpc>
              <a:defRPr/>
            </a:pPr>
            <a:r>
              <a:rPr lang="ko-KR" altLang="en-US" sz="3733" dirty="0">
                <a:solidFill>
                  <a:srgbClr val="000000"/>
                </a:solidFill>
                <a:latin typeface="맑은 고딕"/>
                <a:cs typeface="Pretendard Bold"/>
              </a:rPr>
              <a:t>이준형</a:t>
            </a:r>
            <a:endParaRPr lang="en-US" sz="3733" b="0" i="0" u="none" strike="noStrike" dirty="0">
              <a:solidFill>
                <a:srgbClr val="000000"/>
              </a:solidFill>
              <a:latin typeface="맑은 고딕"/>
              <a:cs typeface="Pretendard Bold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016000" y="11938000"/>
            <a:ext cx="3441700" cy="571500"/>
          </a:xfrm>
          <a:prstGeom prst="rect">
            <a:avLst/>
          </a:prstGeom>
        </p:spPr>
        <p:txBody>
          <a:bodyPr lIns="0" tIns="20319" rIns="0" bIns="0" anchor="t"/>
          <a:lstStyle/>
          <a:p>
            <a:pPr lvl="0" algn="l">
              <a:lnSpc>
                <a:spcPct val="107899"/>
              </a:lnSpc>
              <a:defRPr/>
            </a:pPr>
            <a:r>
              <a:rPr lang="en-US" sz="3200" b="0" i="0" u="none" strike="noStrike">
                <a:solidFill>
                  <a:srgbClr val="000000"/>
                </a:solidFill>
                <a:latin typeface="맑은 고딕"/>
                <a:cs typeface="Pretendard Regular"/>
              </a:rPr>
              <a:t>20</a:t>
            </a:r>
            <a:r>
              <a:rPr lang="en-US" altLang="ko-KR" sz="3200" b="0" i="0" u="none" strike="noStrike">
                <a:solidFill>
                  <a:srgbClr val="000000"/>
                </a:solidFill>
                <a:latin typeface="맑은 고딕"/>
                <a:cs typeface="Pretendard Regular"/>
              </a:rPr>
              <a:t>26</a:t>
            </a:r>
            <a:r>
              <a:rPr lang="en-US" sz="3200" b="0" i="0" u="none" strike="noStrike">
                <a:solidFill>
                  <a:srgbClr val="000000"/>
                </a:solidFill>
                <a:latin typeface="맑은 고딕"/>
                <a:cs typeface="Pretendard Regular"/>
              </a:rPr>
              <a:t>.0</a:t>
            </a:r>
            <a:r>
              <a:rPr lang="en-US" altLang="ko-KR" sz="3200" b="0" i="0" u="none" strike="noStrike">
                <a:solidFill>
                  <a:srgbClr val="000000"/>
                </a:solidFill>
                <a:latin typeface="맑은 고딕"/>
                <a:cs typeface="Pretendard Regular"/>
              </a:rPr>
              <a:t>3</a:t>
            </a:r>
            <a:r>
              <a:rPr lang="en-US" sz="3200" b="0" i="0" u="none" strike="noStrike">
                <a:solidFill>
                  <a:srgbClr val="000000"/>
                </a:solidFill>
                <a:latin typeface="맑은 고딕"/>
                <a:cs typeface="Pretendard Regular"/>
              </a:rPr>
              <a:t>.0</a:t>
            </a:r>
            <a:r>
              <a:rPr lang="en-US" altLang="ko-KR" sz="3200" b="0" i="0" u="none" strike="noStrike">
                <a:solidFill>
                  <a:srgbClr val="000000"/>
                </a:solidFill>
                <a:latin typeface="맑은 고딕"/>
                <a:cs typeface="Pretendard Regular"/>
              </a:rPr>
              <a:t>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6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0828000" y="12369800"/>
            <a:ext cx="2540000" cy="3048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 rot="16200000">
            <a:off x="20523200" y="12369800"/>
            <a:ext cx="304800" cy="3048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016000" y="12674600"/>
            <a:ext cx="22352000" cy="25400"/>
          </a:xfrm>
          <a:prstGeom prst="rect">
            <a:avLst/>
          </a:prstGeom>
        </p:spPr>
      </p:pic>
      <p:pic>
        <p:nvPicPr>
          <p:cNvPr id="3" name="Picture 8">
            <a:extLst>
              <a:ext uri="{FF2B5EF4-FFF2-40B4-BE49-F238E27FC236}">
                <a16:creationId xmlns:a16="http://schemas.microsoft.com/office/drawing/2014/main" id="{C806E3B6-8CE4-CAF5-473B-CE479B91F33F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 flipV="1">
            <a:off x="1045570" y="2059190"/>
            <a:ext cx="21814430" cy="45719"/>
          </a:xfrm>
          <a:prstGeom prst="rect">
            <a:avLst/>
          </a:prstGeom>
        </p:spPr>
      </p:pic>
      <p:sp>
        <p:nvSpPr>
          <p:cNvPr id="4" name="TextBox 10">
            <a:extLst>
              <a:ext uri="{FF2B5EF4-FFF2-40B4-BE49-F238E27FC236}">
                <a16:creationId xmlns:a16="http://schemas.microsoft.com/office/drawing/2014/main" id="{005F5ED6-9B4C-CBD4-769A-8B750BDF44B7}"/>
              </a:ext>
            </a:extLst>
          </p:cNvPr>
          <p:cNvSpPr txBox="1"/>
          <p:nvPr/>
        </p:nvSpPr>
        <p:spPr>
          <a:xfrm>
            <a:off x="1295400" y="609600"/>
            <a:ext cx="8534400" cy="1181100"/>
          </a:xfrm>
          <a:prstGeom prst="rect">
            <a:avLst/>
          </a:prstGeom>
        </p:spPr>
        <p:txBody>
          <a:bodyPr lIns="0" tIns="0" rIns="0" bIns="0" anchor="t"/>
          <a:lstStyle/>
          <a:p>
            <a:pPr lvl="0">
              <a:lnSpc>
                <a:spcPct val="116199"/>
              </a:lnSpc>
              <a:defRPr/>
            </a:pPr>
            <a:r>
              <a:rPr lang="ko-KR" altLang="en-US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목차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725739-137F-04E6-1810-33CF2F926976}"/>
              </a:ext>
            </a:extLst>
          </p:cNvPr>
          <p:cNvSpPr txBox="1"/>
          <p:nvPr/>
        </p:nvSpPr>
        <p:spPr>
          <a:xfrm>
            <a:off x="1305339" y="2426274"/>
            <a:ext cx="7315200" cy="82176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42950" indent="-742950">
              <a:buAutoNum type="arabicPeriod"/>
            </a:pPr>
            <a:r>
              <a:rPr lang="en-US" altLang="ko-KR" sz="4400" dirty="0"/>
              <a:t>RISC – V </a:t>
            </a:r>
            <a:r>
              <a:rPr lang="ko-KR" altLang="en-US" sz="4400" dirty="0"/>
              <a:t>개요</a:t>
            </a:r>
            <a:endParaRPr lang="en-US" altLang="ko-KR" sz="4400" dirty="0"/>
          </a:p>
          <a:p>
            <a:pPr marL="742950" indent="-742950">
              <a:buAutoNum type="arabicPeriod"/>
            </a:pPr>
            <a:r>
              <a:rPr lang="en-US" altLang="ko-KR" sz="4400" dirty="0"/>
              <a:t>B/D</a:t>
            </a:r>
          </a:p>
          <a:p>
            <a:pPr marL="742950" indent="-742950">
              <a:buAutoNum type="arabicPeriod"/>
            </a:pPr>
            <a:r>
              <a:rPr lang="en-US" altLang="ko-KR" sz="4400" dirty="0"/>
              <a:t>Type</a:t>
            </a:r>
            <a:r>
              <a:rPr lang="ko-KR" altLang="en-US" sz="4400" dirty="0"/>
              <a:t>별 동작 방식</a:t>
            </a:r>
            <a:endParaRPr lang="en-US" altLang="ko-KR" sz="4400" dirty="0"/>
          </a:p>
          <a:p>
            <a:pPr marL="1200150" lvl="1" indent="-742950">
              <a:buAutoNum type="alphaLcPeriod"/>
            </a:pPr>
            <a:r>
              <a:rPr lang="en-US" altLang="ko-KR" sz="4400" dirty="0"/>
              <a:t>R	-type</a:t>
            </a:r>
          </a:p>
          <a:p>
            <a:pPr marL="1200150" lvl="1" indent="-742950">
              <a:buAutoNum type="alphaLcPeriod"/>
            </a:pPr>
            <a:r>
              <a:rPr lang="en-US" altLang="ko-KR" sz="4400" dirty="0"/>
              <a:t>I	-type</a:t>
            </a:r>
          </a:p>
          <a:p>
            <a:pPr marL="1200150" lvl="1" indent="-742950">
              <a:buAutoNum type="alphaLcPeriod"/>
            </a:pPr>
            <a:r>
              <a:rPr lang="en-US" altLang="ko-KR" sz="4400" dirty="0"/>
              <a:t>S	-type</a:t>
            </a:r>
          </a:p>
          <a:p>
            <a:pPr marL="1200150" lvl="1" indent="-742950">
              <a:buAutoNum type="alphaLcPeriod"/>
            </a:pPr>
            <a:r>
              <a:rPr lang="en-US" altLang="ko-KR" sz="4400" dirty="0"/>
              <a:t>IL	-type</a:t>
            </a:r>
          </a:p>
          <a:p>
            <a:pPr marL="1200150" lvl="1" indent="-742950">
              <a:buAutoNum type="alphaLcPeriod"/>
            </a:pPr>
            <a:r>
              <a:rPr lang="en-US" altLang="ko-KR" sz="4400" dirty="0"/>
              <a:t>B	-type</a:t>
            </a:r>
          </a:p>
          <a:p>
            <a:pPr marL="1200150" lvl="1" indent="-742950">
              <a:buAutoNum type="alphaLcPeriod"/>
            </a:pPr>
            <a:r>
              <a:rPr lang="en-US" altLang="ko-KR" sz="4400" dirty="0"/>
              <a:t>U	-type</a:t>
            </a:r>
          </a:p>
          <a:p>
            <a:pPr marL="1200150" lvl="1" indent="-742950">
              <a:buAutoNum type="alphaLcPeriod"/>
            </a:pPr>
            <a:r>
              <a:rPr lang="en-US" altLang="ko-KR" sz="4400" dirty="0"/>
              <a:t>J	-type</a:t>
            </a:r>
          </a:p>
          <a:p>
            <a:pPr marL="742950" indent="-742950">
              <a:buAutoNum type="arabicPeriod"/>
            </a:pPr>
            <a:r>
              <a:rPr lang="en-US" altLang="ko-KR" sz="4400" dirty="0"/>
              <a:t>C</a:t>
            </a:r>
            <a:r>
              <a:rPr lang="ko-KR" altLang="en-US" sz="4400" dirty="0"/>
              <a:t>언어 </a:t>
            </a:r>
            <a:r>
              <a:rPr lang="en-US" altLang="ko-KR" sz="4400" dirty="0"/>
              <a:t>&amp; ASM code </a:t>
            </a:r>
            <a:r>
              <a:rPr lang="ko-KR" altLang="en-US" sz="4400" dirty="0"/>
              <a:t>분석</a:t>
            </a:r>
            <a:endParaRPr lang="en-US" altLang="ko-KR" sz="4400" dirty="0"/>
          </a:p>
          <a:p>
            <a:pPr marL="742950" indent="-742950">
              <a:buAutoNum type="arabicPeriod"/>
            </a:pPr>
            <a:r>
              <a:rPr lang="en-US" altLang="ko-KR" sz="4400" dirty="0"/>
              <a:t>Trouble Shooting</a:t>
            </a:r>
            <a:endParaRPr lang="ko-KR" altLang="en-US" sz="4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33954A-E76A-CF67-4272-5DADD35366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6">
            <a:extLst>
              <a:ext uri="{FF2B5EF4-FFF2-40B4-BE49-F238E27FC236}">
                <a16:creationId xmlns:a16="http://schemas.microsoft.com/office/drawing/2014/main" id="{B6DBC61D-2EC4-0C10-C167-672DF2D7507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0828000" y="12369800"/>
            <a:ext cx="2540000" cy="304800"/>
          </a:xfrm>
          <a:prstGeom prst="rect">
            <a:avLst/>
          </a:prstGeom>
        </p:spPr>
      </p:pic>
      <p:pic>
        <p:nvPicPr>
          <p:cNvPr id="7" name="Picture 7">
            <a:extLst>
              <a:ext uri="{FF2B5EF4-FFF2-40B4-BE49-F238E27FC236}">
                <a16:creationId xmlns:a16="http://schemas.microsoft.com/office/drawing/2014/main" id="{E4C65EFB-FC89-D997-414A-B75FFED6E18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 rot="16200000">
            <a:off x="20523200" y="12369800"/>
            <a:ext cx="304800" cy="304800"/>
          </a:xfrm>
          <a:prstGeom prst="rect">
            <a:avLst/>
          </a:prstGeom>
        </p:spPr>
      </p:pic>
      <p:pic>
        <p:nvPicPr>
          <p:cNvPr id="8" name="Picture 8">
            <a:extLst>
              <a:ext uri="{FF2B5EF4-FFF2-40B4-BE49-F238E27FC236}">
                <a16:creationId xmlns:a16="http://schemas.microsoft.com/office/drawing/2014/main" id="{10111D69-FD1C-3547-9954-A613E6286C5D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016000" y="12674600"/>
            <a:ext cx="22352000" cy="25400"/>
          </a:xfrm>
          <a:prstGeom prst="rect">
            <a:avLst/>
          </a:prstGeom>
        </p:spPr>
      </p:pic>
      <p:pic>
        <p:nvPicPr>
          <p:cNvPr id="3" name="Picture 8">
            <a:extLst>
              <a:ext uri="{FF2B5EF4-FFF2-40B4-BE49-F238E27FC236}">
                <a16:creationId xmlns:a16="http://schemas.microsoft.com/office/drawing/2014/main" id="{D83F069C-2872-E381-B0DD-2657E937C081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 flipV="1">
            <a:off x="1045570" y="2059190"/>
            <a:ext cx="21814430" cy="45719"/>
          </a:xfrm>
          <a:prstGeom prst="rect">
            <a:avLst/>
          </a:prstGeom>
        </p:spPr>
      </p:pic>
      <p:sp>
        <p:nvSpPr>
          <p:cNvPr id="4" name="TextBox 10">
            <a:extLst>
              <a:ext uri="{FF2B5EF4-FFF2-40B4-BE49-F238E27FC236}">
                <a16:creationId xmlns:a16="http://schemas.microsoft.com/office/drawing/2014/main" id="{9F8AFE97-D858-98A7-FEBF-6705FD242196}"/>
              </a:ext>
            </a:extLst>
          </p:cNvPr>
          <p:cNvSpPr txBox="1"/>
          <p:nvPr/>
        </p:nvSpPr>
        <p:spPr>
          <a:xfrm>
            <a:off x="1295400" y="609600"/>
            <a:ext cx="8534400" cy="1181100"/>
          </a:xfrm>
          <a:prstGeom prst="rect">
            <a:avLst/>
          </a:prstGeom>
        </p:spPr>
        <p:txBody>
          <a:bodyPr lIns="0" tIns="0" rIns="0" bIns="0" anchor="t"/>
          <a:lstStyle/>
          <a:p>
            <a:pPr lvl="0">
              <a:lnSpc>
                <a:spcPct val="116199"/>
              </a:lnSpc>
              <a:defRPr/>
            </a:pPr>
            <a:r>
              <a:rPr lang="en-US" altLang="ko-KR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1. RISC – V </a:t>
            </a:r>
            <a:r>
              <a:rPr lang="ko-KR" altLang="en-US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개요</a:t>
            </a:r>
          </a:p>
        </p:txBody>
      </p:sp>
    </p:spTree>
    <p:extLst>
      <p:ext uri="{BB962C8B-B14F-4D97-AF65-F5344CB8AC3E}">
        <p14:creationId xmlns:p14="http://schemas.microsoft.com/office/powerpoint/2010/main" val="20703806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2D38DE-4AF5-152D-118B-5C90FCB09C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2CD32774-1A51-1041-C13F-A12B185492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933" y="2201862"/>
            <a:ext cx="12123734" cy="10472738"/>
          </a:xfrm>
          <a:prstGeom prst="rect">
            <a:avLst/>
          </a:prstGeom>
        </p:spPr>
      </p:pic>
      <p:pic>
        <p:nvPicPr>
          <p:cNvPr id="6" name="Picture 6">
            <a:extLst>
              <a:ext uri="{FF2B5EF4-FFF2-40B4-BE49-F238E27FC236}">
                <a16:creationId xmlns:a16="http://schemas.microsoft.com/office/drawing/2014/main" id="{0E6F7075-2CBD-6293-F4ED-10AF9F05912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20828000" y="12369800"/>
            <a:ext cx="2540000" cy="304800"/>
          </a:xfrm>
          <a:prstGeom prst="rect">
            <a:avLst/>
          </a:prstGeom>
        </p:spPr>
      </p:pic>
      <p:pic>
        <p:nvPicPr>
          <p:cNvPr id="7" name="Picture 7">
            <a:extLst>
              <a:ext uri="{FF2B5EF4-FFF2-40B4-BE49-F238E27FC236}">
                <a16:creationId xmlns:a16="http://schemas.microsoft.com/office/drawing/2014/main" id="{857006AA-8187-1FDA-6074-4E4A3129595E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 rot="16200000">
            <a:off x="20523200" y="12369800"/>
            <a:ext cx="304800" cy="304800"/>
          </a:xfrm>
          <a:prstGeom prst="rect">
            <a:avLst/>
          </a:prstGeom>
        </p:spPr>
      </p:pic>
      <p:pic>
        <p:nvPicPr>
          <p:cNvPr id="8" name="Picture 8">
            <a:extLst>
              <a:ext uri="{FF2B5EF4-FFF2-40B4-BE49-F238E27FC236}">
                <a16:creationId xmlns:a16="http://schemas.microsoft.com/office/drawing/2014/main" id="{4FD41FA4-0A1A-A600-B55A-95F771895CC9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1016000" y="12674600"/>
            <a:ext cx="22352000" cy="25400"/>
          </a:xfrm>
          <a:prstGeom prst="rect">
            <a:avLst/>
          </a:prstGeom>
        </p:spPr>
      </p:pic>
      <p:pic>
        <p:nvPicPr>
          <p:cNvPr id="3" name="Picture 8">
            <a:extLst>
              <a:ext uri="{FF2B5EF4-FFF2-40B4-BE49-F238E27FC236}">
                <a16:creationId xmlns:a16="http://schemas.microsoft.com/office/drawing/2014/main" id="{B425ABDE-A939-3045-A626-AE7C2E02C317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 flipV="1">
            <a:off x="1045570" y="2059190"/>
            <a:ext cx="21814430" cy="45719"/>
          </a:xfrm>
          <a:prstGeom prst="rect">
            <a:avLst/>
          </a:prstGeom>
        </p:spPr>
      </p:pic>
      <p:sp>
        <p:nvSpPr>
          <p:cNvPr id="4" name="TextBox 10">
            <a:extLst>
              <a:ext uri="{FF2B5EF4-FFF2-40B4-BE49-F238E27FC236}">
                <a16:creationId xmlns:a16="http://schemas.microsoft.com/office/drawing/2014/main" id="{5E2AA6AE-90FB-E400-78AB-DB88C20808A4}"/>
              </a:ext>
            </a:extLst>
          </p:cNvPr>
          <p:cNvSpPr txBox="1"/>
          <p:nvPr/>
        </p:nvSpPr>
        <p:spPr>
          <a:xfrm>
            <a:off x="1295400" y="609600"/>
            <a:ext cx="8534400" cy="1181100"/>
          </a:xfrm>
          <a:prstGeom prst="rect">
            <a:avLst/>
          </a:prstGeom>
        </p:spPr>
        <p:txBody>
          <a:bodyPr lIns="0" tIns="0" rIns="0" bIns="0" anchor="t"/>
          <a:lstStyle/>
          <a:p>
            <a:pPr lvl="0">
              <a:lnSpc>
                <a:spcPct val="116199"/>
              </a:lnSpc>
              <a:defRPr/>
            </a:pPr>
            <a:r>
              <a:rPr lang="en-US" altLang="ko-KR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2. B/D</a:t>
            </a:r>
            <a:endParaRPr lang="ko-KR" altLang="en-US" sz="9600" b="1" dirty="0">
              <a:solidFill>
                <a:srgbClr val="000000"/>
              </a:solidFill>
              <a:latin typeface="Pretendard Bold"/>
              <a:ea typeface="Pretendard Bold"/>
              <a:cs typeface="Pretendard Bold"/>
            </a:endParaRPr>
          </a:p>
        </p:txBody>
      </p:sp>
      <p:graphicFrame>
        <p:nvGraphicFramePr>
          <p:cNvPr id="11" name="Table 12">
            <a:extLst>
              <a:ext uri="{FF2B5EF4-FFF2-40B4-BE49-F238E27FC236}">
                <a16:creationId xmlns:a16="http://schemas.microsoft.com/office/drawing/2014/main" id="{21597DB6-A3A6-F92B-C2A1-DA151B62BE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714732"/>
              </p:ext>
            </p:extLst>
          </p:nvPr>
        </p:nvGraphicFramePr>
        <p:xfrm>
          <a:off x="13105904" y="2658991"/>
          <a:ext cx="10592296" cy="8832157"/>
        </p:xfrm>
        <a:graphic>
          <a:graphicData uri="http://schemas.openxmlformats.org/drawingml/2006/table">
            <a:tbl>
              <a:tblPr/>
              <a:tblGrid>
                <a:gridCol w="578255">
                  <a:extLst>
                    <a:ext uri="{9D8B030D-6E8A-4147-A177-3AD203B41FA5}">
                      <a16:colId xmlns:a16="http://schemas.microsoft.com/office/drawing/2014/main" val="1091418196"/>
                    </a:ext>
                  </a:extLst>
                </a:gridCol>
                <a:gridCol w="34515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4896">
                  <a:extLst>
                    <a:ext uri="{9D8B030D-6E8A-4147-A177-3AD203B41FA5}">
                      <a16:colId xmlns:a16="http://schemas.microsoft.com/office/drawing/2014/main" val="1879626557"/>
                    </a:ext>
                  </a:extLst>
                </a:gridCol>
                <a:gridCol w="45476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4949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endParaRPr lang="en-US" sz="3600" dirty="0"/>
                    </a:p>
                  </a:txBody>
                  <a:tcPr marL="25400" marR="25400" marT="65362" marB="65362" anchor="ctr">
                    <a:lnL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b="0" i="0" u="none" strike="noStrike" dirty="0">
                          <a:solidFill>
                            <a:srgbClr val="FFFFFF"/>
                          </a:solidFill>
                          <a:latin typeface="Pretendard Bold"/>
                        </a:rPr>
                        <a:t>Module</a:t>
                      </a:r>
                      <a:endParaRPr lang="en-US" sz="3600" dirty="0"/>
                    </a:p>
                  </a:txBody>
                  <a:tcPr marL="25400" marR="25400" marT="65362" marB="65362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>
                          <a:solidFill>
                            <a:schemeClr val="bg1"/>
                          </a:solidFill>
                        </a:rPr>
                        <a:t>part</a:t>
                      </a:r>
                    </a:p>
                  </a:txBody>
                  <a:tcPr marL="25400" marR="25400" marT="65362" marB="65362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ko-KR" altLang="en-US" sz="3600" dirty="0">
                          <a:solidFill>
                            <a:schemeClr val="bg1"/>
                          </a:solidFill>
                        </a:rPr>
                        <a:t>기능</a:t>
                      </a:r>
                      <a:endParaRPr lang="en-US" sz="3600" dirty="0">
                        <a:solidFill>
                          <a:schemeClr val="bg1"/>
                        </a:solidFill>
                      </a:endParaRPr>
                    </a:p>
                  </a:txBody>
                  <a:tcPr marL="25400" marR="25400" marT="65362" marB="65362" anchor="ctr">
                    <a:lnL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25666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1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altLang="ko-KR" sz="3600" dirty="0"/>
                        <a:t>Instruction Mem</a:t>
                      </a:r>
                      <a:endParaRPr lang="en-US" sz="3600" dirty="0"/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altLang="ko-KR" sz="3600" dirty="0"/>
                        <a:t>ROM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ko-KR" altLang="en-US" sz="3600" dirty="0"/>
                        <a:t>실행 명령어 메모리</a:t>
                      </a:r>
                      <a:endParaRPr lang="en-US" sz="3600" dirty="0"/>
                    </a:p>
                  </a:txBody>
                  <a:tcPr marL="25400" marR="25400" marT="70356" marB="7035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95149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2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Control Unit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Control</a:t>
                      </a:r>
                    </a:p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Unit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ko-KR" altLang="en-US" sz="3600" b="0" i="0" u="none" strike="noStrike" dirty="0">
                          <a:solidFill>
                            <a:srgbClr val="000000"/>
                          </a:solidFill>
                          <a:latin typeface="Pretendard Regular"/>
                        </a:rPr>
                        <a:t>전체적인 </a:t>
                      </a:r>
                      <a:r>
                        <a:rPr lang="en-US" altLang="ko-KR" sz="3600" b="0" i="0" u="none" strike="noStrike" dirty="0">
                          <a:solidFill>
                            <a:srgbClr val="000000"/>
                          </a:solidFill>
                          <a:latin typeface="Pretendard Regular"/>
                        </a:rPr>
                        <a:t>System </a:t>
                      </a:r>
                      <a:r>
                        <a:rPr lang="ko-KR" altLang="en-US" sz="3600" b="0" i="0" u="none" strike="noStrike" dirty="0">
                          <a:solidFill>
                            <a:srgbClr val="000000"/>
                          </a:solidFill>
                          <a:latin typeface="Pretendard Regular"/>
                        </a:rPr>
                        <a:t>제어</a:t>
                      </a:r>
                      <a:endParaRPr lang="en-US" sz="3600" dirty="0"/>
                    </a:p>
                  </a:txBody>
                  <a:tcPr marL="25400" marR="25400" marT="70356" marB="7035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14909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3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b="0" i="0" u="none" strike="noStrike" dirty="0">
                          <a:solidFill>
                            <a:srgbClr val="000000"/>
                          </a:solidFill>
                          <a:latin typeface="Pretendard Bold"/>
                        </a:rPr>
                        <a:t>Register File</a:t>
                      </a:r>
                      <a:endParaRPr lang="en-US" sz="3600" dirty="0"/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 rowSpan="5"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Data</a:t>
                      </a:r>
                    </a:p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path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b="0" i="0" u="none" strike="noStrike" dirty="0">
                          <a:solidFill>
                            <a:srgbClr val="000000"/>
                          </a:solidFill>
                          <a:latin typeface="Pretendard Regular"/>
                        </a:rPr>
                        <a:t>ALU </a:t>
                      </a:r>
                      <a:r>
                        <a:rPr lang="ko-KR" altLang="en-US" sz="3600" b="0" i="0" u="none" strike="noStrike" dirty="0">
                          <a:solidFill>
                            <a:srgbClr val="000000"/>
                          </a:solidFill>
                          <a:latin typeface="Pretendard Regular"/>
                        </a:rPr>
                        <a:t>연산을 위한 </a:t>
                      </a:r>
                      <a:r>
                        <a:rPr lang="en-US" altLang="ko-KR" sz="3600" b="0" i="0" u="none" strike="noStrike" dirty="0">
                          <a:solidFill>
                            <a:srgbClr val="000000"/>
                          </a:solidFill>
                          <a:latin typeface="Pretendard Regular"/>
                        </a:rPr>
                        <a:t>register</a:t>
                      </a:r>
                      <a:endParaRPr lang="en-US" sz="3600" dirty="0"/>
                    </a:p>
                  </a:txBody>
                  <a:tcPr marL="25400" marR="25400" marT="70356" marB="7035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14909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4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4-input</a:t>
                      </a:r>
                    </a:p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MUX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 vMerge="1"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endParaRPr lang="en-US" sz="3600" dirty="0"/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Register File </a:t>
                      </a:r>
                    </a:p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Write</a:t>
                      </a:r>
                      <a:r>
                        <a:rPr lang="ko-KR" altLang="en-US" sz="3600" dirty="0"/>
                        <a:t> </a:t>
                      </a:r>
                      <a:r>
                        <a:rPr lang="en-US" altLang="ko-KR" sz="3600" dirty="0"/>
                        <a:t>Data MUX</a:t>
                      </a:r>
                      <a:r>
                        <a:rPr lang="en-US" sz="3600" dirty="0"/>
                        <a:t> </a:t>
                      </a:r>
                    </a:p>
                  </a:txBody>
                  <a:tcPr marL="25400" marR="25400" marT="70356" marB="7035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4450522"/>
                  </a:ext>
                </a:extLst>
              </a:tr>
              <a:tr h="814909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5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b="0" i="0" u="none" strike="noStrike" dirty="0">
                          <a:solidFill>
                            <a:srgbClr val="000000"/>
                          </a:solidFill>
                          <a:latin typeface="Pretendard Bold"/>
                        </a:rPr>
                        <a:t>Imm Extender</a:t>
                      </a:r>
                      <a:endParaRPr lang="en-US" sz="3600" dirty="0"/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 vMerge="1"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endParaRPr lang="en-US" sz="3600" dirty="0"/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altLang="ko-KR" sz="3600" dirty="0"/>
                        <a:t>32 bit</a:t>
                      </a:r>
                      <a:r>
                        <a:rPr lang="ko-KR" altLang="en-US" sz="3600" dirty="0"/>
                        <a:t> 상수로 변환</a:t>
                      </a:r>
                      <a:endParaRPr lang="en-US" sz="3600" dirty="0"/>
                    </a:p>
                  </a:txBody>
                  <a:tcPr marL="25400" marR="25400" marT="70356" marB="7035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14909"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9171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3600" b="0" i="0" u="none" strike="noStrike" kern="1200" cap="none" spc="0" normalizeH="0" baseline="0" dirty="0"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9171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3600" b="0" i="0" u="none" strike="noStrike" kern="1200" cap="none" spc="0" normalizeH="0" baseline="0" dirty="0"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Regular"/>
                          <a:ea typeface="+mn-ea"/>
                          <a:cs typeface="+mn-cs"/>
                        </a:rPr>
                        <a:t>ALU</a:t>
                      </a:r>
                      <a:endParaRPr kumimoji="0" lang="en-US" altLang="ko-KR" sz="3600" b="0" i="0" u="none" strike="noStrike" kern="1200" cap="none" spc="0" normalizeH="0" baseline="0" dirty="0"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9171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en-US" altLang="ko-KR" sz="3600" b="0" i="0" u="none" strike="noStrike" kern="1200" cap="none" spc="0" normalizeH="0" baseline="0" dirty="0"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ko-KR" altLang="en-US" sz="3600" dirty="0"/>
                        <a:t>연산처리 </a:t>
                      </a:r>
                      <a:r>
                        <a:rPr lang="en-US" altLang="ko-KR" sz="3600" dirty="0"/>
                        <a:t>&amp; </a:t>
                      </a:r>
                      <a:r>
                        <a:rPr lang="ko-KR" altLang="en-US" sz="3600" dirty="0"/>
                        <a:t>분기 확인</a:t>
                      </a:r>
                      <a:endParaRPr lang="en-US" sz="3600" dirty="0"/>
                    </a:p>
                  </a:txBody>
                  <a:tcPr marL="25400" marR="25400" marT="70356" marB="7035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814909"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9171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3600" b="0" i="0" u="none" strike="noStrike" kern="1200" cap="none" spc="0" normalizeH="0" baseline="0" dirty="0"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9171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3600" b="0" i="0" u="none" strike="noStrike" kern="1200" cap="none" spc="0" normalizeH="0" baseline="0" dirty="0"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Regular"/>
                          <a:ea typeface="+mn-ea"/>
                          <a:cs typeface="+mn-cs"/>
                        </a:rPr>
                        <a:t>PC</a:t>
                      </a:r>
                      <a:endParaRPr kumimoji="0" lang="en-US" altLang="ko-KR" sz="3600" b="0" i="0" u="none" strike="noStrike" kern="1200" cap="none" spc="0" normalizeH="0" baseline="0" dirty="0"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9171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en-US" altLang="ko-KR" sz="3600" b="0" i="0" u="none" strike="noStrike" kern="1200" cap="none" spc="0" normalizeH="0" baseline="0" dirty="0"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9171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3600" b="0" i="0" u="none" strike="noStrike" kern="1200" cap="none" spc="0" normalizeH="0" baseline="0" dirty="0"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Instruction Mem </a:t>
                      </a:r>
                    </a:p>
                    <a:p>
                      <a:pPr marL="0" marR="0" lvl="0" indent="0" algn="ctr" defTabSz="914400" rtl="0" eaLnBrk="1" latinLnBrk="0" hangingPunct="1">
                        <a:lnSpc>
                          <a:spcPct val="9171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3600" b="0" i="0" u="none" strike="noStrike" kern="1200" cap="none" spc="0" normalizeH="0" baseline="0" dirty="0"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다음 주소 지정</a:t>
                      </a:r>
                      <a:endParaRPr kumimoji="0" lang="en-US" altLang="ko-KR" sz="3600" b="0" i="0" u="none" strike="noStrike" kern="1200" cap="none" spc="0" normalizeH="0" baseline="0" dirty="0"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25400" marR="25400" marT="70356" marB="7035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814909"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9171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3600" b="0" i="0" u="none" strike="noStrike" kern="1200" cap="none" spc="0" normalizeH="0" baseline="0" dirty="0"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9171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3600" b="0" i="0" u="none" strike="noStrike" kern="1200" cap="none" spc="0" normalizeH="0" baseline="0" dirty="0"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DATA</a:t>
                      </a:r>
                    </a:p>
                    <a:p>
                      <a:pPr marL="0" marR="0" lvl="0" indent="0" algn="ctr" defTabSz="914400" rtl="0" eaLnBrk="1" latinLnBrk="0" hangingPunct="1">
                        <a:lnSpc>
                          <a:spcPct val="9171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3600" b="0" i="0" u="none" strike="noStrike" kern="1200" cap="none" spc="0" normalizeH="0" baseline="0" dirty="0"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memory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RAM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9171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3600" b="0" i="0" u="none" strike="noStrike" kern="1200" cap="none" spc="0" normalizeH="0" baseline="0" dirty="0"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Load &amp; STORE </a:t>
                      </a:r>
                    </a:p>
                    <a:p>
                      <a:pPr marL="0" marR="0" lvl="0" indent="0" algn="ctr" defTabSz="914400" rtl="0" eaLnBrk="1" latinLnBrk="0" hangingPunct="1">
                        <a:lnSpc>
                          <a:spcPct val="9171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3600" b="0" i="0" u="none" strike="noStrike" kern="1200" cap="none" spc="0" normalizeH="0" baseline="0" dirty="0"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data </a:t>
                      </a:r>
                      <a:r>
                        <a:rPr kumimoji="0" lang="ko-KR" altLang="en-US" sz="3600" b="0" i="0" u="none" strike="noStrike" kern="1200" cap="none" spc="0" normalizeH="0" baseline="0" dirty="0"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메모리</a:t>
                      </a:r>
                      <a:endParaRPr kumimoji="0" lang="en-US" altLang="ko-KR" sz="3600" b="0" i="0" u="none" strike="noStrike" kern="1200" cap="none" spc="0" normalizeH="0" baseline="0" dirty="0"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25400" marR="25400" marT="70356" marB="7035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0371637"/>
                  </a:ext>
                </a:extLst>
              </a:tr>
            </a:tbl>
          </a:graphicData>
        </a:graphic>
      </p:graphicFrame>
      <p:sp>
        <p:nvSpPr>
          <p:cNvPr id="18" name="타원 17">
            <a:extLst>
              <a:ext uri="{FF2B5EF4-FFF2-40B4-BE49-F238E27FC236}">
                <a16:creationId xmlns:a16="http://schemas.microsoft.com/office/drawing/2014/main" id="{A3F37371-2149-40FA-296D-1199B62411CA}"/>
              </a:ext>
            </a:extLst>
          </p:cNvPr>
          <p:cNvSpPr/>
          <p:nvPr/>
        </p:nvSpPr>
        <p:spPr>
          <a:xfrm>
            <a:off x="235742" y="3276600"/>
            <a:ext cx="526258" cy="516939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400" dirty="0">
                <a:solidFill>
                  <a:srgbClr val="FF0000"/>
                </a:solidFill>
              </a:rPr>
              <a:t>1</a:t>
            </a:r>
            <a:endParaRPr lang="ko-KR" altLang="en-US" sz="4400" dirty="0">
              <a:solidFill>
                <a:srgbClr val="FF0000"/>
              </a:solidFill>
            </a:endParaRPr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C96A74AC-CC05-92DA-E2DD-594854510B12}"/>
              </a:ext>
            </a:extLst>
          </p:cNvPr>
          <p:cNvSpPr/>
          <p:nvPr/>
        </p:nvSpPr>
        <p:spPr>
          <a:xfrm>
            <a:off x="3283742" y="2667000"/>
            <a:ext cx="526258" cy="516939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400" dirty="0">
                <a:solidFill>
                  <a:srgbClr val="FF0000"/>
                </a:solidFill>
              </a:rPr>
              <a:t>2</a:t>
            </a:r>
            <a:endParaRPr lang="ko-KR" altLang="en-US" sz="4400" dirty="0">
              <a:solidFill>
                <a:srgbClr val="FF0000"/>
              </a:solidFill>
            </a:endParaRP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54863D79-339C-A5A9-0BCC-AD62E62FEC83}"/>
              </a:ext>
            </a:extLst>
          </p:cNvPr>
          <p:cNvSpPr/>
          <p:nvPr/>
        </p:nvSpPr>
        <p:spPr>
          <a:xfrm>
            <a:off x="3276600" y="4800600"/>
            <a:ext cx="526258" cy="516939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400" dirty="0">
                <a:solidFill>
                  <a:srgbClr val="FF0000"/>
                </a:solidFill>
              </a:rPr>
              <a:t>3</a:t>
            </a:r>
            <a:endParaRPr lang="ko-KR" altLang="en-US" sz="4400" dirty="0">
              <a:solidFill>
                <a:srgbClr val="FF0000"/>
              </a:solidFill>
            </a:endParaRPr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161BF31D-4037-3363-74E5-21B9F6705740}"/>
              </a:ext>
            </a:extLst>
          </p:cNvPr>
          <p:cNvSpPr/>
          <p:nvPr/>
        </p:nvSpPr>
        <p:spPr>
          <a:xfrm>
            <a:off x="7543800" y="8077200"/>
            <a:ext cx="526258" cy="516939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400" dirty="0">
                <a:solidFill>
                  <a:srgbClr val="FF0000"/>
                </a:solidFill>
              </a:rPr>
              <a:t>4</a:t>
            </a:r>
            <a:endParaRPr lang="ko-KR" altLang="en-US" sz="4400" dirty="0">
              <a:solidFill>
                <a:srgbClr val="FF000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C054844C-5973-AD96-4F5B-93931066B263}"/>
              </a:ext>
            </a:extLst>
          </p:cNvPr>
          <p:cNvSpPr/>
          <p:nvPr/>
        </p:nvSpPr>
        <p:spPr>
          <a:xfrm>
            <a:off x="3200400" y="7400133"/>
            <a:ext cx="526258" cy="516939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400" dirty="0">
                <a:solidFill>
                  <a:srgbClr val="FF0000"/>
                </a:solidFill>
              </a:rPr>
              <a:t>5</a:t>
            </a:r>
            <a:endParaRPr lang="ko-KR" altLang="en-US" sz="4400" dirty="0">
              <a:solidFill>
                <a:srgbClr val="FF0000"/>
              </a:solidFill>
            </a:endParaRPr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5B6CE632-BB16-B61A-A70D-798EFD660532}"/>
              </a:ext>
            </a:extLst>
          </p:cNvPr>
          <p:cNvSpPr/>
          <p:nvPr/>
        </p:nvSpPr>
        <p:spPr>
          <a:xfrm>
            <a:off x="6137671" y="4800599"/>
            <a:ext cx="526258" cy="516939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400" dirty="0">
                <a:solidFill>
                  <a:srgbClr val="FF0000"/>
                </a:solidFill>
              </a:rPr>
              <a:t>6</a:t>
            </a:r>
            <a:endParaRPr lang="ko-KR" altLang="en-US" sz="4400" dirty="0">
              <a:solidFill>
                <a:srgbClr val="FF0000"/>
              </a:solidFill>
            </a:endParaRPr>
          </a:p>
        </p:txBody>
      </p:sp>
      <p:sp>
        <p:nvSpPr>
          <p:cNvPr id="25" name="타원 24">
            <a:extLst>
              <a:ext uri="{FF2B5EF4-FFF2-40B4-BE49-F238E27FC236}">
                <a16:creationId xmlns:a16="http://schemas.microsoft.com/office/drawing/2014/main" id="{954EF4BD-AF46-BEBE-B18E-CFA476DB0445}"/>
              </a:ext>
            </a:extLst>
          </p:cNvPr>
          <p:cNvSpPr/>
          <p:nvPr/>
        </p:nvSpPr>
        <p:spPr>
          <a:xfrm>
            <a:off x="3429000" y="9144000"/>
            <a:ext cx="526258" cy="516939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400" dirty="0">
                <a:solidFill>
                  <a:srgbClr val="FF0000"/>
                </a:solidFill>
              </a:rPr>
              <a:t>7</a:t>
            </a:r>
            <a:endParaRPr lang="ko-KR" altLang="en-US" sz="4400" dirty="0">
              <a:solidFill>
                <a:srgbClr val="FF0000"/>
              </a:solidFill>
            </a:endParaRPr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4AC0CA2D-3DF1-4769-79AF-27463D62CEDF}"/>
              </a:ext>
            </a:extLst>
          </p:cNvPr>
          <p:cNvSpPr/>
          <p:nvPr/>
        </p:nvSpPr>
        <p:spPr>
          <a:xfrm>
            <a:off x="10744200" y="3276600"/>
            <a:ext cx="526258" cy="516939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400" dirty="0">
                <a:solidFill>
                  <a:srgbClr val="FF0000"/>
                </a:solidFill>
              </a:rPr>
              <a:t>8</a:t>
            </a:r>
            <a:endParaRPr lang="ko-KR" altLang="en-US" sz="4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695681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8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16000" y="12674600"/>
            <a:ext cx="22352000" cy="25400"/>
          </a:xfrm>
          <a:prstGeom prst="rect">
            <a:avLst/>
          </a:prstGeom>
        </p:spPr>
      </p:pic>
      <p:sp>
        <p:nvSpPr>
          <p:cNvPr id="8" name="TextBox 10"/>
          <p:cNvSpPr txBox="1"/>
          <p:nvPr/>
        </p:nvSpPr>
        <p:spPr>
          <a:xfrm>
            <a:off x="1270000" y="2997200"/>
            <a:ext cx="15265400" cy="1181100"/>
          </a:xfrm>
          <a:prstGeom prst="rect">
            <a:avLst/>
          </a:prstGeom>
        </p:spPr>
        <p:txBody>
          <a:bodyPr lIns="0" tIns="0" rIns="0" bIns="0" anchor="t"/>
          <a:lstStyle/>
          <a:p>
            <a:pPr lvl="0" algn="l">
              <a:lnSpc>
                <a:spcPct val="116199"/>
              </a:lnSpc>
              <a:defRPr/>
            </a:pPr>
            <a:r>
              <a:rPr lang="en-US" altLang="ko-KR" sz="6666" b="0" i="0" u="none" strike="noStrike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3. Type </a:t>
            </a:r>
            <a:r>
              <a:rPr lang="ko-KR" altLang="en-US" sz="6666" b="0" i="0" u="none" strike="noStrike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별 동작 방식</a:t>
            </a:r>
            <a:endParaRPr lang="en-US" altLang="ko-KR" sz="6666" b="0" i="0" u="none" strike="noStrike" dirty="0">
              <a:solidFill>
                <a:srgbClr val="000000"/>
              </a:solidFill>
              <a:latin typeface="Pretendard Bold"/>
              <a:ea typeface="Pretendard Bold"/>
              <a:cs typeface="Pretendard Bold"/>
            </a:endParaRPr>
          </a:p>
        </p:txBody>
      </p:sp>
      <p:pic>
        <p:nvPicPr>
          <p:cNvPr id="9" name="Picture 6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20828000" y="12369800"/>
            <a:ext cx="2540000" cy="3048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 rot="5400000">
            <a:off x="10953750" y="3632200"/>
            <a:ext cx="889000" cy="52705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 rot="5400000">
            <a:off x="16478250" y="3632200"/>
            <a:ext cx="889000" cy="5270500"/>
          </a:xfrm>
          <a:prstGeom prst="rect">
            <a:avLst/>
          </a:prstGeom>
        </p:spPr>
      </p:pic>
      <p:pic>
        <p:nvPicPr>
          <p:cNvPr id="15" name="Picture 15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 rot="5400000">
            <a:off x="7054850" y="7531100"/>
            <a:ext cx="3429000" cy="12700"/>
          </a:xfrm>
          <a:prstGeom prst="rect">
            <a:avLst/>
          </a:prstGeom>
        </p:spPr>
      </p:pic>
      <p:pic>
        <p:nvPicPr>
          <p:cNvPr id="16" name="Picture 16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 rot="5400000">
            <a:off x="12579350" y="7531100"/>
            <a:ext cx="3429000" cy="12700"/>
          </a:xfrm>
          <a:prstGeom prst="rect">
            <a:avLst/>
          </a:prstGeom>
        </p:spPr>
      </p:pic>
      <p:sp>
        <p:nvSpPr>
          <p:cNvPr id="19" name="TextBox 19"/>
          <p:cNvSpPr txBox="1"/>
          <p:nvPr/>
        </p:nvSpPr>
        <p:spPr>
          <a:xfrm>
            <a:off x="9264650" y="5981700"/>
            <a:ext cx="3352800" cy="571500"/>
          </a:xfrm>
          <a:prstGeom prst="rect">
            <a:avLst/>
          </a:prstGeom>
        </p:spPr>
        <p:txBody>
          <a:bodyPr lIns="0" tIns="0" rIns="0" bIns="0" anchor="t"/>
          <a:lstStyle/>
          <a:p>
            <a:pPr lvl="0" algn="l">
              <a:lnSpc>
                <a:spcPct val="116199"/>
              </a:lnSpc>
              <a:defRPr/>
            </a:pPr>
            <a:r>
              <a:rPr lang="en-US" sz="3200" b="0" i="0" u="none" strike="noStrike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01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4789150" y="5981700"/>
            <a:ext cx="3352800" cy="571500"/>
          </a:xfrm>
          <a:prstGeom prst="rect">
            <a:avLst/>
          </a:prstGeom>
        </p:spPr>
        <p:txBody>
          <a:bodyPr lIns="0" tIns="0" rIns="0" bIns="0" anchor="t"/>
          <a:lstStyle/>
          <a:p>
            <a:pPr lvl="0" algn="l">
              <a:lnSpc>
                <a:spcPct val="116199"/>
              </a:lnSpc>
              <a:defRPr/>
            </a:pPr>
            <a:r>
              <a:rPr lang="en-US" sz="3200" b="0" i="0" u="none" strike="noStrike">
                <a:solidFill>
                  <a:srgbClr val="FFFFFF"/>
                </a:solidFill>
                <a:latin typeface="Pretendard Bold"/>
                <a:ea typeface="Pretendard Bold"/>
                <a:cs typeface="Pretendard Bold"/>
              </a:rPr>
              <a:t>02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9264648" y="7010400"/>
            <a:ext cx="3594100" cy="1460500"/>
          </a:xfrm>
          <a:prstGeom prst="rect">
            <a:avLst/>
          </a:prstGeom>
        </p:spPr>
        <p:txBody>
          <a:bodyPr lIns="0" tIns="0" rIns="0" bIns="0" anchor="t"/>
          <a:lstStyle/>
          <a:p>
            <a:pPr lvl="0" algn="l">
              <a:lnSpc>
                <a:spcPct val="120350"/>
              </a:lnSpc>
              <a:defRPr/>
            </a:pPr>
            <a:r>
              <a:rPr lang="en-US" altLang="ko-KR" sz="3500" b="0" i="0" u="none" strike="noStrike" dirty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DATA Flow</a:t>
            </a:r>
            <a:endParaRPr lang="en-US" altLang="ko-KR" sz="3500" dirty="0">
              <a:solidFill>
                <a:srgbClr val="000000"/>
              </a:solidFill>
              <a:latin typeface="Pretendard SemiBold"/>
              <a:ea typeface="Pretendard SemiBold"/>
              <a:cs typeface="Pretendard SemiBold"/>
            </a:endParaRPr>
          </a:p>
          <a:p>
            <a:pPr lvl="0" algn="l">
              <a:lnSpc>
                <a:spcPct val="120350"/>
              </a:lnSpc>
              <a:defRPr/>
            </a:pPr>
            <a:r>
              <a:rPr lang="en-US" altLang="ko-KR" sz="3500" b="0" i="0" u="none" strike="noStrike" dirty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  </a:t>
            </a:r>
          </a:p>
          <a:p>
            <a:pPr lvl="0" algn="l">
              <a:lnSpc>
                <a:spcPct val="120350"/>
              </a:lnSpc>
              <a:defRPr/>
            </a:pPr>
            <a:endParaRPr lang="en-US" altLang="ko-KR" sz="3500" b="0" i="0" u="none" strike="noStrike" dirty="0">
              <a:solidFill>
                <a:srgbClr val="000000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24" name="TextBox 24"/>
          <p:cNvSpPr txBox="1"/>
          <p:nvPr/>
        </p:nvSpPr>
        <p:spPr>
          <a:xfrm>
            <a:off x="14579410" y="7010400"/>
            <a:ext cx="5257800" cy="1460500"/>
          </a:xfrm>
          <a:prstGeom prst="rect">
            <a:avLst/>
          </a:prstGeom>
        </p:spPr>
        <p:txBody>
          <a:bodyPr lIns="0" tIns="0" rIns="0" bIns="0" anchor="t"/>
          <a:lstStyle/>
          <a:p>
            <a:pPr lvl="0" algn="l">
              <a:lnSpc>
                <a:spcPct val="120350"/>
              </a:lnSpc>
              <a:defRPr/>
            </a:pPr>
            <a:r>
              <a:rPr lang="en-US" altLang="ko-KR" sz="3500" b="0" i="0" u="none" strike="noStrike" dirty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simulation</a:t>
            </a:r>
          </a:p>
        </p:txBody>
      </p:sp>
      <p:pic>
        <p:nvPicPr>
          <p:cNvPr id="27" name="Picture 7"/>
          <p:cNvPicPr>
            <a:picLocks noChangeAspect="1"/>
          </p:cNvPicPr>
          <p:nvPr/>
        </p:nvPicPr>
        <p:blipFill rotWithShape="1">
          <a:blip r:embed="rId8"/>
          <a:stretch>
            <a:fillRect/>
          </a:stretch>
        </p:blipFill>
        <p:spPr>
          <a:xfrm rot="16200000">
            <a:off x="20523200" y="12369800"/>
            <a:ext cx="304800" cy="304800"/>
          </a:xfrm>
          <a:prstGeom prst="rect">
            <a:avLst/>
          </a:prstGeom>
        </p:spPr>
      </p:pic>
      <p:graphicFrame>
        <p:nvGraphicFramePr>
          <p:cNvPr id="14" name="Table 12">
            <a:extLst>
              <a:ext uri="{FF2B5EF4-FFF2-40B4-BE49-F238E27FC236}">
                <a16:creationId xmlns:a16="http://schemas.microsoft.com/office/drawing/2014/main" id="{FC8B06A8-4DE9-8D4E-985F-A6E241FC196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4643776"/>
              </p:ext>
            </p:extLst>
          </p:nvPr>
        </p:nvGraphicFramePr>
        <p:xfrm>
          <a:off x="2345420" y="4572000"/>
          <a:ext cx="4029792" cy="6330846"/>
        </p:xfrm>
        <a:graphic>
          <a:graphicData uri="http://schemas.openxmlformats.org/drawingml/2006/table">
            <a:tbl>
              <a:tblPr/>
              <a:tblGrid>
                <a:gridCol w="578255">
                  <a:extLst>
                    <a:ext uri="{9D8B030D-6E8A-4147-A177-3AD203B41FA5}">
                      <a16:colId xmlns:a16="http://schemas.microsoft.com/office/drawing/2014/main" val="1091418196"/>
                    </a:ext>
                  </a:extLst>
                </a:gridCol>
                <a:gridCol w="34515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endParaRPr lang="en-US" sz="3600" dirty="0"/>
                    </a:p>
                  </a:txBody>
                  <a:tcPr marL="25400" marR="25400" marT="65362" marB="65362" anchor="ctr">
                    <a:lnL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ko-KR" altLang="en-US" sz="3600" dirty="0">
                          <a:solidFill>
                            <a:schemeClr val="bg1"/>
                          </a:solidFill>
                        </a:rPr>
                        <a:t>설명순서</a:t>
                      </a:r>
                      <a:r>
                        <a:rPr lang="en-US" sz="3600" dirty="0"/>
                        <a:t>j</a:t>
                      </a:r>
                    </a:p>
                  </a:txBody>
                  <a:tcPr marL="25400" marR="25400" marT="65362" marB="65362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25666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1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R – type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95149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2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I - type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14909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3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b="0" i="0" u="none" strike="noStrike" dirty="0">
                          <a:solidFill>
                            <a:srgbClr val="000000"/>
                          </a:solidFill>
                          <a:latin typeface="Pretendard Bold"/>
                        </a:rPr>
                        <a:t>S - type</a:t>
                      </a:r>
                      <a:endParaRPr lang="en-US" sz="3600" dirty="0"/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14909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4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IL - type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4450522"/>
                  </a:ext>
                </a:extLst>
              </a:tr>
              <a:tr h="814909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5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b="0" i="0" u="none" strike="noStrike" dirty="0">
                          <a:solidFill>
                            <a:srgbClr val="000000"/>
                          </a:solidFill>
                          <a:latin typeface="Pretendard Bold"/>
                        </a:rPr>
                        <a:t>B - type</a:t>
                      </a:r>
                      <a:endParaRPr lang="en-US" sz="3600" dirty="0"/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14909"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9171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3600" b="0" i="0" u="none" strike="noStrike" kern="1200" cap="none" spc="0" normalizeH="0" baseline="0" dirty="0"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9171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3600" b="0" i="0" u="none" strike="noStrike" kern="1200" cap="none" spc="0" normalizeH="0" baseline="0" dirty="0"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Regular"/>
                          <a:ea typeface="+mn-ea"/>
                          <a:cs typeface="+mn-cs"/>
                        </a:rPr>
                        <a:t>U - type</a:t>
                      </a:r>
                      <a:endParaRPr kumimoji="0" lang="en-US" altLang="ko-KR" sz="3600" b="0" i="0" u="none" strike="noStrike" kern="1200" cap="none" spc="0" normalizeH="0" baseline="0" dirty="0"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814909"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9171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3600" b="0" i="0" u="none" strike="noStrike" kern="1200" cap="none" spc="0" normalizeH="0" baseline="0" dirty="0"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lnSpc>
                          <a:spcPct val="9171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3600" b="0" i="0" u="none" strike="noStrike" kern="1200" cap="none" spc="0" normalizeH="0" baseline="0" dirty="0"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Regular"/>
                          <a:ea typeface="+mn-ea"/>
                          <a:cs typeface="+mn-cs"/>
                        </a:rPr>
                        <a:t>J - type</a:t>
                      </a:r>
                      <a:endParaRPr kumimoji="0" lang="en-US" altLang="ko-KR" sz="3600" b="0" i="0" u="none" strike="noStrike" kern="1200" cap="none" spc="0" normalizeH="0" baseline="0" dirty="0"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444017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AFE974-80DF-3142-9CCC-F311A0A516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그림 21">
            <a:extLst>
              <a:ext uri="{FF2B5EF4-FFF2-40B4-BE49-F238E27FC236}">
                <a16:creationId xmlns:a16="http://schemas.microsoft.com/office/drawing/2014/main" id="{B6C2AF19-C181-A54C-265D-B6847C1CF8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570" y="2373399"/>
            <a:ext cx="11335407" cy="9775068"/>
          </a:xfrm>
          <a:prstGeom prst="rect">
            <a:avLst/>
          </a:prstGeom>
        </p:spPr>
      </p:pic>
      <p:pic>
        <p:nvPicPr>
          <p:cNvPr id="3" name="Picture 8">
            <a:extLst>
              <a:ext uri="{FF2B5EF4-FFF2-40B4-BE49-F238E27FC236}">
                <a16:creationId xmlns:a16="http://schemas.microsoft.com/office/drawing/2014/main" id="{3CE95680-264D-22AC-358B-EE10762A1D0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 flipV="1">
            <a:off x="1045570" y="2059190"/>
            <a:ext cx="21814430" cy="45719"/>
          </a:xfrm>
          <a:prstGeom prst="rect">
            <a:avLst/>
          </a:prstGeom>
        </p:spPr>
      </p:pic>
      <p:sp>
        <p:nvSpPr>
          <p:cNvPr id="4" name="TextBox 10">
            <a:extLst>
              <a:ext uri="{FF2B5EF4-FFF2-40B4-BE49-F238E27FC236}">
                <a16:creationId xmlns:a16="http://schemas.microsoft.com/office/drawing/2014/main" id="{B746F0EB-22B4-339F-D6FC-4FD8CACC6AEE}"/>
              </a:ext>
            </a:extLst>
          </p:cNvPr>
          <p:cNvSpPr txBox="1"/>
          <p:nvPr/>
        </p:nvSpPr>
        <p:spPr>
          <a:xfrm>
            <a:off x="1295400" y="609600"/>
            <a:ext cx="18897600" cy="1181100"/>
          </a:xfrm>
          <a:prstGeom prst="rect">
            <a:avLst/>
          </a:prstGeom>
        </p:spPr>
        <p:txBody>
          <a:bodyPr lIns="0" tIns="0" rIns="0" bIns="0" anchor="t"/>
          <a:lstStyle/>
          <a:p>
            <a:pPr lvl="0">
              <a:lnSpc>
                <a:spcPct val="116199"/>
              </a:lnSpc>
              <a:defRPr/>
            </a:pPr>
            <a:r>
              <a:rPr lang="en-US" altLang="ko-KR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3. Type </a:t>
            </a:r>
            <a:r>
              <a:rPr lang="ko-KR" altLang="en-US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별 동작 방식</a:t>
            </a:r>
            <a:r>
              <a:rPr lang="en-US" altLang="ko-KR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(R-type)</a:t>
            </a:r>
            <a:r>
              <a:rPr lang="ko-KR" altLang="en-US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5AED689-9D19-45E6-DD4B-5E8EB7965918}"/>
              </a:ext>
            </a:extLst>
          </p:cNvPr>
          <p:cNvSpPr txBox="1"/>
          <p:nvPr/>
        </p:nvSpPr>
        <p:spPr>
          <a:xfrm>
            <a:off x="162339" y="2163444"/>
            <a:ext cx="540026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400" dirty="0"/>
              <a:t>• </a:t>
            </a:r>
            <a:r>
              <a:rPr lang="en-US" altLang="ko-KR" sz="4400" dirty="0" err="1"/>
              <a:t>DataFolw</a:t>
            </a:r>
            <a:endParaRPr lang="en-US" altLang="ko-KR" sz="4400" dirty="0"/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4F191824-6F9D-698C-2E87-22E4DF9B34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8775007"/>
              </p:ext>
            </p:extLst>
          </p:nvPr>
        </p:nvGraphicFramePr>
        <p:xfrm>
          <a:off x="1600200" y="12651520"/>
          <a:ext cx="21031199" cy="57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04457">
                  <a:extLst>
                    <a:ext uri="{9D8B030D-6E8A-4147-A177-3AD203B41FA5}">
                      <a16:colId xmlns:a16="http://schemas.microsoft.com/office/drawing/2014/main" val="4932414"/>
                    </a:ext>
                  </a:extLst>
                </a:gridCol>
                <a:gridCol w="3004457">
                  <a:extLst>
                    <a:ext uri="{9D8B030D-6E8A-4147-A177-3AD203B41FA5}">
                      <a16:colId xmlns:a16="http://schemas.microsoft.com/office/drawing/2014/main" val="4289750731"/>
                    </a:ext>
                  </a:extLst>
                </a:gridCol>
                <a:gridCol w="3004457">
                  <a:extLst>
                    <a:ext uri="{9D8B030D-6E8A-4147-A177-3AD203B41FA5}">
                      <a16:colId xmlns:a16="http://schemas.microsoft.com/office/drawing/2014/main" val="3362934941"/>
                    </a:ext>
                  </a:extLst>
                </a:gridCol>
                <a:gridCol w="3004457">
                  <a:extLst>
                    <a:ext uri="{9D8B030D-6E8A-4147-A177-3AD203B41FA5}">
                      <a16:colId xmlns:a16="http://schemas.microsoft.com/office/drawing/2014/main" val="1722059348"/>
                    </a:ext>
                  </a:extLst>
                </a:gridCol>
                <a:gridCol w="3004457">
                  <a:extLst>
                    <a:ext uri="{9D8B030D-6E8A-4147-A177-3AD203B41FA5}">
                      <a16:colId xmlns:a16="http://schemas.microsoft.com/office/drawing/2014/main" val="798401735"/>
                    </a:ext>
                  </a:extLst>
                </a:gridCol>
                <a:gridCol w="3004457">
                  <a:extLst>
                    <a:ext uri="{9D8B030D-6E8A-4147-A177-3AD203B41FA5}">
                      <a16:colId xmlns:a16="http://schemas.microsoft.com/office/drawing/2014/main" val="989108138"/>
                    </a:ext>
                  </a:extLst>
                </a:gridCol>
                <a:gridCol w="3004457">
                  <a:extLst>
                    <a:ext uri="{9D8B030D-6E8A-4147-A177-3AD203B41FA5}">
                      <a16:colId xmlns:a16="http://schemas.microsoft.com/office/drawing/2014/main" val="1997596351"/>
                    </a:ext>
                  </a:extLst>
                </a:gridCol>
              </a:tblGrid>
              <a:tr h="42903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3200" dirty="0">
                          <a:solidFill>
                            <a:schemeClr val="tx1"/>
                          </a:solidFill>
                        </a:rPr>
                        <a:t>명령어</a:t>
                      </a:r>
                      <a:r>
                        <a:rPr lang="en-US" altLang="ko-KR" sz="3200" dirty="0">
                          <a:solidFill>
                            <a:schemeClr val="tx1"/>
                          </a:solidFill>
                        </a:rPr>
                        <a:t>:</a:t>
                      </a:r>
                      <a:endParaRPr lang="ko-KR" altLang="en-US" sz="3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Funct7</a:t>
                      </a:r>
                      <a:endParaRPr lang="ko-KR" altLang="en-US" sz="3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Rs2</a:t>
                      </a:r>
                      <a:endParaRPr lang="ko-KR" altLang="en-US" sz="3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Rs1</a:t>
                      </a:r>
                      <a:endParaRPr lang="ko-KR" altLang="en-US" sz="3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Funct3</a:t>
                      </a:r>
                      <a:endParaRPr lang="ko-KR" altLang="en-US" sz="3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Rd</a:t>
                      </a:r>
                      <a:endParaRPr lang="ko-KR" altLang="en-US" sz="3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OPCODE(R-type)</a:t>
                      </a:r>
                      <a:endParaRPr lang="ko-KR" altLang="en-US" sz="3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59916584"/>
                  </a:ext>
                </a:extLst>
              </a:tr>
            </a:tbl>
          </a:graphicData>
        </a:graphic>
      </p:graphicFrame>
      <p:graphicFrame>
        <p:nvGraphicFramePr>
          <p:cNvPr id="20" name="표 19">
            <a:extLst>
              <a:ext uri="{FF2B5EF4-FFF2-40B4-BE49-F238E27FC236}">
                <a16:creationId xmlns:a16="http://schemas.microsoft.com/office/drawing/2014/main" id="{A12AAA55-C386-FAB8-66E7-2EA6BD469F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648532"/>
              </p:ext>
            </p:extLst>
          </p:nvPr>
        </p:nvGraphicFramePr>
        <p:xfrm>
          <a:off x="15127330" y="3429000"/>
          <a:ext cx="5974080" cy="7472289"/>
        </p:xfrm>
        <a:graphic>
          <a:graphicData uri="http://schemas.openxmlformats.org/drawingml/2006/table">
            <a:tbl>
              <a:tblPr/>
              <a:tblGrid>
                <a:gridCol w="2987040">
                  <a:extLst>
                    <a:ext uri="{9D8B030D-6E8A-4147-A177-3AD203B41FA5}">
                      <a16:colId xmlns:a16="http://schemas.microsoft.com/office/drawing/2014/main" val="1179993107"/>
                    </a:ext>
                  </a:extLst>
                </a:gridCol>
                <a:gridCol w="2987040">
                  <a:extLst>
                    <a:ext uri="{9D8B030D-6E8A-4147-A177-3AD203B41FA5}">
                      <a16:colId xmlns:a16="http://schemas.microsoft.com/office/drawing/2014/main" val="2920872321"/>
                    </a:ext>
                  </a:extLst>
                </a:gridCol>
              </a:tblGrid>
              <a:tr h="679299">
                <a:tc grid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control_unit</a:t>
                      </a:r>
                      <a:endParaRPr lang="en-US" sz="2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900010"/>
                  </a:ext>
                </a:extLst>
              </a:tr>
              <a:tr h="67929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OUTPUT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R_type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8405201"/>
                  </a:ext>
                </a:extLst>
              </a:tr>
              <a:tr h="67929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rf_we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0027568"/>
                  </a:ext>
                </a:extLst>
              </a:tr>
              <a:tr h="67929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alu_src_sel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0614113"/>
                  </a:ext>
                </a:extLst>
              </a:tr>
              <a:tr h="67929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rf_wd_sel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1551745"/>
                  </a:ext>
                </a:extLst>
              </a:tr>
              <a:tr h="67929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alu_control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0,funct7[5],funct3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8347769"/>
                  </a:ext>
                </a:extLst>
              </a:tr>
              <a:tr h="67929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[</a:t>
                      </a:r>
                      <a:r>
                        <a:rPr lang="en-US" sz="2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b_taken,ALU_ctrl</a:t>
                      </a:r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]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649411082"/>
                  </a:ext>
                </a:extLst>
              </a:tr>
              <a:tr h="67929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b_src_sel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3204033"/>
                  </a:ext>
                </a:extLst>
              </a:tr>
              <a:tr h="67929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branch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926610"/>
                  </a:ext>
                </a:extLst>
              </a:tr>
              <a:tr h="67929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o_funct3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1358313"/>
                  </a:ext>
                </a:extLst>
              </a:tr>
              <a:tr h="67929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dwe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6820225"/>
                  </a:ext>
                </a:extLst>
              </a:tr>
            </a:tbl>
          </a:graphicData>
        </a:graphic>
      </p:graphicFrame>
      <p:sp>
        <p:nvSpPr>
          <p:cNvPr id="23" name="TextBox 22">
            <a:extLst>
              <a:ext uri="{FF2B5EF4-FFF2-40B4-BE49-F238E27FC236}">
                <a16:creationId xmlns:a16="http://schemas.microsoft.com/office/drawing/2014/main" id="{B1CC918B-ADAE-2DCC-2E8F-CF83574A847F}"/>
              </a:ext>
            </a:extLst>
          </p:cNvPr>
          <p:cNvSpPr txBox="1"/>
          <p:nvPr/>
        </p:nvSpPr>
        <p:spPr>
          <a:xfrm>
            <a:off x="4550770" y="4061925"/>
            <a:ext cx="6096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highlight>
                  <a:srgbClr val="FFFF00"/>
                </a:highlight>
              </a:rPr>
              <a:t>1</a:t>
            </a:r>
            <a:endParaRPr lang="ko-KR" altLang="en-US" sz="4400" b="1" dirty="0">
              <a:highlight>
                <a:srgbClr val="FFFF00"/>
              </a:highlight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19620C7-2A7A-D2E4-B472-22CEDAA5B7BF}"/>
              </a:ext>
            </a:extLst>
          </p:cNvPr>
          <p:cNvSpPr txBox="1"/>
          <p:nvPr/>
        </p:nvSpPr>
        <p:spPr>
          <a:xfrm>
            <a:off x="9275170" y="4214325"/>
            <a:ext cx="6096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highlight>
                  <a:srgbClr val="FFFF00"/>
                </a:highlight>
              </a:rPr>
              <a:t>0</a:t>
            </a:r>
            <a:endParaRPr lang="ko-KR" altLang="en-US" sz="4400" b="1" dirty="0">
              <a:highlight>
                <a:srgbClr val="FFFF00"/>
              </a:highlight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E6A0288-5A15-5D42-132D-DD346F488F80}"/>
              </a:ext>
            </a:extLst>
          </p:cNvPr>
          <p:cNvSpPr txBox="1"/>
          <p:nvPr/>
        </p:nvSpPr>
        <p:spPr>
          <a:xfrm>
            <a:off x="2493370" y="9014925"/>
            <a:ext cx="141284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highlight>
                  <a:srgbClr val="FFFF00"/>
                </a:highlight>
              </a:rPr>
              <a:t>PC+4</a:t>
            </a:r>
            <a:endParaRPr lang="ko-KR" altLang="en-US" sz="4400" b="1" dirty="0">
              <a:highlight>
                <a:srgbClr val="FFFF00"/>
              </a:highlight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982EBB0-50FC-815A-AE2F-E3F9FDB85006}"/>
              </a:ext>
            </a:extLst>
          </p:cNvPr>
          <p:cNvSpPr txBox="1"/>
          <p:nvPr/>
        </p:nvSpPr>
        <p:spPr>
          <a:xfrm>
            <a:off x="6455770" y="4214324"/>
            <a:ext cx="25146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 err="1">
                <a:highlight>
                  <a:srgbClr val="FFFF00"/>
                </a:highlight>
              </a:rPr>
              <a:t>alu_ctrl</a:t>
            </a:r>
            <a:endParaRPr lang="ko-KR" altLang="en-US" sz="4400" b="1" dirty="0">
              <a:highlight>
                <a:srgbClr val="FFFF00"/>
              </a:highlight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26EBAD4-76D5-152D-A742-CE5A5943C2FF}"/>
              </a:ext>
            </a:extLst>
          </p:cNvPr>
          <p:cNvSpPr txBox="1"/>
          <p:nvPr/>
        </p:nvSpPr>
        <p:spPr>
          <a:xfrm>
            <a:off x="5160370" y="7871925"/>
            <a:ext cx="293535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 err="1">
                <a:highlight>
                  <a:srgbClr val="FFFF00"/>
                </a:highlight>
              </a:rPr>
              <a:t>ALU_result</a:t>
            </a:r>
            <a:endParaRPr lang="ko-KR" altLang="en-US" sz="4400" b="1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17300939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2B84B9-3EF9-83CD-AFDB-2C2F168401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8">
            <a:extLst>
              <a:ext uri="{FF2B5EF4-FFF2-40B4-BE49-F238E27FC236}">
                <a16:creationId xmlns:a16="http://schemas.microsoft.com/office/drawing/2014/main" id="{8AF2E816-DC8B-2747-F282-41319D2737A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 flipV="1">
            <a:off x="1045570" y="2059190"/>
            <a:ext cx="21814430" cy="45719"/>
          </a:xfrm>
          <a:prstGeom prst="rect">
            <a:avLst/>
          </a:prstGeom>
        </p:spPr>
      </p:pic>
      <p:sp>
        <p:nvSpPr>
          <p:cNvPr id="4" name="TextBox 10">
            <a:extLst>
              <a:ext uri="{FF2B5EF4-FFF2-40B4-BE49-F238E27FC236}">
                <a16:creationId xmlns:a16="http://schemas.microsoft.com/office/drawing/2014/main" id="{0396AA63-01EF-62C0-593A-1816824E5CB9}"/>
              </a:ext>
            </a:extLst>
          </p:cNvPr>
          <p:cNvSpPr txBox="1"/>
          <p:nvPr/>
        </p:nvSpPr>
        <p:spPr>
          <a:xfrm>
            <a:off x="1295400" y="609600"/>
            <a:ext cx="18897600" cy="1181100"/>
          </a:xfrm>
          <a:prstGeom prst="rect">
            <a:avLst/>
          </a:prstGeom>
        </p:spPr>
        <p:txBody>
          <a:bodyPr lIns="0" tIns="0" rIns="0" bIns="0" anchor="t"/>
          <a:lstStyle/>
          <a:p>
            <a:pPr lvl="0">
              <a:lnSpc>
                <a:spcPct val="116199"/>
              </a:lnSpc>
              <a:defRPr/>
            </a:pPr>
            <a:r>
              <a:rPr lang="en-US" altLang="ko-KR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3. Type </a:t>
            </a:r>
            <a:r>
              <a:rPr lang="ko-KR" altLang="en-US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별 동작 방식</a:t>
            </a:r>
            <a:r>
              <a:rPr lang="en-US" altLang="ko-KR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(R-type)</a:t>
            </a:r>
            <a:r>
              <a:rPr lang="ko-KR" altLang="en-US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 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EA334EF0-0E28-30A2-1379-DEAAF4AC0F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367273"/>
              </p:ext>
            </p:extLst>
          </p:nvPr>
        </p:nvGraphicFramePr>
        <p:xfrm>
          <a:off x="12406377" y="4604225"/>
          <a:ext cx="11772153" cy="4216171"/>
        </p:xfrm>
        <a:graphic>
          <a:graphicData uri="http://schemas.openxmlformats.org/drawingml/2006/table">
            <a:tbl>
              <a:tblPr/>
              <a:tblGrid>
                <a:gridCol w="2073973">
                  <a:extLst>
                    <a:ext uri="{9D8B030D-6E8A-4147-A177-3AD203B41FA5}">
                      <a16:colId xmlns:a16="http://schemas.microsoft.com/office/drawing/2014/main" val="1686743289"/>
                    </a:ext>
                  </a:extLst>
                </a:gridCol>
                <a:gridCol w="969818">
                  <a:extLst>
                    <a:ext uri="{9D8B030D-6E8A-4147-A177-3AD203B41FA5}">
                      <a16:colId xmlns:a16="http://schemas.microsoft.com/office/drawing/2014/main" val="4193106367"/>
                    </a:ext>
                  </a:extLst>
                </a:gridCol>
                <a:gridCol w="969818">
                  <a:extLst>
                    <a:ext uri="{9D8B030D-6E8A-4147-A177-3AD203B41FA5}">
                      <a16:colId xmlns:a16="http://schemas.microsoft.com/office/drawing/2014/main" val="1467851833"/>
                    </a:ext>
                  </a:extLst>
                </a:gridCol>
                <a:gridCol w="969818">
                  <a:extLst>
                    <a:ext uri="{9D8B030D-6E8A-4147-A177-3AD203B41FA5}">
                      <a16:colId xmlns:a16="http://schemas.microsoft.com/office/drawing/2014/main" val="1260789625"/>
                    </a:ext>
                  </a:extLst>
                </a:gridCol>
                <a:gridCol w="969818">
                  <a:extLst>
                    <a:ext uri="{9D8B030D-6E8A-4147-A177-3AD203B41FA5}">
                      <a16:colId xmlns:a16="http://schemas.microsoft.com/office/drawing/2014/main" val="781578471"/>
                    </a:ext>
                  </a:extLst>
                </a:gridCol>
                <a:gridCol w="969818">
                  <a:extLst>
                    <a:ext uri="{9D8B030D-6E8A-4147-A177-3AD203B41FA5}">
                      <a16:colId xmlns:a16="http://schemas.microsoft.com/office/drawing/2014/main" val="2782344945"/>
                    </a:ext>
                  </a:extLst>
                </a:gridCol>
                <a:gridCol w="969818">
                  <a:extLst>
                    <a:ext uri="{9D8B030D-6E8A-4147-A177-3AD203B41FA5}">
                      <a16:colId xmlns:a16="http://schemas.microsoft.com/office/drawing/2014/main" val="3331381186"/>
                    </a:ext>
                  </a:extLst>
                </a:gridCol>
                <a:gridCol w="969818">
                  <a:extLst>
                    <a:ext uri="{9D8B030D-6E8A-4147-A177-3AD203B41FA5}">
                      <a16:colId xmlns:a16="http://schemas.microsoft.com/office/drawing/2014/main" val="1943807607"/>
                    </a:ext>
                  </a:extLst>
                </a:gridCol>
                <a:gridCol w="969818">
                  <a:extLst>
                    <a:ext uri="{9D8B030D-6E8A-4147-A177-3AD203B41FA5}">
                      <a16:colId xmlns:a16="http://schemas.microsoft.com/office/drawing/2014/main" val="3290620688"/>
                    </a:ext>
                  </a:extLst>
                </a:gridCol>
                <a:gridCol w="969818">
                  <a:extLst>
                    <a:ext uri="{9D8B030D-6E8A-4147-A177-3AD203B41FA5}">
                      <a16:colId xmlns:a16="http://schemas.microsoft.com/office/drawing/2014/main" val="854034735"/>
                    </a:ext>
                  </a:extLst>
                </a:gridCol>
                <a:gridCol w="969818">
                  <a:extLst>
                    <a:ext uri="{9D8B030D-6E8A-4147-A177-3AD203B41FA5}">
                      <a16:colId xmlns:a16="http://schemas.microsoft.com/office/drawing/2014/main" val="1581163607"/>
                    </a:ext>
                  </a:extLst>
                </a:gridCol>
              </a:tblGrid>
              <a:tr h="61244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ALU_control</a:t>
                      </a:r>
                      <a:endParaRPr lang="en-US" sz="2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 gridSpan="10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ALU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94525733"/>
                  </a:ext>
                </a:extLst>
              </a:tr>
              <a:tr h="4567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ADD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BC2E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SUB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BC2E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SLL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BC2E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SLT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BC2E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sng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SLTU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BC2E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XOR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BC2E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SRL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BC2E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SRA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BC2E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OR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BC2E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AND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BC2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6431460"/>
                  </a:ext>
                </a:extLst>
              </a:tr>
              <a:tr h="4567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[4]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tc gridSpan="10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6997346"/>
                  </a:ext>
                </a:extLst>
              </a:tr>
              <a:tr h="4567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[3]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tc gridSpan="10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Funct7[5]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5797199"/>
                  </a:ext>
                </a:extLst>
              </a:tr>
              <a:tr h="4567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[2:0]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tc gridSpan="10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funct3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94229480"/>
                  </a:ext>
                </a:extLst>
              </a:tr>
              <a:tr h="4567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ALU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 + b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 - b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a&lt;&lt;b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(a&lt;b)?1:0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sng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(a&lt;b)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 ^ b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a&gt;&gt;b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a&gt;&gt;&gt;b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 | b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 &amp; b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70980"/>
                  </a:ext>
                </a:extLst>
              </a:tr>
              <a:tr h="4567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signed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2800" b="0" i="0" u="sng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1972612"/>
                  </a:ext>
                </a:extLst>
              </a:tr>
              <a:tr h="4567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b_taken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tc gridSpan="10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5402867"/>
                  </a:ext>
                </a:extLst>
              </a:tr>
            </a:tbl>
          </a:graphicData>
        </a:graphic>
      </p:graphicFrame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059FEADA-D583-B6E7-00C3-7B6CAE8699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8902211"/>
              </p:ext>
            </p:extLst>
          </p:nvPr>
        </p:nvGraphicFramePr>
        <p:xfrm>
          <a:off x="1600200" y="12651520"/>
          <a:ext cx="21031199" cy="57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04457">
                  <a:extLst>
                    <a:ext uri="{9D8B030D-6E8A-4147-A177-3AD203B41FA5}">
                      <a16:colId xmlns:a16="http://schemas.microsoft.com/office/drawing/2014/main" val="4932414"/>
                    </a:ext>
                  </a:extLst>
                </a:gridCol>
                <a:gridCol w="3004457">
                  <a:extLst>
                    <a:ext uri="{9D8B030D-6E8A-4147-A177-3AD203B41FA5}">
                      <a16:colId xmlns:a16="http://schemas.microsoft.com/office/drawing/2014/main" val="4289750731"/>
                    </a:ext>
                  </a:extLst>
                </a:gridCol>
                <a:gridCol w="3004457">
                  <a:extLst>
                    <a:ext uri="{9D8B030D-6E8A-4147-A177-3AD203B41FA5}">
                      <a16:colId xmlns:a16="http://schemas.microsoft.com/office/drawing/2014/main" val="3362934941"/>
                    </a:ext>
                  </a:extLst>
                </a:gridCol>
                <a:gridCol w="3004457">
                  <a:extLst>
                    <a:ext uri="{9D8B030D-6E8A-4147-A177-3AD203B41FA5}">
                      <a16:colId xmlns:a16="http://schemas.microsoft.com/office/drawing/2014/main" val="1722059348"/>
                    </a:ext>
                  </a:extLst>
                </a:gridCol>
                <a:gridCol w="3004457">
                  <a:extLst>
                    <a:ext uri="{9D8B030D-6E8A-4147-A177-3AD203B41FA5}">
                      <a16:colId xmlns:a16="http://schemas.microsoft.com/office/drawing/2014/main" val="798401735"/>
                    </a:ext>
                  </a:extLst>
                </a:gridCol>
                <a:gridCol w="3004457">
                  <a:extLst>
                    <a:ext uri="{9D8B030D-6E8A-4147-A177-3AD203B41FA5}">
                      <a16:colId xmlns:a16="http://schemas.microsoft.com/office/drawing/2014/main" val="989108138"/>
                    </a:ext>
                  </a:extLst>
                </a:gridCol>
                <a:gridCol w="3004457">
                  <a:extLst>
                    <a:ext uri="{9D8B030D-6E8A-4147-A177-3AD203B41FA5}">
                      <a16:colId xmlns:a16="http://schemas.microsoft.com/office/drawing/2014/main" val="1997596351"/>
                    </a:ext>
                  </a:extLst>
                </a:gridCol>
              </a:tblGrid>
              <a:tr h="42903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3200" dirty="0">
                          <a:solidFill>
                            <a:schemeClr val="tx1"/>
                          </a:solidFill>
                        </a:rPr>
                        <a:t>명령어</a:t>
                      </a:r>
                      <a:r>
                        <a:rPr lang="en-US" altLang="ko-KR" sz="3200" dirty="0">
                          <a:solidFill>
                            <a:schemeClr val="tx1"/>
                          </a:solidFill>
                        </a:rPr>
                        <a:t>:</a:t>
                      </a:r>
                      <a:endParaRPr lang="ko-KR" altLang="en-US" sz="3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Funct7</a:t>
                      </a:r>
                      <a:endParaRPr lang="ko-KR" altLang="en-US" sz="3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Rs2</a:t>
                      </a:r>
                      <a:endParaRPr lang="ko-KR" altLang="en-US" sz="3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Rs1</a:t>
                      </a:r>
                      <a:endParaRPr lang="ko-KR" altLang="en-US" sz="3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Funct3</a:t>
                      </a:r>
                      <a:endParaRPr lang="ko-KR" altLang="en-US" sz="3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Rd</a:t>
                      </a:r>
                      <a:endParaRPr lang="ko-KR" altLang="en-US" sz="3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OPCODE(R-type)</a:t>
                      </a:r>
                      <a:endParaRPr lang="ko-KR" altLang="en-US" sz="3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59916584"/>
                  </a:ext>
                </a:extLst>
              </a:tr>
            </a:tbl>
          </a:graphicData>
        </a:graphic>
      </p:graphicFrame>
      <p:pic>
        <p:nvPicPr>
          <p:cNvPr id="23" name="그림 22">
            <a:extLst>
              <a:ext uri="{FF2B5EF4-FFF2-40B4-BE49-F238E27FC236}">
                <a16:creationId xmlns:a16="http://schemas.microsoft.com/office/drawing/2014/main" id="{6CE6CE41-3729-AFD9-B01B-50AE7199EA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5570" y="2373399"/>
            <a:ext cx="11335407" cy="9775068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0A737FC9-8037-3381-B978-EEE8BA014393}"/>
              </a:ext>
            </a:extLst>
          </p:cNvPr>
          <p:cNvSpPr txBox="1"/>
          <p:nvPr/>
        </p:nvSpPr>
        <p:spPr>
          <a:xfrm>
            <a:off x="162339" y="2163444"/>
            <a:ext cx="540026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400" dirty="0"/>
              <a:t>• </a:t>
            </a:r>
            <a:r>
              <a:rPr lang="en-US" altLang="ko-KR" sz="4400" dirty="0" err="1"/>
              <a:t>DataFolw</a:t>
            </a:r>
            <a:endParaRPr lang="en-US" altLang="ko-KR" sz="44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0D7A64B-721A-8123-7DD7-0E24BB7A94EF}"/>
              </a:ext>
            </a:extLst>
          </p:cNvPr>
          <p:cNvSpPr txBox="1"/>
          <p:nvPr/>
        </p:nvSpPr>
        <p:spPr>
          <a:xfrm>
            <a:off x="4550770" y="4061925"/>
            <a:ext cx="6096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highlight>
                  <a:srgbClr val="FFFF00"/>
                </a:highlight>
              </a:rPr>
              <a:t>1</a:t>
            </a:r>
            <a:endParaRPr lang="ko-KR" altLang="en-US" sz="4400" b="1" dirty="0">
              <a:highlight>
                <a:srgbClr val="FFFF00"/>
              </a:highlight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24AE626-53D8-2B78-3606-93FB05B20207}"/>
              </a:ext>
            </a:extLst>
          </p:cNvPr>
          <p:cNvSpPr txBox="1"/>
          <p:nvPr/>
        </p:nvSpPr>
        <p:spPr>
          <a:xfrm>
            <a:off x="9275170" y="4214325"/>
            <a:ext cx="6096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highlight>
                  <a:srgbClr val="FFFF00"/>
                </a:highlight>
              </a:rPr>
              <a:t>0</a:t>
            </a:r>
            <a:endParaRPr lang="ko-KR" altLang="en-US" sz="4400" b="1" dirty="0">
              <a:highlight>
                <a:srgbClr val="FFFF00"/>
              </a:highlight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459ED4A-A1DD-434E-DBDC-A941FF4208A7}"/>
              </a:ext>
            </a:extLst>
          </p:cNvPr>
          <p:cNvSpPr txBox="1"/>
          <p:nvPr/>
        </p:nvSpPr>
        <p:spPr>
          <a:xfrm>
            <a:off x="2493370" y="9014925"/>
            <a:ext cx="141284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highlight>
                  <a:srgbClr val="FFFF00"/>
                </a:highlight>
              </a:rPr>
              <a:t>PC+4</a:t>
            </a:r>
            <a:endParaRPr lang="ko-KR" altLang="en-US" sz="4400" b="1" dirty="0">
              <a:highlight>
                <a:srgbClr val="FFFF00"/>
              </a:highlight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555479C-42FF-DCB2-E3C6-532C6EA3ECB5}"/>
              </a:ext>
            </a:extLst>
          </p:cNvPr>
          <p:cNvSpPr txBox="1"/>
          <p:nvPr/>
        </p:nvSpPr>
        <p:spPr>
          <a:xfrm>
            <a:off x="6455770" y="4214324"/>
            <a:ext cx="25146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 err="1">
                <a:highlight>
                  <a:srgbClr val="FFFF00"/>
                </a:highlight>
              </a:rPr>
              <a:t>alu_ctrl</a:t>
            </a:r>
            <a:endParaRPr lang="ko-KR" altLang="en-US" sz="4400" b="1" dirty="0">
              <a:highlight>
                <a:srgbClr val="FFFF00"/>
              </a:highlight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698BE81-376E-6BC4-E300-8C79E8F96699}"/>
              </a:ext>
            </a:extLst>
          </p:cNvPr>
          <p:cNvSpPr txBox="1"/>
          <p:nvPr/>
        </p:nvSpPr>
        <p:spPr>
          <a:xfrm>
            <a:off x="5160370" y="7871925"/>
            <a:ext cx="293535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 err="1">
                <a:highlight>
                  <a:srgbClr val="FFFF00"/>
                </a:highlight>
              </a:rPr>
              <a:t>ALU_result</a:t>
            </a:r>
            <a:endParaRPr lang="ko-KR" altLang="en-US" sz="4400" b="1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6437424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04D4B4-3BDD-5163-45F2-C5DDDE54F3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8">
            <a:extLst>
              <a:ext uri="{FF2B5EF4-FFF2-40B4-BE49-F238E27FC236}">
                <a16:creationId xmlns:a16="http://schemas.microsoft.com/office/drawing/2014/main" id="{3A3CFF72-9813-95AF-788F-4CACAD7E570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 flipV="1">
            <a:off x="1045570" y="2059190"/>
            <a:ext cx="21814430" cy="45719"/>
          </a:xfrm>
          <a:prstGeom prst="rect">
            <a:avLst/>
          </a:prstGeom>
        </p:spPr>
      </p:pic>
      <p:sp>
        <p:nvSpPr>
          <p:cNvPr id="4" name="TextBox 10">
            <a:extLst>
              <a:ext uri="{FF2B5EF4-FFF2-40B4-BE49-F238E27FC236}">
                <a16:creationId xmlns:a16="http://schemas.microsoft.com/office/drawing/2014/main" id="{5D153261-CD7F-F8C4-0967-39AFEA60EB6D}"/>
              </a:ext>
            </a:extLst>
          </p:cNvPr>
          <p:cNvSpPr txBox="1"/>
          <p:nvPr/>
        </p:nvSpPr>
        <p:spPr>
          <a:xfrm>
            <a:off x="1295400" y="609600"/>
            <a:ext cx="18897600" cy="1181100"/>
          </a:xfrm>
          <a:prstGeom prst="rect">
            <a:avLst/>
          </a:prstGeom>
        </p:spPr>
        <p:txBody>
          <a:bodyPr lIns="0" tIns="0" rIns="0" bIns="0" anchor="t"/>
          <a:lstStyle/>
          <a:p>
            <a:pPr lvl="0">
              <a:lnSpc>
                <a:spcPct val="116199"/>
              </a:lnSpc>
              <a:defRPr/>
            </a:pPr>
            <a:r>
              <a:rPr lang="en-US" altLang="ko-KR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3. Type </a:t>
            </a:r>
            <a:r>
              <a:rPr lang="ko-KR" altLang="en-US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별 동작 방식</a:t>
            </a:r>
            <a:r>
              <a:rPr lang="en-US" altLang="ko-KR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(R-type)</a:t>
            </a:r>
            <a:r>
              <a:rPr lang="ko-KR" altLang="en-US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3E00253-4AD0-D923-B17A-FD265419E2B9}"/>
              </a:ext>
            </a:extLst>
          </p:cNvPr>
          <p:cNvSpPr txBox="1"/>
          <p:nvPr/>
        </p:nvSpPr>
        <p:spPr>
          <a:xfrm>
            <a:off x="304800" y="2209800"/>
            <a:ext cx="562886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400" dirty="0"/>
              <a:t>• simulation (</a:t>
            </a:r>
            <a:r>
              <a:rPr lang="ko-KR" altLang="en-US" sz="4400" dirty="0"/>
              <a:t>시나리오</a:t>
            </a:r>
            <a:r>
              <a:rPr lang="en-US" altLang="ko-KR" sz="4400" dirty="0"/>
              <a:t>)</a:t>
            </a:r>
          </a:p>
        </p:txBody>
      </p:sp>
      <p:graphicFrame>
        <p:nvGraphicFramePr>
          <p:cNvPr id="5" name="Table 12">
            <a:extLst>
              <a:ext uri="{FF2B5EF4-FFF2-40B4-BE49-F238E27FC236}">
                <a16:creationId xmlns:a16="http://schemas.microsoft.com/office/drawing/2014/main" id="{E70F591B-AAF6-1DDE-EBA0-0C87D716A0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3923445"/>
              </p:ext>
            </p:extLst>
          </p:nvPr>
        </p:nvGraphicFramePr>
        <p:xfrm>
          <a:off x="1514128" y="4572000"/>
          <a:ext cx="11668471" cy="5056883"/>
        </p:xfrm>
        <a:graphic>
          <a:graphicData uri="http://schemas.openxmlformats.org/drawingml/2006/table">
            <a:tbl>
              <a:tblPr/>
              <a:tblGrid>
                <a:gridCol w="1000472">
                  <a:extLst>
                    <a:ext uri="{9D8B030D-6E8A-4147-A177-3AD203B41FA5}">
                      <a16:colId xmlns:a16="http://schemas.microsoft.com/office/drawing/2014/main" val="1091418196"/>
                    </a:ext>
                  </a:extLst>
                </a:gridCol>
                <a:gridCol w="2895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15250058"/>
                    </a:ext>
                  </a:extLst>
                </a:gridCol>
                <a:gridCol w="4267199">
                  <a:extLst>
                    <a:ext uri="{9D8B030D-6E8A-4147-A177-3AD203B41FA5}">
                      <a16:colId xmlns:a16="http://schemas.microsoft.com/office/drawing/2014/main" val="439004716"/>
                    </a:ext>
                  </a:extLst>
                </a:gridCol>
              </a:tblGrid>
              <a:tr h="249904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endParaRPr lang="en-US" sz="3600" dirty="0"/>
                    </a:p>
                  </a:txBody>
                  <a:tcPr marL="25400" marR="25400" marT="65362" marB="65362" anchor="ctr">
                    <a:lnL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 gridSpan="2"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>
                          <a:solidFill>
                            <a:schemeClr val="bg1"/>
                          </a:solidFill>
                        </a:rPr>
                        <a:t>Register File</a:t>
                      </a:r>
                    </a:p>
                  </a:txBody>
                  <a:tcPr marL="25400" marR="25400" marT="65362" marB="65362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endParaRPr lang="en-US" sz="3600" dirty="0">
                        <a:solidFill>
                          <a:schemeClr val="bg1"/>
                        </a:solidFill>
                      </a:endParaRPr>
                    </a:p>
                  </a:txBody>
                  <a:tcPr marL="25400" marR="25400" marT="65362" marB="65362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25666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 err="1"/>
                        <a:t>addr</a:t>
                      </a:r>
                      <a:endParaRPr lang="en-US" sz="3600" dirty="0"/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name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value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ko-KR" altLang="en-US" sz="3600" dirty="0"/>
                        <a:t>용도</a:t>
                      </a:r>
                      <a:endParaRPr lang="en-US" sz="3600" dirty="0"/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668405"/>
                  </a:ext>
                </a:extLst>
              </a:tr>
              <a:tr h="825666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1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rs1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-100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Full case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95149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2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rs2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200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 err="1"/>
                        <a:t>Shfit</a:t>
                      </a:r>
                      <a:r>
                        <a:rPr lang="en-US" sz="3600" dirty="0"/>
                        <a:t> </a:t>
                      </a:r>
                      <a:r>
                        <a:rPr lang="ko-KR" altLang="en-US" sz="3600" dirty="0"/>
                        <a:t>연산을 제외한 나머지 </a:t>
                      </a:r>
                      <a:r>
                        <a:rPr lang="en-US" altLang="ko-KR" sz="3600" dirty="0"/>
                        <a:t>case</a:t>
                      </a:r>
                      <a:endParaRPr lang="en-US" sz="3600" dirty="0"/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14909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3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 err="1"/>
                        <a:t>Shfit</a:t>
                      </a:r>
                      <a:endParaRPr lang="en-US" sz="3600" dirty="0"/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2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SLL,SLT,SLTU,SRL,SRA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14909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4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 err="1"/>
                        <a:t>rd</a:t>
                      </a:r>
                      <a:endParaRPr lang="en-US" sz="3600" dirty="0"/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 err="1"/>
                        <a:t>Alu_result</a:t>
                      </a:r>
                      <a:endParaRPr lang="en-US" sz="3600" dirty="0"/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endParaRPr lang="en-US" sz="3600" dirty="0"/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4450522"/>
                  </a:ext>
                </a:extLst>
              </a:tr>
            </a:tbl>
          </a:graphicData>
        </a:graphic>
      </p:graphicFrame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B590D39D-82AA-E852-2800-F0FCC825C8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5597242"/>
              </p:ext>
            </p:extLst>
          </p:nvPr>
        </p:nvGraphicFramePr>
        <p:xfrm>
          <a:off x="1600200" y="12651520"/>
          <a:ext cx="21031199" cy="57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04457">
                  <a:extLst>
                    <a:ext uri="{9D8B030D-6E8A-4147-A177-3AD203B41FA5}">
                      <a16:colId xmlns:a16="http://schemas.microsoft.com/office/drawing/2014/main" val="4932414"/>
                    </a:ext>
                  </a:extLst>
                </a:gridCol>
                <a:gridCol w="3004457">
                  <a:extLst>
                    <a:ext uri="{9D8B030D-6E8A-4147-A177-3AD203B41FA5}">
                      <a16:colId xmlns:a16="http://schemas.microsoft.com/office/drawing/2014/main" val="4289750731"/>
                    </a:ext>
                  </a:extLst>
                </a:gridCol>
                <a:gridCol w="3004457">
                  <a:extLst>
                    <a:ext uri="{9D8B030D-6E8A-4147-A177-3AD203B41FA5}">
                      <a16:colId xmlns:a16="http://schemas.microsoft.com/office/drawing/2014/main" val="3362934941"/>
                    </a:ext>
                  </a:extLst>
                </a:gridCol>
                <a:gridCol w="3004457">
                  <a:extLst>
                    <a:ext uri="{9D8B030D-6E8A-4147-A177-3AD203B41FA5}">
                      <a16:colId xmlns:a16="http://schemas.microsoft.com/office/drawing/2014/main" val="1722059348"/>
                    </a:ext>
                  </a:extLst>
                </a:gridCol>
                <a:gridCol w="3004457">
                  <a:extLst>
                    <a:ext uri="{9D8B030D-6E8A-4147-A177-3AD203B41FA5}">
                      <a16:colId xmlns:a16="http://schemas.microsoft.com/office/drawing/2014/main" val="798401735"/>
                    </a:ext>
                  </a:extLst>
                </a:gridCol>
                <a:gridCol w="3004457">
                  <a:extLst>
                    <a:ext uri="{9D8B030D-6E8A-4147-A177-3AD203B41FA5}">
                      <a16:colId xmlns:a16="http://schemas.microsoft.com/office/drawing/2014/main" val="989108138"/>
                    </a:ext>
                  </a:extLst>
                </a:gridCol>
                <a:gridCol w="3004457">
                  <a:extLst>
                    <a:ext uri="{9D8B030D-6E8A-4147-A177-3AD203B41FA5}">
                      <a16:colId xmlns:a16="http://schemas.microsoft.com/office/drawing/2014/main" val="1997596351"/>
                    </a:ext>
                  </a:extLst>
                </a:gridCol>
              </a:tblGrid>
              <a:tr h="42903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3200" dirty="0">
                          <a:solidFill>
                            <a:schemeClr val="tx1"/>
                          </a:solidFill>
                        </a:rPr>
                        <a:t>명령어</a:t>
                      </a:r>
                      <a:r>
                        <a:rPr lang="en-US" altLang="ko-KR" sz="3200" dirty="0">
                          <a:solidFill>
                            <a:schemeClr val="tx1"/>
                          </a:solidFill>
                        </a:rPr>
                        <a:t>:</a:t>
                      </a:r>
                      <a:endParaRPr lang="ko-KR" altLang="en-US" sz="3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Funct7</a:t>
                      </a:r>
                      <a:endParaRPr lang="ko-KR" altLang="en-US" sz="3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Rs2</a:t>
                      </a:r>
                      <a:endParaRPr lang="ko-KR" altLang="en-US" sz="3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Rs1</a:t>
                      </a:r>
                      <a:endParaRPr lang="ko-KR" altLang="en-US" sz="3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Funct3</a:t>
                      </a:r>
                      <a:endParaRPr lang="ko-KR" altLang="en-US" sz="3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Rd</a:t>
                      </a:r>
                      <a:endParaRPr lang="ko-KR" altLang="en-US" sz="3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OPCODE(R-type)</a:t>
                      </a:r>
                      <a:endParaRPr lang="ko-KR" altLang="en-US" sz="3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59916584"/>
                  </a:ext>
                </a:extLst>
              </a:tr>
            </a:tbl>
          </a:graphicData>
        </a:graphic>
      </p:graphicFrame>
      <p:graphicFrame>
        <p:nvGraphicFramePr>
          <p:cNvPr id="9" name="Table 12">
            <a:extLst>
              <a:ext uri="{FF2B5EF4-FFF2-40B4-BE49-F238E27FC236}">
                <a16:creationId xmlns:a16="http://schemas.microsoft.com/office/drawing/2014/main" id="{AFDCC336-5ECB-56CD-F9AF-57A9FE7F2A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1622105"/>
              </p:ext>
            </p:extLst>
          </p:nvPr>
        </p:nvGraphicFramePr>
        <p:xfrm>
          <a:off x="14249400" y="2577594"/>
          <a:ext cx="6553201" cy="9601239"/>
        </p:xfrm>
        <a:graphic>
          <a:graphicData uri="http://schemas.openxmlformats.org/drawingml/2006/table">
            <a:tbl>
              <a:tblPr/>
              <a:tblGrid>
                <a:gridCol w="990373">
                  <a:extLst>
                    <a:ext uri="{9D8B030D-6E8A-4147-A177-3AD203B41FA5}">
                      <a16:colId xmlns:a16="http://schemas.microsoft.com/office/drawing/2014/main" val="1091418196"/>
                    </a:ext>
                  </a:extLst>
                </a:gridCol>
                <a:gridCol w="28958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67001">
                  <a:extLst>
                    <a:ext uri="{9D8B030D-6E8A-4147-A177-3AD203B41FA5}">
                      <a16:colId xmlns:a16="http://schemas.microsoft.com/office/drawing/2014/main" val="1825833440"/>
                    </a:ext>
                  </a:extLst>
                </a:gridCol>
              </a:tblGrid>
              <a:tr h="537190">
                <a:tc gridSpan="3"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>
                          <a:solidFill>
                            <a:schemeClr val="bg1"/>
                          </a:solidFill>
                        </a:rPr>
                        <a:t>INSTR MEM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25666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PC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INSRT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Result(DEX)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5701013"/>
                  </a:ext>
                </a:extLst>
              </a:tr>
              <a:tr h="825666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0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ADD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altLang="ko-KR" sz="3600" dirty="0"/>
                        <a:t>100</a:t>
                      </a:r>
                      <a:endParaRPr lang="en-US" sz="3600" dirty="0"/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95149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1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SUB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altLang="ko-KR" sz="3600" dirty="0"/>
                        <a:t>-300</a:t>
                      </a:r>
                      <a:endParaRPr lang="en-US" sz="3600" dirty="0"/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14909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2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SLL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altLang="ko-KR" sz="3600" dirty="0"/>
                        <a:t>-400</a:t>
                      </a:r>
                      <a:endParaRPr lang="en-US" sz="3600" dirty="0"/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14909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3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SLT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1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4450522"/>
                  </a:ext>
                </a:extLst>
              </a:tr>
              <a:tr h="814909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4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SLTU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0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1244518"/>
                  </a:ext>
                </a:extLst>
              </a:tr>
              <a:tr h="814909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5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XOR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-172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3088552"/>
                  </a:ext>
                </a:extLst>
              </a:tr>
              <a:tr h="814909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6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SRL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1073741799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5307821"/>
                  </a:ext>
                </a:extLst>
              </a:tr>
              <a:tr h="814909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7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SRA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-25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4467206"/>
                  </a:ext>
                </a:extLst>
              </a:tr>
              <a:tr h="814909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8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OR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-36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670819"/>
                  </a:ext>
                </a:extLst>
              </a:tr>
              <a:tr h="814909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9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AND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136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227147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367240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CB9464-7257-0B5C-7BFE-5859BB0E97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8">
            <a:extLst>
              <a:ext uri="{FF2B5EF4-FFF2-40B4-BE49-F238E27FC236}">
                <a16:creationId xmlns:a16="http://schemas.microsoft.com/office/drawing/2014/main" id="{1CD6EA68-95A9-AE14-C91A-71D4A40A454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 flipV="1">
            <a:off x="1045570" y="2059190"/>
            <a:ext cx="21814430" cy="45719"/>
          </a:xfrm>
          <a:prstGeom prst="rect">
            <a:avLst/>
          </a:prstGeom>
        </p:spPr>
      </p:pic>
      <p:sp>
        <p:nvSpPr>
          <p:cNvPr id="4" name="TextBox 10">
            <a:extLst>
              <a:ext uri="{FF2B5EF4-FFF2-40B4-BE49-F238E27FC236}">
                <a16:creationId xmlns:a16="http://schemas.microsoft.com/office/drawing/2014/main" id="{05EFB367-53FE-0694-A953-9CB6C8873EE9}"/>
              </a:ext>
            </a:extLst>
          </p:cNvPr>
          <p:cNvSpPr txBox="1"/>
          <p:nvPr/>
        </p:nvSpPr>
        <p:spPr>
          <a:xfrm>
            <a:off x="1295400" y="609600"/>
            <a:ext cx="18897600" cy="1181100"/>
          </a:xfrm>
          <a:prstGeom prst="rect">
            <a:avLst/>
          </a:prstGeom>
        </p:spPr>
        <p:txBody>
          <a:bodyPr lIns="0" tIns="0" rIns="0" bIns="0" anchor="t"/>
          <a:lstStyle/>
          <a:p>
            <a:pPr lvl="0">
              <a:lnSpc>
                <a:spcPct val="116199"/>
              </a:lnSpc>
              <a:defRPr/>
            </a:pPr>
            <a:r>
              <a:rPr lang="en-US" altLang="ko-KR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3. Type </a:t>
            </a:r>
            <a:r>
              <a:rPr lang="ko-KR" altLang="en-US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별 동작 방식</a:t>
            </a:r>
            <a:r>
              <a:rPr lang="en-US" altLang="ko-KR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(R-type)</a:t>
            </a:r>
            <a:r>
              <a:rPr lang="ko-KR" altLang="en-US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DCD561B-4868-3AD0-8B90-22811FB1AA6D}"/>
              </a:ext>
            </a:extLst>
          </p:cNvPr>
          <p:cNvSpPr txBox="1"/>
          <p:nvPr/>
        </p:nvSpPr>
        <p:spPr>
          <a:xfrm>
            <a:off x="457200" y="2131413"/>
            <a:ext cx="65532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400" dirty="0"/>
              <a:t>• simulation(Control Unit)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20D1FAD9-505A-8A19-ABB5-0A1CE59286B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8672"/>
          <a:stretch>
            <a:fillRect/>
          </a:stretch>
        </p:blipFill>
        <p:spPr>
          <a:xfrm>
            <a:off x="304800" y="3031299"/>
            <a:ext cx="17571236" cy="1005843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612E85C-5862-7721-FAC3-D648FCC278F6}"/>
              </a:ext>
            </a:extLst>
          </p:cNvPr>
          <p:cNvSpPr txBox="1"/>
          <p:nvPr/>
        </p:nvSpPr>
        <p:spPr>
          <a:xfrm>
            <a:off x="2255036" y="7718491"/>
            <a:ext cx="11049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000" dirty="0">
                <a:highlight>
                  <a:srgbClr val="FFFF00"/>
                </a:highlight>
              </a:rPr>
              <a:t>1</a:t>
            </a:r>
            <a:endParaRPr lang="ko-KR" altLang="en-US" sz="4000" dirty="0">
              <a:highlight>
                <a:srgbClr val="FFFF00"/>
              </a:highlight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D124162-B411-EC58-E253-59C5593478ED}"/>
              </a:ext>
            </a:extLst>
          </p:cNvPr>
          <p:cNvSpPr txBox="1"/>
          <p:nvPr/>
        </p:nvSpPr>
        <p:spPr>
          <a:xfrm>
            <a:off x="2591285" y="8362016"/>
            <a:ext cx="35052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dirty="0">
                <a:highlight>
                  <a:srgbClr val="FFFF00"/>
                </a:highlight>
              </a:rPr>
              <a:t>0</a:t>
            </a:r>
            <a:endParaRPr lang="ko-KR" altLang="en-US" sz="4000" dirty="0">
              <a:highlight>
                <a:srgbClr val="FFFF00"/>
              </a:highlight>
            </a:endParaRPr>
          </a:p>
        </p:txBody>
      </p:sp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13DB60F5-6575-97F5-80E9-AFCCA6E515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5257793"/>
              </p:ext>
            </p:extLst>
          </p:nvPr>
        </p:nvGraphicFramePr>
        <p:xfrm>
          <a:off x="18068136" y="4427575"/>
          <a:ext cx="5974080" cy="7229235"/>
        </p:xfrm>
        <a:graphic>
          <a:graphicData uri="http://schemas.openxmlformats.org/drawingml/2006/table">
            <a:tbl>
              <a:tblPr/>
              <a:tblGrid>
                <a:gridCol w="2987040">
                  <a:extLst>
                    <a:ext uri="{9D8B030D-6E8A-4147-A177-3AD203B41FA5}">
                      <a16:colId xmlns:a16="http://schemas.microsoft.com/office/drawing/2014/main" val="1179993107"/>
                    </a:ext>
                  </a:extLst>
                </a:gridCol>
                <a:gridCol w="2987040">
                  <a:extLst>
                    <a:ext uri="{9D8B030D-6E8A-4147-A177-3AD203B41FA5}">
                      <a16:colId xmlns:a16="http://schemas.microsoft.com/office/drawing/2014/main" val="2920872321"/>
                    </a:ext>
                  </a:extLst>
                </a:gridCol>
              </a:tblGrid>
              <a:tr h="67354">
                <a:tc grid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control_unit</a:t>
                      </a:r>
                      <a:endParaRPr lang="en-US" sz="2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900010"/>
                  </a:ext>
                </a:extLst>
              </a:tr>
              <a:tr h="67929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OUTPUT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R_type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8405201"/>
                  </a:ext>
                </a:extLst>
              </a:tr>
              <a:tr h="67929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rf_we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0027568"/>
                  </a:ext>
                </a:extLst>
              </a:tr>
              <a:tr h="67929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alu_src_sel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0614113"/>
                  </a:ext>
                </a:extLst>
              </a:tr>
              <a:tr h="67929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rf_wd_sel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1551745"/>
                  </a:ext>
                </a:extLst>
              </a:tr>
              <a:tr h="67929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alu_control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0,funct7[5],funct3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8347769"/>
                  </a:ext>
                </a:extLst>
              </a:tr>
              <a:tr h="67929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[</a:t>
                      </a:r>
                      <a:r>
                        <a:rPr lang="en-US" sz="2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b_taken,ALU_ctrl</a:t>
                      </a:r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]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649411082"/>
                  </a:ext>
                </a:extLst>
              </a:tr>
              <a:tr h="67929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b_src_sel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3204033"/>
                  </a:ext>
                </a:extLst>
              </a:tr>
              <a:tr h="67929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branch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926610"/>
                  </a:ext>
                </a:extLst>
              </a:tr>
              <a:tr h="67929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o_funct3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1358313"/>
                  </a:ext>
                </a:extLst>
              </a:tr>
              <a:tr h="67929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dwe</a:t>
                      </a:r>
                      <a:endParaRPr lang="en-US" sz="2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6820225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0B3726F6-95F1-A516-8AED-1DE8CD189DA3}"/>
              </a:ext>
            </a:extLst>
          </p:cNvPr>
          <p:cNvSpPr txBox="1"/>
          <p:nvPr/>
        </p:nvSpPr>
        <p:spPr>
          <a:xfrm>
            <a:off x="2419231" y="10438540"/>
            <a:ext cx="7772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000" dirty="0">
                <a:highlight>
                  <a:srgbClr val="FFFF00"/>
                </a:highlight>
              </a:rPr>
              <a:t>0</a:t>
            </a:r>
            <a:endParaRPr lang="ko-KR" altLang="en-US" sz="4000" dirty="0">
              <a:highlight>
                <a:srgbClr val="FFFF00"/>
              </a:highlight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EA460568-098E-3DE1-04C5-894DC6194831}"/>
              </a:ext>
            </a:extLst>
          </p:cNvPr>
          <p:cNvSpPr/>
          <p:nvPr/>
        </p:nvSpPr>
        <p:spPr>
          <a:xfrm>
            <a:off x="18068136" y="5484610"/>
            <a:ext cx="5927875" cy="2075383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CE2204E7-C5E0-E0F3-D5D7-294E763130B3}"/>
              </a:ext>
            </a:extLst>
          </p:cNvPr>
          <p:cNvSpPr/>
          <p:nvPr/>
        </p:nvSpPr>
        <p:spPr>
          <a:xfrm>
            <a:off x="18099344" y="8915400"/>
            <a:ext cx="5927875" cy="2673757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F797E78-6C65-2BC5-3E25-5EA926D25AC5}"/>
              </a:ext>
            </a:extLst>
          </p:cNvPr>
          <p:cNvSpPr txBox="1"/>
          <p:nvPr/>
        </p:nvSpPr>
        <p:spPr>
          <a:xfrm>
            <a:off x="2423162" y="11030351"/>
            <a:ext cx="7772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000" dirty="0">
                <a:highlight>
                  <a:srgbClr val="FFFF00"/>
                </a:highlight>
              </a:rPr>
              <a:t>0</a:t>
            </a:r>
            <a:endParaRPr lang="ko-KR" altLang="en-US" sz="4000" dirty="0">
              <a:highlight>
                <a:srgbClr val="FFFF00"/>
              </a:highlight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F4262E5-2167-C29F-E2AF-738E203D9F6B}"/>
              </a:ext>
            </a:extLst>
          </p:cNvPr>
          <p:cNvSpPr txBox="1"/>
          <p:nvPr/>
        </p:nvSpPr>
        <p:spPr>
          <a:xfrm>
            <a:off x="2430449" y="11639894"/>
            <a:ext cx="7772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000" dirty="0">
                <a:highlight>
                  <a:srgbClr val="FFFF00"/>
                </a:highlight>
              </a:rPr>
              <a:t>0</a:t>
            </a:r>
            <a:endParaRPr lang="ko-KR" altLang="en-US" sz="4000" dirty="0">
              <a:highlight>
                <a:srgbClr val="FFFF00"/>
              </a:highlight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99F51D1-C5AD-CD1A-144E-7E10E1BB15A9}"/>
              </a:ext>
            </a:extLst>
          </p:cNvPr>
          <p:cNvSpPr txBox="1"/>
          <p:nvPr/>
        </p:nvSpPr>
        <p:spPr>
          <a:xfrm>
            <a:off x="2418129" y="12242242"/>
            <a:ext cx="7772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000" dirty="0">
                <a:highlight>
                  <a:srgbClr val="FFFF00"/>
                </a:highlight>
              </a:rPr>
              <a:t>0</a:t>
            </a:r>
            <a:endParaRPr lang="ko-KR" altLang="en-US" sz="4000" dirty="0">
              <a:highlight>
                <a:srgbClr val="FFFF00"/>
              </a:highlight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BD9112D-3D19-3595-4CFD-CB002301D40F}"/>
              </a:ext>
            </a:extLst>
          </p:cNvPr>
          <p:cNvSpPr txBox="1"/>
          <p:nvPr/>
        </p:nvSpPr>
        <p:spPr>
          <a:xfrm>
            <a:off x="2591285" y="9020731"/>
            <a:ext cx="35052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dirty="0">
                <a:highlight>
                  <a:srgbClr val="FFFF00"/>
                </a:highlight>
              </a:rPr>
              <a:t>0</a:t>
            </a:r>
            <a:endParaRPr lang="ko-KR" altLang="en-US" sz="4000" dirty="0">
              <a:highlight>
                <a:srgbClr val="FFFF00"/>
              </a:highlight>
            </a:endParaRPr>
          </a:p>
        </p:txBody>
      </p: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04E41016-CD48-CBE9-FD18-D656D6DD8507}"/>
              </a:ext>
            </a:extLst>
          </p:cNvPr>
          <p:cNvCxnSpPr>
            <a:cxnSpLocks/>
            <a:stCxn id="25" idx="1"/>
          </p:cNvCxnSpPr>
          <p:nvPr/>
        </p:nvCxnSpPr>
        <p:spPr>
          <a:xfrm flipH="1">
            <a:off x="3359936" y="6522302"/>
            <a:ext cx="14708200" cy="2240698"/>
          </a:xfrm>
          <a:prstGeom prst="straightConnector1">
            <a:avLst/>
          </a:prstGeom>
          <a:ln w="76200">
            <a:solidFill>
              <a:srgbClr val="FFFF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53736163-E1B4-0CDF-4646-2664648D12EA}"/>
              </a:ext>
            </a:extLst>
          </p:cNvPr>
          <p:cNvCxnSpPr>
            <a:cxnSpLocks/>
          </p:cNvCxnSpPr>
          <p:nvPr/>
        </p:nvCxnSpPr>
        <p:spPr>
          <a:xfrm flipH="1">
            <a:off x="3399787" y="10288828"/>
            <a:ext cx="14699557" cy="1295759"/>
          </a:xfrm>
          <a:prstGeom prst="straightConnector1">
            <a:avLst/>
          </a:prstGeom>
          <a:ln w="76200">
            <a:solidFill>
              <a:srgbClr val="FFFF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직사각형 80">
            <a:extLst>
              <a:ext uri="{FF2B5EF4-FFF2-40B4-BE49-F238E27FC236}">
                <a16:creationId xmlns:a16="http://schemas.microsoft.com/office/drawing/2014/main" id="{AF8B2376-BAB5-5627-27E0-3CF5CC5DF92E}"/>
              </a:ext>
            </a:extLst>
          </p:cNvPr>
          <p:cNvSpPr/>
          <p:nvPr/>
        </p:nvSpPr>
        <p:spPr>
          <a:xfrm>
            <a:off x="533401" y="7718491"/>
            <a:ext cx="1721636" cy="5231637"/>
          </a:xfrm>
          <a:prstGeom prst="rect">
            <a:avLst/>
          </a:prstGeom>
          <a:noFill/>
          <a:ln w="762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80388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EDC503-E8D7-262C-3D21-693845AEC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8">
            <a:extLst>
              <a:ext uri="{FF2B5EF4-FFF2-40B4-BE49-F238E27FC236}">
                <a16:creationId xmlns:a16="http://schemas.microsoft.com/office/drawing/2014/main" id="{55EEEED0-C4BD-FD54-35C7-A100D95A297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 flipV="1">
            <a:off x="1045570" y="2059190"/>
            <a:ext cx="21814430" cy="45719"/>
          </a:xfrm>
          <a:prstGeom prst="rect">
            <a:avLst/>
          </a:prstGeom>
        </p:spPr>
      </p:pic>
      <p:sp>
        <p:nvSpPr>
          <p:cNvPr id="4" name="TextBox 10">
            <a:extLst>
              <a:ext uri="{FF2B5EF4-FFF2-40B4-BE49-F238E27FC236}">
                <a16:creationId xmlns:a16="http://schemas.microsoft.com/office/drawing/2014/main" id="{107F1F7B-D8CA-D396-7D1A-E2A8EB8E40BD}"/>
              </a:ext>
            </a:extLst>
          </p:cNvPr>
          <p:cNvSpPr txBox="1"/>
          <p:nvPr/>
        </p:nvSpPr>
        <p:spPr>
          <a:xfrm>
            <a:off x="1295400" y="609600"/>
            <a:ext cx="18897600" cy="1181100"/>
          </a:xfrm>
          <a:prstGeom prst="rect">
            <a:avLst/>
          </a:prstGeom>
        </p:spPr>
        <p:txBody>
          <a:bodyPr lIns="0" tIns="0" rIns="0" bIns="0" anchor="t"/>
          <a:lstStyle/>
          <a:p>
            <a:pPr lvl="0">
              <a:lnSpc>
                <a:spcPct val="116199"/>
              </a:lnSpc>
              <a:defRPr/>
            </a:pPr>
            <a:r>
              <a:rPr lang="en-US" altLang="ko-KR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3. Type </a:t>
            </a:r>
            <a:r>
              <a:rPr lang="ko-KR" altLang="en-US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별 동작 방식</a:t>
            </a:r>
            <a:r>
              <a:rPr lang="en-US" altLang="ko-KR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(R-type)</a:t>
            </a:r>
            <a:r>
              <a:rPr lang="ko-KR" altLang="en-US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78AF4CA-679B-5C9C-42F3-D7DA26D28B86}"/>
              </a:ext>
            </a:extLst>
          </p:cNvPr>
          <p:cNvSpPr txBox="1"/>
          <p:nvPr/>
        </p:nvSpPr>
        <p:spPr>
          <a:xfrm>
            <a:off x="457200" y="2131413"/>
            <a:ext cx="65532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400" dirty="0"/>
              <a:t>• simulation(Control Unit)</a:t>
            </a:r>
          </a:p>
        </p:txBody>
      </p:sp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7F36D4EC-8869-169C-2A60-BA4ADF516D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235812"/>
              </p:ext>
            </p:extLst>
          </p:nvPr>
        </p:nvGraphicFramePr>
        <p:xfrm>
          <a:off x="18211800" y="426712"/>
          <a:ext cx="5974080" cy="2474142"/>
        </p:xfrm>
        <a:graphic>
          <a:graphicData uri="http://schemas.openxmlformats.org/drawingml/2006/table">
            <a:tbl>
              <a:tblPr/>
              <a:tblGrid>
                <a:gridCol w="2987040">
                  <a:extLst>
                    <a:ext uri="{9D8B030D-6E8A-4147-A177-3AD203B41FA5}">
                      <a16:colId xmlns:a16="http://schemas.microsoft.com/office/drawing/2014/main" val="1179993107"/>
                    </a:ext>
                  </a:extLst>
                </a:gridCol>
                <a:gridCol w="2987040">
                  <a:extLst>
                    <a:ext uri="{9D8B030D-6E8A-4147-A177-3AD203B41FA5}">
                      <a16:colId xmlns:a16="http://schemas.microsoft.com/office/drawing/2014/main" val="2920872321"/>
                    </a:ext>
                  </a:extLst>
                </a:gridCol>
              </a:tblGrid>
              <a:tr h="67354">
                <a:tc grid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control_unit</a:t>
                      </a:r>
                      <a:endParaRPr lang="en-US" sz="2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900010"/>
                  </a:ext>
                </a:extLst>
              </a:tr>
              <a:tr h="67929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OUTPUT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R_type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8405201"/>
                  </a:ext>
                </a:extLst>
              </a:tr>
              <a:tr h="67929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alu_control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0,funct7[5],funct3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8347769"/>
                  </a:ext>
                </a:extLst>
              </a:tr>
              <a:tr h="67929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[</a:t>
                      </a:r>
                      <a:r>
                        <a:rPr lang="en-US" sz="2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b_taken,ALU_ctrl</a:t>
                      </a:r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]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649411082"/>
                  </a:ext>
                </a:extLst>
              </a:tr>
            </a:tbl>
          </a:graphicData>
        </a:graphic>
      </p:graphicFrame>
      <p:pic>
        <p:nvPicPr>
          <p:cNvPr id="8" name="그림 7">
            <a:extLst>
              <a:ext uri="{FF2B5EF4-FFF2-40B4-BE49-F238E27FC236}">
                <a16:creationId xmlns:a16="http://schemas.microsoft.com/office/drawing/2014/main" id="{222EAFD0-0A7A-AF2A-D54C-96B1A4AA01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90" y="3505200"/>
            <a:ext cx="24360809" cy="82296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8036D28-B148-2782-5DE2-21F0947CA01E}"/>
              </a:ext>
            </a:extLst>
          </p:cNvPr>
          <p:cNvSpPr txBox="1"/>
          <p:nvPr/>
        </p:nvSpPr>
        <p:spPr>
          <a:xfrm>
            <a:off x="12210220" y="3482009"/>
            <a:ext cx="34329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400" b="1" dirty="0">
                <a:solidFill>
                  <a:schemeClr val="bg1"/>
                </a:solidFill>
              </a:rPr>
              <a:t>Funct7 [5] = 1</a:t>
            </a:r>
            <a:endParaRPr lang="ko-KR" altLang="en-US" sz="4400" b="1" dirty="0">
              <a:solidFill>
                <a:schemeClr val="bg1"/>
              </a:solidFill>
            </a:endParaRPr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B6144864-9B59-A1CC-CB75-03C9C0971669}"/>
              </a:ext>
            </a:extLst>
          </p:cNvPr>
          <p:cNvCxnSpPr>
            <a:cxnSpLocks/>
          </p:cNvCxnSpPr>
          <p:nvPr/>
        </p:nvCxnSpPr>
        <p:spPr>
          <a:xfrm flipH="1">
            <a:off x="8382000" y="4274641"/>
            <a:ext cx="4876800" cy="1592759"/>
          </a:xfrm>
          <a:prstGeom prst="straightConnector1">
            <a:avLst/>
          </a:prstGeom>
          <a:ln w="762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217AA597-DA1B-5506-47B4-4AA1050812B8}"/>
              </a:ext>
            </a:extLst>
          </p:cNvPr>
          <p:cNvCxnSpPr>
            <a:cxnSpLocks/>
          </p:cNvCxnSpPr>
          <p:nvPr/>
        </p:nvCxnSpPr>
        <p:spPr>
          <a:xfrm>
            <a:off x="14401800" y="4274641"/>
            <a:ext cx="4267200" cy="1592759"/>
          </a:xfrm>
          <a:prstGeom prst="straightConnector1">
            <a:avLst/>
          </a:prstGeom>
          <a:ln w="762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DD7B7868-A605-1D1A-B44A-EA97A6D457A1}"/>
              </a:ext>
            </a:extLst>
          </p:cNvPr>
          <p:cNvSpPr/>
          <p:nvPr/>
        </p:nvSpPr>
        <p:spPr>
          <a:xfrm>
            <a:off x="4412299" y="5890591"/>
            <a:ext cx="19438301" cy="1401171"/>
          </a:xfrm>
          <a:prstGeom prst="rect">
            <a:avLst/>
          </a:prstGeom>
          <a:noFill/>
          <a:ln w="762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A7CF8C07-6875-D1FE-0306-F43D180657F5}"/>
              </a:ext>
            </a:extLst>
          </p:cNvPr>
          <p:cNvSpPr/>
          <p:nvPr/>
        </p:nvSpPr>
        <p:spPr>
          <a:xfrm>
            <a:off x="4682649" y="10255639"/>
            <a:ext cx="19438301" cy="1401171"/>
          </a:xfrm>
          <a:prstGeom prst="rect">
            <a:avLst/>
          </a:prstGeom>
          <a:noFill/>
          <a:ln w="762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8134B196-5AD0-6A79-F802-E62226BD835F}"/>
              </a:ext>
            </a:extLst>
          </p:cNvPr>
          <p:cNvCxnSpPr>
            <a:cxnSpLocks/>
          </p:cNvCxnSpPr>
          <p:nvPr/>
        </p:nvCxnSpPr>
        <p:spPr>
          <a:xfrm>
            <a:off x="11734800" y="7291762"/>
            <a:ext cx="0" cy="2963877"/>
          </a:xfrm>
          <a:prstGeom prst="straightConnector1">
            <a:avLst/>
          </a:prstGeom>
          <a:ln w="76200">
            <a:solidFill>
              <a:srgbClr val="FFFF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43905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079871-27B5-CCDF-D69B-DCCDEC428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8">
            <a:extLst>
              <a:ext uri="{FF2B5EF4-FFF2-40B4-BE49-F238E27FC236}">
                <a16:creationId xmlns:a16="http://schemas.microsoft.com/office/drawing/2014/main" id="{6A6C3379-69C2-DA50-8CC0-3F565235504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 flipV="1">
            <a:off x="1045570" y="2059190"/>
            <a:ext cx="21814430" cy="45719"/>
          </a:xfrm>
          <a:prstGeom prst="rect">
            <a:avLst/>
          </a:prstGeom>
        </p:spPr>
      </p:pic>
      <p:sp>
        <p:nvSpPr>
          <p:cNvPr id="4" name="TextBox 10">
            <a:extLst>
              <a:ext uri="{FF2B5EF4-FFF2-40B4-BE49-F238E27FC236}">
                <a16:creationId xmlns:a16="http://schemas.microsoft.com/office/drawing/2014/main" id="{1C8F6C53-50BD-2C9A-92A2-FBB670B2BEA4}"/>
              </a:ext>
            </a:extLst>
          </p:cNvPr>
          <p:cNvSpPr txBox="1"/>
          <p:nvPr/>
        </p:nvSpPr>
        <p:spPr>
          <a:xfrm>
            <a:off x="1295400" y="609600"/>
            <a:ext cx="18897600" cy="1181100"/>
          </a:xfrm>
          <a:prstGeom prst="rect">
            <a:avLst/>
          </a:prstGeom>
        </p:spPr>
        <p:txBody>
          <a:bodyPr lIns="0" tIns="0" rIns="0" bIns="0" anchor="t"/>
          <a:lstStyle/>
          <a:p>
            <a:pPr lvl="0">
              <a:lnSpc>
                <a:spcPct val="116199"/>
              </a:lnSpc>
              <a:defRPr/>
            </a:pPr>
            <a:r>
              <a:rPr lang="en-US" altLang="ko-KR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3. Type </a:t>
            </a:r>
            <a:r>
              <a:rPr lang="ko-KR" altLang="en-US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별 동작 방식</a:t>
            </a:r>
            <a:r>
              <a:rPr lang="en-US" altLang="ko-KR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(R-type)</a:t>
            </a:r>
            <a:r>
              <a:rPr lang="ko-KR" altLang="en-US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942A7B-8767-3048-2979-F4DB86784C16}"/>
              </a:ext>
            </a:extLst>
          </p:cNvPr>
          <p:cNvSpPr txBox="1"/>
          <p:nvPr/>
        </p:nvSpPr>
        <p:spPr>
          <a:xfrm>
            <a:off x="457200" y="2131413"/>
            <a:ext cx="540026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400" dirty="0"/>
              <a:t>• simulation(ALU)</a:t>
            </a:r>
          </a:p>
        </p:txBody>
      </p:sp>
      <p:graphicFrame>
        <p:nvGraphicFramePr>
          <p:cNvPr id="5" name="Table 12">
            <a:extLst>
              <a:ext uri="{FF2B5EF4-FFF2-40B4-BE49-F238E27FC236}">
                <a16:creationId xmlns:a16="http://schemas.microsoft.com/office/drawing/2014/main" id="{A2EC640C-D363-666F-2645-409DA4606549}"/>
              </a:ext>
            </a:extLst>
          </p:cNvPr>
          <p:cNvGraphicFramePr>
            <a:graphicFrameLocks noGrp="1"/>
          </p:cNvGraphicFramePr>
          <p:nvPr/>
        </p:nvGraphicFramePr>
        <p:xfrm>
          <a:off x="1078395" y="3276600"/>
          <a:ext cx="4157870" cy="9601239"/>
        </p:xfrm>
        <a:graphic>
          <a:graphicData uri="http://schemas.openxmlformats.org/drawingml/2006/table">
            <a:tbl>
              <a:tblPr/>
              <a:tblGrid>
                <a:gridCol w="546427">
                  <a:extLst>
                    <a:ext uri="{9D8B030D-6E8A-4147-A177-3AD203B41FA5}">
                      <a16:colId xmlns:a16="http://schemas.microsoft.com/office/drawing/2014/main" val="1091418196"/>
                    </a:ext>
                  </a:extLst>
                </a:gridCol>
                <a:gridCol w="1175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35918">
                  <a:extLst>
                    <a:ext uri="{9D8B030D-6E8A-4147-A177-3AD203B41FA5}">
                      <a16:colId xmlns:a16="http://schemas.microsoft.com/office/drawing/2014/main" val="1825833440"/>
                    </a:ext>
                  </a:extLst>
                </a:gridCol>
              </a:tblGrid>
              <a:tr h="516613">
                <a:tc gridSpan="3"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>
                          <a:solidFill>
                            <a:schemeClr val="bg1"/>
                          </a:solidFill>
                        </a:rPr>
                        <a:t>INSTR MEM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25666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PC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INSRT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Result(DEX)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5701013"/>
                  </a:ext>
                </a:extLst>
              </a:tr>
              <a:tr h="825666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0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ADD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altLang="ko-KR" sz="3600" dirty="0"/>
                        <a:t>100</a:t>
                      </a:r>
                      <a:endParaRPr lang="en-US" sz="3600" dirty="0"/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95149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1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SUB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altLang="ko-KR" sz="3600" dirty="0"/>
                        <a:t>-300</a:t>
                      </a:r>
                      <a:endParaRPr lang="en-US" sz="3600" dirty="0"/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14909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2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SLL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altLang="ko-KR" sz="3600" dirty="0"/>
                        <a:t>-400</a:t>
                      </a:r>
                      <a:endParaRPr lang="en-US" sz="3600" dirty="0"/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14909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3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SLT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1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4450522"/>
                  </a:ext>
                </a:extLst>
              </a:tr>
              <a:tr h="814909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4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SLTU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0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1244518"/>
                  </a:ext>
                </a:extLst>
              </a:tr>
              <a:tr h="814909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5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XOR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-172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3088552"/>
                  </a:ext>
                </a:extLst>
              </a:tr>
              <a:tr h="814909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6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SRL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1073741799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5307821"/>
                  </a:ext>
                </a:extLst>
              </a:tr>
              <a:tr h="814909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7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SRA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-25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4467206"/>
                  </a:ext>
                </a:extLst>
              </a:tr>
              <a:tr h="814909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8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OR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-36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670819"/>
                  </a:ext>
                </a:extLst>
              </a:tr>
              <a:tr h="814909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9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AND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136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2271470"/>
                  </a:ext>
                </a:extLst>
              </a:tr>
            </a:tbl>
          </a:graphicData>
        </a:graphic>
      </p:graphicFrame>
      <p:pic>
        <p:nvPicPr>
          <p:cNvPr id="9" name="그림 8">
            <a:extLst>
              <a:ext uri="{FF2B5EF4-FFF2-40B4-BE49-F238E27FC236}">
                <a16:creationId xmlns:a16="http://schemas.microsoft.com/office/drawing/2014/main" id="{3777D550-FFB5-6213-0C8E-D995104EFA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8053" y="2919354"/>
            <a:ext cx="16860881" cy="5029201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B1ECD107-B84D-996F-1450-7D9D857540CA}"/>
              </a:ext>
            </a:extLst>
          </p:cNvPr>
          <p:cNvSpPr/>
          <p:nvPr/>
        </p:nvSpPr>
        <p:spPr>
          <a:xfrm>
            <a:off x="10578547" y="5404384"/>
            <a:ext cx="1726096" cy="1401171"/>
          </a:xfrm>
          <a:prstGeom prst="rect">
            <a:avLst/>
          </a:prstGeom>
          <a:noFill/>
          <a:ln w="762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1CC96B16-335D-89BB-E13B-468D5A8ACF48}"/>
              </a:ext>
            </a:extLst>
          </p:cNvPr>
          <p:cNvSpPr/>
          <p:nvPr/>
        </p:nvSpPr>
        <p:spPr>
          <a:xfrm>
            <a:off x="13525445" y="5433954"/>
            <a:ext cx="1726096" cy="1401171"/>
          </a:xfrm>
          <a:prstGeom prst="rect">
            <a:avLst/>
          </a:prstGeom>
          <a:noFill/>
          <a:ln w="762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381CEFA-DE7E-4975-383D-8E8B8198F5D1}"/>
              </a:ext>
            </a:extLst>
          </p:cNvPr>
          <p:cNvSpPr/>
          <p:nvPr/>
        </p:nvSpPr>
        <p:spPr>
          <a:xfrm>
            <a:off x="18399441" y="5453585"/>
            <a:ext cx="1726096" cy="1401171"/>
          </a:xfrm>
          <a:prstGeom prst="rect">
            <a:avLst/>
          </a:prstGeom>
          <a:noFill/>
          <a:ln w="762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2EB1CAE-58E2-AFE2-0F8F-43E2999CA554}"/>
              </a:ext>
            </a:extLst>
          </p:cNvPr>
          <p:cNvSpPr/>
          <p:nvPr/>
        </p:nvSpPr>
        <p:spPr>
          <a:xfrm>
            <a:off x="15986582" y="5453585"/>
            <a:ext cx="1726096" cy="1401171"/>
          </a:xfrm>
          <a:prstGeom prst="rect">
            <a:avLst/>
          </a:prstGeom>
          <a:noFill/>
          <a:ln w="762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3A5D5D82-2C33-92D6-877B-53EC1F269AFA}"/>
              </a:ext>
            </a:extLst>
          </p:cNvPr>
          <p:cNvSpPr/>
          <p:nvPr/>
        </p:nvSpPr>
        <p:spPr>
          <a:xfrm>
            <a:off x="20812300" y="5417142"/>
            <a:ext cx="1726096" cy="1401171"/>
          </a:xfrm>
          <a:prstGeom prst="rect">
            <a:avLst/>
          </a:prstGeom>
          <a:noFill/>
          <a:ln w="762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D30E15E5-3E90-3FB3-B640-030A8F31F5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71305" y="8763000"/>
            <a:ext cx="16860881" cy="4495800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8ADE7F42-F479-541A-1DDA-A3981E475159}"/>
              </a:ext>
            </a:extLst>
          </p:cNvPr>
          <p:cNvSpPr txBox="1"/>
          <p:nvPr/>
        </p:nvSpPr>
        <p:spPr>
          <a:xfrm>
            <a:off x="6004435" y="2144665"/>
            <a:ext cx="540026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dirty="0"/>
              <a:t>- ADD ~ SLTU</a:t>
            </a:r>
            <a:endParaRPr lang="ko-KR" altLang="en-US" sz="40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C2B189C-38F1-DEFC-E5F9-ADCF633C7687}"/>
              </a:ext>
            </a:extLst>
          </p:cNvPr>
          <p:cNvSpPr txBox="1"/>
          <p:nvPr/>
        </p:nvSpPr>
        <p:spPr>
          <a:xfrm>
            <a:off x="5958053" y="8008460"/>
            <a:ext cx="540026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dirty="0"/>
              <a:t>- XOR ~ AND</a:t>
            </a:r>
            <a:endParaRPr lang="ko-KR" altLang="en-US" sz="4000" dirty="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7F933543-2EBA-B688-F917-9305A1D5EA6E}"/>
              </a:ext>
            </a:extLst>
          </p:cNvPr>
          <p:cNvSpPr/>
          <p:nvPr/>
        </p:nvSpPr>
        <p:spPr>
          <a:xfrm>
            <a:off x="1045570" y="4752999"/>
            <a:ext cx="4190694" cy="4010001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E094D141-25DC-E347-2BB8-EF5D7E2265F9}"/>
              </a:ext>
            </a:extLst>
          </p:cNvPr>
          <p:cNvSpPr/>
          <p:nvPr/>
        </p:nvSpPr>
        <p:spPr>
          <a:xfrm>
            <a:off x="1045570" y="8795541"/>
            <a:ext cx="4190694" cy="4082298"/>
          </a:xfrm>
          <a:prstGeom prst="rect">
            <a:avLst/>
          </a:prstGeom>
          <a:noFill/>
          <a:ln w="762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4641C12B-5B8F-05B4-E39D-2D9BEFA83B32}"/>
              </a:ext>
            </a:extLst>
          </p:cNvPr>
          <p:cNvCxnSpPr>
            <a:cxnSpLocks/>
            <a:endCxn id="9" idx="1"/>
          </p:cNvCxnSpPr>
          <p:nvPr/>
        </p:nvCxnSpPr>
        <p:spPr>
          <a:xfrm flipV="1">
            <a:off x="5236264" y="5433955"/>
            <a:ext cx="721789" cy="738245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DF6A911A-6D43-8110-7AD6-10BBAEDDCB96}"/>
              </a:ext>
            </a:extLst>
          </p:cNvPr>
          <p:cNvCxnSpPr>
            <a:cxnSpLocks/>
            <a:endCxn id="21" idx="1"/>
          </p:cNvCxnSpPr>
          <p:nvPr/>
        </p:nvCxnSpPr>
        <p:spPr>
          <a:xfrm>
            <a:off x="5269393" y="10844155"/>
            <a:ext cx="701912" cy="166745"/>
          </a:xfrm>
          <a:prstGeom prst="straightConnector1">
            <a:avLst/>
          </a:prstGeom>
          <a:ln w="762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56AC4AEF-A197-FA74-15CC-74983CD8FF7D}"/>
              </a:ext>
            </a:extLst>
          </p:cNvPr>
          <p:cNvSpPr/>
          <p:nvPr/>
        </p:nvSpPr>
        <p:spPr>
          <a:xfrm>
            <a:off x="13258799" y="11010900"/>
            <a:ext cx="1142945" cy="1401171"/>
          </a:xfrm>
          <a:prstGeom prst="rect">
            <a:avLst/>
          </a:prstGeom>
          <a:noFill/>
          <a:ln w="762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07561440-776C-533D-B80D-CCEBBA28B3A9}"/>
              </a:ext>
            </a:extLst>
          </p:cNvPr>
          <p:cNvSpPr/>
          <p:nvPr/>
        </p:nvSpPr>
        <p:spPr>
          <a:xfrm>
            <a:off x="15103656" y="11027465"/>
            <a:ext cx="1431744" cy="1401171"/>
          </a:xfrm>
          <a:prstGeom prst="rect">
            <a:avLst/>
          </a:prstGeom>
          <a:noFill/>
          <a:ln w="762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7D7FE6D6-E1DD-88F9-B775-CABDC50A4F30}"/>
              </a:ext>
            </a:extLst>
          </p:cNvPr>
          <p:cNvSpPr/>
          <p:nvPr/>
        </p:nvSpPr>
        <p:spPr>
          <a:xfrm>
            <a:off x="17449800" y="11000961"/>
            <a:ext cx="978750" cy="1401171"/>
          </a:xfrm>
          <a:prstGeom prst="rect">
            <a:avLst/>
          </a:prstGeom>
          <a:noFill/>
          <a:ln w="762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6F4816DC-6279-0E48-C434-0B1129631C3E}"/>
              </a:ext>
            </a:extLst>
          </p:cNvPr>
          <p:cNvSpPr/>
          <p:nvPr/>
        </p:nvSpPr>
        <p:spPr>
          <a:xfrm>
            <a:off x="19431000" y="11027465"/>
            <a:ext cx="978750" cy="1401171"/>
          </a:xfrm>
          <a:prstGeom prst="rect">
            <a:avLst/>
          </a:prstGeom>
          <a:noFill/>
          <a:ln w="762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59066807-5EA9-51B7-B47A-F7F08945935B}"/>
              </a:ext>
            </a:extLst>
          </p:cNvPr>
          <p:cNvSpPr/>
          <p:nvPr/>
        </p:nvSpPr>
        <p:spPr>
          <a:xfrm>
            <a:off x="21397191" y="11010899"/>
            <a:ext cx="978750" cy="1401171"/>
          </a:xfrm>
          <a:prstGeom prst="rect">
            <a:avLst/>
          </a:prstGeom>
          <a:noFill/>
          <a:ln w="762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34217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3B20DA-B81F-E709-67AE-1A419CC71F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8">
            <a:extLst>
              <a:ext uri="{FF2B5EF4-FFF2-40B4-BE49-F238E27FC236}">
                <a16:creationId xmlns:a16="http://schemas.microsoft.com/office/drawing/2014/main" id="{2DCE1584-4F81-4BD3-CD0C-3AC3010A6CD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 flipV="1">
            <a:off x="1045570" y="2059190"/>
            <a:ext cx="21814430" cy="45719"/>
          </a:xfrm>
          <a:prstGeom prst="rect">
            <a:avLst/>
          </a:prstGeom>
        </p:spPr>
      </p:pic>
      <p:sp>
        <p:nvSpPr>
          <p:cNvPr id="4" name="TextBox 10">
            <a:extLst>
              <a:ext uri="{FF2B5EF4-FFF2-40B4-BE49-F238E27FC236}">
                <a16:creationId xmlns:a16="http://schemas.microsoft.com/office/drawing/2014/main" id="{F61239A2-B871-9A9D-23BC-D133E39176DF}"/>
              </a:ext>
            </a:extLst>
          </p:cNvPr>
          <p:cNvSpPr txBox="1"/>
          <p:nvPr/>
        </p:nvSpPr>
        <p:spPr>
          <a:xfrm>
            <a:off x="1295400" y="609600"/>
            <a:ext cx="18897600" cy="1181100"/>
          </a:xfrm>
          <a:prstGeom prst="rect">
            <a:avLst/>
          </a:prstGeom>
        </p:spPr>
        <p:txBody>
          <a:bodyPr lIns="0" tIns="0" rIns="0" bIns="0" anchor="t"/>
          <a:lstStyle/>
          <a:p>
            <a:pPr lvl="0">
              <a:lnSpc>
                <a:spcPct val="116199"/>
              </a:lnSpc>
              <a:defRPr/>
            </a:pPr>
            <a:r>
              <a:rPr lang="en-US" altLang="ko-KR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3. Type </a:t>
            </a:r>
            <a:r>
              <a:rPr lang="ko-KR" altLang="en-US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별 동작 방식</a:t>
            </a:r>
            <a:r>
              <a:rPr lang="en-US" altLang="ko-KR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(R-type)</a:t>
            </a:r>
            <a:r>
              <a:rPr lang="ko-KR" altLang="en-US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6AF3956-7514-67A3-6148-1DC684D2CD24}"/>
              </a:ext>
            </a:extLst>
          </p:cNvPr>
          <p:cNvSpPr txBox="1"/>
          <p:nvPr/>
        </p:nvSpPr>
        <p:spPr>
          <a:xfrm>
            <a:off x="457200" y="2131413"/>
            <a:ext cx="74676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400" dirty="0"/>
              <a:t>• simulation(INSTR mem &amp; PC)</a:t>
            </a: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39E902D8-C3DD-C5C4-6265-3967B5E498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016" y="2940610"/>
            <a:ext cx="23515983" cy="10394390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69C91A02-05BC-F698-AE2D-B5E5CE1395D8}"/>
              </a:ext>
            </a:extLst>
          </p:cNvPr>
          <p:cNvSpPr/>
          <p:nvPr/>
        </p:nvSpPr>
        <p:spPr>
          <a:xfrm>
            <a:off x="3505202" y="5562600"/>
            <a:ext cx="20497798" cy="639171"/>
          </a:xfrm>
          <a:prstGeom prst="rect">
            <a:avLst/>
          </a:prstGeom>
          <a:noFill/>
          <a:ln w="762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D0C187AD-2166-4A58-1D2B-1AE110423D08}"/>
              </a:ext>
            </a:extLst>
          </p:cNvPr>
          <p:cNvSpPr/>
          <p:nvPr/>
        </p:nvSpPr>
        <p:spPr>
          <a:xfrm>
            <a:off x="3505201" y="11643558"/>
            <a:ext cx="20497797" cy="639171"/>
          </a:xfrm>
          <a:prstGeom prst="rect">
            <a:avLst/>
          </a:prstGeom>
          <a:noFill/>
          <a:ln w="762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3612641-56BD-F782-265F-16C4834EF1DF}"/>
              </a:ext>
            </a:extLst>
          </p:cNvPr>
          <p:cNvSpPr txBox="1"/>
          <p:nvPr/>
        </p:nvSpPr>
        <p:spPr>
          <a:xfrm>
            <a:off x="8686800" y="8823761"/>
            <a:ext cx="2667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000" dirty="0">
                <a:highlight>
                  <a:srgbClr val="FFFF00"/>
                </a:highlight>
              </a:rPr>
              <a:t>PC</a:t>
            </a:r>
            <a:r>
              <a:rPr lang="ko-KR" altLang="en-US" sz="4000" dirty="0">
                <a:highlight>
                  <a:srgbClr val="FFFF00"/>
                </a:highlight>
              </a:rPr>
              <a:t> </a:t>
            </a:r>
            <a:r>
              <a:rPr lang="en-US" altLang="ko-KR" sz="4000" dirty="0">
                <a:highlight>
                  <a:srgbClr val="FFFF00"/>
                </a:highlight>
              </a:rPr>
              <a:t>+ 4 </a:t>
            </a:r>
            <a:r>
              <a:rPr lang="ko-KR" altLang="en-US" sz="4000" dirty="0">
                <a:highlight>
                  <a:srgbClr val="FFFF00"/>
                </a:highlight>
              </a:rPr>
              <a:t>출력</a:t>
            </a:r>
          </a:p>
        </p:txBody>
      </p: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2F58339B-05FD-D962-55C3-5D77AF4F34FD}"/>
              </a:ext>
            </a:extLst>
          </p:cNvPr>
          <p:cNvCxnSpPr>
            <a:cxnSpLocks/>
            <a:stCxn id="18" idx="2"/>
          </p:cNvCxnSpPr>
          <p:nvPr/>
        </p:nvCxnSpPr>
        <p:spPr>
          <a:xfrm>
            <a:off x="10020300" y="9531647"/>
            <a:ext cx="0" cy="2111911"/>
          </a:xfrm>
          <a:prstGeom prst="straightConnector1">
            <a:avLst/>
          </a:prstGeom>
          <a:ln w="76200">
            <a:solidFill>
              <a:srgbClr val="FFFF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B5B1A816-8418-723B-06E7-72EF5E97EDFA}"/>
              </a:ext>
            </a:extLst>
          </p:cNvPr>
          <p:cNvSpPr txBox="1"/>
          <p:nvPr/>
        </p:nvSpPr>
        <p:spPr>
          <a:xfrm>
            <a:off x="12420600" y="3862877"/>
            <a:ext cx="3429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000" dirty="0">
                <a:highlight>
                  <a:srgbClr val="FFFF00"/>
                </a:highlight>
              </a:rPr>
              <a:t>+</a:t>
            </a:r>
            <a:r>
              <a:rPr lang="ko-KR" altLang="en-US" sz="4000" dirty="0">
                <a:highlight>
                  <a:srgbClr val="FFFF00"/>
                </a:highlight>
              </a:rPr>
              <a:t> </a:t>
            </a:r>
            <a:r>
              <a:rPr lang="en-US" altLang="ko-KR" sz="4000" dirty="0">
                <a:highlight>
                  <a:srgbClr val="FFFF00"/>
                </a:highlight>
              </a:rPr>
              <a:t>1</a:t>
            </a:r>
            <a:r>
              <a:rPr lang="ko-KR" altLang="en-US" sz="4000" dirty="0">
                <a:highlight>
                  <a:srgbClr val="FFFF00"/>
                </a:highlight>
              </a:rPr>
              <a:t>씩 증가</a:t>
            </a: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129D83E6-D9D8-35EB-0B75-1B3B7E35FEF6}"/>
              </a:ext>
            </a:extLst>
          </p:cNvPr>
          <p:cNvCxnSpPr>
            <a:cxnSpLocks/>
          </p:cNvCxnSpPr>
          <p:nvPr/>
        </p:nvCxnSpPr>
        <p:spPr>
          <a:xfrm flipH="1">
            <a:off x="14135100" y="4506644"/>
            <a:ext cx="114300" cy="1055956"/>
          </a:xfrm>
          <a:prstGeom prst="straightConnector1">
            <a:avLst/>
          </a:prstGeom>
          <a:ln w="76200">
            <a:solidFill>
              <a:srgbClr val="FFFF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84BEA26F-585B-8B8F-27A3-618D5C42C674}"/>
              </a:ext>
            </a:extLst>
          </p:cNvPr>
          <p:cNvCxnSpPr>
            <a:cxnSpLocks/>
          </p:cNvCxnSpPr>
          <p:nvPr/>
        </p:nvCxnSpPr>
        <p:spPr>
          <a:xfrm flipV="1">
            <a:off x="13868400" y="6201771"/>
            <a:ext cx="115127" cy="5441787"/>
          </a:xfrm>
          <a:prstGeom prst="straightConnector1">
            <a:avLst/>
          </a:prstGeom>
          <a:ln w="76200">
            <a:solidFill>
              <a:srgbClr val="FFFF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7CBF0334-481B-C63B-9C3C-B77C774C7410}"/>
              </a:ext>
            </a:extLst>
          </p:cNvPr>
          <p:cNvSpPr txBox="1"/>
          <p:nvPr/>
        </p:nvSpPr>
        <p:spPr>
          <a:xfrm>
            <a:off x="14178998" y="8651360"/>
            <a:ext cx="231912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000" dirty="0" err="1">
                <a:highlight>
                  <a:srgbClr val="FFFF00"/>
                </a:highlight>
              </a:rPr>
              <a:t>O_pc</a:t>
            </a:r>
            <a:r>
              <a:rPr lang="en-US" altLang="ko-KR" sz="4000" dirty="0">
                <a:highlight>
                  <a:srgbClr val="FFFF00"/>
                </a:highlight>
              </a:rPr>
              <a:t>[31:2]</a:t>
            </a:r>
            <a:endParaRPr lang="ko-KR" altLang="en-US" sz="4000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3223609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2D91B-C3CB-0025-989B-2F4A13DD0F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>
            <a:extLst>
              <a:ext uri="{FF2B5EF4-FFF2-40B4-BE49-F238E27FC236}">
                <a16:creationId xmlns:a16="http://schemas.microsoft.com/office/drawing/2014/main" id="{A9AFBA95-237C-6AF1-1BE2-1E43950AE0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570" y="2373399"/>
            <a:ext cx="11302334" cy="9728161"/>
          </a:xfrm>
          <a:prstGeom prst="rect">
            <a:avLst/>
          </a:prstGeom>
        </p:spPr>
      </p:pic>
      <p:pic>
        <p:nvPicPr>
          <p:cNvPr id="3" name="Picture 8">
            <a:extLst>
              <a:ext uri="{FF2B5EF4-FFF2-40B4-BE49-F238E27FC236}">
                <a16:creationId xmlns:a16="http://schemas.microsoft.com/office/drawing/2014/main" id="{8EDCEE28-8E74-CC3D-B982-C27881ADB0C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 flipV="1">
            <a:off x="1045570" y="2059190"/>
            <a:ext cx="21814430" cy="45719"/>
          </a:xfrm>
          <a:prstGeom prst="rect">
            <a:avLst/>
          </a:prstGeom>
        </p:spPr>
      </p:pic>
      <p:sp>
        <p:nvSpPr>
          <p:cNvPr id="4" name="TextBox 10">
            <a:extLst>
              <a:ext uri="{FF2B5EF4-FFF2-40B4-BE49-F238E27FC236}">
                <a16:creationId xmlns:a16="http://schemas.microsoft.com/office/drawing/2014/main" id="{57F36D86-FB21-5573-82A5-755A82FD2F88}"/>
              </a:ext>
            </a:extLst>
          </p:cNvPr>
          <p:cNvSpPr txBox="1"/>
          <p:nvPr/>
        </p:nvSpPr>
        <p:spPr>
          <a:xfrm>
            <a:off x="1295400" y="609600"/>
            <a:ext cx="18897600" cy="1181100"/>
          </a:xfrm>
          <a:prstGeom prst="rect">
            <a:avLst/>
          </a:prstGeom>
        </p:spPr>
        <p:txBody>
          <a:bodyPr lIns="0" tIns="0" rIns="0" bIns="0" anchor="t"/>
          <a:lstStyle/>
          <a:p>
            <a:pPr lvl="0">
              <a:lnSpc>
                <a:spcPct val="116199"/>
              </a:lnSpc>
              <a:defRPr/>
            </a:pPr>
            <a:r>
              <a:rPr lang="en-US" altLang="ko-KR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3. Type </a:t>
            </a:r>
            <a:r>
              <a:rPr lang="ko-KR" altLang="en-US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별 동작 방식</a:t>
            </a:r>
            <a:r>
              <a:rPr lang="en-US" altLang="ko-KR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(I-type)</a:t>
            </a:r>
            <a:r>
              <a:rPr lang="ko-KR" altLang="en-US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C896331-D1FB-ACD7-71EB-380C942C54C9}"/>
              </a:ext>
            </a:extLst>
          </p:cNvPr>
          <p:cNvSpPr txBox="1"/>
          <p:nvPr/>
        </p:nvSpPr>
        <p:spPr>
          <a:xfrm>
            <a:off x="162339" y="2248029"/>
            <a:ext cx="540026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400" dirty="0"/>
              <a:t>• </a:t>
            </a:r>
            <a:r>
              <a:rPr lang="en-US" altLang="ko-KR" sz="4400" dirty="0" err="1"/>
              <a:t>DataFolw</a:t>
            </a:r>
            <a:endParaRPr lang="en-US" altLang="ko-KR" sz="4400" dirty="0"/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F86751FF-0F5C-57C8-F7A2-611B0D7B8A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722559"/>
              </p:ext>
            </p:extLst>
          </p:nvPr>
        </p:nvGraphicFramePr>
        <p:xfrm>
          <a:off x="1600200" y="12651520"/>
          <a:ext cx="21031199" cy="57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04457">
                  <a:extLst>
                    <a:ext uri="{9D8B030D-6E8A-4147-A177-3AD203B41FA5}">
                      <a16:colId xmlns:a16="http://schemas.microsoft.com/office/drawing/2014/main" val="4932414"/>
                    </a:ext>
                  </a:extLst>
                </a:gridCol>
                <a:gridCol w="6008914">
                  <a:extLst>
                    <a:ext uri="{9D8B030D-6E8A-4147-A177-3AD203B41FA5}">
                      <a16:colId xmlns:a16="http://schemas.microsoft.com/office/drawing/2014/main" val="4289750731"/>
                    </a:ext>
                  </a:extLst>
                </a:gridCol>
                <a:gridCol w="3004457">
                  <a:extLst>
                    <a:ext uri="{9D8B030D-6E8A-4147-A177-3AD203B41FA5}">
                      <a16:colId xmlns:a16="http://schemas.microsoft.com/office/drawing/2014/main" val="1722059348"/>
                    </a:ext>
                  </a:extLst>
                </a:gridCol>
                <a:gridCol w="3004457">
                  <a:extLst>
                    <a:ext uri="{9D8B030D-6E8A-4147-A177-3AD203B41FA5}">
                      <a16:colId xmlns:a16="http://schemas.microsoft.com/office/drawing/2014/main" val="798401735"/>
                    </a:ext>
                  </a:extLst>
                </a:gridCol>
                <a:gridCol w="3004457">
                  <a:extLst>
                    <a:ext uri="{9D8B030D-6E8A-4147-A177-3AD203B41FA5}">
                      <a16:colId xmlns:a16="http://schemas.microsoft.com/office/drawing/2014/main" val="989108138"/>
                    </a:ext>
                  </a:extLst>
                </a:gridCol>
                <a:gridCol w="3004457">
                  <a:extLst>
                    <a:ext uri="{9D8B030D-6E8A-4147-A177-3AD203B41FA5}">
                      <a16:colId xmlns:a16="http://schemas.microsoft.com/office/drawing/2014/main" val="1997596351"/>
                    </a:ext>
                  </a:extLst>
                </a:gridCol>
              </a:tblGrid>
              <a:tr h="42903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3200" dirty="0">
                          <a:solidFill>
                            <a:schemeClr val="tx1"/>
                          </a:solidFill>
                        </a:rPr>
                        <a:t>명령어</a:t>
                      </a:r>
                      <a:r>
                        <a:rPr lang="en-US" altLang="ko-KR" sz="3200" dirty="0">
                          <a:solidFill>
                            <a:schemeClr val="tx1"/>
                          </a:solidFill>
                        </a:rPr>
                        <a:t>:</a:t>
                      </a:r>
                      <a:endParaRPr lang="ko-KR" altLang="en-US" sz="3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Imm[11:0]</a:t>
                      </a:r>
                      <a:endParaRPr lang="ko-KR" altLang="en-US" sz="3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Rs1</a:t>
                      </a:r>
                      <a:endParaRPr lang="ko-KR" altLang="en-US" sz="3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Funct3</a:t>
                      </a:r>
                      <a:endParaRPr lang="ko-KR" altLang="en-US" sz="3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Rd</a:t>
                      </a:r>
                      <a:endParaRPr lang="ko-KR" altLang="en-US" sz="3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OPCODE(I-type)</a:t>
                      </a:r>
                      <a:endParaRPr lang="ko-KR" altLang="en-US" sz="3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59916584"/>
                  </a:ext>
                </a:extLst>
              </a:tr>
            </a:tbl>
          </a:graphicData>
        </a:graphic>
      </p:graphicFrame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B0E55E4A-86B2-AE05-9DEA-2948791211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3996001"/>
              </p:ext>
            </p:extLst>
          </p:nvPr>
        </p:nvGraphicFramePr>
        <p:xfrm>
          <a:off x="14878759" y="2795502"/>
          <a:ext cx="7381460" cy="8249325"/>
        </p:xfrm>
        <a:graphic>
          <a:graphicData uri="http://schemas.openxmlformats.org/drawingml/2006/table">
            <a:tbl>
              <a:tblPr/>
              <a:tblGrid>
                <a:gridCol w="2952584">
                  <a:extLst>
                    <a:ext uri="{9D8B030D-6E8A-4147-A177-3AD203B41FA5}">
                      <a16:colId xmlns:a16="http://schemas.microsoft.com/office/drawing/2014/main" val="870163477"/>
                    </a:ext>
                  </a:extLst>
                </a:gridCol>
                <a:gridCol w="1476292">
                  <a:extLst>
                    <a:ext uri="{9D8B030D-6E8A-4147-A177-3AD203B41FA5}">
                      <a16:colId xmlns:a16="http://schemas.microsoft.com/office/drawing/2014/main" val="306369564"/>
                    </a:ext>
                  </a:extLst>
                </a:gridCol>
                <a:gridCol w="2952584">
                  <a:extLst>
                    <a:ext uri="{9D8B030D-6E8A-4147-A177-3AD203B41FA5}">
                      <a16:colId xmlns:a16="http://schemas.microsoft.com/office/drawing/2014/main" val="1666020689"/>
                    </a:ext>
                  </a:extLst>
                </a:gridCol>
              </a:tblGrid>
              <a:tr h="738636">
                <a:tc gridSpan="3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control_unit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3726050"/>
                  </a:ext>
                </a:extLst>
              </a:tr>
              <a:tr h="73863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OUTPUT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I_type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1472738"/>
                  </a:ext>
                </a:extLst>
              </a:tr>
              <a:tr h="73863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rf_we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997813"/>
                  </a:ext>
                </a:extLst>
              </a:tr>
              <a:tr h="73863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alu_src_sel</a:t>
                      </a:r>
                      <a:endParaRPr lang="en-US" sz="2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3839623"/>
                  </a:ext>
                </a:extLst>
              </a:tr>
              <a:tr h="73863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rf_wd_sel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6052598"/>
                  </a:ext>
                </a:extLst>
              </a:tr>
              <a:tr h="73863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alu_control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SLL,</a:t>
                      </a:r>
                    </a:p>
                    <a:p>
                      <a:pPr algn="ctr" fontAlgn="ctr">
                        <a:buNone/>
                      </a:pPr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SRL,SRA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0,funct7[5],funct3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0991472"/>
                  </a:ext>
                </a:extLst>
              </a:tr>
              <a:tr h="73863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[b_taken,ALU_ctrl]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other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0,0,funct3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3924779"/>
                  </a:ext>
                </a:extLst>
              </a:tr>
              <a:tr h="73863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b_src_sel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443525"/>
                  </a:ext>
                </a:extLst>
              </a:tr>
              <a:tr h="73863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branch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7248240"/>
                  </a:ext>
                </a:extLst>
              </a:tr>
              <a:tr h="73863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o_funct3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8666544"/>
                  </a:ext>
                </a:extLst>
              </a:tr>
              <a:tr h="73863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dwe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9322631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61EA170E-6102-9348-2B09-F47D8010B46F}"/>
              </a:ext>
            </a:extLst>
          </p:cNvPr>
          <p:cNvSpPr txBox="1"/>
          <p:nvPr/>
        </p:nvSpPr>
        <p:spPr>
          <a:xfrm>
            <a:off x="4626970" y="4055299"/>
            <a:ext cx="6096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highlight>
                  <a:srgbClr val="FFFF00"/>
                </a:highlight>
              </a:rPr>
              <a:t>1</a:t>
            </a:r>
            <a:endParaRPr lang="ko-KR" altLang="en-US" sz="4400" b="1" dirty="0">
              <a:highlight>
                <a:srgbClr val="FFFF00"/>
              </a:highlight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C32B598-43DD-666E-2FA1-2493971F9721}"/>
              </a:ext>
            </a:extLst>
          </p:cNvPr>
          <p:cNvSpPr txBox="1"/>
          <p:nvPr/>
        </p:nvSpPr>
        <p:spPr>
          <a:xfrm>
            <a:off x="5773283" y="4097795"/>
            <a:ext cx="6096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highlight>
                  <a:srgbClr val="FFFF00"/>
                </a:highlight>
              </a:rPr>
              <a:t>1</a:t>
            </a:r>
            <a:endParaRPr lang="ko-KR" altLang="en-US" sz="4400" b="1" dirty="0">
              <a:highlight>
                <a:srgbClr val="FFFF00"/>
              </a:highlight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D27AD9B-E058-BFAD-BA94-EBF258B27BDB}"/>
              </a:ext>
            </a:extLst>
          </p:cNvPr>
          <p:cNvSpPr txBox="1"/>
          <p:nvPr/>
        </p:nvSpPr>
        <p:spPr>
          <a:xfrm>
            <a:off x="9205596" y="4097795"/>
            <a:ext cx="6096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highlight>
                  <a:srgbClr val="FFFF00"/>
                </a:highlight>
              </a:rPr>
              <a:t>0</a:t>
            </a:r>
            <a:endParaRPr lang="ko-KR" altLang="en-US" sz="4400" b="1" dirty="0">
              <a:highlight>
                <a:srgbClr val="FFFF00"/>
              </a:highlight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CF27317-F3D2-BF9A-14DE-5856CE4253CF}"/>
              </a:ext>
            </a:extLst>
          </p:cNvPr>
          <p:cNvSpPr txBox="1"/>
          <p:nvPr/>
        </p:nvSpPr>
        <p:spPr>
          <a:xfrm>
            <a:off x="6760570" y="4111047"/>
            <a:ext cx="206237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 err="1">
                <a:highlight>
                  <a:srgbClr val="FFFF00"/>
                </a:highlight>
              </a:rPr>
              <a:t>alu_ctrl</a:t>
            </a:r>
            <a:endParaRPr lang="ko-KR" altLang="en-US" sz="4400" b="1" dirty="0">
              <a:highlight>
                <a:srgbClr val="FFFF00"/>
              </a:highlight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E0042B8-78EE-2C43-E468-0F85B2C6F9E4}"/>
              </a:ext>
            </a:extLst>
          </p:cNvPr>
          <p:cNvSpPr txBox="1"/>
          <p:nvPr/>
        </p:nvSpPr>
        <p:spPr>
          <a:xfrm>
            <a:off x="2569570" y="9008299"/>
            <a:ext cx="141284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highlight>
                  <a:srgbClr val="FFFF00"/>
                </a:highlight>
              </a:rPr>
              <a:t>PC+4</a:t>
            </a:r>
            <a:endParaRPr lang="ko-KR" altLang="en-US" sz="4400" b="1" dirty="0">
              <a:highlight>
                <a:srgbClr val="FFFF00"/>
              </a:highlight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E47D407-F148-2D83-9F36-0900C146E0C5}"/>
              </a:ext>
            </a:extLst>
          </p:cNvPr>
          <p:cNvSpPr txBox="1"/>
          <p:nvPr/>
        </p:nvSpPr>
        <p:spPr>
          <a:xfrm>
            <a:off x="5236570" y="7865299"/>
            <a:ext cx="293535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 err="1">
                <a:highlight>
                  <a:srgbClr val="FFFF00"/>
                </a:highlight>
              </a:rPr>
              <a:t>ALU_result</a:t>
            </a:r>
            <a:endParaRPr lang="ko-KR" altLang="en-US" sz="4400" b="1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7417551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26DD7-E547-4AE5-B7F6-583F6B7B03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>
            <a:extLst>
              <a:ext uri="{FF2B5EF4-FFF2-40B4-BE49-F238E27FC236}">
                <a16:creationId xmlns:a16="http://schemas.microsoft.com/office/drawing/2014/main" id="{B519F53E-FFDD-CD3C-B35E-9730713A2C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486" y="2372493"/>
            <a:ext cx="11302334" cy="9728161"/>
          </a:xfrm>
          <a:prstGeom prst="rect">
            <a:avLst/>
          </a:prstGeom>
        </p:spPr>
      </p:pic>
      <p:pic>
        <p:nvPicPr>
          <p:cNvPr id="3" name="Picture 8">
            <a:extLst>
              <a:ext uri="{FF2B5EF4-FFF2-40B4-BE49-F238E27FC236}">
                <a16:creationId xmlns:a16="http://schemas.microsoft.com/office/drawing/2014/main" id="{A888B5E8-F5D6-462E-9CDD-2FECC36A1FA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 flipV="1">
            <a:off x="1045570" y="2059190"/>
            <a:ext cx="21814430" cy="45719"/>
          </a:xfrm>
          <a:prstGeom prst="rect">
            <a:avLst/>
          </a:prstGeom>
        </p:spPr>
      </p:pic>
      <p:sp>
        <p:nvSpPr>
          <p:cNvPr id="4" name="TextBox 10">
            <a:extLst>
              <a:ext uri="{FF2B5EF4-FFF2-40B4-BE49-F238E27FC236}">
                <a16:creationId xmlns:a16="http://schemas.microsoft.com/office/drawing/2014/main" id="{5722A937-64CA-FB78-BF9D-88DFBDCBB165}"/>
              </a:ext>
            </a:extLst>
          </p:cNvPr>
          <p:cNvSpPr txBox="1"/>
          <p:nvPr/>
        </p:nvSpPr>
        <p:spPr>
          <a:xfrm>
            <a:off x="1295400" y="609600"/>
            <a:ext cx="18897600" cy="1181100"/>
          </a:xfrm>
          <a:prstGeom prst="rect">
            <a:avLst/>
          </a:prstGeom>
        </p:spPr>
        <p:txBody>
          <a:bodyPr lIns="0" tIns="0" rIns="0" bIns="0" anchor="t"/>
          <a:lstStyle/>
          <a:p>
            <a:pPr lvl="0">
              <a:lnSpc>
                <a:spcPct val="116199"/>
              </a:lnSpc>
              <a:defRPr/>
            </a:pPr>
            <a:r>
              <a:rPr lang="en-US" altLang="ko-KR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3. Type </a:t>
            </a:r>
            <a:r>
              <a:rPr lang="ko-KR" altLang="en-US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별 동작 방식</a:t>
            </a:r>
            <a:r>
              <a:rPr lang="en-US" altLang="ko-KR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(I-type)</a:t>
            </a:r>
            <a:r>
              <a:rPr lang="ko-KR" altLang="en-US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BDF9D4D-6003-F0C6-0B7F-E108A17A7BE0}"/>
              </a:ext>
            </a:extLst>
          </p:cNvPr>
          <p:cNvSpPr txBox="1"/>
          <p:nvPr/>
        </p:nvSpPr>
        <p:spPr>
          <a:xfrm>
            <a:off x="464625" y="2365867"/>
            <a:ext cx="540026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400" dirty="0"/>
              <a:t>• </a:t>
            </a:r>
            <a:r>
              <a:rPr lang="en-US" altLang="ko-KR" sz="4400" dirty="0" err="1"/>
              <a:t>DataFolw</a:t>
            </a:r>
            <a:endParaRPr lang="en-US" altLang="ko-KR" sz="4400" dirty="0"/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D3D01EA4-95B1-7B58-72F6-B07518898A14}"/>
              </a:ext>
            </a:extLst>
          </p:cNvPr>
          <p:cNvGraphicFramePr>
            <a:graphicFrameLocks noGrp="1"/>
          </p:cNvGraphicFramePr>
          <p:nvPr/>
        </p:nvGraphicFramePr>
        <p:xfrm>
          <a:off x="1600200" y="12651520"/>
          <a:ext cx="21031199" cy="57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04457">
                  <a:extLst>
                    <a:ext uri="{9D8B030D-6E8A-4147-A177-3AD203B41FA5}">
                      <a16:colId xmlns:a16="http://schemas.microsoft.com/office/drawing/2014/main" val="4932414"/>
                    </a:ext>
                  </a:extLst>
                </a:gridCol>
                <a:gridCol w="6008914">
                  <a:extLst>
                    <a:ext uri="{9D8B030D-6E8A-4147-A177-3AD203B41FA5}">
                      <a16:colId xmlns:a16="http://schemas.microsoft.com/office/drawing/2014/main" val="4289750731"/>
                    </a:ext>
                  </a:extLst>
                </a:gridCol>
                <a:gridCol w="3004457">
                  <a:extLst>
                    <a:ext uri="{9D8B030D-6E8A-4147-A177-3AD203B41FA5}">
                      <a16:colId xmlns:a16="http://schemas.microsoft.com/office/drawing/2014/main" val="1722059348"/>
                    </a:ext>
                  </a:extLst>
                </a:gridCol>
                <a:gridCol w="3004457">
                  <a:extLst>
                    <a:ext uri="{9D8B030D-6E8A-4147-A177-3AD203B41FA5}">
                      <a16:colId xmlns:a16="http://schemas.microsoft.com/office/drawing/2014/main" val="798401735"/>
                    </a:ext>
                  </a:extLst>
                </a:gridCol>
                <a:gridCol w="3004457">
                  <a:extLst>
                    <a:ext uri="{9D8B030D-6E8A-4147-A177-3AD203B41FA5}">
                      <a16:colId xmlns:a16="http://schemas.microsoft.com/office/drawing/2014/main" val="989108138"/>
                    </a:ext>
                  </a:extLst>
                </a:gridCol>
                <a:gridCol w="3004457">
                  <a:extLst>
                    <a:ext uri="{9D8B030D-6E8A-4147-A177-3AD203B41FA5}">
                      <a16:colId xmlns:a16="http://schemas.microsoft.com/office/drawing/2014/main" val="1997596351"/>
                    </a:ext>
                  </a:extLst>
                </a:gridCol>
              </a:tblGrid>
              <a:tr h="42903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3200" dirty="0">
                          <a:solidFill>
                            <a:schemeClr val="tx1"/>
                          </a:solidFill>
                        </a:rPr>
                        <a:t>명령어</a:t>
                      </a:r>
                      <a:r>
                        <a:rPr lang="en-US" altLang="ko-KR" sz="3200" dirty="0">
                          <a:solidFill>
                            <a:schemeClr val="tx1"/>
                          </a:solidFill>
                        </a:rPr>
                        <a:t>:</a:t>
                      </a:r>
                      <a:endParaRPr lang="ko-KR" altLang="en-US" sz="3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Imm[11:0]</a:t>
                      </a:r>
                      <a:endParaRPr lang="ko-KR" altLang="en-US" sz="3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Rs1</a:t>
                      </a:r>
                      <a:endParaRPr lang="ko-KR" altLang="en-US" sz="3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Funct3</a:t>
                      </a:r>
                      <a:endParaRPr lang="ko-KR" altLang="en-US" sz="3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Rd</a:t>
                      </a:r>
                      <a:endParaRPr lang="ko-KR" altLang="en-US" sz="3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OPCODE(I-type)</a:t>
                      </a:r>
                      <a:endParaRPr lang="ko-KR" altLang="en-US" sz="3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59916584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B24F7FB6-6890-3A79-EA02-490A7C2B9F53}"/>
              </a:ext>
            </a:extLst>
          </p:cNvPr>
          <p:cNvSpPr txBox="1"/>
          <p:nvPr/>
        </p:nvSpPr>
        <p:spPr>
          <a:xfrm>
            <a:off x="5562600" y="4114800"/>
            <a:ext cx="6096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highlight>
                  <a:srgbClr val="FFFF00"/>
                </a:highlight>
              </a:rPr>
              <a:t>1</a:t>
            </a:r>
            <a:endParaRPr lang="ko-KR" altLang="en-US" sz="4400" b="1" dirty="0">
              <a:highlight>
                <a:srgbClr val="FFFF00"/>
              </a:highlight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F68C5BB-6735-BC85-EA13-9BD39045FF40}"/>
              </a:ext>
            </a:extLst>
          </p:cNvPr>
          <p:cNvSpPr txBox="1"/>
          <p:nvPr/>
        </p:nvSpPr>
        <p:spPr>
          <a:xfrm>
            <a:off x="6708913" y="4157296"/>
            <a:ext cx="6096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highlight>
                  <a:srgbClr val="FFFF00"/>
                </a:highlight>
              </a:rPr>
              <a:t>1</a:t>
            </a:r>
            <a:endParaRPr lang="ko-KR" altLang="en-US" sz="4400" b="1" dirty="0">
              <a:highlight>
                <a:srgbClr val="FFFF00"/>
              </a:highlight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BF040C7-D4E7-E33D-61AE-B5959F12649C}"/>
              </a:ext>
            </a:extLst>
          </p:cNvPr>
          <p:cNvSpPr txBox="1"/>
          <p:nvPr/>
        </p:nvSpPr>
        <p:spPr>
          <a:xfrm>
            <a:off x="10141226" y="4157296"/>
            <a:ext cx="6096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highlight>
                  <a:srgbClr val="FFFF00"/>
                </a:highlight>
              </a:rPr>
              <a:t>0</a:t>
            </a:r>
            <a:endParaRPr lang="ko-KR" altLang="en-US" sz="4400" b="1" dirty="0">
              <a:highlight>
                <a:srgbClr val="FFFF00"/>
              </a:highlight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F1DE988-3844-9BBD-115B-DEB15FE2BE00}"/>
              </a:ext>
            </a:extLst>
          </p:cNvPr>
          <p:cNvSpPr txBox="1"/>
          <p:nvPr/>
        </p:nvSpPr>
        <p:spPr>
          <a:xfrm>
            <a:off x="7696200" y="4170548"/>
            <a:ext cx="206237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 err="1">
                <a:highlight>
                  <a:srgbClr val="FFFF00"/>
                </a:highlight>
              </a:rPr>
              <a:t>alu_ctrl</a:t>
            </a:r>
            <a:endParaRPr lang="ko-KR" altLang="en-US" sz="4400" b="1" dirty="0">
              <a:highlight>
                <a:srgbClr val="FFFF00"/>
              </a:highlight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CE715FF-36C7-6B25-A6B1-4C6E3AF16E17}"/>
              </a:ext>
            </a:extLst>
          </p:cNvPr>
          <p:cNvSpPr txBox="1"/>
          <p:nvPr/>
        </p:nvSpPr>
        <p:spPr>
          <a:xfrm>
            <a:off x="3505200" y="9067800"/>
            <a:ext cx="141284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highlight>
                  <a:srgbClr val="FFFF00"/>
                </a:highlight>
              </a:rPr>
              <a:t>PC+4</a:t>
            </a:r>
            <a:endParaRPr lang="ko-KR" altLang="en-US" sz="4400" b="1" dirty="0">
              <a:highlight>
                <a:srgbClr val="FFFF00"/>
              </a:highlight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F2A298E-5A1D-B51A-2940-7B1F3427FB64}"/>
              </a:ext>
            </a:extLst>
          </p:cNvPr>
          <p:cNvSpPr txBox="1"/>
          <p:nvPr/>
        </p:nvSpPr>
        <p:spPr>
          <a:xfrm>
            <a:off x="6172200" y="7924800"/>
            <a:ext cx="293535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 err="1">
                <a:highlight>
                  <a:srgbClr val="FFFF00"/>
                </a:highlight>
              </a:rPr>
              <a:t>ALU_result</a:t>
            </a:r>
            <a:endParaRPr lang="ko-KR" altLang="en-US" sz="4400" b="1" dirty="0">
              <a:highlight>
                <a:srgbClr val="FFFF00"/>
              </a:highlight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8CC467C0-969B-B0B6-2C38-C3A2725427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7329591"/>
              </p:ext>
            </p:extLst>
          </p:nvPr>
        </p:nvGraphicFramePr>
        <p:xfrm>
          <a:off x="12817366" y="4648200"/>
          <a:ext cx="10802335" cy="4720465"/>
        </p:xfrm>
        <a:graphic>
          <a:graphicData uri="http://schemas.openxmlformats.org/drawingml/2006/table">
            <a:tbl>
              <a:tblPr/>
              <a:tblGrid>
                <a:gridCol w="1432034">
                  <a:extLst>
                    <a:ext uri="{9D8B030D-6E8A-4147-A177-3AD203B41FA5}">
                      <a16:colId xmlns:a16="http://schemas.microsoft.com/office/drawing/2014/main" val="1686743289"/>
                    </a:ext>
                  </a:extLst>
                </a:gridCol>
                <a:gridCol w="1611757">
                  <a:extLst>
                    <a:ext uri="{9D8B030D-6E8A-4147-A177-3AD203B41FA5}">
                      <a16:colId xmlns:a16="http://schemas.microsoft.com/office/drawing/2014/main" val="4193106367"/>
                    </a:ext>
                  </a:extLst>
                </a:gridCol>
                <a:gridCol w="969818">
                  <a:extLst>
                    <a:ext uri="{9D8B030D-6E8A-4147-A177-3AD203B41FA5}">
                      <a16:colId xmlns:a16="http://schemas.microsoft.com/office/drawing/2014/main" val="1260789625"/>
                    </a:ext>
                  </a:extLst>
                </a:gridCol>
                <a:gridCol w="969818">
                  <a:extLst>
                    <a:ext uri="{9D8B030D-6E8A-4147-A177-3AD203B41FA5}">
                      <a16:colId xmlns:a16="http://schemas.microsoft.com/office/drawing/2014/main" val="781578471"/>
                    </a:ext>
                  </a:extLst>
                </a:gridCol>
                <a:gridCol w="969818">
                  <a:extLst>
                    <a:ext uri="{9D8B030D-6E8A-4147-A177-3AD203B41FA5}">
                      <a16:colId xmlns:a16="http://schemas.microsoft.com/office/drawing/2014/main" val="2782344945"/>
                    </a:ext>
                  </a:extLst>
                </a:gridCol>
                <a:gridCol w="969818">
                  <a:extLst>
                    <a:ext uri="{9D8B030D-6E8A-4147-A177-3AD203B41FA5}">
                      <a16:colId xmlns:a16="http://schemas.microsoft.com/office/drawing/2014/main" val="3331381186"/>
                    </a:ext>
                  </a:extLst>
                </a:gridCol>
                <a:gridCol w="969818">
                  <a:extLst>
                    <a:ext uri="{9D8B030D-6E8A-4147-A177-3AD203B41FA5}">
                      <a16:colId xmlns:a16="http://schemas.microsoft.com/office/drawing/2014/main" val="1943807607"/>
                    </a:ext>
                  </a:extLst>
                </a:gridCol>
                <a:gridCol w="969818">
                  <a:extLst>
                    <a:ext uri="{9D8B030D-6E8A-4147-A177-3AD203B41FA5}">
                      <a16:colId xmlns:a16="http://schemas.microsoft.com/office/drawing/2014/main" val="3290620688"/>
                    </a:ext>
                  </a:extLst>
                </a:gridCol>
                <a:gridCol w="969818">
                  <a:extLst>
                    <a:ext uri="{9D8B030D-6E8A-4147-A177-3AD203B41FA5}">
                      <a16:colId xmlns:a16="http://schemas.microsoft.com/office/drawing/2014/main" val="854034735"/>
                    </a:ext>
                  </a:extLst>
                </a:gridCol>
                <a:gridCol w="969818">
                  <a:extLst>
                    <a:ext uri="{9D8B030D-6E8A-4147-A177-3AD203B41FA5}">
                      <a16:colId xmlns:a16="http://schemas.microsoft.com/office/drawing/2014/main" val="1581163607"/>
                    </a:ext>
                  </a:extLst>
                </a:gridCol>
              </a:tblGrid>
              <a:tr h="5684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ALU</a:t>
                      </a:r>
                    </a:p>
                    <a:p>
                      <a:pPr algn="ctr" fontAlgn="ctr">
                        <a:buNone/>
                      </a:pPr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control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 gridSpan="9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ALU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894525733"/>
                  </a:ext>
                </a:extLst>
              </a:tr>
              <a:tr h="4567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ADD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BC2E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SLL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BC2E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SLT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BC2E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sng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SLTU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BC2E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XOR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BC2E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SRL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BC2E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SRA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BC2E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OR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BC2E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AND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BC2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6431460"/>
                  </a:ext>
                </a:extLst>
              </a:tr>
              <a:tr h="4567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[4]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tc gridSpan="9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4016997346"/>
                  </a:ext>
                </a:extLst>
              </a:tr>
              <a:tr h="4567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[3]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Funct7[5]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2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0</a:t>
                      </a:r>
                    </a:p>
                    <a:p>
                      <a:pPr latinLnBrk="1"/>
                      <a:endParaRPr lang="ko-KR" altLang="en-US" dirty="0"/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Funct7[5]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2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925797199"/>
                  </a:ext>
                </a:extLst>
              </a:tr>
              <a:tr h="4567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[2:0]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tc gridSpan="9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funct3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494229480"/>
                  </a:ext>
                </a:extLst>
              </a:tr>
              <a:tr h="4567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ALU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 + b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a&lt;&lt;b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(a&lt;b)?1:0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sng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(a&lt;b)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 ^ b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a&gt;&gt;b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a&gt;&gt;&gt;b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 | b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 &amp; b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70980"/>
                  </a:ext>
                </a:extLst>
              </a:tr>
              <a:tr h="4567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signed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2800" b="0" i="0" u="sng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1972612"/>
                  </a:ext>
                </a:extLst>
              </a:tr>
              <a:tr h="4567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b_taken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tc gridSpan="9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6354028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647790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54AAFF-68E7-F54E-6E89-AE5D360877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8">
            <a:extLst>
              <a:ext uri="{FF2B5EF4-FFF2-40B4-BE49-F238E27FC236}">
                <a16:creationId xmlns:a16="http://schemas.microsoft.com/office/drawing/2014/main" id="{10355574-0FCC-5036-A4D1-ACF0410941B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 flipV="1">
            <a:off x="1045570" y="2059190"/>
            <a:ext cx="21814430" cy="45719"/>
          </a:xfrm>
          <a:prstGeom prst="rect">
            <a:avLst/>
          </a:prstGeom>
        </p:spPr>
      </p:pic>
      <p:sp>
        <p:nvSpPr>
          <p:cNvPr id="4" name="TextBox 10">
            <a:extLst>
              <a:ext uri="{FF2B5EF4-FFF2-40B4-BE49-F238E27FC236}">
                <a16:creationId xmlns:a16="http://schemas.microsoft.com/office/drawing/2014/main" id="{6E8398E8-0F05-C33E-E3D4-A165ADDBD962}"/>
              </a:ext>
            </a:extLst>
          </p:cNvPr>
          <p:cNvSpPr txBox="1"/>
          <p:nvPr/>
        </p:nvSpPr>
        <p:spPr>
          <a:xfrm>
            <a:off x="1295400" y="609600"/>
            <a:ext cx="18897600" cy="1181100"/>
          </a:xfrm>
          <a:prstGeom prst="rect">
            <a:avLst/>
          </a:prstGeom>
        </p:spPr>
        <p:txBody>
          <a:bodyPr lIns="0" tIns="0" rIns="0" bIns="0" anchor="t"/>
          <a:lstStyle/>
          <a:p>
            <a:pPr lvl="0">
              <a:lnSpc>
                <a:spcPct val="116199"/>
              </a:lnSpc>
              <a:defRPr/>
            </a:pPr>
            <a:r>
              <a:rPr lang="en-US" altLang="ko-KR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3. Type </a:t>
            </a:r>
            <a:r>
              <a:rPr lang="ko-KR" altLang="en-US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별 동작 방식</a:t>
            </a:r>
            <a:r>
              <a:rPr lang="en-US" altLang="ko-KR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(I-type)</a:t>
            </a:r>
            <a:r>
              <a:rPr lang="ko-KR" altLang="en-US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5C13069-46EF-3256-DD78-0D1B201613AE}"/>
              </a:ext>
            </a:extLst>
          </p:cNvPr>
          <p:cNvSpPr txBox="1"/>
          <p:nvPr/>
        </p:nvSpPr>
        <p:spPr>
          <a:xfrm>
            <a:off x="1305339" y="2426274"/>
            <a:ext cx="540026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400" dirty="0"/>
              <a:t>• simulation(</a:t>
            </a:r>
            <a:r>
              <a:rPr lang="ko-KR" altLang="en-US" sz="4400" dirty="0"/>
              <a:t>시나리오</a:t>
            </a:r>
            <a:r>
              <a:rPr lang="en-US" altLang="ko-KR" sz="4400" dirty="0"/>
              <a:t>)</a:t>
            </a:r>
          </a:p>
        </p:txBody>
      </p:sp>
      <p:graphicFrame>
        <p:nvGraphicFramePr>
          <p:cNvPr id="5" name="Table 12">
            <a:extLst>
              <a:ext uri="{FF2B5EF4-FFF2-40B4-BE49-F238E27FC236}">
                <a16:creationId xmlns:a16="http://schemas.microsoft.com/office/drawing/2014/main" id="{9DD0C284-195D-5AC8-BF6A-CABB2EE36E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7195054"/>
              </p:ext>
            </p:extLst>
          </p:nvPr>
        </p:nvGraphicFramePr>
        <p:xfrm>
          <a:off x="1514128" y="4572000"/>
          <a:ext cx="11668471" cy="5056883"/>
        </p:xfrm>
        <a:graphic>
          <a:graphicData uri="http://schemas.openxmlformats.org/drawingml/2006/table">
            <a:tbl>
              <a:tblPr/>
              <a:tblGrid>
                <a:gridCol w="1000472">
                  <a:extLst>
                    <a:ext uri="{9D8B030D-6E8A-4147-A177-3AD203B41FA5}">
                      <a16:colId xmlns:a16="http://schemas.microsoft.com/office/drawing/2014/main" val="1091418196"/>
                    </a:ext>
                  </a:extLst>
                </a:gridCol>
                <a:gridCol w="2895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15250058"/>
                    </a:ext>
                  </a:extLst>
                </a:gridCol>
                <a:gridCol w="4267199">
                  <a:extLst>
                    <a:ext uri="{9D8B030D-6E8A-4147-A177-3AD203B41FA5}">
                      <a16:colId xmlns:a16="http://schemas.microsoft.com/office/drawing/2014/main" val="439004716"/>
                    </a:ext>
                  </a:extLst>
                </a:gridCol>
              </a:tblGrid>
              <a:tr h="249904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endParaRPr lang="en-US" sz="3600" dirty="0"/>
                    </a:p>
                  </a:txBody>
                  <a:tcPr marL="25400" marR="25400" marT="65362" marB="65362" anchor="ctr">
                    <a:lnL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 gridSpan="2"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>
                          <a:solidFill>
                            <a:schemeClr val="bg1"/>
                          </a:solidFill>
                        </a:rPr>
                        <a:t>Register File</a:t>
                      </a:r>
                    </a:p>
                  </a:txBody>
                  <a:tcPr marL="25400" marR="25400" marT="65362" marB="65362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endParaRPr lang="en-US" sz="3600" dirty="0">
                        <a:solidFill>
                          <a:schemeClr val="bg1"/>
                        </a:solidFill>
                      </a:endParaRPr>
                    </a:p>
                  </a:txBody>
                  <a:tcPr marL="25400" marR="25400" marT="65362" marB="65362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25666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 err="1"/>
                        <a:t>addr</a:t>
                      </a:r>
                      <a:endParaRPr lang="en-US" sz="3600" dirty="0"/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name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value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ko-KR" altLang="en-US" sz="3600" dirty="0"/>
                        <a:t>용도</a:t>
                      </a:r>
                      <a:endParaRPr lang="en-US" sz="3600" dirty="0"/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668405"/>
                  </a:ext>
                </a:extLst>
              </a:tr>
              <a:tr h="825666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1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rs1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-100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Full case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95149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2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rs2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200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 err="1"/>
                        <a:t>Shfit</a:t>
                      </a:r>
                      <a:r>
                        <a:rPr lang="en-US" sz="3600" dirty="0"/>
                        <a:t> </a:t>
                      </a:r>
                      <a:r>
                        <a:rPr lang="ko-KR" altLang="en-US" sz="3600" dirty="0"/>
                        <a:t>연산을 제외한 나머지 </a:t>
                      </a:r>
                      <a:r>
                        <a:rPr lang="en-US" altLang="ko-KR" sz="3600" dirty="0"/>
                        <a:t>case</a:t>
                      </a:r>
                      <a:endParaRPr lang="en-US" sz="3600" dirty="0"/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14909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3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 err="1"/>
                        <a:t>Shfit</a:t>
                      </a:r>
                      <a:endParaRPr lang="en-US" sz="3600" dirty="0"/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2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SLTI,SLTUI,SRLI,SRAI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14909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4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 err="1"/>
                        <a:t>rd</a:t>
                      </a:r>
                      <a:endParaRPr lang="en-US" sz="3600" dirty="0"/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 err="1"/>
                        <a:t>Alu_result</a:t>
                      </a:r>
                      <a:endParaRPr lang="en-US" sz="3600" dirty="0"/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endParaRPr lang="en-US" sz="3600" dirty="0"/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4450522"/>
                  </a:ext>
                </a:extLst>
              </a:tr>
            </a:tbl>
          </a:graphicData>
        </a:graphic>
      </p:graphicFrame>
      <p:graphicFrame>
        <p:nvGraphicFramePr>
          <p:cNvPr id="6" name="Table 12">
            <a:extLst>
              <a:ext uri="{FF2B5EF4-FFF2-40B4-BE49-F238E27FC236}">
                <a16:creationId xmlns:a16="http://schemas.microsoft.com/office/drawing/2014/main" id="{F3A3472B-28E5-5EF0-C528-B04F961C85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6742935"/>
              </p:ext>
            </p:extLst>
          </p:nvPr>
        </p:nvGraphicFramePr>
        <p:xfrm>
          <a:off x="14249400" y="2577594"/>
          <a:ext cx="6553201" cy="7991181"/>
        </p:xfrm>
        <a:graphic>
          <a:graphicData uri="http://schemas.openxmlformats.org/drawingml/2006/table">
            <a:tbl>
              <a:tblPr/>
              <a:tblGrid>
                <a:gridCol w="990373">
                  <a:extLst>
                    <a:ext uri="{9D8B030D-6E8A-4147-A177-3AD203B41FA5}">
                      <a16:colId xmlns:a16="http://schemas.microsoft.com/office/drawing/2014/main" val="1091418196"/>
                    </a:ext>
                  </a:extLst>
                </a:gridCol>
                <a:gridCol w="28958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67001">
                  <a:extLst>
                    <a:ext uri="{9D8B030D-6E8A-4147-A177-3AD203B41FA5}">
                      <a16:colId xmlns:a16="http://schemas.microsoft.com/office/drawing/2014/main" val="1825833440"/>
                    </a:ext>
                  </a:extLst>
                </a:gridCol>
              </a:tblGrid>
              <a:tr h="537190">
                <a:tc gridSpan="3"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>
                          <a:solidFill>
                            <a:schemeClr val="bg1"/>
                          </a:solidFill>
                        </a:rPr>
                        <a:t>INSTR MEM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25666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PC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INSRT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Result(DEX)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5701013"/>
                  </a:ext>
                </a:extLst>
              </a:tr>
              <a:tr h="825666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0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ADDI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altLang="ko-KR" sz="3600" dirty="0"/>
                        <a:t>100</a:t>
                      </a:r>
                      <a:endParaRPr lang="en-US" sz="3600" dirty="0"/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14909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1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SLTI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1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4450522"/>
                  </a:ext>
                </a:extLst>
              </a:tr>
              <a:tr h="814909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2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SLTUI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0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1244518"/>
                  </a:ext>
                </a:extLst>
              </a:tr>
              <a:tr h="814909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3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XORI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-172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3088552"/>
                  </a:ext>
                </a:extLst>
              </a:tr>
              <a:tr h="814909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4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ORI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-36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5307821"/>
                  </a:ext>
                </a:extLst>
              </a:tr>
              <a:tr h="814909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5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ANDI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136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4467206"/>
                  </a:ext>
                </a:extLst>
              </a:tr>
              <a:tr h="814909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6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SRLI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1073741799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670819"/>
                  </a:ext>
                </a:extLst>
              </a:tr>
              <a:tr h="814909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7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SRAI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-25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2271470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DA4C7EED-926F-2EC6-94D0-E481BB3827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267017"/>
              </p:ext>
            </p:extLst>
          </p:nvPr>
        </p:nvGraphicFramePr>
        <p:xfrm>
          <a:off x="1600200" y="12651520"/>
          <a:ext cx="21031199" cy="57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04457">
                  <a:extLst>
                    <a:ext uri="{9D8B030D-6E8A-4147-A177-3AD203B41FA5}">
                      <a16:colId xmlns:a16="http://schemas.microsoft.com/office/drawing/2014/main" val="4932414"/>
                    </a:ext>
                  </a:extLst>
                </a:gridCol>
                <a:gridCol w="6008914">
                  <a:extLst>
                    <a:ext uri="{9D8B030D-6E8A-4147-A177-3AD203B41FA5}">
                      <a16:colId xmlns:a16="http://schemas.microsoft.com/office/drawing/2014/main" val="4289750731"/>
                    </a:ext>
                  </a:extLst>
                </a:gridCol>
                <a:gridCol w="3004457">
                  <a:extLst>
                    <a:ext uri="{9D8B030D-6E8A-4147-A177-3AD203B41FA5}">
                      <a16:colId xmlns:a16="http://schemas.microsoft.com/office/drawing/2014/main" val="1722059348"/>
                    </a:ext>
                  </a:extLst>
                </a:gridCol>
                <a:gridCol w="3004457">
                  <a:extLst>
                    <a:ext uri="{9D8B030D-6E8A-4147-A177-3AD203B41FA5}">
                      <a16:colId xmlns:a16="http://schemas.microsoft.com/office/drawing/2014/main" val="798401735"/>
                    </a:ext>
                  </a:extLst>
                </a:gridCol>
                <a:gridCol w="3004457">
                  <a:extLst>
                    <a:ext uri="{9D8B030D-6E8A-4147-A177-3AD203B41FA5}">
                      <a16:colId xmlns:a16="http://schemas.microsoft.com/office/drawing/2014/main" val="989108138"/>
                    </a:ext>
                  </a:extLst>
                </a:gridCol>
                <a:gridCol w="3004457">
                  <a:extLst>
                    <a:ext uri="{9D8B030D-6E8A-4147-A177-3AD203B41FA5}">
                      <a16:colId xmlns:a16="http://schemas.microsoft.com/office/drawing/2014/main" val="1997596351"/>
                    </a:ext>
                  </a:extLst>
                </a:gridCol>
              </a:tblGrid>
              <a:tr h="42903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3200" dirty="0">
                          <a:solidFill>
                            <a:schemeClr val="tx1"/>
                          </a:solidFill>
                        </a:rPr>
                        <a:t>명령어</a:t>
                      </a:r>
                      <a:r>
                        <a:rPr lang="en-US" altLang="ko-KR" sz="3200" dirty="0">
                          <a:solidFill>
                            <a:schemeClr val="tx1"/>
                          </a:solidFill>
                        </a:rPr>
                        <a:t>:</a:t>
                      </a:r>
                      <a:endParaRPr lang="ko-KR" altLang="en-US" sz="3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Imm[11:0]</a:t>
                      </a:r>
                      <a:endParaRPr lang="ko-KR" altLang="en-US" sz="3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Rs1</a:t>
                      </a:r>
                      <a:endParaRPr lang="ko-KR" altLang="en-US" sz="3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Funct3</a:t>
                      </a:r>
                      <a:endParaRPr lang="ko-KR" altLang="en-US" sz="3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Rd</a:t>
                      </a:r>
                      <a:endParaRPr lang="ko-KR" altLang="en-US" sz="3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OPCODE(I-type)</a:t>
                      </a:r>
                      <a:endParaRPr lang="ko-KR" altLang="en-US" sz="3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599165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946111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3EEB64-EB0C-D5C5-9179-713D29449D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8">
            <a:extLst>
              <a:ext uri="{FF2B5EF4-FFF2-40B4-BE49-F238E27FC236}">
                <a16:creationId xmlns:a16="http://schemas.microsoft.com/office/drawing/2014/main" id="{0CE0125A-D69E-A649-84D0-28BA8907F8C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 flipV="1">
            <a:off x="1045570" y="2059190"/>
            <a:ext cx="21814430" cy="45719"/>
          </a:xfrm>
          <a:prstGeom prst="rect">
            <a:avLst/>
          </a:prstGeom>
        </p:spPr>
      </p:pic>
      <p:sp>
        <p:nvSpPr>
          <p:cNvPr id="4" name="TextBox 10">
            <a:extLst>
              <a:ext uri="{FF2B5EF4-FFF2-40B4-BE49-F238E27FC236}">
                <a16:creationId xmlns:a16="http://schemas.microsoft.com/office/drawing/2014/main" id="{F8D0F978-3614-8DF0-D82A-838F46FBC421}"/>
              </a:ext>
            </a:extLst>
          </p:cNvPr>
          <p:cNvSpPr txBox="1"/>
          <p:nvPr/>
        </p:nvSpPr>
        <p:spPr>
          <a:xfrm>
            <a:off x="1295400" y="609600"/>
            <a:ext cx="18897600" cy="1181100"/>
          </a:xfrm>
          <a:prstGeom prst="rect">
            <a:avLst/>
          </a:prstGeom>
        </p:spPr>
        <p:txBody>
          <a:bodyPr lIns="0" tIns="0" rIns="0" bIns="0" anchor="t"/>
          <a:lstStyle/>
          <a:p>
            <a:pPr lvl="0">
              <a:lnSpc>
                <a:spcPct val="116199"/>
              </a:lnSpc>
              <a:defRPr/>
            </a:pPr>
            <a:r>
              <a:rPr lang="en-US" altLang="ko-KR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3. Type </a:t>
            </a:r>
            <a:r>
              <a:rPr lang="ko-KR" altLang="en-US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별 동작 방식</a:t>
            </a:r>
            <a:r>
              <a:rPr lang="en-US" altLang="ko-KR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(I-type)</a:t>
            </a:r>
            <a:r>
              <a:rPr lang="ko-KR" altLang="en-US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94BB3B1-7977-BBA3-99BC-75943423CA89}"/>
              </a:ext>
            </a:extLst>
          </p:cNvPr>
          <p:cNvSpPr txBox="1"/>
          <p:nvPr/>
        </p:nvSpPr>
        <p:spPr>
          <a:xfrm>
            <a:off x="1305339" y="2426274"/>
            <a:ext cx="600986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400" dirty="0"/>
              <a:t>• simulation(Control Unit)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B5A4364-FBBB-AF9D-1969-4BAA21D7811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0786"/>
          <a:stretch>
            <a:fillRect/>
          </a:stretch>
        </p:blipFill>
        <p:spPr>
          <a:xfrm>
            <a:off x="457200" y="3173944"/>
            <a:ext cx="14859000" cy="10514404"/>
          </a:xfrm>
          <a:prstGeom prst="rect">
            <a:avLst/>
          </a:prstGeom>
        </p:spPr>
      </p:pic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1C55A0D1-8E2E-0ED4-5D84-F887796616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2489515"/>
              </p:ext>
            </p:extLst>
          </p:nvPr>
        </p:nvGraphicFramePr>
        <p:xfrm>
          <a:off x="15830115" y="3568100"/>
          <a:ext cx="7381460" cy="8249325"/>
        </p:xfrm>
        <a:graphic>
          <a:graphicData uri="http://schemas.openxmlformats.org/drawingml/2006/table">
            <a:tbl>
              <a:tblPr/>
              <a:tblGrid>
                <a:gridCol w="2952584">
                  <a:extLst>
                    <a:ext uri="{9D8B030D-6E8A-4147-A177-3AD203B41FA5}">
                      <a16:colId xmlns:a16="http://schemas.microsoft.com/office/drawing/2014/main" val="870163477"/>
                    </a:ext>
                  </a:extLst>
                </a:gridCol>
                <a:gridCol w="1476292">
                  <a:extLst>
                    <a:ext uri="{9D8B030D-6E8A-4147-A177-3AD203B41FA5}">
                      <a16:colId xmlns:a16="http://schemas.microsoft.com/office/drawing/2014/main" val="306369564"/>
                    </a:ext>
                  </a:extLst>
                </a:gridCol>
                <a:gridCol w="2952584">
                  <a:extLst>
                    <a:ext uri="{9D8B030D-6E8A-4147-A177-3AD203B41FA5}">
                      <a16:colId xmlns:a16="http://schemas.microsoft.com/office/drawing/2014/main" val="1666020689"/>
                    </a:ext>
                  </a:extLst>
                </a:gridCol>
              </a:tblGrid>
              <a:tr h="738636">
                <a:tc gridSpan="3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control_unit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3726050"/>
                  </a:ext>
                </a:extLst>
              </a:tr>
              <a:tr h="73863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OUTPUT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I_type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1472738"/>
                  </a:ext>
                </a:extLst>
              </a:tr>
              <a:tr h="73863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rf_we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997813"/>
                  </a:ext>
                </a:extLst>
              </a:tr>
              <a:tr h="73863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alu_src_sel</a:t>
                      </a:r>
                      <a:endParaRPr lang="en-US" sz="2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3839623"/>
                  </a:ext>
                </a:extLst>
              </a:tr>
              <a:tr h="73863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rf_wd_sel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6052598"/>
                  </a:ext>
                </a:extLst>
              </a:tr>
              <a:tr h="73863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alu_control</a:t>
                      </a:r>
                      <a:endParaRPr lang="en-US" sz="2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SLL</a:t>
                      </a:r>
                    </a:p>
                    <a:p>
                      <a:pPr algn="ctr" fontAlgn="ctr">
                        <a:buNone/>
                      </a:pPr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SRL,SRA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0,funct7[5],funct3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0991472"/>
                  </a:ext>
                </a:extLst>
              </a:tr>
              <a:tr h="73863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[</a:t>
                      </a:r>
                      <a:r>
                        <a:rPr lang="en-US" sz="2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b_taken,ALU_ctrl</a:t>
                      </a:r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]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other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0,0,funct3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3924779"/>
                  </a:ext>
                </a:extLst>
              </a:tr>
              <a:tr h="73863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b_src_sel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443525"/>
                  </a:ext>
                </a:extLst>
              </a:tr>
              <a:tr h="73863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branch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7248240"/>
                  </a:ext>
                </a:extLst>
              </a:tr>
              <a:tr h="73863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o_funct3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8666544"/>
                  </a:ext>
                </a:extLst>
              </a:tr>
              <a:tr h="73863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dwe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9322631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CCDE5926-D763-6131-7D32-8447FE36CE1B}"/>
              </a:ext>
            </a:extLst>
          </p:cNvPr>
          <p:cNvSpPr txBox="1"/>
          <p:nvPr/>
        </p:nvSpPr>
        <p:spPr>
          <a:xfrm>
            <a:off x="2400300" y="7597914"/>
            <a:ext cx="11049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000" dirty="0">
                <a:highlight>
                  <a:srgbClr val="FFFF00"/>
                </a:highlight>
              </a:rPr>
              <a:t>1</a:t>
            </a:r>
            <a:endParaRPr lang="ko-KR" altLang="en-US" sz="4000" dirty="0">
              <a:highlight>
                <a:srgbClr val="FFFF00"/>
              </a:highlight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770E703-9346-128B-F42F-B7AB05CE515D}"/>
              </a:ext>
            </a:extLst>
          </p:cNvPr>
          <p:cNvSpPr txBox="1"/>
          <p:nvPr/>
        </p:nvSpPr>
        <p:spPr>
          <a:xfrm>
            <a:off x="2586506" y="9113632"/>
            <a:ext cx="7772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000" dirty="0">
                <a:highlight>
                  <a:srgbClr val="FFFF00"/>
                </a:highlight>
              </a:rPr>
              <a:t>0</a:t>
            </a:r>
            <a:endParaRPr lang="ko-KR" altLang="en-US" sz="4000" dirty="0">
              <a:highlight>
                <a:srgbClr val="FFFF00"/>
              </a:highlight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11332BE-2753-5862-F9CD-B2CFCE0C31D0}"/>
              </a:ext>
            </a:extLst>
          </p:cNvPr>
          <p:cNvSpPr txBox="1"/>
          <p:nvPr/>
        </p:nvSpPr>
        <p:spPr>
          <a:xfrm>
            <a:off x="2770355" y="8431146"/>
            <a:ext cx="5933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dirty="0">
                <a:highlight>
                  <a:srgbClr val="FFFF00"/>
                </a:highlight>
              </a:rPr>
              <a:t>1</a:t>
            </a:r>
            <a:endParaRPr lang="ko-KR" altLang="en-US" sz="4000" dirty="0">
              <a:highlight>
                <a:srgbClr val="FFFF00"/>
              </a:highlight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311C4EB-5B72-76A4-DA61-9996ACCFA01A}"/>
              </a:ext>
            </a:extLst>
          </p:cNvPr>
          <p:cNvSpPr txBox="1"/>
          <p:nvPr/>
        </p:nvSpPr>
        <p:spPr>
          <a:xfrm>
            <a:off x="2586506" y="10504004"/>
            <a:ext cx="7772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000" dirty="0">
                <a:highlight>
                  <a:srgbClr val="FFFF00"/>
                </a:highlight>
              </a:rPr>
              <a:t>0</a:t>
            </a:r>
            <a:endParaRPr lang="ko-KR" altLang="en-US" sz="4000" dirty="0">
              <a:highlight>
                <a:srgbClr val="FFFF00"/>
              </a:highlight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09EAAD1-766B-6686-66B2-5A7DD202BA05}"/>
              </a:ext>
            </a:extLst>
          </p:cNvPr>
          <p:cNvSpPr txBox="1"/>
          <p:nvPr/>
        </p:nvSpPr>
        <p:spPr>
          <a:xfrm>
            <a:off x="2586506" y="11203054"/>
            <a:ext cx="7772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000" dirty="0">
                <a:highlight>
                  <a:srgbClr val="FFFF00"/>
                </a:highlight>
              </a:rPr>
              <a:t>0</a:t>
            </a:r>
            <a:endParaRPr lang="ko-KR" altLang="en-US" sz="4000" dirty="0">
              <a:highlight>
                <a:srgbClr val="FFFF00"/>
              </a:highlight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81CD8F2-D83A-5540-6EF3-7810BD5BA9E9}"/>
              </a:ext>
            </a:extLst>
          </p:cNvPr>
          <p:cNvSpPr txBox="1"/>
          <p:nvPr/>
        </p:nvSpPr>
        <p:spPr>
          <a:xfrm>
            <a:off x="2586506" y="12772837"/>
            <a:ext cx="7772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000" dirty="0">
                <a:highlight>
                  <a:srgbClr val="FFFF00"/>
                </a:highlight>
              </a:rPr>
              <a:t>0</a:t>
            </a:r>
            <a:endParaRPr lang="ko-KR" altLang="en-US" sz="4000" dirty="0">
              <a:highlight>
                <a:srgbClr val="FFFF00"/>
              </a:highlight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2C1028E-CD8F-74EC-B78D-8A96DF63CBF3}"/>
              </a:ext>
            </a:extLst>
          </p:cNvPr>
          <p:cNvSpPr txBox="1"/>
          <p:nvPr/>
        </p:nvSpPr>
        <p:spPr>
          <a:xfrm>
            <a:off x="2564131" y="12014467"/>
            <a:ext cx="7772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000" dirty="0">
                <a:highlight>
                  <a:srgbClr val="FFFF00"/>
                </a:highlight>
              </a:rPr>
              <a:t>0</a:t>
            </a:r>
            <a:endParaRPr lang="ko-KR" altLang="en-US" sz="4000" dirty="0">
              <a:highlight>
                <a:srgbClr val="FFFF00"/>
              </a:highlight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2B76D67-6A31-DB3A-B4A6-192FE56A22B4}"/>
              </a:ext>
            </a:extLst>
          </p:cNvPr>
          <p:cNvSpPr/>
          <p:nvPr/>
        </p:nvSpPr>
        <p:spPr>
          <a:xfrm>
            <a:off x="15873767" y="5103298"/>
            <a:ext cx="7337808" cy="2122402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DF39077-546B-6FB9-B465-08FF52EA5444}"/>
              </a:ext>
            </a:extLst>
          </p:cNvPr>
          <p:cNvSpPr/>
          <p:nvPr/>
        </p:nvSpPr>
        <p:spPr>
          <a:xfrm>
            <a:off x="15851941" y="8812296"/>
            <a:ext cx="7337808" cy="2880800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DB6B076C-0FBA-8302-8665-72932D17DF98}"/>
              </a:ext>
            </a:extLst>
          </p:cNvPr>
          <p:cNvCxnSpPr>
            <a:cxnSpLocks/>
          </p:cNvCxnSpPr>
          <p:nvPr/>
        </p:nvCxnSpPr>
        <p:spPr>
          <a:xfrm flipH="1">
            <a:off x="3505200" y="6118086"/>
            <a:ext cx="12324915" cy="2694210"/>
          </a:xfrm>
          <a:prstGeom prst="straightConnector1">
            <a:avLst/>
          </a:prstGeom>
          <a:ln w="76200">
            <a:solidFill>
              <a:srgbClr val="FFFF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81D36A58-9DFD-6E6C-7F74-88E98C3E142B}"/>
              </a:ext>
            </a:extLst>
          </p:cNvPr>
          <p:cNvCxnSpPr>
            <a:cxnSpLocks/>
          </p:cNvCxnSpPr>
          <p:nvPr/>
        </p:nvCxnSpPr>
        <p:spPr>
          <a:xfrm flipH="1">
            <a:off x="3657600" y="10121147"/>
            <a:ext cx="12150689" cy="1789793"/>
          </a:xfrm>
          <a:prstGeom prst="straightConnector1">
            <a:avLst/>
          </a:prstGeom>
          <a:ln w="76200">
            <a:solidFill>
              <a:srgbClr val="FFFF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318E53C3-AF15-8942-6658-4FD88AE0B328}"/>
              </a:ext>
            </a:extLst>
          </p:cNvPr>
          <p:cNvSpPr/>
          <p:nvPr/>
        </p:nvSpPr>
        <p:spPr>
          <a:xfrm>
            <a:off x="533400" y="7454605"/>
            <a:ext cx="2030731" cy="6026118"/>
          </a:xfrm>
          <a:prstGeom prst="rect">
            <a:avLst/>
          </a:prstGeom>
          <a:noFill/>
          <a:ln w="762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555878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A587A6-B024-278C-A785-E2D1269860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8">
            <a:extLst>
              <a:ext uri="{FF2B5EF4-FFF2-40B4-BE49-F238E27FC236}">
                <a16:creationId xmlns:a16="http://schemas.microsoft.com/office/drawing/2014/main" id="{986348BA-5671-1683-FE73-D0F2BD9874A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 flipV="1">
            <a:off x="1045570" y="2059190"/>
            <a:ext cx="21814430" cy="45719"/>
          </a:xfrm>
          <a:prstGeom prst="rect">
            <a:avLst/>
          </a:prstGeom>
        </p:spPr>
      </p:pic>
      <p:sp>
        <p:nvSpPr>
          <p:cNvPr id="4" name="TextBox 10">
            <a:extLst>
              <a:ext uri="{FF2B5EF4-FFF2-40B4-BE49-F238E27FC236}">
                <a16:creationId xmlns:a16="http://schemas.microsoft.com/office/drawing/2014/main" id="{7ADDF8C5-08FE-63BB-F29C-DF93F4268FD4}"/>
              </a:ext>
            </a:extLst>
          </p:cNvPr>
          <p:cNvSpPr txBox="1"/>
          <p:nvPr/>
        </p:nvSpPr>
        <p:spPr>
          <a:xfrm>
            <a:off x="1295399" y="609600"/>
            <a:ext cx="15451253" cy="1181100"/>
          </a:xfrm>
          <a:prstGeom prst="rect">
            <a:avLst/>
          </a:prstGeom>
        </p:spPr>
        <p:txBody>
          <a:bodyPr lIns="0" tIns="0" rIns="0" bIns="0" anchor="t"/>
          <a:lstStyle/>
          <a:p>
            <a:pPr lvl="0">
              <a:lnSpc>
                <a:spcPct val="116199"/>
              </a:lnSpc>
              <a:defRPr/>
            </a:pPr>
            <a:r>
              <a:rPr lang="en-US" altLang="ko-KR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3. Type </a:t>
            </a:r>
            <a:r>
              <a:rPr lang="ko-KR" altLang="en-US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별 동작 방식</a:t>
            </a:r>
            <a:r>
              <a:rPr lang="en-US" altLang="ko-KR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 (I-type)</a:t>
            </a:r>
            <a:r>
              <a:rPr lang="ko-KR" altLang="en-US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49F5945-2A79-9B91-9073-71E394A61514}"/>
              </a:ext>
            </a:extLst>
          </p:cNvPr>
          <p:cNvSpPr txBox="1"/>
          <p:nvPr/>
        </p:nvSpPr>
        <p:spPr>
          <a:xfrm>
            <a:off x="1305339" y="2426274"/>
            <a:ext cx="600986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400" dirty="0"/>
              <a:t>• simulation(Control Unit)</a:t>
            </a: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22EFE829-592F-2F12-8F8A-D0528B213B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371863"/>
            <a:ext cx="24407191" cy="9344137"/>
          </a:xfrm>
          <a:prstGeom prst="rect">
            <a:avLst/>
          </a:prstGeom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A6B0C46C-DE15-372E-71EA-742AB1DA505A}"/>
              </a:ext>
            </a:extLst>
          </p:cNvPr>
          <p:cNvSpPr/>
          <p:nvPr/>
        </p:nvSpPr>
        <p:spPr>
          <a:xfrm>
            <a:off x="3962400" y="12313920"/>
            <a:ext cx="12954000" cy="851195"/>
          </a:xfrm>
          <a:prstGeom prst="rect">
            <a:avLst/>
          </a:prstGeom>
          <a:noFill/>
          <a:ln w="762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6E292C61-3235-92F7-348C-C0DCAF3ABC6A}"/>
              </a:ext>
            </a:extLst>
          </p:cNvPr>
          <p:cNvSpPr/>
          <p:nvPr/>
        </p:nvSpPr>
        <p:spPr>
          <a:xfrm>
            <a:off x="17916938" y="12323858"/>
            <a:ext cx="6152321" cy="851195"/>
          </a:xfrm>
          <a:prstGeom prst="rect">
            <a:avLst/>
          </a:prstGeom>
          <a:noFill/>
          <a:ln w="762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52FCD4E9-FAF4-3FDB-F667-0CDFEA0125D9}"/>
              </a:ext>
            </a:extLst>
          </p:cNvPr>
          <p:cNvSpPr/>
          <p:nvPr/>
        </p:nvSpPr>
        <p:spPr>
          <a:xfrm>
            <a:off x="12954000" y="7896211"/>
            <a:ext cx="1726096" cy="851195"/>
          </a:xfrm>
          <a:prstGeom prst="rect">
            <a:avLst/>
          </a:prstGeom>
          <a:noFill/>
          <a:ln w="762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B22CF07F-2E70-93CB-5438-292C02261193}"/>
              </a:ext>
            </a:extLst>
          </p:cNvPr>
          <p:cNvSpPr/>
          <p:nvPr/>
        </p:nvSpPr>
        <p:spPr>
          <a:xfrm>
            <a:off x="3810000" y="6814525"/>
            <a:ext cx="13411200" cy="851195"/>
          </a:xfrm>
          <a:prstGeom prst="rect">
            <a:avLst/>
          </a:prstGeom>
          <a:noFill/>
          <a:ln w="762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0A67C2A-8B4F-08A7-073A-CB1C54246109}"/>
              </a:ext>
            </a:extLst>
          </p:cNvPr>
          <p:cNvSpPr txBox="1"/>
          <p:nvPr/>
        </p:nvSpPr>
        <p:spPr>
          <a:xfrm>
            <a:off x="1827143" y="5773629"/>
            <a:ext cx="17526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400" b="1" dirty="0">
                <a:solidFill>
                  <a:schemeClr val="bg1"/>
                </a:solidFill>
                <a:highlight>
                  <a:srgbClr val="808080"/>
                </a:highlight>
              </a:rPr>
              <a:t>funct7</a:t>
            </a:r>
            <a:endParaRPr lang="ko-KR" altLang="en-US" sz="4400" b="1" dirty="0">
              <a:solidFill>
                <a:schemeClr val="bg1"/>
              </a:solidFill>
              <a:highlight>
                <a:srgbClr val="808080"/>
              </a:highlight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0ABB6A6-317A-820C-8309-F25557881346}"/>
              </a:ext>
            </a:extLst>
          </p:cNvPr>
          <p:cNvSpPr txBox="1"/>
          <p:nvPr/>
        </p:nvSpPr>
        <p:spPr>
          <a:xfrm>
            <a:off x="1827143" y="6863628"/>
            <a:ext cx="17526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400" b="1" dirty="0">
                <a:solidFill>
                  <a:schemeClr val="bg1"/>
                </a:solidFill>
                <a:highlight>
                  <a:srgbClr val="808080"/>
                </a:highlight>
              </a:rPr>
              <a:t>funct3</a:t>
            </a:r>
            <a:endParaRPr lang="ko-KR" altLang="en-US" sz="4400" b="1" dirty="0">
              <a:solidFill>
                <a:schemeClr val="bg1"/>
              </a:solidFill>
              <a:highlight>
                <a:srgbClr val="808080"/>
              </a:highlight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AADB293-11D3-F24B-FF71-EBE0B675B811}"/>
              </a:ext>
            </a:extLst>
          </p:cNvPr>
          <p:cNvSpPr txBox="1"/>
          <p:nvPr/>
        </p:nvSpPr>
        <p:spPr>
          <a:xfrm>
            <a:off x="1596887" y="7977965"/>
            <a:ext cx="221311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400" b="1" dirty="0">
                <a:solidFill>
                  <a:schemeClr val="bg1"/>
                </a:solidFill>
                <a:highlight>
                  <a:srgbClr val="808080"/>
                </a:highlight>
              </a:rPr>
              <a:t>OPCODE</a:t>
            </a:r>
            <a:endParaRPr lang="ko-KR" altLang="en-US" sz="4400" b="1" dirty="0">
              <a:solidFill>
                <a:schemeClr val="bg1"/>
              </a:solidFill>
              <a:highlight>
                <a:srgbClr val="808080"/>
              </a:highlight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A153A18-0932-0010-6FEA-11ED0183139A}"/>
              </a:ext>
            </a:extLst>
          </p:cNvPr>
          <p:cNvSpPr txBox="1"/>
          <p:nvPr/>
        </p:nvSpPr>
        <p:spPr>
          <a:xfrm>
            <a:off x="1467678" y="11711653"/>
            <a:ext cx="221311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400" b="1" dirty="0" err="1">
                <a:solidFill>
                  <a:schemeClr val="bg1"/>
                </a:solidFill>
                <a:highlight>
                  <a:srgbClr val="808080"/>
                </a:highlight>
              </a:rPr>
              <a:t>ALU_Ctrl</a:t>
            </a:r>
            <a:endParaRPr lang="ko-KR" altLang="en-US" sz="4400" b="1" dirty="0">
              <a:solidFill>
                <a:schemeClr val="bg1"/>
              </a:solidFill>
              <a:highlight>
                <a:srgbClr val="808080"/>
              </a:highlight>
            </a:endParaRPr>
          </a:p>
        </p:txBody>
      </p: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DCA3DC1A-9FC1-4868-C5AD-D7069777DB42}"/>
              </a:ext>
            </a:extLst>
          </p:cNvPr>
          <p:cNvCxnSpPr>
            <a:cxnSpLocks/>
          </p:cNvCxnSpPr>
          <p:nvPr/>
        </p:nvCxnSpPr>
        <p:spPr>
          <a:xfrm flipH="1">
            <a:off x="10896600" y="7698372"/>
            <a:ext cx="76200" cy="4615547"/>
          </a:xfrm>
          <a:prstGeom prst="straightConnector1">
            <a:avLst/>
          </a:prstGeom>
          <a:ln w="76200">
            <a:solidFill>
              <a:srgbClr val="FFFF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0CBB09D3-E196-4131-9616-9EE5FD9E7A98}"/>
              </a:ext>
            </a:extLst>
          </p:cNvPr>
          <p:cNvSpPr/>
          <p:nvPr/>
        </p:nvSpPr>
        <p:spPr>
          <a:xfrm>
            <a:off x="18059400" y="5821454"/>
            <a:ext cx="5867400" cy="1811615"/>
          </a:xfrm>
          <a:prstGeom prst="rect">
            <a:avLst/>
          </a:prstGeom>
          <a:noFill/>
          <a:ln w="762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B7080FB0-9FB9-EF9E-440A-CBC40F8C0669}"/>
              </a:ext>
            </a:extLst>
          </p:cNvPr>
          <p:cNvCxnSpPr>
            <a:cxnSpLocks/>
          </p:cNvCxnSpPr>
          <p:nvPr/>
        </p:nvCxnSpPr>
        <p:spPr>
          <a:xfrm flipH="1">
            <a:off x="20885522" y="7603418"/>
            <a:ext cx="76200" cy="4615547"/>
          </a:xfrm>
          <a:prstGeom prst="straightConnector1">
            <a:avLst/>
          </a:prstGeom>
          <a:ln w="76200">
            <a:solidFill>
              <a:srgbClr val="FFFF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F6A0B76D-6687-9773-7E75-D304DAB89203}"/>
              </a:ext>
            </a:extLst>
          </p:cNvPr>
          <p:cNvSpPr txBox="1"/>
          <p:nvPr/>
        </p:nvSpPr>
        <p:spPr>
          <a:xfrm>
            <a:off x="16746653" y="4420588"/>
            <a:ext cx="34329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400" b="1" dirty="0">
                <a:solidFill>
                  <a:schemeClr val="bg1"/>
                </a:solidFill>
              </a:rPr>
              <a:t>Funct7 [5] = 0</a:t>
            </a:r>
            <a:endParaRPr lang="ko-KR" altLang="en-US" sz="4400" b="1" dirty="0">
              <a:solidFill>
                <a:schemeClr val="bg1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B24F22D-D1C5-22B1-F71D-6581ADF97477}"/>
              </a:ext>
            </a:extLst>
          </p:cNvPr>
          <p:cNvSpPr txBox="1"/>
          <p:nvPr/>
        </p:nvSpPr>
        <p:spPr>
          <a:xfrm>
            <a:off x="21143550" y="4348039"/>
            <a:ext cx="34329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400" b="1" dirty="0">
                <a:solidFill>
                  <a:schemeClr val="bg1"/>
                </a:solidFill>
              </a:rPr>
              <a:t>Funct7 [5] = 1</a:t>
            </a:r>
            <a:endParaRPr lang="ko-KR" altLang="en-US" sz="4400" b="1" dirty="0">
              <a:solidFill>
                <a:schemeClr val="bg1"/>
              </a:solidFill>
            </a:endParaRPr>
          </a:p>
        </p:txBody>
      </p: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7CD52BA0-5FD0-676E-E9D4-FC6480B9D60D}"/>
              </a:ext>
            </a:extLst>
          </p:cNvPr>
          <p:cNvCxnSpPr>
            <a:cxnSpLocks/>
          </p:cNvCxnSpPr>
          <p:nvPr/>
        </p:nvCxnSpPr>
        <p:spPr>
          <a:xfrm>
            <a:off x="18665639" y="5273232"/>
            <a:ext cx="1070161" cy="411288"/>
          </a:xfrm>
          <a:prstGeom prst="straightConnector1">
            <a:avLst/>
          </a:prstGeom>
          <a:ln w="76200">
            <a:solidFill>
              <a:schemeClr val="bg1">
                <a:lumMod val="9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3BDA4F3F-11EB-B2F2-509F-BB1B53FC4DC7}"/>
              </a:ext>
            </a:extLst>
          </p:cNvPr>
          <p:cNvCxnSpPr>
            <a:cxnSpLocks/>
          </p:cNvCxnSpPr>
          <p:nvPr/>
        </p:nvCxnSpPr>
        <p:spPr>
          <a:xfrm>
            <a:off x="23283948" y="5074863"/>
            <a:ext cx="0" cy="698766"/>
          </a:xfrm>
          <a:prstGeom prst="straightConnector1">
            <a:avLst/>
          </a:prstGeom>
          <a:ln w="76200">
            <a:solidFill>
              <a:schemeClr val="bg1">
                <a:lumMod val="9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7" name="표 56">
            <a:extLst>
              <a:ext uri="{FF2B5EF4-FFF2-40B4-BE49-F238E27FC236}">
                <a16:creationId xmlns:a16="http://schemas.microsoft.com/office/drawing/2014/main" id="{3818B24F-D36A-AC3D-E7D0-184D0A7078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8456401"/>
              </p:ext>
            </p:extLst>
          </p:nvPr>
        </p:nvGraphicFramePr>
        <p:xfrm>
          <a:off x="16783095" y="426663"/>
          <a:ext cx="7381460" cy="3078873"/>
        </p:xfrm>
        <a:graphic>
          <a:graphicData uri="http://schemas.openxmlformats.org/drawingml/2006/table">
            <a:tbl>
              <a:tblPr/>
              <a:tblGrid>
                <a:gridCol w="2952584">
                  <a:extLst>
                    <a:ext uri="{9D8B030D-6E8A-4147-A177-3AD203B41FA5}">
                      <a16:colId xmlns:a16="http://schemas.microsoft.com/office/drawing/2014/main" val="870163477"/>
                    </a:ext>
                  </a:extLst>
                </a:gridCol>
                <a:gridCol w="1476292">
                  <a:extLst>
                    <a:ext uri="{9D8B030D-6E8A-4147-A177-3AD203B41FA5}">
                      <a16:colId xmlns:a16="http://schemas.microsoft.com/office/drawing/2014/main" val="306369564"/>
                    </a:ext>
                  </a:extLst>
                </a:gridCol>
                <a:gridCol w="2952584">
                  <a:extLst>
                    <a:ext uri="{9D8B030D-6E8A-4147-A177-3AD203B41FA5}">
                      <a16:colId xmlns:a16="http://schemas.microsoft.com/office/drawing/2014/main" val="1666020689"/>
                    </a:ext>
                  </a:extLst>
                </a:gridCol>
              </a:tblGrid>
              <a:tr h="738636">
                <a:tc gridSpan="3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control_unit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3726050"/>
                  </a:ext>
                </a:extLst>
              </a:tr>
              <a:tr h="73863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OUTPUT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I_type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1472738"/>
                  </a:ext>
                </a:extLst>
              </a:tr>
              <a:tr h="73863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alu_control</a:t>
                      </a:r>
                      <a:endParaRPr lang="en-US" sz="2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SLL,</a:t>
                      </a:r>
                    </a:p>
                    <a:p>
                      <a:pPr algn="ctr" fontAlgn="ctr">
                        <a:buNone/>
                      </a:pPr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SRL,SRA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0,funct7[5],funct3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0991472"/>
                  </a:ext>
                </a:extLst>
              </a:tr>
              <a:tr h="73863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[</a:t>
                      </a:r>
                      <a:r>
                        <a:rPr lang="en-US" sz="2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b_taken,ALU_ctrl</a:t>
                      </a:r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]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other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0,0,funct3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3924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278381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634738-E08F-B1E0-5768-B90D23F314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그림 33">
            <a:extLst>
              <a:ext uri="{FF2B5EF4-FFF2-40B4-BE49-F238E27FC236}">
                <a16:creationId xmlns:a16="http://schemas.microsoft.com/office/drawing/2014/main" id="{265AE37B-11A6-36F0-004B-88EA11873D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6566" y="3429000"/>
            <a:ext cx="24400565" cy="7772400"/>
          </a:xfrm>
          <a:prstGeom prst="rect">
            <a:avLst/>
          </a:prstGeom>
        </p:spPr>
      </p:pic>
      <p:pic>
        <p:nvPicPr>
          <p:cNvPr id="3" name="Picture 8">
            <a:extLst>
              <a:ext uri="{FF2B5EF4-FFF2-40B4-BE49-F238E27FC236}">
                <a16:creationId xmlns:a16="http://schemas.microsoft.com/office/drawing/2014/main" id="{F15E9751-3C33-595C-0FE1-ABB3465F9BB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 flipV="1">
            <a:off x="1045570" y="2059190"/>
            <a:ext cx="21814430" cy="45719"/>
          </a:xfrm>
          <a:prstGeom prst="rect">
            <a:avLst/>
          </a:prstGeom>
        </p:spPr>
      </p:pic>
      <p:sp>
        <p:nvSpPr>
          <p:cNvPr id="4" name="TextBox 10">
            <a:extLst>
              <a:ext uri="{FF2B5EF4-FFF2-40B4-BE49-F238E27FC236}">
                <a16:creationId xmlns:a16="http://schemas.microsoft.com/office/drawing/2014/main" id="{3A1B4982-D9DB-25B4-EECB-40039EF2B3D0}"/>
              </a:ext>
            </a:extLst>
          </p:cNvPr>
          <p:cNvSpPr txBox="1"/>
          <p:nvPr/>
        </p:nvSpPr>
        <p:spPr>
          <a:xfrm>
            <a:off x="1295400" y="609600"/>
            <a:ext cx="18897600" cy="1181100"/>
          </a:xfrm>
          <a:prstGeom prst="rect">
            <a:avLst/>
          </a:prstGeom>
        </p:spPr>
        <p:txBody>
          <a:bodyPr lIns="0" tIns="0" rIns="0" bIns="0" anchor="t"/>
          <a:lstStyle/>
          <a:p>
            <a:pPr lvl="0">
              <a:lnSpc>
                <a:spcPct val="116199"/>
              </a:lnSpc>
              <a:defRPr/>
            </a:pPr>
            <a:r>
              <a:rPr lang="en-US" altLang="ko-KR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3. Type </a:t>
            </a:r>
            <a:r>
              <a:rPr lang="ko-KR" altLang="en-US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별 동작 방식</a:t>
            </a:r>
            <a:r>
              <a:rPr lang="en-US" altLang="ko-KR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(I-type)</a:t>
            </a:r>
            <a:r>
              <a:rPr lang="ko-KR" altLang="en-US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26BB7C6-AFD5-2F31-0D90-6170055E35E4}"/>
              </a:ext>
            </a:extLst>
          </p:cNvPr>
          <p:cNvSpPr txBox="1"/>
          <p:nvPr/>
        </p:nvSpPr>
        <p:spPr>
          <a:xfrm>
            <a:off x="1305339" y="2426274"/>
            <a:ext cx="669566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400" dirty="0"/>
              <a:t>• simulation(</a:t>
            </a:r>
            <a:r>
              <a:rPr lang="en-US" altLang="ko-KR" sz="4400" dirty="0" err="1"/>
              <a:t>imm_extender</a:t>
            </a:r>
            <a:r>
              <a:rPr lang="en-US" altLang="ko-KR" sz="4400" dirty="0"/>
              <a:t>)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0FAAA2D0-29D5-097B-2B2C-32BA08F2E4F7}"/>
              </a:ext>
            </a:extLst>
          </p:cNvPr>
          <p:cNvSpPr/>
          <p:nvPr/>
        </p:nvSpPr>
        <p:spPr>
          <a:xfrm>
            <a:off x="11430000" y="7620000"/>
            <a:ext cx="1371600" cy="1066800"/>
          </a:xfrm>
          <a:prstGeom prst="rect">
            <a:avLst/>
          </a:prstGeom>
          <a:noFill/>
          <a:ln w="762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6BCB02E8-74ED-5A64-0FAB-7D512F9367C0}"/>
              </a:ext>
            </a:extLst>
          </p:cNvPr>
          <p:cNvSpPr/>
          <p:nvPr/>
        </p:nvSpPr>
        <p:spPr>
          <a:xfrm>
            <a:off x="6629400" y="9525000"/>
            <a:ext cx="11277600" cy="1066800"/>
          </a:xfrm>
          <a:prstGeom prst="rect">
            <a:avLst/>
          </a:prstGeom>
          <a:noFill/>
          <a:ln w="762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74054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1D8659-DD9B-D4CE-083A-E2CEB94202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8">
            <a:extLst>
              <a:ext uri="{FF2B5EF4-FFF2-40B4-BE49-F238E27FC236}">
                <a16:creationId xmlns:a16="http://schemas.microsoft.com/office/drawing/2014/main" id="{30C864C2-4882-7E97-1720-C4E60515343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 flipV="1">
            <a:off x="1045570" y="2059190"/>
            <a:ext cx="21814430" cy="45719"/>
          </a:xfrm>
          <a:prstGeom prst="rect">
            <a:avLst/>
          </a:prstGeom>
        </p:spPr>
      </p:pic>
      <p:sp>
        <p:nvSpPr>
          <p:cNvPr id="4" name="TextBox 10">
            <a:extLst>
              <a:ext uri="{FF2B5EF4-FFF2-40B4-BE49-F238E27FC236}">
                <a16:creationId xmlns:a16="http://schemas.microsoft.com/office/drawing/2014/main" id="{D96C1E1A-6302-4B92-DB25-673D73495448}"/>
              </a:ext>
            </a:extLst>
          </p:cNvPr>
          <p:cNvSpPr txBox="1"/>
          <p:nvPr/>
        </p:nvSpPr>
        <p:spPr>
          <a:xfrm>
            <a:off x="1295400" y="609600"/>
            <a:ext cx="18897600" cy="1181100"/>
          </a:xfrm>
          <a:prstGeom prst="rect">
            <a:avLst/>
          </a:prstGeom>
        </p:spPr>
        <p:txBody>
          <a:bodyPr lIns="0" tIns="0" rIns="0" bIns="0" anchor="t"/>
          <a:lstStyle/>
          <a:p>
            <a:pPr lvl="0">
              <a:lnSpc>
                <a:spcPct val="116199"/>
              </a:lnSpc>
              <a:defRPr/>
            </a:pPr>
            <a:r>
              <a:rPr lang="en-US" altLang="ko-KR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3. Type </a:t>
            </a:r>
            <a:r>
              <a:rPr lang="ko-KR" altLang="en-US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별 동작 방식</a:t>
            </a:r>
            <a:r>
              <a:rPr lang="en-US" altLang="ko-KR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(I-type)</a:t>
            </a:r>
            <a:r>
              <a:rPr lang="ko-KR" altLang="en-US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6F8C469-D146-449F-87DA-3C09B0263243}"/>
              </a:ext>
            </a:extLst>
          </p:cNvPr>
          <p:cNvSpPr txBox="1"/>
          <p:nvPr/>
        </p:nvSpPr>
        <p:spPr>
          <a:xfrm>
            <a:off x="1305339" y="2426274"/>
            <a:ext cx="540026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400" dirty="0"/>
              <a:t>• simulation(ALU)</a:t>
            </a:r>
          </a:p>
        </p:txBody>
      </p:sp>
      <p:graphicFrame>
        <p:nvGraphicFramePr>
          <p:cNvPr id="6" name="Table 12">
            <a:extLst>
              <a:ext uri="{FF2B5EF4-FFF2-40B4-BE49-F238E27FC236}">
                <a16:creationId xmlns:a16="http://schemas.microsoft.com/office/drawing/2014/main" id="{1D0C6B07-1A69-B16E-0246-36D59716D267}"/>
              </a:ext>
            </a:extLst>
          </p:cNvPr>
          <p:cNvGraphicFramePr>
            <a:graphicFrameLocks noGrp="1"/>
          </p:cNvGraphicFramePr>
          <p:nvPr/>
        </p:nvGraphicFramePr>
        <p:xfrm>
          <a:off x="304800" y="4114800"/>
          <a:ext cx="4648201" cy="7991181"/>
        </p:xfrm>
        <a:graphic>
          <a:graphicData uri="http://schemas.openxmlformats.org/drawingml/2006/table">
            <a:tbl>
              <a:tblPr/>
              <a:tblGrid>
                <a:gridCol w="533399">
                  <a:extLst>
                    <a:ext uri="{9D8B030D-6E8A-4147-A177-3AD203B41FA5}">
                      <a16:colId xmlns:a16="http://schemas.microsoft.com/office/drawing/2014/main" val="1091418196"/>
                    </a:ext>
                  </a:extLst>
                </a:gridCol>
                <a:gridCol w="1447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67002">
                  <a:extLst>
                    <a:ext uri="{9D8B030D-6E8A-4147-A177-3AD203B41FA5}">
                      <a16:colId xmlns:a16="http://schemas.microsoft.com/office/drawing/2014/main" val="1825833440"/>
                    </a:ext>
                  </a:extLst>
                </a:gridCol>
              </a:tblGrid>
              <a:tr h="537190">
                <a:tc gridSpan="3"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>
                          <a:solidFill>
                            <a:schemeClr val="bg1"/>
                          </a:solidFill>
                        </a:rPr>
                        <a:t>INSTR MEM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25666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PC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INSRT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Result(DEX)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5701013"/>
                  </a:ext>
                </a:extLst>
              </a:tr>
              <a:tr h="825666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0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ADDI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altLang="ko-KR" sz="3600" dirty="0"/>
                        <a:t>100</a:t>
                      </a:r>
                      <a:endParaRPr lang="en-US" sz="3600" dirty="0"/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14909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1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SLTI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1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4450522"/>
                  </a:ext>
                </a:extLst>
              </a:tr>
              <a:tr h="814909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2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SLTUI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0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1244518"/>
                  </a:ext>
                </a:extLst>
              </a:tr>
              <a:tr h="814909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3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XORI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-172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3088552"/>
                  </a:ext>
                </a:extLst>
              </a:tr>
              <a:tr h="814909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4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ORI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-36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5307821"/>
                  </a:ext>
                </a:extLst>
              </a:tr>
              <a:tr h="814909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5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ANDI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136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4467206"/>
                  </a:ext>
                </a:extLst>
              </a:tr>
              <a:tr h="814909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6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SRLI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1073741799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670819"/>
                  </a:ext>
                </a:extLst>
              </a:tr>
              <a:tr h="814909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7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SRAI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-25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2271470"/>
                  </a:ext>
                </a:extLst>
              </a:tr>
            </a:tbl>
          </a:graphicData>
        </a:graphic>
      </p:graphicFrame>
      <p:pic>
        <p:nvPicPr>
          <p:cNvPr id="8" name="그림 7">
            <a:extLst>
              <a:ext uri="{FF2B5EF4-FFF2-40B4-BE49-F238E27FC236}">
                <a16:creationId xmlns:a16="http://schemas.microsoft.com/office/drawing/2014/main" id="{FCD16C80-2F38-818D-ED68-1FE4B3B91F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4434" y="2895620"/>
            <a:ext cx="18074765" cy="467866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BDB7F37-0858-2CB3-33C3-EAF183A52FF2}"/>
              </a:ext>
            </a:extLst>
          </p:cNvPr>
          <p:cNvSpPr txBox="1"/>
          <p:nvPr/>
        </p:nvSpPr>
        <p:spPr>
          <a:xfrm>
            <a:off x="6004435" y="2144665"/>
            <a:ext cx="540026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dirty="0"/>
              <a:t>- ADD ~ SLTU</a:t>
            </a:r>
            <a:endParaRPr lang="ko-KR" altLang="en-US" sz="4000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602699A5-4830-4AF3-9588-7812E96E01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0999" y="8763000"/>
            <a:ext cx="18074765" cy="44958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A532B81-9D3D-5494-A104-84D38CD8A9C6}"/>
              </a:ext>
            </a:extLst>
          </p:cNvPr>
          <p:cNvSpPr txBox="1"/>
          <p:nvPr/>
        </p:nvSpPr>
        <p:spPr>
          <a:xfrm>
            <a:off x="6004434" y="8103764"/>
            <a:ext cx="540026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dirty="0"/>
              <a:t>- AND ~ SRA</a:t>
            </a:r>
            <a:endParaRPr lang="ko-KR" altLang="en-US" sz="40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154ECF1-1DB8-63D6-2DC7-03BCE9BB7E34}"/>
              </a:ext>
            </a:extLst>
          </p:cNvPr>
          <p:cNvSpPr/>
          <p:nvPr/>
        </p:nvSpPr>
        <p:spPr>
          <a:xfrm>
            <a:off x="304800" y="5638800"/>
            <a:ext cx="4648201" cy="3124200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DAED674-569E-8EF6-06F7-1309E6F50519}"/>
              </a:ext>
            </a:extLst>
          </p:cNvPr>
          <p:cNvSpPr/>
          <p:nvPr/>
        </p:nvSpPr>
        <p:spPr>
          <a:xfrm>
            <a:off x="304800" y="8803006"/>
            <a:ext cx="4648200" cy="3302975"/>
          </a:xfrm>
          <a:prstGeom prst="rect">
            <a:avLst/>
          </a:prstGeom>
          <a:noFill/>
          <a:ln w="762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CC3980CD-7647-201B-53E7-E172AA6368A3}"/>
              </a:ext>
            </a:extLst>
          </p:cNvPr>
          <p:cNvCxnSpPr>
            <a:cxnSpLocks/>
          </p:cNvCxnSpPr>
          <p:nvPr/>
        </p:nvCxnSpPr>
        <p:spPr>
          <a:xfrm flipV="1">
            <a:off x="4953001" y="5433955"/>
            <a:ext cx="1005052" cy="1043045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DB0157AD-8C69-06EF-5289-4E405BE0C818}"/>
              </a:ext>
            </a:extLst>
          </p:cNvPr>
          <p:cNvCxnSpPr>
            <a:cxnSpLocks/>
          </p:cNvCxnSpPr>
          <p:nvPr/>
        </p:nvCxnSpPr>
        <p:spPr>
          <a:xfrm>
            <a:off x="4966253" y="10439400"/>
            <a:ext cx="1005052" cy="571500"/>
          </a:xfrm>
          <a:prstGeom prst="straightConnector1">
            <a:avLst/>
          </a:prstGeom>
          <a:ln w="762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E02F1C23-BB48-DC88-C28D-34E8EC509888}"/>
              </a:ext>
            </a:extLst>
          </p:cNvPr>
          <p:cNvSpPr/>
          <p:nvPr/>
        </p:nvSpPr>
        <p:spPr>
          <a:xfrm>
            <a:off x="10896600" y="5213202"/>
            <a:ext cx="1371600" cy="1263798"/>
          </a:xfrm>
          <a:prstGeom prst="rect">
            <a:avLst/>
          </a:prstGeom>
          <a:noFill/>
          <a:ln w="762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D2796531-9127-BD29-F60F-D21808ED8EC8}"/>
              </a:ext>
            </a:extLst>
          </p:cNvPr>
          <p:cNvSpPr/>
          <p:nvPr/>
        </p:nvSpPr>
        <p:spPr>
          <a:xfrm>
            <a:off x="14173200" y="5213202"/>
            <a:ext cx="1371600" cy="1263798"/>
          </a:xfrm>
          <a:prstGeom prst="rect">
            <a:avLst/>
          </a:prstGeom>
          <a:noFill/>
          <a:ln w="762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7C746CD2-B4B6-3ECB-7B89-F04E1B4F448F}"/>
              </a:ext>
            </a:extLst>
          </p:cNvPr>
          <p:cNvSpPr/>
          <p:nvPr/>
        </p:nvSpPr>
        <p:spPr>
          <a:xfrm>
            <a:off x="16764000" y="5213202"/>
            <a:ext cx="1371600" cy="1263798"/>
          </a:xfrm>
          <a:prstGeom prst="rect">
            <a:avLst/>
          </a:prstGeom>
          <a:noFill/>
          <a:ln w="762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F42B54E8-7A18-307A-F3AB-EB3C70585A67}"/>
              </a:ext>
            </a:extLst>
          </p:cNvPr>
          <p:cNvSpPr/>
          <p:nvPr/>
        </p:nvSpPr>
        <p:spPr>
          <a:xfrm>
            <a:off x="19507200" y="5213202"/>
            <a:ext cx="1371600" cy="1263798"/>
          </a:xfrm>
          <a:prstGeom prst="rect">
            <a:avLst/>
          </a:prstGeom>
          <a:noFill/>
          <a:ln w="762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A28D8B63-6FE1-A625-61FC-9D85CA0496C4}"/>
              </a:ext>
            </a:extLst>
          </p:cNvPr>
          <p:cNvSpPr/>
          <p:nvPr/>
        </p:nvSpPr>
        <p:spPr>
          <a:xfrm>
            <a:off x="12192000" y="11010900"/>
            <a:ext cx="1371600" cy="1263798"/>
          </a:xfrm>
          <a:prstGeom prst="rect">
            <a:avLst/>
          </a:prstGeom>
          <a:noFill/>
          <a:ln w="762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E75D3F88-61F5-C94B-49FF-4CC5FC33B226}"/>
              </a:ext>
            </a:extLst>
          </p:cNvPr>
          <p:cNvSpPr/>
          <p:nvPr/>
        </p:nvSpPr>
        <p:spPr>
          <a:xfrm>
            <a:off x="22148895" y="5213202"/>
            <a:ext cx="1371600" cy="1263798"/>
          </a:xfrm>
          <a:prstGeom prst="rect">
            <a:avLst/>
          </a:prstGeom>
          <a:noFill/>
          <a:ln w="762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4AF10647-C3CA-9264-E08C-C8763480C30B}"/>
              </a:ext>
            </a:extLst>
          </p:cNvPr>
          <p:cNvSpPr/>
          <p:nvPr/>
        </p:nvSpPr>
        <p:spPr>
          <a:xfrm>
            <a:off x="17472991" y="4422490"/>
            <a:ext cx="1371600" cy="555591"/>
          </a:xfrm>
          <a:prstGeom prst="rect">
            <a:avLst/>
          </a:prstGeom>
          <a:noFill/>
          <a:ln w="762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9B0BC338-1EB4-55B5-5B4F-77C3EE27B0B9}"/>
              </a:ext>
            </a:extLst>
          </p:cNvPr>
          <p:cNvSpPr/>
          <p:nvPr/>
        </p:nvSpPr>
        <p:spPr>
          <a:xfrm>
            <a:off x="15392400" y="11004274"/>
            <a:ext cx="1371600" cy="1263798"/>
          </a:xfrm>
          <a:prstGeom prst="rect">
            <a:avLst/>
          </a:prstGeom>
          <a:noFill/>
          <a:ln w="762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85AFF15F-66F4-A244-B0DA-4687335E1705}"/>
              </a:ext>
            </a:extLst>
          </p:cNvPr>
          <p:cNvSpPr/>
          <p:nvPr/>
        </p:nvSpPr>
        <p:spPr>
          <a:xfrm>
            <a:off x="18592800" y="11004274"/>
            <a:ext cx="1371600" cy="1263798"/>
          </a:xfrm>
          <a:prstGeom prst="rect">
            <a:avLst/>
          </a:prstGeom>
          <a:noFill/>
          <a:ln w="762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C0552BB2-0254-8C44-F21C-DC331A28597F}"/>
              </a:ext>
            </a:extLst>
          </p:cNvPr>
          <p:cNvSpPr/>
          <p:nvPr/>
        </p:nvSpPr>
        <p:spPr>
          <a:xfrm>
            <a:off x="21793200" y="10995991"/>
            <a:ext cx="1371600" cy="1263798"/>
          </a:xfrm>
          <a:prstGeom prst="rect">
            <a:avLst/>
          </a:prstGeom>
          <a:noFill/>
          <a:ln w="762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553DA94-407C-FA34-9846-1BD1DE5634EA}"/>
              </a:ext>
            </a:extLst>
          </p:cNvPr>
          <p:cNvSpPr/>
          <p:nvPr/>
        </p:nvSpPr>
        <p:spPr>
          <a:xfrm>
            <a:off x="11658600" y="10264789"/>
            <a:ext cx="1371600" cy="555591"/>
          </a:xfrm>
          <a:prstGeom prst="rect">
            <a:avLst/>
          </a:prstGeom>
          <a:noFill/>
          <a:ln w="762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599222A9-9A23-6975-B4A7-E2E5E831D666}"/>
              </a:ext>
            </a:extLst>
          </p:cNvPr>
          <p:cNvSpPr/>
          <p:nvPr/>
        </p:nvSpPr>
        <p:spPr>
          <a:xfrm>
            <a:off x="16941705" y="10264789"/>
            <a:ext cx="1371600" cy="555591"/>
          </a:xfrm>
          <a:prstGeom prst="rect">
            <a:avLst/>
          </a:prstGeom>
          <a:noFill/>
          <a:ln w="762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6FB63DA-C018-8949-59BA-31A338D1748E}"/>
              </a:ext>
            </a:extLst>
          </p:cNvPr>
          <p:cNvSpPr txBox="1"/>
          <p:nvPr/>
        </p:nvSpPr>
        <p:spPr>
          <a:xfrm>
            <a:off x="17500695" y="3707845"/>
            <a:ext cx="177790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400" b="1" dirty="0" err="1">
                <a:solidFill>
                  <a:schemeClr val="bg1"/>
                </a:solidFill>
              </a:rPr>
              <a:t>imm</a:t>
            </a:r>
            <a:endParaRPr lang="ko-KR" altLang="en-US" sz="4400" b="1" dirty="0">
              <a:solidFill>
                <a:schemeClr val="bg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154F5D6-8518-943C-9CE7-D4E3AD628786}"/>
              </a:ext>
            </a:extLst>
          </p:cNvPr>
          <p:cNvSpPr txBox="1"/>
          <p:nvPr/>
        </p:nvSpPr>
        <p:spPr>
          <a:xfrm>
            <a:off x="11779069" y="9520495"/>
            <a:ext cx="177790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400" b="1" dirty="0" err="1">
                <a:solidFill>
                  <a:schemeClr val="bg1"/>
                </a:solidFill>
              </a:rPr>
              <a:t>imm</a:t>
            </a:r>
            <a:endParaRPr lang="ko-KR" altLang="en-US" sz="4400" b="1" dirty="0">
              <a:solidFill>
                <a:schemeClr val="bg1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2DBDCDB-9EDE-E59B-62E9-86F106CDD882}"/>
              </a:ext>
            </a:extLst>
          </p:cNvPr>
          <p:cNvSpPr txBox="1"/>
          <p:nvPr/>
        </p:nvSpPr>
        <p:spPr>
          <a:xfrm>
            <a:off x="19807630" y="8668004"/>
            <a:ext cx="214234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400" b="1" dirty="0">
                <a:solidFill>
                  <a:schemeClr val="bg1"/>
                </a:solidFill>
              </a:rPr>
              <a:t>Shift = 2</a:t>
            </a:r>
            <a:endParaRPr lang="ko-KR" altLang="en-US" sz="4400" b="1" dirty="0">
              <a:solidFill>
                <a:schemeClr val="bg1"/>
              </a:solidFill>
            </a:endParaRP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5A120BB8-3A5D-3A95-215D-DFE956E970EF}"/>
              </a:ext>
            </a:extLst>
          </p:cNvPr>
          <p:cNvSpPr/>
          <p:nvPr/>
        </p:nvSpPr>
        <p:spPr>
          <a:xfrm>
            <a:off x="21793200" y="10289936"/>
            <a:ext cx="1371600" cy="555591"/>
          </a:xfrm>
          <a:prstGeom prst="rect">
            <a:avLst/>
          </a:prstGeom>
          <a:noFill/>
          <a:ln w="762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A7616DD-44AC-042A-7A12-D296B1609103}"/>
              </a:ext>
            </a:extLst>
          </p:cNvPr>
          <p:cNvSpPr txBox="1"/>
          <p:nvPr/>
        </p:nvSpPr>
        <p:spPr>
          <a:xfrm>
            <a:off x="22274790" y="9445263"/>
            <a:ext cx="214234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400" b="1" dirty="0">
                <a:solidFill>
                  <a:schemeClr val="bg1"/>
                </a:solidFill>
              </a:rPr>
              <a:t>32’h42</a:t>
            </a:r>
            <a:endParaRPr lang="ko-KR" altLang="en-US" sz="4400" b="1" dirty="0">
              <a:solidFill>
                <a:schemeClr val="bg1"/>
              </a:solidFill>
            </a:endParaRPr>
          </a:p>
        </p:txBody>
      </p: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BBB45776-5F43-A6C4-34CC-9B2E03767B15}"/>
              </a:ext>
            </a:extLst>
          </p:cNvPr>
          <p:cNvCxnSpPr>
            <a:cxnSpLocks/>
          </p:cNvCxnSpPr>
          <p:nvPr/>
        </p:nvCxnSpPr>
        <p:spPr>
          <a:xfrm flipH="1">
            <a:off x="18363001" y="9445263"/>
            <a:ext cx="2134799" cy="844673"/>
          </a:xfrm>
          <a:prstGeom prst="straightConnector1">
            <a:avLst/>
          </a:prstGeom>
          <a:ln w="76200">
            <a:solidFill>
              <a:srgbClr val="FFFF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8D8B9B25-AA4F-4084-AEC8-47784BF91DAC}"/>
              </a:ext>
            </a:extLst>
          </p:cNvPr>
          <p:cNvCxnSpPr>
            <a:cxnSpLocks/>
          </p:cNvCxnSpPr>
          <p:nvPr/>
        </p:nvCxnSpPr>
        <p:spPr>
          <a:xfrm>
            <a:off x="20726400" y="9445263"/>
            <a:ext cx="1066800" cy="819526"/>
          </a:xfrm>
          <a:prstGeom prst="straightConnector1">
            <a:avLst/>
          </a:prstGeom>
          <a:ln w="76200">
            <a:solidFill>
              <a:srgbClr val="FFFF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15110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85E2C0-00E8-9385-2ECF-AF53A0EE33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8">
            <a:extLst>
              <a:ext uri="{FF2B5EF4-FFF2-40B4-BE49-F238E27FC236}">
                <a16:creationId xmlns:a16="http://schemas.microsoft.com/office/drawing/2014/main" id="{E76403BF-8869-1A71-60DB-94388A7D787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 flipV="1">
            <a:off x="1045570" y="2059190"/>
            <a:ext cx="21814430" cy="45719"/>
          </a:xfrm>
          <a:prstGeom prst="rect">
            <a:avLst/>
          </a:prstGeom>
        </p:spPr>
      </p:pic>
      <p:sp>
        <p:nvSpPr>
          <p:cNvPr id="4" name="TextBox 10">
            <a:extLst>
              <a:ext uri="{FF2B5EF4-FFF2-40B4-BE49-F238E27FC236}">
                <a16:creationId xmlns:a16="http://schemas.microsoft.com/office/drawing/2014/main" id="{25DF862C-AFD5-6D21-B12E-06A048692ACE}"/>
              </a:ext>
            </a:extLst>
          </p:cNvPr>
          <p:cNvSpPr txBox="1"/>
          <p:nvPr/>
        </p:nvSpPr>
        <p:spPr>
          <a:xfrm>
            <a:off x="1295400" y="609600"/>
            <a:ext cx="18897600" cy="1181100"/>
          </a:xfrm>
          <a:prstGeom prst="rect">
            <a:avLst/>
          </a:prstGeom>
        </p:spPr>
        <p:txBody>
          <a:bodyPr lIns="0" tIns="0" rIns="0" bIns="0" anchor="t"/>
          <a:lstStyle/>
          <a:p>
            <a:pPr lvl="0">
              <a:lnSpc>
                <a:spcPct val="116199"/>
              </a:lnSpc>
              <a:defRPr/>
            </a:pPr>
            <a:r>
              <a:rPr lang="en-US" altLang="ko-KR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3. Type </a:t>
            </a:r>
            <a:r>
              <a:rPr lang="ko-KR" altLang="en-US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별 동작 방식</a:t>
            </a:r>
            <a:r>
              <a:rPr lang="en-US" altLang="ko-KR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(I-type)</a:t>
            </a:r>
            <a:r>
              <a:rPr lang="ko-KR" altLang="en-US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DBCB6A1-6D4A-EB17-DBC6-82EC8F1C4FD8}"/>
              </a:ext>
            </a:extLst>
          </p:cNvPr>
          <p:cNvSpPr txBox="1"/>
          <p:nvPr/>
        </p:nvSpPr>
        <p:spPr>
          <a:xfrm>
            <a:off x="1305339" y="2426274"/>
            <a:ext cx="540026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400" dirty="0"/>
              <a:t>• simulation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0685EBC-909D-3C6F-0EE7-E2623EACC2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241434"/>
            <a:ext cx="24384000" cy="10047845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F6C8B21B-B562-A009-1086-F75EB82B4254}"/>
              </a:ext>
            </a:extLst>
          </p:cNvPr>
          <p:cNvSpPr/>
          <p:nvPr/>
        </p:nvSpPr>
        <p:spPr>
          <a:xfrm>
            <a:off x="3505202" y="5761629"/>
            <a:ext cx="20497798" cy="639171"/>
          </a:xfrm>
          <a:prstGeom prst="rect">
            <a:avLst/>
          </a:prstGeom>
          <a:noFill/>
          <a:ln w="762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1B1636-AD59-C905-C59A-699B78BC461F}"/>
              </a:ext>
            </a:extLst>
          </p:cNvPr>
          <p:cNvSpPr/>
          <p:nvPr/>
        </p:nvSpPr>
        <p:spPr>
          <a:xfrm>
            <a:off x="3505201" y="11643558"/>
            <a:ext cx="20497797" cy="639171"/>
          </a:xfrm>
          <a:prstGeom prst="rect">
            <a:avLst/>
          </a:prstGeom>
          <a:noFill/>
          <a:ln w="762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E13BF51B-C44E-E7E1-7579-2EC909DBA73F}"/>
              </a:ext>
            </a:extLst>
          </p:cNvPr>
          <p:cNvCxnSpPr>
            <a:cxnSpLocks/>
          </p:cNvCxnSpPr>
          <p:nvPr/>
        </p:nvCxnSpPr>
        <p:spPr>
          <a:xfrm>
            <a:off x="10020300" y="9531647"/>
            <a:ext cx="0" cy="2111911"/>
          </a:xfrm>
          <a:prstGeom prst="straightConnector1">
            <a:avLst/>
          </a:prstGeom>
          <a:ln w="76200">
            <a:solidFill>
              <a:srgbClr val="FFFF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001FAC88-1D88-F658-0325-FBF1CEF4B823}"/>
              </a:ext>
            </a:extLst>
          </p:cNvPr>
          <p:cNvSpPr txBox="1"/>
          <p:nvPr/>
        </p:nvSpPr>
        <p:spPr>
          <a:xfrm>
            <a:off x="13030200" y="4047193"/>
            <a:ext cx="3429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000" dirty="0">
                <a:highlight>
                  <a:srgbClr val="FFFF00"/>
                </a:highlight>
              </a:rPr>
              <a:t>+</a:t>
            </a:r>
            <a:r>
              <a:rPr lang="ko-KR" altLang="en-US" sz="4000" dirty="0">
                <a:highlight>
                  <a:srgbClr val="FFFF00"/>
                </a:highlight>
              </a:rPr>
              <a:t> </a:t>
            </a:r>
            <a:r>
              <a:rPr lang="en-US" altLang="ko-KR" sz="4000" dirty="0">
                <a:highlight>
                  <a:srgbClr val="FFFF00"/>
                </a:highlight>
              </a:rPr>
              <a:t>1</a:t>
            </a:r>
            <a:r>
              <a:rPr lang="ko-KR" altLang="en-US" sz="4000" dirty="0">
                <a:highlight>
                  <a:srgbClr val="FFFF00"/>
                </a:highlight>
              </a:rPr>
              <a:t>씩 증가</a:t>
            </a:r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6704FFEA-64D8-B6F4-94D2-E3EADAED97EC}"/>
              </a:ext>
            </a:extLst>
          </p:cNvPr>
          <p:cNvCxnSpPr>
            <a:cxnSpLocks/>
          </p:cNvCxnSpPr>
          <p:nvPr/>
        </p:nvCxnSpPr>
        <p:spPr>
          <a:xfrm flipV="1">
            <a:off x="13868400" y="6400800"/>
            <a:ext cx="115126" cy="5242758"/>
          </a:xfrm>
          <a:prstGeom prst="straightConnector1">
            <a:avLst/>
          </a:prstGeom>
          <a:ln w="76200">
            <a:solidFill>
              <a:srgbClr val="FFFF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FD63B544-2DD3-A611-E818-C928F4C98DDD}"/>
              </a:ext>
            </a:extLst>
          </p:cNvPr>
          <p:cNvCxnSpPr>
            <a:cxnSpLocks/>
          </p:cNvCxnSpPr>
          <p:nvPr/>
        </p:nvCxnSpPr>
        <p:spPr>
          <a:xfrm flipH="1">
            <a:off x="13983526" y="4506644"/>
            <a:ext cx="265874" cy="1254985"/>
          </a:xfrm>
          <a:prstGeom prst="straightConnector1">
            <a:avLst/>
          </a:prstGeom>
          <a:ln w="76200">
            <a:solidFill>
              <a:srgbClr val="FFFF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36AB5FF4-0620-6713-0F66-6516B65876F5}"/>
              </a:ext>
            </a:extLst>
          </p:cNvPr>
          <p:cNvSpPr txBox="1"/>
          <p:nvPr/>
        </p:nvSpPr>
        <p:spPr>
          <a:xfrm>
            <a:off x="14178998" y="8651360"/>
            <a:ext cx="231912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000" dirty="0" err="1">
                <a:highlight>
                  <a:srgbClr val="FFFF00"/>
                </a:highlight>
              </a:rPr>
              <a:t>O_pc</a:t>
            </a:r>
            <a:r>
              <a:rPr lang="en-US" altLang="ko-KR" sz="4000" dirty="0">
                <a:highlight>
                  <a:srgbClr val="FFFF00"/>
                </a:highlight>
              </a:rPr>
              <a:t>[31:2]</a:t>
            </a:r>
            <a:endParaRPr lang="ko-KR" altLang="en-US" sz="4000" dirty="0">
              <a:highlight>
                <a:srgbClr val="FFFF00"/>
              </a:highlight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3C1F218-63FE-BCD9-AB38-B75AA41882DE}"/>
              </a:ext>
            </a:extLst>
          </p:cNvPr>
          <p:cNvSpPr txBox="1"/>
          <p:nvPr/>
        </p:nvSpPr>
        <p:spPr>
          <a:xfrm>
            <a:off x="8686800" y="8823761"/>
            <a:ext cx="2667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000" dirty="0">
                <a:highlight>
                  <a:srgbClr val="FFFF00"/>
                </a:highlight>
              </a:rPr>
              <a:t>PC</a:t>
            </a:r>
            <a:r>
              <a:rPr lang="ko-KR" altLang="en-US" sz="4000" dirty="0">
                <a:highlight>
                  <a:srgbClr val="FFFF00"/>
                </a:highlight>
              </a:rPr>
              <a:t> </a:t>
            </a:r>
            <a:r>
              <a:rPr lang="en-US" altLang="ko-KR" sz="4000" dirty="0">
                <a:highlight>
                  <a:srgbClr val="FFFF00"/>
                </a:highlight>
              </a:rPr>
              <a:t>+ 4 </a:t>
            </a:r>
            <a:r>
              <a:rPr lang="ko-KR" altLang="en-US" sz="4000" dirty="0">
                <a:highlight>
                  <a:srgbClr val="FFFF00"/>
                </a:highlight>
              </a:rPr>
              <a:t>출력</a:t>
            </a:r>
          </a:p>
        </p:txBody>
      </p:sp>
    </p:spTree>
    <p:extLst>
      <p:ext uri="{BB962C8B-B14F-4D97-AF65-F5344CB8AC3E}">
        <p14:creationId xmlns:p14="http://schemas.microsoft.com/office/powerpoint/2010/main" val="39658586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16F64F-A03B-C986-5E03-BBFC236A35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그림 18">
            <a:extLst>
              <a:ext uri="{FF2B5EF4-FFF2-40B4-BE49-F238E27FC236}">
                <a16:creationId xmlns:a16="http://schemas.microsoft.com/office/drawing/2014/main" id="{13099073-8AFB-79F5-A992-252AC2AB04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426274"/>
            <a:ext cx="11734800" cy="10156844"/>
          </a:xfrm>
          <a:prstGeom prst="rect">
            <a:avLst/>
          </a:prstGeom>
        </p:spPr>
      </p:pic>
      <p:pic>
        <p:nvPicPr>
          <p:cNvPr id="3" name="Picture 8">
            <a:extLst>
              <a:ext uri="{FF2B5EF4-FFF2-40B4-BE49-F238E27FC236}">
                <a16:creationId xmlns:a16="http://schemas.microsoft.com/office/drawing/2014/main" id="{DCC336CC-CC80-8192-D3A3-49FCFD024C8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 flipV="1">
            <a:off x="1045570" y="2059190"/>
            <a:ext cx="21814430" cy="45719"/>
          </a:xfrm>
          <a:prstGeom prst="rect">
            <a:avLst/>
          </a:prstGeom>
        </p:spPr>
      </p:pic>
      <p:sp>
        <p:nvSpPr>
          <p:cNvPr id="4" name="TextBox 10">
            <a:extLst>
              <a:ext uri="{FF2B5EF4-FFF2-40B4-BE49-F238E27FC236}">
                <a16:creationId xmlns:a16="http://schemas.microsoft.com/office/drawing/2014/main" id="{BE57E3B9-D1FC-216A-33AD-B56ABC7E80A9}"/>
              </a:ext>
            </a:extLst>
          </p:cNvPr>
          <p:cNvSpPr txBox="1"/>
          <p:nvPr/>
        </p:nvSpPr>
        <p:spPr>
          <a:xfrm>
            <a:off x="1295400" y="609600"/>
            <a:ext cx="18897600" cy="1181100"/>
          </a:xfrm>
          <a:prstGeom prst="rect">
            <a:avLst/>
          </a:prstGeom>
        </p:spPr>
        <p:txBody>
          <a:bodyPr lIns="0" tIns="0" rIns="0" bIns="0" anchor="t"/>
          <a:lstStyle/>
          <a:p>
            <a:pPr lvl="0">
              <a:lnSpc>
                <a:spcPct val="116199"/>
              </a:lnSpc>
              <a:defRPr/>
            </a:pPr>
            <a:r>
              <a:rPr lang="en-US" altLang="ko-KR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3. Type </a:t>
            </a:r>
            <a:r>
              <a:rPr lang="ko-KR" altLang="en-US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별 동작 방식</a:t>
            </a:r>
            <a:r>
              <a:rPr lang="en-US" altLang="ko-KR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(S-type)</a:t>
            </a:r>
            <a:r>
              <a:rPr lang="ko-KR" altLang="en-US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6084683-34E3-486C-FF16-63A09985D023}"/>
              </a:ext>
            </a:extLst>
          </p:cNvPr>
          <p:cNvSpPr txBox="1"/>
          <p:nvPr/>
        </p:nvSpPr>
        <p:spPr>
          <a:xfrm>
            <a:off x="1305339" y="2426274"/>
            <a:ext cx="540026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400" dirty="0"/>
              <a:t>• </a:t>
            </a:r>
            <a:r>
              <a:rPr lang="en-US" altLang="ko-KR" sz="4400" dirty="0" err="1"/>
              <a:t>DataFolw</a:t>
            </a:r>
            <a:endParaRPr lang="en-US" altLang="ko-KR" sz="4400" dirty="0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4F05F21D-C85E-2F32-AC75-9428FB9045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3579717"/>
              </p:ext>
            </p:extLst>
          </p:nvPr>
        </p:nvGraphicFramePr>
        <p:xfrm>
          <a:off x="16230600" y="3810000"/>
          <a:ext cx="5486400" cy="7619997"/>
        </p:xfrm>
        <a:graphic>
          <a:graphicData uri="http://schemas.openxmlformats.org/drawingml/2006/table">
            <a:tbl>
              <a:tblPr/>
              <a:tblGrid>
                <a:gridCol w="3657600">
                  <a:extLst>
                    <a:ext uri="{9D8B030D-6E8A-4147-A177-3AD203B41FA5}">
                      <a16:colId xmlns:a16="http://schemas.microsoft.com/office/drawing/2014/main" val="26090786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4031568788"/>
                    </a:ext>
                  </a:extLst>
                </a:gridCol>
              </a:tblGrid>
              <a:tr h="692727">
                <a:tc grid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control_unit</a:t>
                      </a:r>
                      <a:endParaRPr lang="en-US" sz="2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33097292"/>
                  </a:ext>
                </a:extLst>
              </a:tr>
              <a:tr h="69272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OUTPUT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S_type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309026"/>
                  </a:ext>
                </a:extLst>
              </a:tr>
              <a:tr h="69272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rf_we</a:t>
                      </a:r>
                      <a:endParaRPr lang="en-US" sz="2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542226"/>
                  </a:ext>
                </a:extLst>
              </a:tr>
              <a:tr h="69272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alu_src_sel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9106649"/>
                  </a:ext>
                </a:extLst>
              </a:tr>
              <a:tr h="69272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rf_wd_sel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1997995"/>
                  </a:ext>
                </a:extLst>
              </a:tr>
              <a:tr h="69272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alu_control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ADD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4278223"/>
                  </a:ext>
                </a:extLst>
              </a:tr>
              <a:tr h="69272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[</a:t>
                      </a:r>
                      <a:r>
                        <a:rPr lang="en-US" sz="2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b_taken,ALU_ctrl</a:t>
                      </a:r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]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0238126"/>
                  </a:ext>
                </a:extLst>
              </a:tr>
              <a:tr h="69272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b_src_sel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3100952"/>
                  </a:ext>
                </a:extLst>
              </a:tr>
              <a:tr h="69272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branch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5682672"/>
                  </a:ext>
                </a:extLst>
              </a:tr>
              <a:tr h="69272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o_funct3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funct3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6595360"/>
                  </a:ext>
                </a:extLst>
              </a:tr>
              <a:tr h="69272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dwe</a:t>
                      </a:r>
                      <a:endParaRPr lang="en-US" sz="2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2021482"/>
                  </a:ext>
                </a:extLst>
              </a:tr>
            </a:tbl>
          </a:graphicData>
        </a:graphic>
      </p:graphicFrame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A1940E2E-B9C2-6003-6DA0-0F94FB3E78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9422984"/>
              </p:ext>
            </p:extLst>
          </p:nvPr>
        </p:nvGraphicFramePr>
        <p:xfrm>
          <a:off x="1600200" y="12651520"/>
          <a:ext cx="21031199" cy="57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04457">
                  <a:extLst>
                    <a:ext uri="{9D8B030D-6E8A-4147-A177-3AD203B41FA5}">
                      <a16:colId xmlns:a16="http://schemas.microsoft.com/office/drawing/2014/main" val="4932414"/>
                    </a:ext>
                  </a:extLst>
                </a:gridCol>
                <a:gridCol w="3004457">
                  <a:extLst>
                    <a:ext uri="{9D8B030D-6E8A-4147-A177-3AD203B41FA5}">
                      <a16:colId xmlns:a16="http://schemas.microsoft.com/office/drawing/2014/main" val="4289750731"/>
                    </a:ext>
                  </a:extLst>
                </a:gridCol>
                <a:gridCol w="3004457">
                  <a:extLst>
                    <a:ext uri="{9D8B030D-6E8A-4147-A177-3AD203B41FA5}">
                      <a16:colId xmlns:a16="http://schemas.microsoft.com/office/drawing/2014/main" val="3362934941"/>
                    </a:ext>
                  </a:extLst>
                </a:gridCol>
                <a:gridCol w="3004457">
                  <a:extLst>
                    <a:ext uri="{9D8B030D-6E8A-4147-A177-3AD203B41FA5}">
                      <a16:colId xmlns:a16="http://schemas.microsoft.com/office/drawing/2014/main" val="1722059348"/>
                    </a:ext>
                  </a:extLst>
                </a:gridCol>
                <a:gridCol w="3004457">
                  <a:extLst>
                    <a:ext uri="{9D8B030D-6E8A-4147-A177-3AD203B41FA5}">
                      <a16:colId xmlns:a16="http://schemas.microsoft.com/office/drawing/2014/main" val="798401735"/>
                    </a:ext>
                  </a:extLst>
                </a:gridCol>
                <a:gridCol w="3004457">
                  <a:extLst>
                    <a:ext uri="{9D8B030D-6E8A-4147-A177-3AD203B41FA5}">
                      <a16:colId xmlns:a16="http://schemas.microsoft.com/office/drawing/2014/main" val="989108138"/>
                    </a:ext>
                  </a:extLst>
                </a:gridCol>
                <a:gridCol w="3004457">
                  <a:extLst>
                    <a:ext uri="{9D8B030D-6E8A-4147-A177-3AD203B41FA5}">
                      <a16:colId xmlns:a16="http://schemas.microsoft.com/office/drawing/2014/main" val="1997596351"/>
                    </a:ext>
                  </a:extLst>
                </a:gridCol>
              </a:tblGrid>
              <a:tr h="42903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3200" dirty="0">
                          <a:solidFill>
                            <a:schemeClr val="tx1"/>
                          </a:solidFill>
                        </a:rPr>
                        <a:t>명령어</a:t>
                      </a:r>
                      <a:r>
                        <a:rPr lang="en-US" altLang="ko-KR" sz="3200" dirty="0">
                          <a:solidFill>
                            <a:schemeClr val="tx1"/>
                          </a:solidFill>
                        </a:rPr>
                        <a:t>:</a:t>
                      </a:r>
                      <a:endParaRPr lang="ko-KR" altLang="en-US" sz="3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Imm[11:5]</a:t>
                      </a:r>
                      <a:endParaRPr lang="ko-KR" altLang="en-US" sz="3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Rs2</a:t>
                      </a:r>
                      <a:endParaRPr lang="ko-KR" altLang="en-US" sz="3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Rs1</a:t>
                      </a:r>
                      <a:endParaRPr lang="ko-KR" altLang="en-US" sz="3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Funct3</a:t>
                      </a:r>
                      <a:endParaRPr lang="ko-KR" altLang="en-US" sz="3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Imm[4:0]</a:t>
                      </a:r>
                      <a:endParaRPr lang="ko-KR" altLang="en-US" sz="3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OPCODE(S-type)</a:t>
                      </a:r>
                      <a:endParaRPr lang="ko-KR" altLang="en-US" sz="3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59916584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42E13426-6665-6B74-8836-8DFDCA47F152}"/>
              </a:ext>
            </a:extLst>
          </p:cNvPr>
          <p:cNvSpPr txBox="1"/>
          <p:nvPr/>
        </p:nvSpPr>
        <p:spPr>
          <a:xfrm>
            <a:off x="3657600" y="9601200"/>
            <a:ext cx="141284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highlight>
                  <a:srgbClr val="FFFF00"/>
                </a:highlight>
              </a:rPr>
              <a:t>PC+4</a:t>
            </a:r>
            <a:endParaRPr lang="ko-KR" altLang="en-US" sz="4400" b="1" dirty="0">
              <a:highlight>
                <a:srgbClr val="FFFF00"/>
              </a:highlight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D17DEB9-D382-E6E7-3DCE-3DACDF79D248}"/>
              </a:ext>
            </a:extLst>
          </p:cNvPr>
          <p:cNvSpPr txBox="1"/>
          <p:nvPr/>
        </p:nvSpPr>
        <p:spPr>
          <a:xfrm>
            <a:off x="10733585" y="6769456"/>
            <a:ext cx="12192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highlight>
                  <a:srgbClr val="FFFF00"/>
                </a:highlight>
              </a:rPr>
              <a:t>rs2</a:t>
            </a:r>
            <a:endParaRPr lang="ko-KR" altLang="en-US" sz="4400" b="1" dirty="0">
              <a:highlight>
                <a:srgbClr val="FFFF00"/>
              </a:highlight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B2A36F1-6047-498C-D03B-EC86C9032C5B}"/>
              </a:ext>
            </a:extLst>
          </p:cNvPr>
          <p:cNvSpPr txBox="1"/>
          <p:nvPr/>
        </p:nvSpPr>
        <p:spPr>
          <a:xfrm>
            <a:off x="9563100" y="5389253"/>
            <a:ext cx="236219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highlight>
                  <a:srgbClr val="FFFF00"/>
                </a:highlight>
              </a:rPr>
              <a:t>Imm+rs1</a:t>
            </a:r>
            <a:endParaRPr lang="ko-KR" altLang="en-US" sz="4400" b="1" dirty="0">
              <a:highlight>
                <a:srgbClr val="FFFF00"/>
              </a:highlight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14617D6-3829-250B-4E27-B89C9C380682}"/>
              </a:ext>
            </a:extLst>
          </p:cNvPr>
          <p:cNvSpPr txBox="1"/>
          <p:nvPr/>
        </p:nvSpPr>
        <p:spPr>
          <a:xfrm>
            <a:off x="7934739" y="4343400"/>
            <a:ext cx="12954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highlight>
                  <a:srgbClr val="FFFF00"/>
                </a:highlight>
              </a:rPr>
              <a:t>ADD</a:t>
            </a:r>
            <a:endParaRPr lang="ko-KR" altLang="en-US" sz="4400" b="1" dirty="0">
              <a:highlight>
                <a:srgbClr val="FFFF00"/>
              </a:highlight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EFAF72F-6984-2207-C246-84687E82733E}"/>
              </a:ext>
            </a:extLst>
          </p:cNvPr>
          <p:cNvSpPr txBox="1"/>
          <p:nvPr/>
        </p:nvSpPr>
        <p:spPr>
          <a:xfrm>
            <a:off x="6248399" y="4320209"/>
            <a:ext cx="56321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highlight>
                  <a:srgbClr val="FFFF00"/>
                </a:highlight>
              </a:rPr>
              <a:t>1</a:t>
            </a:r>
            <a:endParaRPr lang="ko-KR" altLang="en-US" sz="4400" b="1" dirty="0">
              <a:highlight>
                <a:srgbClr val="FFFF00"/>
              </a:highlight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90B416A-6DE8-D45E-203B-D1BBD2B4B7AF}"/>
              </a:ext>
            </a:extLst>
          </p:cNvPr>
          <p:cNvSpPr txBox="1"/>
          <p:nvPr/>
        </p:nvSpPr>
        <p:spPr>
          <a:xfrm>
            <a:off x="12192000" y="2801055"/>
            <a:ext cx="56321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highlight>
                  <a:srgbClr val="FFFF00"/>
                </a:highlight>
              </a:rPr>
              <a:t>1</a:t>
            </a:r>
            <a:endParaRPr lang="ko-KR" altLang="en-US" sz="4400" b="1" dirty="0">
              <a:highlight>
                <a:srgbClr val="FFFF00"/>
              </a:highlight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6A01821-A9C3-90F1-230E-5BEA18389511}"/>
              </a:ext>
            </a:extLst>
          </p:cNvPr>
          <p:cNvSpPr txBox="1"/>
          <p:nvPr/>
        </p:nvSpPr>
        <p:spPr>
          <a:xfrm>
            <a:off x="10349944" y="4104250"/>
            <a:ext cx="176585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highlight>
                  <a:srgbClr val="FFFF00"/>
                </a:highlight>
              </a:rPr>
              <a:t>funct3</a:t>
            </a:r>
            <a:endParaRPr lang="ko-KR" altLang="en-US" sz="4400" b="1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122883929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1ECC2A-5E15-B8F7-2C99-99E33B67F7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그림 18">
            <a:extLst>
              <a:ext uri="{FF2B5EF4-FFF2-40B4-BE49-F238E27FC236}">
                <a16:creationId xmlns:a16="http://schemas.microsoft.com/office/drawing/2014/main" id="{4A72E527-EAF7-EC49-9F75-806E172BA8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426274"/>
            <a:ext cx="11734800" cy="10156844"/>
          </a:xfrm>
          <a:prstGeom prst="rect">
            <a:avLst/>
          </a:prstGeom>
        </p:spPr>
      </p:pic>
      <p:pic>
        <p:nvPicPr>
          <p:cNvPr id="3" name="Picture 8">
            <a:extLst>
              <a:ext uri="{FF2B5EF4-FFF2-40B4-BE49-F238E27FC236}">
                <a16:creationId xmlns:a16="http://schemas.microsoft.com/office/drawing/2014/main" id="{9BA85CE9-F427-AD70-461D-C911D924D81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 flipV="1">
            <a:off x="1045570" y="2059190"/>
            <a:ext cx="21814430" cy="45719"/>
          </a:xfrm>
          <a:prstGeom prst="rect">
            <a:avLst/>
          </a:prstGeom>
        </p:spPr>
      </p:pic>
      <p:sp>
        <p:nvSpPr>
          <p:cNvPr id="4" name="TextBox 10">
            <a:extLst>
              <a:ext uri="{FF2B5EF4-FFF2-40B4-BE49-F238E27FC236}">
                <a16:creationId xmlns:a16="http://schemas.microsoft.com/office/drawing/2014/main" id="{3470EDED-88CE-9783-D190-1C89D7652B02}"/>
              </a:ext>
            </a:extLst>
          </p:cNvPr>
          <p:cNvSpPr txBox="1"/>
          <p:nvPr/>
        </p:nvSpPr>
        <p:spPr>
          <a:xfrm>
            <a:off x="1295400" y="609600"/>
            <a:ext cx="18897600" cy="1181100"/>
          </a:xfrm>
          <a:prstGeom prst="rect">
            <a:avLst/>
          </a:prstGeom>
        </p:spPr>
        <p:txBody>
          <a:bodyPr lIns="0" tIns="0" rIns="0" bIns="0" anchor="t"/>
          <a:lstStyle/>
          <a:p>
            <a:pPr lvl="0">
              <a:lnSpc>
                <a:spcPct val="116199"/>
              </a:lnSpc>
              <a:defRPr/>
            </a:pPr>
            <a:r>
              <a:rPr lang="en-US" altLang="ko-KR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3. Type </a:t>
            </a:r>
            <a:r>
              <a:rPr lang="ko-KR" altLang="en-US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별 동작 방식</a:t>
            </a:r>
            <a:r>
              <a:rPr lang="en-US" altLang="ko-KR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(S-type)</a:t>
            </a:r>
            <a:r>
              <a:rPr lang="ko-KR" altLang="en-US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F739BB2-3E0A-2CBB-7B18-208B8EB08E10}"/>
              </a:ext>
            </a:extLst>
          </p:cNvPr>
          <p:cNvSpPr txBox="1"/>
          <p:nvPr/>
        </p:nvSpPr>
        <p:spPr>
          <a:xfrm>
            <a:off x="1305339" y="2426274"/>
            <a:ext cx="540026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400" dirty="0"/>
              <a:t>• </a:t>
            </a:r>
            <a:r>
              <a:rPr lang="en-US" altLang="ko-KR" sz="4400" dirty="0" err="1"/>
              <a:t>DataFolw</a:t>
            </a:r>
            <a:endParaRPr lang="en-US" altLang="ko-KR" sz="4400" dirty="0"/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4EC91592-B107-1FC1-16EE-C2F70F35A09F}"/>
              </a:ext>
            </a:extLst>
          </p:cNvPr>
          <p:cNvGraphicFramePr>
            <a:graphicFrameLocks noGrp="1"/>
          </p:cNvGraphicFramePr>
          <p:nvPr/>
        </p:nvGraphicFramePr>
        <p:xfrm>
          <a:off x="1600200" y="12651520"/>
          <a:ext cx="21031199" cy="57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04457">
                  <a:extLst>
                    <a:ext uri="{9D8B030D-6E8A-4147-A177-3AD203B41FA5}">
                      <a16:colId xmlns:a16="http://schemas.microsoft.com/office/drawing/2014/main" val="4932414"/>
                    </a:ext>
                  </a:extLst>
                </a:gridCol>
                <a:gridCol w="3004457">
                  <a:extLst>
                    <a:ext uri="{9D8B030D-6E8A-4147-A177-3AD203B41FA5}">
                      <a16:colId xmlns:a16="http://schemas.microsoft.com/office/drawing/2014/main" val="4289750731"/>
                    </a:ext>
                  </a:extLst>
                </a:gridCol>
                <a:gridCol w="3004457">
                  <a:extLst>
                    <a:ext uri="{9D8B030D-6E8A-4147-A177-3AD203B41FA5}">
                      <a16:colId xmlns:a16="http://schemas.microsoft.com/office/drawing/2014/main" val="3362934941"/>
                    </a:ext>
                  </a:extLst>
                </a:gridCol>
                <a:gridCol w="3004457">
                  <a:extLst>
                    <a:ext uri="{9D8B030D-6E8A-4147-A177-3AD203B41FA5}">
                      <a16:colId xmlns:a16="http://schemas.microsoft.com/office/drawing/2014/main" val="1722059348"/>
                    </a:ext>
                  </a:extLst>
                </a:gridCol>
                <a:gridCol w="3004457">
                  <a:extLst>
                    <a:ext uri="{9D8B030D-6E8A-4147-A177-3AD203B41FA5}">
                      <a16:colId xmlns:a16="http://schemas.microsoft.com/office/drawing/2014/main" val="798401735"/>
                    </a:ext>
                  </a:extLst>
                </a:gridCol>
                <a:gridCol w="3004457">
                  <a:extLst>
                    <a:ext uri="{9D8B030D-6E8A-4147-A177-3AD203B41FA5}">
                      <a16:colId xmlns:a16="http://schemas.microsoft.com/office/drawing/2014/main" val="989108138"/>
                    </a:ext>
                  </a:extLst>
                </a:gridCol>
                <a:gridCol w="3004457">
                  <a:extLst>
                    <a:ext uri="{9D8B030D-6E8A-4147-A177-3AD203B41FA5}">
                      <a16:colId xmlns:a16="http://schemas.microsoft.com/office/drawing/2014/main" val="1997596351"/>
                    </a:ext>
                  </a:extLst>
                </a:gridCol>
              </a:tblGrid>
              <a:tr h="42903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3200" dirty="0">
                          <a:solidFill>
                            <a:schemeClr val="tx1"/>
                          </a:solidFill>
                        </a:rPr>
                        <a:t>명령어</a:t>
                      </a:r>
                      <a:r>
                        <a:rPr lang="en-US" altLang="ko-KR" sz="3200" dirty="0">
                          <a:solidFill>
                            <a:schemeClr val="tx1"/>
                          </a:solidFill>
                        </a:rPr>
                        <a:t>:</a:t>
                      </a:r>
                      <a:endParaRPr lang="ko-KR" altLang="en-US" sz="3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Imm[11:5]</a:t>
                      </a:r>
                      <a:endParaRPr lang="ko-KR" altLang="en-US" sz="3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Rs2</a:t>
                      </a:r>
                      <a:endParaRPr lang="ko-KR" altLang="en-US" sz="3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Rs1</a:t>
                      </a:r>
                      <a:endParaRPr lang="ko-KR" altLang="en-US" sz="3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Funct3</a:t>
                      </a:r>
                      <a:endParaRPr lang="ko-KR" altLang="en-US" sz="3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Imm[4:0]</a:t>
                      </a:r>
                      <a:endParaRPr lang="ko-KR" altLang="en-US" sz="3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OPCODE(S-type)</a:t>
                      </a:r>
                      <a:endParaRPr lang="ko-KR" altLang="en-US" sz="3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59916584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755EC3EF-49D8-7434-EA80-DA97852B16CC}"/>
              </a:ext>
            </a:extLst>
          </p:cNvPr>
          <p:cNvSpPr txBox="1"/>
          <p:nvPr/>
        </p:nvSpPr>
        <p:spPr>
          <a:xfrm>
            <a:off x="3657600" y="9601200"/>
            <a:ext cx="141284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highlight>
                  <a:srgbClr val="FFFF00"/>
                </a:highlight>
              </a:rPr>
              <a:t>PC+4</a:t>
            </a:r>
            <a:endParaRPr lang="ko-KR" altLang="en-US" sz="4400" b="1" dirty="0">
              <a:highlight>
                <a:srgbClr val="FFFF00"/>
              </a:highlight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E2FE0C6-9315-5502-98C4-77844EE20CB8}"/>
              </a:ext>
            </a:extLst>
          </p:cNvPr>
          <p:cNvSpPr txBox="1"/>
          <p:nvPr/>
        </p:nvSpPr>
        <p:spPr>
          <a:xfrm>
            <a:off x="10733585" y="6769456"/>
            <a:ext cx="12192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highlight>
                  <a:srgbClr val="FFFF00"/>
                </a:highlight>
              </a:rPr>
              <a:t>rs2</a:t>
            </a:r>
            <a:endParaRPr lang="ko-KR" altLang="en-US" sz="4400" b="1" dirty="0">
              <a:highlight>
                <a:srgbClr val="FFFF00"/>
              </a:highlight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E7B52E6-4F89-E071-58A4-15F58A9175C4}"/>
              </a:ext>
            </a:extLst>
          </p:cNvPr>
          <p:cNvSpPr txBox="1"/>
          <p:nvPr/>
        </p:nvSpPr>
        <p:spPr>
          <a:xfrm>
            <a:off x="9563100" y="5389253"/>
            <a:ext cx="236219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highlight>
                  <a:srgbClr val="FFFF00"/>
                </a:highlight>
              </a:rPr>
              <a:t>Imm+rs1</a:t>
            </a:r>
            <a:endParaRPr lang="ko-KR" altLang="en-US" sz="4400" b="1" dirty="0">
              <a:highlight>
                <a:srgbClr val="FFFF00"/>
              </a:highlight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E95E4BA-B58C-7291-27B6-A6CC80F5CD72}"/>
              </a:ext>
            </a:extLst>
          </p:cNvPr>
          <p:cNvSpPr txBox="1"/>
          <p:nvPr/>
        </p:nvSpPr>
        <p:spPr>
          <a:xfrm>
            <a:off x="7934739" y="4343400"/>
            <a:ext cx="12954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highlight>
                  <a:srgbClr val="FFFF00"/>
                </a:highlight>
              </a:rPr>
              <a:t>ADD</a:t>
            </a:r>
            <a:endParaRPr lang="ko-KR" altLang="en-US" sz="4400" b="1" dirty="0">
              <a:highlight>
                <a:srgbClr val="FFFF00"/>
              </a:highlight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428D6F0-EB9C-141A-E0E2-BE8A53F58883}"/>
              </a:ext>
            </a:extLst>
          </p:cNvPr>
          <p:cNvSpPr txBox="1"/>
          <p:nvPr/>
        </p:nvSpPr>
        <p:spPr>
          <a:xfrm>
            <a:off x="6248399" y="4320209"/>
            <a:ext cx="56321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highlight>
                  <a:srgbClr val="FFFF00"/>
                </a:highlight>
              </a:rPr>
              <a:t>1</a:t>
            </a:r>
            <a:endParaRPr lang="ko-KR" altLang="en-US" sz="4400" b="1" dirty="0">
              <a:highlight>
                <a:srgbClr val="FFFF00"/>
              </a:highlight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36605B9-6D96-35BF-0BF2-45CBBBACF50E}"/>
              </a:ext>
            </a:extLst>
          </p:cNvPr>
          <p:cNvSpPr txBox="1"/>
          <p:nvPr/>
        </p:nvSpPr>
        <p:spPr>
          <a:xfrm>
            <a:off x="12192000" y="2801055"/>
            <a:ext cx="56321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highlight>
                  <a:srgbClr val="FFFF00"/>
                </a:highlight>
              </a:rPr>
              <a:t>1</a:t>
            </a:r>
            <a:endParaRPr lang="ko-KR" altLang="en-US" sz="4400" b="1" dirty="0">
              <a:highlight>
                <a:srgbClr val="FFFF00"/>
              </a:highlight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530CE3B-5AA6-50AA-B86F-64825133EA45}"/>
              </a:ext>
            </a:extLst>
          </p:cNvPr>
          <p:cNvSpPr txBox="1"/>
          <p:nvPr/>
        </p:nvSpPr>
        <p:spPr>
          <a:xfrm>
            <a:off x="10349944" y="4104250"/>
            <a:ext cx="176585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highlight>
                  <a:srgbClr val="FFFF00"/>
                </a:highlight>
              </a:rPr>
              <a:t>funct3</a:t>
            </a:r>
            <a:endParaRPr lang="ko-KR" altLang="en-US" sz="4400" b="1" dirty="0">
              <a:highlight>
                <a:srgbClr val="FFFF00"/>
              </a:highlight>
            </a:endParaRPr>
          </a:p>
        </p:txBody>
      </p:sp>
      <p:graphicFrame>
        <p:nvGraphicFramePr>
          <p:cNvPr id="18" name="Table 12">
            <a:extLst>
              <a:ext uri="{FF2B5EF4-FFF2-40B4-BE49-F238E27FC236}">
                <a16:creationId xmlns:a16="http://schemas.microsoft.com/office/drawing/2014/main" id="{ED9DA823-CE20-339A-B31D-ED8390B74D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9155816"/>
              </p:ext>
            </p:extLst>
          </p:nvPr>
        </p:nvGraphicFramePr>
        <p:xfrm>
          <a:off x="14706600" y="4614977"/>
          <a:ext cx="8153400" cy="5078397"/>
        </p:xfrm>
        <a:graphic>
          <a:graphicData uri="http://schemas.openxmlformats.org/drawingml/2006/table">
            <a:tbl>
              <a:tblPr/>
              <a:tblGrid>
                <a:gridCol w="20383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8350">
                  <a:extLst>
                    <a:ext uri="{9D8B030D-6E8A-4147-A177-3AD203B41FA5}">
                      <a16:colId xmlns:a16="http://schemas.microsoft.com/office/drawing/2014/main" val="3181337078"/>
                    </a:ext>
                  </a:extLst>
                </a:gridCol>
                <a:gridCol w="2038350">
                  <a:extLst>
                    <a:ext uri="{9D8B030D-6E8A-4147-A177-3AD203B41FA5}">
                      <a16:colId xmlns:a16="http://schemas.microsoft.com/office/drawing/2014/main" val="3815376222"/>
                    </a:ext>
                  </a:extLst>
                </a:gridCol>
                <a:gridCol w="2038350">
                  <a:extLst>
                    <a:ext uri="{9D8B030D-6E8A-4147-A177-3AD203B41FA5}">
                      <a16:colId xmlns:a16="http://schemas.microsoft.com/office/drawing/2014/main" val="244325572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>
                          <a:solidFill>
                            <a:schemeClr val="bg1"/>
                          </a:solidFill>
                        </a:rPr>
                        <a:t>DATA MEM</a:t>
                      </a:r>
                    </a:p>
                  </a:txBody>
                  <a:tcPr marL="25400" marR="25400" marT="65362" marB="6536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25400" marR="25400" marT="65362" marB="6536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 hMerge="1"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endParaRPr lang="en-US" sz="3600" dirty="0">
                        <a:solidFill>
                          <a:schemeClr val="bg1"/>
                        </a:solidFill>
                      </a:endParaRPr>
                    </a:p>
                  </a:txBody>
                  <a:tcPr marL="25400" marR="25400" marT="65362" marB="6536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 hMerge="1"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endParaRPr lang="en-US" sz="3600" dirty="0">
                        <a:solidFill>
                          <a:schemeClr val="bg1"/>
                        </a:solidFill>
                      </a:endParaRPr>
                    </a:p>
                  </a:txBody>
                  <a:tcPr marL="25400" marR="25400" marT="65362" marB="6536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25666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INSRT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Write </a:t>
                      </a:r>
                      <a:r>
                        <a:rPr lang="ko-KR" altLang="en-US" sz="3600" dirty="0"/>
                        <a:t>조건</a:t>
                      </a:r>
                      <a:endParaRPr lang="en-US" sz="3600" dirty="0"/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Funct3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 err="1"/>
                        <a:t>Addr</a:t>
                      </a:r>
                      <a:r>
                        <a:rPr lang="en-US" sz="3600" dirty="0"/>
                        <a:t> scale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5701013"/>
                  </a:ext>
                </a:extLst>
              </a:tr>
              <a:tr h="1100888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SB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 rowSpan="3"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 err="1"/>
                        <a:t>dwe</a:t>
                      </a:r>
                      <a:r>
                        <a:rPr lang="en-US" sz="3600" dirty="0"/>
                        <a:t> = 1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3’h0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Byte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00888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SH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 vMerge="1"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endParaRPr lang="en-US" sz="3600" dirty="0"/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altLang="ko-KR" sz="3600" dirty="0"/>
                        <a:t>3’h1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Half word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8322434"/>
                  </a:ext>
                </a:extLst>
              </a:tr>
              <a:tr h="1100888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SW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 vMerge="1"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endParaRPr lang="en-US" sz="3600" dirty="0"/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altLang="ko-KR" sz="3600" dirty="0"/>
                        <a:t>3’h2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word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40247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544755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55F67C-89D0-102B-4A06-433201C44F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8">
            <a:extLst>
              <a:ext uri="{FF2B5EF4-FFF2-40B4-BE49-F238E27FC236}">
                <a16:creationId xmlns:a16="http://schemas.microsoft.com/office/drawing/2014/main" id="{C58BC366-AB67-DDCC-A1F2-3B91CC57821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 flipV="1">
            <a:off x="1045570" y="2059190"/>
            <a:ext cx="21814430" cy="45719"/>
          </a:xfrm>
          <a:prstGeom prst="rect">
            <a:avLst/>
          </a:prstGeom>
        </p:spPr>
      </p:pic>
      <p:sp>
        <p:nvSpPr>
          <p:cNvPr id="4" name="TextBox 10">
            <a:extLst>
              <a:ext uri="{FF2B5EF4-FFF2-40B4-BE49-F238E27FC236}">
                <a16:creationId xmlns:a16="http://schemas.microsoft.com/office/drawing/2014/main" id="{F9CB3957-7D0E-6791-29FF-70F0A8DDBAC2}"/>
              </a:ext>
            </a:extLst>
          </p:cNvPr>
          <p:cNvSpPr txBox="1"/>
          <p:nvPr/>
        </p:nvSpPr>
        <p:spPr>
          <a:xfrm>
            <a:off x="1295400" y="609600"/>
            <a:ext cx="18897600" cy="1181100"/>
          </a:xfrm>
          <a:prstGeom prst="rect">
            <a:avLst/>
          </a:prstGeom>
        </p:spPr>
        <p:txBody>
          <a:bodyPr lIns="0" tIns="0" rIns="0" bIns="0" anchor="t"/>
          <a:lstStyle/>
          <a:p>
            <a:pPr lvl="0">
              <a:lnSpc>
                <a:spcPct val="116199"/>
              </a:lnSpc>
              <a:defRPr/>
            </a:pPr>
            <a:r>
              <a:rPr lang="en-US" altLang="ko-KR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3. Type </a:t>
            </a:r>
            <a:r>
              <a:rPr lang="ko-KR" altLang="en-US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별 동작 방식</a:t>
            </a:r>
            <a:r>
              <a:rPr lang="en-US" altLang="ko-KR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(S-type)</a:t>
            </a:r>
            <a:r>
              <a:rPr lang="ko-KR" altLang="en-US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D4F4A8E-3AE9-D4AA-4D0D-2D3DC15EAF56}"/>
              </a:ext>
            </a:extLst>
          </p:cNvPr>
          <p:cNvSpPr txBox="1"/>
          <p:nvPr/>
        </p:nvSpPr>
        <p:spPr>
          <a:xfrm>
            <a:off x="1305339" y="2426274"/>
            <a:ext cx="540026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400" dirty="0"/>
              <a:t>• simulation(</a:t>
            </a:r>
            <a:r>
              <a:rPr lang="ko-KR" altLang="en-US" sz="4400" dirty="0"/>
              <a:t>시나리오</a:t>
            </a:r>
            <a:r>
              <a:rPr lang="en-US" altLang="ko-KR" sz="4400" dirty="0"/>
              <a:t>)</a:t>
            </a:r>
          </a:p>
        </p:txBody>
      </p:sp>
      <p:graphicFrame>
        <p:nvGraphicFramePr>
          <p:cNvPr id="5" name="Table 12">
            <a:extLst>
              <a:ext uri="{FF2B5EF4-FFF2-40B4-BE49-F238E27FC236}">
                <a16:creationId xmlns:a16="http://schemas.microsoft.com/office/drawing/2014/main" id="{8660673D-A839-8079-81F3-4FA2340F00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4596760"/>
              </p:ext>
            </p:extLst>
          </p:nvPr>
        </p:nvGraphicFramePr>
        <p:xfrm>
          <a:off x="2362200" y="4497606"/>
          <a:ext cx="7401272" cy="4720788"/>
        </p:xfrm>
        <a:graphic>
          <a:graphicData uri="http://schemas.openxmlformats.org/drawingml/2006/table">
            <a:tbl>
              <a:tblPr/>
              <a:tblGrid>
                <a:gridCol w="1000472">
                  <a:extLst>
                    <a:ext uri="{9D8B030D-6E8A-4147-A177-3AD203B41FA5}">
                      <a16:colId xmlns:a16="http://schemas.microsoft.com/office/drawing/2014/main" val="1091418196"/>
                    </a:ext>
                  </a:extLst>
                </a:gridCol>
                <a:gridCol w="2895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15250058"/>
                    </a:ext>
                  </a:extLst>
                </a:gridCol>
              </a:tblGrid>
              <a:tr h="249904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endParaRPr lang="en-US" sz="3600" dirty="0"/>
                    </a:p>
                  </a:txBody>
                  <a:tcPr marL="25400" marR="25400" marT="65362" marB="65362" anchor="ctr">
                    <a:lnL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 gridSpan="2"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>
                          <a:solidFill>
                            <a:schemeClr val="bg1"/>
                          </a:solidFill>
                        </a:rPr>
                        <a:t>Register File</a:t>
                      </a:r>
                    </a:p>
                  </a:txBody>
                  <a:tcPr marL="25400" marR="25400" marT="65362" marB="65362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25666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 err="1"/>
                        <a:t>addr</a:t>
                      </a:r>
                      <a:endParaRPr lang="en-US" sz="3600" dirty="0"/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name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value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668405"/>
                  </a:ext>
                </a:extLst>
              </a:tr>
              <a:tr h="814909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28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 rowSpan="4"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Store Data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32’h44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4450522"/>
                  </a:ext>
                </a:extLst>
              </a:tr>
              <a:tr h="814909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29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 vMerge="1"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endParaRPr lang="en-US" sz="3600" dirty="0"/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32’h33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4254693"/>
                  </a:ext>
                </a:extLst>
              </a:tr>
              <a:tr h="814909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30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 vMerge="1"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endParaRPr lang="en-US" sz="3600" dirty="0"/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9171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3600" dirty="0"/>
                        <a:t>32’h22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3470064"/>
                  </a:ext>
                </a:extLst>
              </a:tr>
              <a:tr h="814909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31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 vMerge="1"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endParaRPr lang="en-US" sz="3600" dirty="0"/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9171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3600" dirty="0"/>
                        <a:t>32’h11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7930084"/>
                  </a:ext>
                </a:extLst>
              </a:tr>
            </a:tbl>
          </a:graphicData>
        </a:graphic>
      </p:graphicFrame>
      <p:graphicFrame>
        <p:nvGraphicFramePr>
          <p:cNvPr id="6" name="Table 12">
            <a:extLst>
              <a:ext uri="{FF2B5EF4-FFF2-40B4-BE49-F238E27FC236}">
                <a16:creationId xmlns:a16="http://schemas.microsoft.com/office/drawing/2014/main" id="{E6059B37-69A2-1971-9E81-2C4B186963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1957592"/>
              </p:ext>
            </p:extLst>
          </p:nvPr>
        </p:nvGraphicFramePr>
        <p:xfrm>
          <a:off x="11797750" y="2373399"/>
          <a:ext cx="11277598" cy="11283088"/>
        </p:xfrm>
        <a:graphic>
          <a:graphicData uri="http://schemas.openxmlformats.org/drawingml/2006/table">
            <a:tbl>
              <a:tblPr/>
              <a:tblGrid>
                <a:gridCol w="1079992">
                  <a:extLst>
                    <a:ext uri="{9D8B030D-6E8A-4147-A177-3AD203B41FA5}">
                      <a16:colId xmlns:a16="http://schemas.microsoft.com/office/drawing/2014/main" val="1091418196"/>
                    </a:ext>
                  </a:extLst>
                </a:gridCol>
                <a:gridCol w="19348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52796">
                  <a:extLst>
                    <a:ext uri="{9D8B030D-6E8A-4147-A177-3AD203B41FA5}">
                      <a16:colId xmlns:a16="http://schemas.microsoft.com/office/drawing/2014/main" val="1825833440"/>
                    </a:ext>
                  </a:extLst>
                </a:gridCol>
                <a:gridCol w="3809998">
                  <a:extLst>
                    <a:ext uri="{9D8B030D-6E8A-4147-A177-3AD203B41FA5}">
                      <a16:colId xmlns:a16="http://schemas.microsoft.com/office/drawing/2014/main" val="3438463186"/>
                    </a:ext>
                  </a:extLst>
                </a:gridCol>
              </a:tblGrid>
              <a:tr h="295384">
                <a:tc gridSpan="4"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>
                          <a:solidFill>
                            <a:schemeClr val="bg1"/>
                          </a:solidFill>
                        </a:rPr>
                        <a:t>INSTR MEM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endParaRPr lang="en-US" sz="3600" dirty="0">
                        <a:solidFill>
                          <a:schemeClr val="bg1"/>
                        </a:solidFill>
                      </a:endParaRP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25666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PC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INSRT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>
                          <a:solidFill>
                            <a:srgbClr val="FFFF00"/>
                          </a:solidFill>
                        </a:rPr>
                        <a:t>(</a:t>
                      </a:r>
                      <a:r>
                        <a:rPr lang="en-US" sz="3600" dirty="0" err="1">
                          <a:solidFill>
                            <a:srgbClr val="FFFF00"/>
                          </a:solidFill>
                        </a:rPr>
                        <a:t>byte_addr</a:t>
                      </a:r>
                      <a:r>
                        <a:rPr lang="en-US" sz="3600" dirty="0">
                          <a:solidFill>
                            <a:srgbClr val="FFFF00"/>
                          </a:solidFill>
                        </a:rPr>
                        <a:t> </a:t>
                      </a:r>
                      <a:r>
                        <a:rPr lang="ko-KR" altLang="en-US" sz="3600" dirty="0">
                          <a:solidFill>
                            <a:srgbClr val="FFFF00"/>
                          </a:solidFill>
                        </a:rPr>
                        <a:t>기준</a:t>
                      </a:r>
                      <a:r>
                        <a:rPr lang="en-US" altLang="ko-KR" sz="3600" dirty="0">
                          <a:solidFill>
                            <a:srgbClr val="FFFF00"/>
                          </a:solidFill>
                        </a:rPr>
                        <a:t>)</a:t>
                      </a:r>
                      <a:endParaRPr lang="en-US" sz="3600" dirty="0">
                        <a:solidFill>
                          <a:srgbClr val="FFFF00"/>
                        </a:solidFill>
                      </a:endParaRP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 err="1"/>
                        <a:t>Dmem</a:t>
                      </a:r>
                      <a:r>
                        <a:rPr lang="en-US" sz="3600" dirty="0"/>
                        <a:t>[0] = Result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5701013"/>
                  </a:ext>
                </a:extLst>
              </a:tr>
              <a:tr h="825666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0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 rowSpan="4"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SB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9171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600" dirty="0" err="1"/>
                        <a:t>Dmem</a:t>
                      </a:r>
                      <a:r>
                        <a:rPr lang="en-US" sz="3600" dirty="0"/>
                        <a:t>[0+0] = </a:t>
                      </a:r>
                      <a:r>
                        <a:rPr lang="en-US" altLang="ko-KR" sz="3600" dirty="0"/>
                        <a:t>32’h44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00_00_00_</a:t>
                      </a:r>
                      <a:r>
                        <a:rPr lang="en-US" sz="3600" dirty="0">
                          <a:highlight>
                            <a:srgbClr val="FFFF00"/>
                          </a:highlight>
                        </a:rPr>
                        <a:t>44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25666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1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 vMerge="1"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endParaRPr lang="en-US" sz="3600" dirty="0"/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9171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3600" dirty="0" err="1"/>
                        <a:t>Dmem</a:t>
                      </a:r>
                      <a:r>
                        <a:rPr lang="en-US" altLang="ko-KR" sz="3600" dirty="0"/>
                        <a:t>[0+1] = 32’h33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00_00_</a:t>
                      </a:r>
                      <a:r>
                        <a:rPr lang="en-US" sz="3600" dirty="0">
                          <a:highlight>
                            <a:srgbClr val="FFFF00"/>
                          </a:highlight>
                        </a:rPr>
                        <a:t>33</a:t>
                      </a:r>
                      <a:r>
                        <a:rPr lang="en-US" sz="3600" dirty="0"/>
                        <a:t>_44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8771999"/>
                  </a:ext>
                </a:extLst>
              </a:tr>
              <a:tr h="825666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2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 vMerge="1"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endParaRPr lang="en-US" sz="3600" dirty="0"/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9171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3600" dirty="0" err="1"/>
                        <a:t>Dmem</a:t>
                      </a:r>
                      <a:r>
                        <a:rPr lang="en-US" altLang="ko-KR" sz="3600" dirty="0"/>
                        <a:t>[0+2] = 32’h22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00_</a:t>
                      </a:r>
                      <a:r>
                        <a:rPr lang="en-US" sz="3600" dirty="0">
                          <a:highlight>
                            <a:srgbClr val="FFFF00"/>
                          </a:highlight>
                        </a:rPr>
                        <a:t>22</a:t>
                      </a:r>
                      <a:r>
                        <a:rPr lang="en-US" sz="3600" dirty="0"/>
                        <a:t>_33_44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5456246"/>
                  </a:ext>
                </a:extLst>
              </a:tr>
              <a:tr h="825666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3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 vMerge="1"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endParaRPr lang="en-US" sz="3600" dirty="0"/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9171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3600" dirty="0" err="1"/>
                        <a:t>Dmem</a:t>
                      </a:r>
                      <a:r>
                        <a:rPr lang="en-US" altLang="ko-KR" sz="3600" dirty="0"/>
                        <a:t>[0+3] = 32’h11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>
                          <a:highlight>
                            <a:srgbClr val="FFFF00"/>
                          </a:highlight>
                        </a:rPr>
                        <a:t>11</a:t>
                      </a:r>
                      <a:r>
                        <a:rPr lang="en-US" sz="3600" dirty="0"/>
                        <a:t>_22_33_44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1448885"/>
                  </a:ext>
                </a:extLst>
              </a:tr>
              <a:tr h="814909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4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 rowSpan="4"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SH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altLang="ko-KR" sz="3600" dirty="0" err="1"/>
                        <a:t>Dmem</a:t>
                      </a:r>
                      <a:r>
                        <a:rPr lang="en-US" altLang="ko-KR" sz="3600" dirty="0"/>
                        <a:t>[0+0] = 32’h44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11_22_</a:t>
                      </a:r>
                      <a:r>
                        <a:rPr lang="en-US" sz="3600" dirty="0">
                          <a:highlight>
                            <a:srgbClr val="FFFF00"/>
                          </a:highlight>
                        </a:rPr>
                        <a:t>00_44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4450522"/>
                  </a:ext>
                </a:extLst>
              </a:tr>
              <a:tr h="814909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5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 vMerge="1"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endParaRPr lang="en-US" sz="3600" dirty="0"/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9171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3600" dirty="0" err="1"/>
                        <a:t>Dmem</a:t>
                      </a:r>
                      <a:r>
                        <a:rPr lang="en-US" altLang="ko-KR" sz="3600" dirty="0"/>
                        <a:t>[0+1] = 32’h33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11_22_</a:t>
                      </a:r>
                      <a:r>
                        <a:rPr lang="en-US" sz="3600" dirty="0">
                          <a:highlight>
                            <a:srgbClr val="FFFF00"/>
                          </a:highlight>
                        </a:rPr>
                        <a:t>00_33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8092935"/>
                  </a:ext>
                </a:extLst>
              </a:tr>
              <a:tr h="814909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6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 vMerge="1"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endParaRPr lang="en-US" sz="3600" dirty="0"/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9171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3600" dirty="0" err="1"/>
                        <a:t>Dmem</a:t>
                      </a:r>
                      <a:r>
                        <a:rPr lang="en-US" altLang="ko-KR" sz="3600" dirty="0"/>
                        <a:t>[0+2] = 32’h22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>
                          <a:highlight>
                            <a:srgbClr val="FFFF00"/>
                          </a:highlight>
                        </a:rPr>
                        <a:t>00_22</a:t>
                      </a:r>
                      <a:r>
                        <a:rPr lang="en-US" sz="3600" dirty="0"/>
                        <a:t>_00_33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6089969"/>
                  </a:ext>
                </a:extLst>
              </a:tr>
              <a:tr h="814909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7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 vMerge="1"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endParaRPr lang="en-US" sz="3600" dirty="0"/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9171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3600" dirty="0" err="1"/>
                        <a:t>Dmem</a:t>
                      </a:r>
                      <a:r>
                        <a:rPr lang="en-US" altLang="ko-KR" sz="3600" dirty="0"/>
                        <a:t>[0+3] = 32’h11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0</a:t>
                      </a:r>
                      <a:r>
                        <a:rPr lang="en-US" sz="3600" dirty="0">
                          <a:highlight>
                            <a:srgbClr val="FFFF00"/>
                          </a:highlight>
                        </a:rPr>
                        <a:t>0_11</a:t>
                      </a:r>
                      <a:r>
                        <a:rPr lang="en-US" sz="3600" dirty="0"/>
                        <a:t>_00_33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4109852"/>
                  </a:ext>
                </a:extLst>
              </a:tr>
              <a:tr h="814909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8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 rowSpan="4"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SW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9171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3600" dirty="0" err="1"/>
                        <a:t>Dmem</a:t>
                      </a:r>
                      <a:r>
                        <a:rPr lang="en-US" altLang="ko-KR" sz="3600" dirty="0"/>
                        <a:t>[0+0] = 32’h44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>
                          <a:highlight>
                            <a:srgbClr val="FFFF00"/>
                          </a:highlight>
                        </a:rPr>
                        <a:t>00_00_00_44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1244518"/>
                  </a:ext>
                </a:extLst>
              </a:tr>
              <a:tr h="814909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9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 vMerge="1"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endParaRPr lang="en-US" sz="3600" dirty="0"/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9171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3600" dirty="0" err="1"/>
                        <a:t>Dmem</a:t>
                      </a:r>
                      <a:r>
                        <a:rPr lang="en-US" altLang="ko-KR" sz="3600" dirty="0"/>
                        <a:t>[0+1] = 32’h33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9171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3600" dirty="0">
                          <a:highlight>
                            <a:srgbClr val="FFFF00"/>
                          </a:highlight>
                        </a:rPr>
                        <a:t>00_00_00_33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3664092"/>
                  </a:ext>
                </a:extLst>
              </a:tr>
              <a:tr h="814909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10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 vMerge="1"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endParaRPr lang="en-US" sz="3600" dirty="0"/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9171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3600" dirty="0" err="1"/>
                        <a:t>Dmem</a:t>
                      </a:r>
                      <a:r>
                        <a:rPr lang="en-US" altLang="ko-KR" sz="3600" dirty="0"/>
                        <a:t>[0+2] = 32’h22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9171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3600" dirty="0">
                          <a:highlight>
                            <a:srgbClr val="FFFF00"/>
                          </a:highlight>
                        </a:rPr>
                        <a:t>00_00_00_22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0998393"/>
                  </a:ext>
                </a:extLst>
              </a:tr>
              <a:tr h="814909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11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 vMerge="1"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endParaRPr lang="en-US" sz="3600" dirty="0"/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9171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3600" dirty="0" err="1"/>
                        <a:t>Dmem</a:t>
                      </a:r>
                      <a:r>
                        <a:rPr lang="en-US" altLang="ko-KR" sz="3600" dirty="0"/>
                        <a:t>[0+3] = 32’h11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9171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3600" dirty="0">
                          <a:highlight>
                            <a:srgbClr val="FFFF00"/>
                          </a:highlight>
                        </a:rPr>
                        <a:t>00_00_00_11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313934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8CC8A467-E66A-B0BD-1C3F-E8BA629F5414}"/>
              </a:ext>
            </a:extLst>
          </p:cNvPr>
          <p:cNvSpPr txBox="1"/>
          <p:nvPr/>
        </p:nvSpPr>
        <p:spPr>
          <a:xfrm>
            <a:off x="2819400" y="9753600"/>
            <a:ext cx="6096000" cy="34778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4400" dirty="0" err="1"/>
              <a:t>Dmem</a:t>
            </a:r>
            <a:r>
              <a:rPr lang="en-US" altLang="ko-KR" sz="4400" dirty="0"/>
              <a:t>[Rs1+imm] = Rs2</a:t>
            </a:r>
          </a:p>
          <a:p>
            <a:endParaRPr lang="en-US" altLang="ko-KR" sz="4400" dirty="0"/>
          </a:p>
          <a:p>
            <a:r>
              <a:rPr lang="en-US" altLang="ko-KR" sz="4400" dirty="0"/>
              <a:t>Rs1 : 0</a:t>
            </a:r>
          </a:p>
          <a:p>
            <a:r>
              <a:rPr lang="en-US" altLang="ko-KR" sz="4400" dirty="0"/>
              <a:t>Imm : 0~3</a:t>
            </a:r>
          </a:p>
          <a:p>
            <a:r>
              <a:rPr lang="en-US" altLang="ko-KR" sz="4400" dirty="0"/>
              <a:t>Rs2 : x28 ~ x31</a:t>
            </a:r>
            <a:endParaRPr lang="ko-KR" altLang="en-US" sz="4400" dirty="0"/>
          </a:p>
        </p:txBody>
      </p:sp>
    </p:spTree>
    <p:extLst>
      <p:ext uri="{BB962C8B-B14F-4D97-AF65-F5344CB8AC3E}">
        <p14:creationId xmlns:p14="http://schemas.microsoft.com/office/powerpoint/2010/main" val="27034498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E6FBCC-7349-DE03-1F78-98AC458E5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8">
            <a:extLst>
              <a:ext uri="{FF2B5EF4-FFF2-40B4-BE49-F238E27FC236}">
                <a16:creationId xmlns:a16="http://schemas.microsoft.com/office/drawing/2014/main" id="{85B7FFC9-68C2-D12F-E036-3039BA2C493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 flipV="1">
            <a:off x="1045570" y="2059190"/>
            <a:ext cx="21814430" cy="45719"/>
          </a:xfrm>
          <a:prstGeom prst="rect">
            <a:avLst/>
          </a:prstGeom>
        </p:spPr>
      </p:pic>
      <p:sp>
        <p:nvSpPr>
          <p:cNvPr id="4" name="TextBox 10">
            <a:extLst>
              <a:ext uri="{FF2B5EF4-FFF2-40B4-BE49-F238E27FC236}">
                <a16:creationId xmlns:a16="http://schemas.microsoft.com/office/drawing/2014/main" id="{8082E95C-CABE-BF06-C94A-088A91DFD4F3}"/>
              </a:ext>
            </a:extLst>
          </p:cNvPr>
          <p:cNvSpPr txBox="1"/>
          <p:nvPr/>
        </p:nvSpPr>
        <p:spPr>
          <a:xfrm>
            <a:off x="1295400" y="609600"/>
            <a:ext cx="18897600" cy="1181100"/>
          </a:xfrm>
          <a:prstGeom prst="rect">
            <a:avLst/>
          </a:prstGeom>
        </p:spPr>
        <p:txBody>
          <a:bodyPr lIns="0" tIns="0" rIns="0" bIns="0" anchor="t"/>
          <a:lstStyle/>
          <a:p>
            <a:pPr lvl="0">
              <a:lnSpc>
                <a:spcPct val="116199"/>
              </a:lnSpc>
              <a:defRPr/>
            </a:pPr>
            <a:r>
              <a:rPr lang="en-US" altLang="ko-KR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3. Type </a:t>
            </a:r>
            <a:r>
              <a:rPr lang="ko-KR" altLang="en-US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별 동작 방식</a:t>
            </a:r>
            <a:r>
              <a:rPr lang="en-US" altLang="ko-KR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(S-type)</a:t>
            </a:r>
            <a:r>
              <a:rPr lang="ko-KR" altLang="en-US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47D721F-7390-E3C4-34C5-DFABA36A307A}"/>
              </a:ext>
            </a:extLst>
          </p:cNvPr>
          <p:cNvSpPr txBox="1"/>
          <p:nvPr/>
        </p:nvSpPr>
        <p:spPr>
          <a:xfrm>
            <a:off x="1305339" y="2426274"/>
            <a:ext cx="692426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400" dirty="0"/>
              <a:t>• simulation(Control </a:t>
            </a:r>
            <a:r>
              <a:rPr lang="en-US" altLang="ko-KR" sz="4400" dirty="0" err="1"/>
              <a:t>Uint</a:t>
            </a:r>
            <a:r>
              <a:rPr lang="en-US" altLang="ko-KR" sz="4400" dirty="0"/>
              <a:t>)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02DBA08-5E41-E44F-9871-5878AFA45E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3553522"/>
            <a:ext cx="18211800" cy="9171877"/>
          </a:xfrm>
          <a:prstGeom prst="rect">
            <a:avLst/>
          </a:prstGeom>
        </p:spPr>
      </p:pic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EEBB2B52-9F45-51AB-1EBB-890283F231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7485197"/>
              </p:ext>
            </p:extLst>
          </p:nvPr>
        </p:nvGraphicFramePr>
        <p:xfrm>
          <a:off x="18726150" y="3886200"/>
          <a:ext cx="5486400" cy="7619997"/>
        </p:xfrm>
        <a:graphic>
          <a:graphicData uri="http://schemas.openxmlformats.org/drawingml/2006/table">
            <a:tbl>
              <a:tblPr/>
              <a:tblGrid>
                <a:gridCol w="3657600">
                  <a:extLst>
                    <a:ext uri="{9D8B030D-6E8A-4147-A177-3AD203B41FA5}">
                      <a16:colId xmlns:a16="http://schemas.microsoft.com/office/drawing/2014/main" val="26090786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4031568788"/>
                    </a:ext>
                  </a:extLst>
                </a:gridCol>
              </a:tblGrid>
              <a:tr h="692727">
                <a:tc grid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control_unit</a:t>
                      </a:r>
                      <a:endParaRPr lang="en-US" sz="2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33097292"/>
                  </a:ext>
                </a:extLst>
              </a:tr>
              <a:tr h="69272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OUTPUT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S_type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309026"/>
                  </a:ext>
                </a:extLst>
              </a:tr>
              <a:tr h="69272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rf_we</a:t>
                      </a:r>
                      <a:endParaRPr lang="en-US" sz="2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542226"/>
                  </a:ext>
                </a:extLst>
              </a:tr>
              <a:tr h="69272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alu_src_sel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9106649"/>
                  </a:ext>
                </a:extLst>
              </a:tr>
              <a:tr h="69272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rf_wd_sel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1997995"/>
                  </a:ext>
                </a:extLst>
              </a:tr>
              <a:tr h="69272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alu_control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ADD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4278223"/>
                  </a:ext>
                </a:extLst>
              </a:tr>
              <a:tr h="69272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[</a:t>
                      </a:r>
                      <a:r>
                        <a:rPr lang="en-US" sz="2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b_taken,ALU_ctrl</a:t>
                      </a:r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]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0238126"/>
                  </a:ext>
                </a:extLst>
              </a:tr>
              <a:tr h="69272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b_src_sel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3100952"/>
                  </a:ext>
                </a:extLst>
              </a:tr>
              <a:tr h="69272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branch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5682672"/>
                  </a:ext>
                </a:extLst>
              </a:tr>
              <a:tr h="69272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o_funct3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funct3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6595360"/>
                  </a:ext>
                </a:extLst>
              </a:tr>
              <a:tr h="69272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dwe</a:t>
                      </a:r>
                      <a:endParaRPr lang="en-US" sz="2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2021482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E54E403C-E9D3-F3FE-10CD-D4FF5FB74D2E}"/>
              </a:ext>
            </a:extLst>
          </p:cNvPr>
          <p:cNvSpPr txBox="1"/>
          <p:nvPr/>
        </p:nvSpPr>
        <p:spPr>
          <a:xfrm>
            <a:off x="2590800" y="7444826"/>
            <a:ext cx="11049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000" dirty="0">
                <a:highlight>
                  <a:srgbClr val="FFFF00"/>
                </a:highlight>
              </a:rPr>
              <a:t>0</a:t>
            </a:r>
            <a:endParaRPr lang="ko-KR" altLang="en-US" sz="4000" dirty="0">
              <a:highlight>
                <a:srgbClr val="FFFF00"/>
              </a:highlight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16432F0-D4D4-AB93-B20F-CAA4A713488D}"/>
              </a:ext>
            </a:extLst>
          </p:cNvPr>
          <p:cNvSpPr txBox="1"/>
          <p:nvPr/>
        </p:nvSpPr>
        <p:spPr>
          <a:xfrm>
            <a:off x="2590800" y="8055114"/>
            <a:ext cx="11049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000" dirty="0">
                <a:highlight>
                  <a:srgbClr val="FFFF00"/>
                </a:highlight>
              </a:rPr>
              <a:t>1</a:t>
            </a:r>
            <a:endParaRPr lang="ko-KR" altLang="en-US" sz="4000" dirty="0">
              <a:highlight>
                <a:srgbClr val="FFFF00"/>
              </a:highlight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D542AB0-6589-AE8E-EE2D-871E684D8E7A}"/>
              </a:ext>
            </a:extLst>
          </p:cNvPr>
          <p:cNvSpPr txBox="1"/>
          <p:nvPr/>
        </p:nvSpPr>
        <p:spPr>
          <a:xfrm>
            <a:off x="2590800" y="8708886"/>
            <a:ext cx="11049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000" dirty="0">
                <a:highlight>
                  <a:srgbClr val="FFFF00"/>
                </a:highlight>
              </a:rPr>
              <a:t>0</a:t>
            </a:r>
            <a:endParaRPr lang="ko-KR" altLang="en-US" sz="4000" dirty="0">
              <a:highlight>
                <a:srgbClr val="FFFF00"/>
              </a:highlight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A56468F-03C6-C4CE-6679-2EE7815057EC}"/>
              </a:ext>
            </a:extLst>
          </p:cNvPr>
          <p:cNvSpPr/>
          <p:nvPr/>
        </p:nvSpPr>
        <p:spPr>
          <a:xfrm>
            <a:off x="381001" y="7444826"/>
            <a:ext cx="1752600" cy="5051974"/>
          </a:xfrm>
          <a:prstGeom prst="rect">
            <a:avLst/>
          </a:prstGeom>
          <a:noFill/>
          <a:ln w="762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FB4ADCA-392C-D7FF-3F04-7D2D93A7E773}"/>
              </a:ext>
            </a:extLst>
          </p:cNvPr>
          <p:cNvSpPr txBox="1"/>
          <p:nvPr/>
        </p:nvSpPr>
        <p:spPr>
          <a:xfrm>
            <a:off x="2914650" y="9416772"/>
            <a:ext cx="11049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000" dirty="0">
                <a:highlight>
                  <a:srgbClr val="FFFF00"/>
                </a:highlight>
              </a:rPr>
              <a:t>ADD</a:t>
            </a:r>
            <a:endParaRPr lang="ko-KR" altLang="en-US" sz="4000" dirty="0">
              <a:highlight>
                <a:srgbClr val="FFFF00"/>
              </a:highlight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5D53A03-6D6D-705C-9852-389288F7460F}"/>
              </a:ext>
            </a:extLst>
          </p:cNvPr>
          <p:cNvSpPr txBox="1"/>
          <p:nvPr/>
        </p:nvSpPr>
        <p:spPr>
          <a:xfrm>
            <a:off x="2590800" y="10009256"/>
            <a:ext cx="11049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000" dirty="0">
                <a:highlight>
                  <a:srgbClr val="FFFF00"/>
                </a:highlight>
              </a:rPr>
              <a:t>0</a:t>
            </a:r>
            <a:endParaRPr lang="ko-KR" altLang="en-US" sz="4000" dirty="0">
              <a:highlight>
                <a:srgbClr val="FFFF00"/>
              </a:highlight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4DD5066-DA47-EDEA-8D1B-D6E5A2AFB467}"/>
              </a:ext>
            </a:extLst>
          </p:cNvPr>
          <p:cNvSpPr txBox="1"/>
          <p:nvPr/>
        </p:nvSpPr>
        <p:spPr>
          <a:xfrm>
            <a:off x="2590800" y="11973053"/>
            <a:ext cx="11049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000" dirty="0">
                <a:highlight>
                  <a:srgbClr val="FFFF00"/>
                </a:highlight>
              </a:rPr>
              <a:t>1</a:t>
            </a:r>
            <a:endParaRPr lang="ko-KR" altLang="en-US" sz="4000" dirty="0">
              <a:highlight>
                <a:srgbClr val="FFFF00"/>
              </a:highlight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86DD842-A0C9-A831-8DAE-E38ADB6F1D80}"/>
              </a:ext>
            </a:extLst>
          </p:cNvPr>
          <p:cNvSpPr txBox="1"/>
          <p:nvPr/>
        </p:nvSpPr>
        <p:spPr>
          <a:xfrm>
            <a:off x="2590800" y="10581840"/>
            <a:ext cx="11049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000" dirty="0">
                <a:highlight>
                  <a:srgbClr val="FFFF00"/>
                </a:highlight>
              </a:rPr>
              <a:t>0</a:t>
            </a:r>
            <a:endParaRPr lang="ko-KR" altLang="en-US" sz="4000" dirty="0">
              <a:highlight>
                <a:srgbClr val="FFFF00"/>
              </a:highlight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C741A6B2-F001-04D8-604C-99C93B36ED35}"/>
              </a:ext>
            </a:extLst>
          </p:cNvPr>
          <p:cNvSpPr/>
          <p:nvPr/>
        </p:nvSpPr>
        <p:spPr>
          <a:xfrm>
            <a:off x="18726148" y="5322423"/>
            <a:ext cx="5486401" cy="6183773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CD7BF62E-8766-1AED-AA5D-EA2C0052FC2B}"/>
              </a:ext>
            </a:extLst>
          </p:cNvPr>
          <p:cNvSpPr/>
          <p:nvPr/>
        </p:nvSpPr>
        <p:spPr>
          <a:xfrm>
            <a:off x="4793972" y="11265165"/>
            <a:ext cx="12274827" cy="707887"/>
          </a:xfrm>
          <a:prstGeom prst="rect">
            <a:avLst/>
          </a:prstGeom>
          <a:noFill/>
          <a:ln w="762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44561FDD-B05C-D6E2-F096-A0F417032240}"/>
              </a:ext>
            </a:extLst>
          </p:cNvPr>
          <p:cNvSpPr/>
          <p:nvPr/>
        </p:nvSpPr>
        <p:spPr>
          <a:xfrm>
            <a:off x="5257800" y="6150113"/>
            <a:ext cx="12274827" cy="707887"/>
          </a:xfrm>
          <a:prstGeom prst="rect">
            <a:avLst/>
          </a:prstGeom>
          <a:noFill/>
          <a:ln w="762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71421A86-8BC2-D9A2-51D3-9D4271B69E69}"/>
              </a:ext>
            </a:extLst>
          </p:cNvPr>
          <p:cNvCxnSpPr>
            <a:cxnSpLocks/>
          </p:cNvCxnSpPr>
          <p:nvPr/>
        </p:nvCxnSpPr>
        <p:spPr>
          <a:xfrm>
            <a:off x="10020300" y="6858000"/>
            <a:ext cx="0" cy="4407165"/>
          </a:xfrm>
          <a:prstGeom prst="straightConnector1">
            <a:avLst/>
          </a:prstGeom>
          <a:ln w="76200">
            <a:solidFill>
              <a:srgbClr val="FFFF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E23155E-4A95-6952-3D94-FEC444753CB3}"/>
              </a:ext>
            </a:extLst>
          </p:cNvPr>
          <p:cNvSpPr txBox="1"/>
          <p:nvPr/>
        </p:nvSpPr>
        <p:spPr>
          <a:xfrm>
            <a:off x="10229849" y="7701171"/>
            <a:ext cx="447674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000" dirty="0">
                <a:highlight>
                  <a:srgbClr val="FFFF00"/>
                </a:highlight>
              </a:rPr>
              <a:t>o_funct3 = funct3</a:t>
            </a:r>
            <a:endParaRPr lang="ko-KR" altLang="en-US" sz="4000" dirty="0">
              <a:highlight>
                <a:srgbClr val="FFFF00"/>
              </a:highlight>
            </a:endParaRP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76BA0E43-5684-2764-5CB6-DE8F897B843E}"/>
              </a:ext>
            </a:extLst>
          </p:cNvPr>
          <p:cNvCxnSpPr>
            <a:cxnSpLocks/>
          </p:cNvCxnSpPr>
          <p:nvPr/>
        </p:nvCxnSpPr>
        <p:spPr>
          <a:xfrm flipH="1">
            <a:off x="3695700" y="7162800"/>
            <a:ext cx="15030448" cy="707887"/>
          </a:xfrm>
          <a:prstGeom prst="straightConnector1">
            <a:avLst/>
          </a:prstGeom>
          <a:ln w="76200">
            <a:solidFill>
              <a:srgbClr val="FFFF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471274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F255BD-C4A6-9F08-046D-3E2EA9D9D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8">
            <a:extLst>
              <a:ext uri="{FF2B5EF4-FFF2-40B4-BE49-F238E27FC236}">
                <a16:creationId xmlns:a16="http://schemas.microsoft.com/office/drawing/2014/main" id="{F0A990EB-F54B-0120-A272-9A956295896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 flipV="1">
            <a:off x="1045570" y="2059190"/>
            <a:ext cx="21814430" cy="45719"/>
          </a:xfrm>
          <a:prstGeom prst="rect">
            <a:avLst/>
          </a:prstGeom>
        </p:spPr>
      </p:pic>
      <p:sp>
        <p:nvSpPr>
          <p:cNvPr id="4" name="TextBox 10">
            <a:extLst>
              <a:ext uri="{FF2B5EF4-FFF2-40B4-BE49-F238E27FC236}">
                <a16:creationId xmlns:a16="http://schemas.microsoft.com/office/drawing/2014/main" id="{E11B2971-057A-7466-0E10-9E2BC0112C0D}"/>
              </a:ext>
            </a:extLst>
          </p:cNvPr>
          <p:cNvSpPr txBox="1"/>
          <p:nvPr/>
        </p:nvSpPr>
        <p:spPr>
          <a:xfrm>
            <a:off x="1295400" y="609600"/>
            <a:ext cx="18897600" cy="1181100"/>
          </a:xfrm>
          <a:prstGeom prst="rect">
            <a:avLst/>
          </a:prstGeom>
        </p:spPr>
        <p:txBody>
          <a:bodyPr lIns="0" tIns="0" rIns="0" bIns="0" anchor="t"/>
          <a:lstStyle/>
          <a:p>
            <a:pPr lvl="0">
              <a:lnSpc>
                <a:spcPct val="116199"/>
              </a:lnSpc>
              <a:defRPr/>
            </a:pPr>
            <a:r>
              <a:rPr lang="en-US" altLang="ko-KR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3. Type </a:t>
            </a:r>
            <a:r>
              <a:rPr lang="ko-KR" altLang="en-US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별 동작 방식</a:t>
            </a:r>
            <a:r>
              <a:rPr lang="en-US" altLang="ko-KR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(S-type)</a:t>
            </a:r>
            <a:r>
              <a:rPr lang="ko-KR" altLang="en-US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1E39AC8-E492-B32F-C5F1-399357194085}"/>
              </a:ext>
            </a:extLst>
          </p:cNvPr>
          <p:cNvSpPr txBox="1"/>
          <p:nvPr/>
        </p:nvSpPr>
        <p:spPr>
          <a:xfrm>
            <a:off x="1305339" y="2426274"/>
            <a:ext cx="837206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400" dirty="0"/>
              <a:t>• simulation(</a:t>
            </a:r>
            <a:r>
              <a:rPr lang="en-US" altLang="ko-KR" sz="4400" dirty="0" err="1"/>
              <a:t>imm_extender</a:t>
            </a:r>
            <a:r>
              <a:rPr lang="en-US" altLang="ko-KR" sz="4400" dirty="0"/>
              <a:t> &amp; ALU)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066CC8D6-C784-F0AB-9751-34FADF6A66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7800" y="3513766"/>
            <a:ext cx="21412200" cy="2826073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33468097-5564-E0B0-7098-1722393760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6685" y="7276409"/>
            <a:ext cx="21412200" cy="5129104"/>
          </a:xfrm>
          <a:prstGeom prst="rect">
            <a:avLst/>
          </a:prstGeom>
        </p:spPr>
      </p:pic>
      <p:sp>
        <p:nvSpPr>
          <p:cNvPr id="23" name="화살표: 아래쪽 22">
            <a:extLst>
              <a:ext uri="{FF2B5EF4-FFF2-40B4-BE49-F238E27FC236}">
                <a16:creationId xmlns:a16="http://schemas.microsoft.com/office/drawing/2014/main" id="{1B7324BE-8817-5491-6BB4-04163410FD4C}"/>
              </a:ext>
            </a:extLst>
          </p:cNvPr>
          <p:cNvSpPr/>
          <p:nvPr/>
        </p:nvSpPr>
        <p:spPr>
          <a:xfrm>
            <a:off x="11000285" y="6350157"/>
            <a:ext cx="1905000" cy="914400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19A3C8F-11FC-CA75-1EA8-CF5D01417B34}"/>
              </a:ext>
            </a:extLst>
          </p:cNvPr>
          <p:cNvSpPr txBox="1"/>
          <p:nvPr/>
        </p:nvSpPr>
        <p:spPr>
          <a:xfrm>
            <a:off x="4495800" y="8686800"/>
            <a:ext cx="17526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400" b="1" dirty="0">
                <a:solidFill>
                  <a:schemeClr val="bg1"/>
                </a:solidFill>
                <a:highlight>
                  <a:srgbClr val="808080"/>
                </a:highlight>
              </a:rPr>
              <a:t>rs1</a:t>
            </a:r>
            <a:endParaRPr lang="ko-KR" altLang="en-US" sz="4400" b="1" dirty="0">
              <a:solidFill>
                <a:schemeClr val="bg1"/>
              </a:solidFill>
              <a:highlight>
                <a:srgbClr val="808080"/>
              </a:highlight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EB466DE-1D72-5590-BCB9-28CBDF6035E1}"/>
              </a:ext>
            </a:extLst>
          </p:cNvPr>
          <p:cNvSpPr txBox="1"/>
          <p:nvPr/>
        </p:nvSpPr>
        <p:spPr>
          <a:xfrm>
            <a:off x="4495800" y="9456241"/>
            <a:ext cx="17526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400" b="1" dirty="0" err="1">
                <a:solidFill>
                  <a:schemeClr val="bg1"/>
                </a:solidFill>
                <a:highlight>
                  <a:srgbClr val="808080"/>
                </a:highlight>
              </a:rPr>
              <a:t>imm</a:t>
            </a:r>
            <a:endParaRPr lang="ko-KR" altLang="en-US" sz="4400" b="1" dirty="0">
              <a:solidFill>
                <a:schemeClr val="bg1"/>
              </a:solidFill>
              <a:highlight>
                <a:srgbClr val="808080"/>
              </a:highlight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C0C280D-4F02-2577-BBA0-8F3600A07486}"/>
              </a:ext>
            </a:extLst>
          </p:cNvPr>
          <p:cNvSpPr txBox="1"/>
          <p:nvPr/>
        </p:nvSpPr>
        <p:spPr>
          <a:xfrm>
            <a:off x="4343400" y="11167020"/>
            <a:ext cx="17526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400" b="1" dirty="0" err="1">
                <a:solidFill>
                  <a:schemeClr val="bg1"/>
                </a:solidFill>
                <a:highlight>
                  <a:srgbClr val="808080"/>
                </a:highlight>
              </a:rPr>
              <a:t>daddr</a:t>
            </a:r>
            <a:endParaRPr lang="ko-KR" altLang="en-US" sz="4400" b="1" dirty="0">
              <a:solidFill>
                <a:schemeClr val="bg1"/>
              </a:solidFill>
              <a:highlight>
                <a:srgbClr val="808080"/>
              </a:highlight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234B7EDE-72E8-A0A4-B96E-2C13B97A4AD2}"/>
              </a:ext>
            </a:extLst>
          </p:cNvPr>
          <p:cNvSpPr/>
          <p:nvPr/>
        </p:nvSpPr>
        <p:spPr>
          <a:xfrm>
            <a:off x="4953000" y="12410739"/>
            <a:ext cx="6400800" cy="81449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400" dirty="0"/>
              <a:t>SB</a:t>
            </a:r>
            <a:endParaRPr lang="ko-KR" altLang="en-US" sz="4400" dirty="0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FC2C9D6E-F915-C6A8-DB48-390454D7CAD9}"/>
              </a:ext>
            </a:extLst>
          </p:cNvPr>
          <p:cNvSpPr/>
          <p:nvPr/>
        </p:nvSpPr>
        <p:spPr>
          <a:xfrm>
            <a:off x="11353800" y="12417365"/>
            <a:ext cx="6172200" cy="81449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400" dirty="0"/>
              <a:t>SH</a:t>
            </a:r>
            <a:endParaRPr lang="ko-KR" altLang="en-US" sz="4400" dirty="0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64467081-96F2-36B0-57C8-62776180090E}"/>
              </a:ext>
            </a:extLst>
          </p:cNvPr>
          <p:cNvSpPr/>
          <p:nvPr/>
        </p:nvSpPr>
        <p:spPr>
          <a:xfrm>
            <a:off x="17549191" y="12405513"/>
            <a:ext cx="5109694" cy="81449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400" dirty="0"/>
              <a:t>SW</a:t>
            </a:r>
            <a:endParaRPr lang="ko-KR" altLang="en-US" sz="4400" dirty="0"/>
          </a:p>
        </p:txBody>
      </p:sp>
    </p:spTree>
    <p:extLst>
      <p:ext uri="{BB962C8B-B14F-4D97-AF65-F5344CB8AC3E}">
        <p14:creationId xmlns:p14="http://schemas.microsoft.com/office/powerpoint/2010/main" val="80268642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2C75FF-11A5-AB2E-32A0-FFDAA34E36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>
            <a:extLst>
              <a:ext uri="{FF2B5EF4-FFF2-40B4-BE49-F238E27FC236}">
                <a16:creationId xmlns:a16="http://schemas.microsoft.com/office/drawing/2014/main" id="{F0A35628-03F0-9ECF-FFDD-5812D2DDD5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3349312"/>
            <a:ext cx="23452834" cy="8385487"/>
          </a:xfrm>
          <a:prstGeom prst="rect">
            <a:avLst/>
          </a:prstGeom>
        </p:spPr>
      </p:pic>
      <p:pic>
        <p:nvPicPr>
          <p:cNvPr id="3" name="Picture 8">
            <a:extLst>
              <a:ext uri="{FF2B5EF4-FFF2-40B4-BE49-F238E27FC236}">
                <a16:creationId xmlns:a16="http://schemas.microsoft.com/office/drawing/2014/main" id="{8722DBB9-ADFC-FD04-2D64-AB93D2558E9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 flipV="1">
            <a:off x="1045570" y="2059190"/>
            <a:ext cx="21814430" cy="45719"/>
          </a:xfrm>
          <a:prstGeom prst="rect">
            <a:avLst/>
          </a:prstGeom>
        </p:spPr>
      </p:pic>
      <p:sp>
        <p:nvSpPr>
          <p:cNvPr id="4" name="TextBox 10">
            <a:extLst>
              <a:ext uri="{FF2B5EF4-FFF2-40B4-BE49-F238E27FC236}">
                <a16:creationId xmlns:a16="http://schemas.microsoft.com/office/drawing/2014/main" id="{20ABF691-5663-7194-B2E6-F8C396D12FE3}"/>
              </a:ext>
            </a:extLst>
          </p:cNvPr>
          <p:cNvSpPr txBox="1"/>
          <p:nvPr/>
        </p:nvSpPr>
        <p:spPr>
          <a:xfrm>
            <a:off x="1295400" y="609600"/>
            <a:ext cx="18897600" cy="1181100"/>
          </a:xfrm>
          <a:prstGeom prst="rect">
            <a:avLst/>
          </a:prstGeom>
        </p:spPr>
        <p:txBody>
          <a:bodyPr lIns="0" tIns="0" rIns="0" bIns="0" anchor="t"/>
          <a:lstStyle/>
          <a:p>
            <a:pPr lvl="0">
              <a:lnSpc>
                <a:spcPct val="116199"/>
              </a:lnSpc>
              <a:defRPr/>
            </a:pPr>
            <a:r>
              <a:rPr lang="en-US" altLang="ko-KR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3. Type </a:t>
            </a:r>
            <a:r>
              <a:rPr lang="ko-KR" altLang="en-US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별 동작 방식</a:t>
            </a:r>
            <a:r>
              <a:rPr lang="en-US" altLang="ko-KR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(S-type)</a:t>
            </a:r>
            <a:r>
              <a:rPr lang="ko-KR" altLang="en-US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54D748A-38BD-03FE-FFBC-E894F6959F00}"/>
              </a:ext>
            </a:extLst>
          </p:cNvPr>
          <p:cNvSpPr txBox="1"/>
          <p:nvPr/>
        </p:nvSpPr>
        <p:spPr>
          <a:xfrm>
            <a:off x="1305339" y="2426274"/>
            <a:ext cx="837206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400" dirty="0"/>
              <a:t>• simulation(Register File)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8FC6F67-5BEB-41DA-8197-FE14DCC4F782}"/>
              </a:ext>
            </a:extLst>
          </p:cNvPr>
          <p:cNvSpPr txBox="1"/>
          <p:nvPr/>
        </p:nvSpPr>
        <p:spPr>
          <a:xfrm>
            <a:off x="3124200" y="9246877"/>
            <a:ext cx="17526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400" b="1" dirty="0">
                <a:solidFill>
                  <a:schemeClr val="bg1"/>
                </a:solidFill>
                <a:highlight>
                  <a:srgbClr val="808080"/>
                </a:highlight>
              </a:rPr>
              <a:t>rs2</a:t>
            </a:r>
            <a:endParaRPr lang="ko-KR" altLang="en-US" sz="4400" b="1" dirty="0">
              <a:solidFill>
                <a:schemeClr val="bg1"/>
              </a:solidFill>
              <a:highlight>
                <a:srgbClr val="808080"/>
              </a:highlight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AF4B39E-0201-9488-D071-ACE87B7A319B}"/>
              </a:ext>
            </a:extLst>
          </p:cNvPr>
          <p:cNvSpPr txBox="1"/>
          <p:nvPr/>
        </p:nvSpPr>
        <p:spPr>
          <a:xfrm>
            <a:off x="2514600" y="10101329"/>
            <a:ext cx="2209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400" b="1" dirty="0" err="1">
                <a:solidFill>
                  <a:schemeClr val="bg1"/>
                </a:solidFill>
                <a:highlight>
                  <a:srgbClr val="808080"/>
                </a:highlight>
              </a:rPr>
              <a:t>dwdata</a:t>
            </a:r>
            <a:endParaRPr lang="ko-KR" altLang="en-US" sz="4400" b="1" dirty="0">
              <a:solidFill>
                <a:schemeClr val="bg1"/>
              </a:solidFill>
              <a:highlight>
                <a:srgbClr val="808080"/>
              </a:highlight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4A7CB980-C68D-6978-6304-2CAFAC575B91}"/>
              </a:ext>
            </a:extLst>
          </p:cNvPr>
          <p:cNvSpPr/>
          <p:nvPr/>
        </p:nvSpPr>
        <p:spPr>
          <a:xfrm>
            <a:off x="4457700" y="11656810"/>
            <a:ext cx="6896100" cy="81449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400" dirty="0"/>
              <a:t>SB</a:t>
            </a:r>
            <a:endParaRPr lang="ko-KR" altLang="en-US" sz="4400" dirty="0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C1F6032E-2DCD-F0D3-CB08-07622DE8EF87}"/>
              </a:ext>
            </a:extLst>
          </p:cNvPr>
          <p:cNvSpPr/>
          <p:nvPr/>
        </p:nvSpPr>
        <p:spPr>
          <a:xfrm>
            <a:off x="11353800" y="11656810"/>
            <a:ext cx="6400800" cy="81449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400" dirty="0"/>
              <a:t>SH</a:t>
            </a:r>
            <a:endParaRPr lang="ko-KR" altLang="en-US" sz="4400" dirty="0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27D31F25-7F24-A18D-C4DA-9392E364A401}"/>
              </a:ext>
            </a:extLst>
          </p:cNvPr>
          <p:cNvSpPr/>
          <p:nvPr/>
        </p:nvSpPr>
        <p:spPr>
          <a:xfrm>
            <a:off x="17754600" y="11656810"/>
            <a:ext cx="6079234" cy="81449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400" dirty="0"/>
              <a:t>SW</a:t>
            </a:r>
            <a:endParaRPr lang="ko-KR" altLang="en-US" sz="44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9CBF17A9-E142-1DF9-9228-C33DF9C17490}"/>
              </a:ext>
            </a:extLst>
          </p:cNvPr>
          <p:cNvSpPr/>
          <p:nvPr/>
        </p:nvSpPr>
        <p:spPr>
          <a:xfrm>
            <a:off x="4474265" y="9144000"/>
            <a:ext cx="19359569" cy="1905000"/>
          </a:xfrm>
          <a:prstGeom prst="rect">
            <a:avLst/>
          </a:prstGeom>
          <a:noFill/>
          <a:ln w="762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1236052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5E416-FD34-84B8-ED51-4426D924C1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8">
            <a:extLst>
              <a:ext uri="{FF2B5EF4-FFF2-40B4-BE49-F238E27FC236}">
                <a16:creationId xmlns:a16="http://schemas.microsoft.com/office/drawing/2014/main" id="{14C68AD4-C444-8615-9C4D-A3028F4F6DD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 flipV="1">
            <a:off x="1045570" y="2059190"/>
            <a:ext cx="21814430" cy="45719"/>
          </a:xfrm>
          <a:prstGeom prst="rect">
            <a:avLst/>
          </a:prstGeom>
        </p:spPr>
      </p:pic>
      <p:sp>
        <p:nvSpPr>
          <p:cNvPr id="4" name="TextBox 10">
            <a:extLst>
              <a:ext uri="{FF2B5EF4-FFF2-40B4-BE49-F238E27FC236}">
                <a16:creationId xmlns:a16="http://schemas.microsoft.com/office/drawing/2014/main" id="{5E8ADDB4-1766-C702-E695-176D1DD1528D}"/>
              </a:ext>
            </a:extLst>
          </p:cNvPr>
          <p:cNvSpPr txBox="1"/>
          <p:nvPr/>
        </p:nvSpPr>
        <p:spPr>
          <a:xfrm>
            <a:off x="1295400" y="609600"/>
            <a:ext cx="18897600" cy="1181100"/>
          </a:xfrm>
          <a:prstGeom prst="rect">
            <a:avLst/>
          </a:prstGeom>
        </p:spPr>
        <p:txBody>
          <a:bodyPr lIns="0" tIns="0" rIns="0" bIns="0" anchor="t"/>
          <a:lstStyle/>
          <a:p>
            <a:pPr lvl="0">
              <a:lnSpc>
                <a:spcPct val="116199"/>
              </a:lnSpc>
              <a:defRPr/>
            </a:pPr>
            <a:r>
              <a:rPr lang="en-US" altLang="ko-KR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3. Type </a:t>
            </a:r>
            <a:r>
              <a:rPr lang="ko-KR" altLang="en-US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별 동작 방식</a:t>
            </a:r>
            <a:r>
              <a:rPr lang="en-US" altLang="ko-KR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(S-type)</a:t>
            </a:r>
            <a:r>
              <a:rPr lang="ko-KR" altLang="en-US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1470CFE-A3FD-F471-BA09-9C4596F93114}"/>
              </a:ext>
            </a:extLst>
          </p:cNvPr>
          <p:cNvSpPr txBox="1"/>
          <p:nvPr/>
        </p:nvSpPr>
        <p:spPr>
          <a:xfrm>
            <a:off x="1305339" y="2426274"/>
            <a:ext cx="837206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400" dirty="0"/>
              <a:t>• simulation(Data mem)</a:t>
            </a:r>
          </a:p>
        </p:txBody>
      </p:sp>
      <p:graphicFrame>
        <p:nvGraphicFramePr>
          <p:cNvPr id="7" name="Table 12">
            <a:extLst>
              <a:ext uri="{FF2B5EF4-FFF2-40B4-BE49-F238E27FC236}">
                <a16:creationId xmlns:a16="http://schemas.microsoft.com/office/drawing/2014/main" id="{1E801510-1C87-CBF1-42CF-7EB7707CBC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8771430"/>
              </p:ext>
            </p:extLst>
          </p:nvPr>
        </p:nvGraphicFramePr>
        <p:xfrm>
          <a:off x="18592800" y="4866727"/>
          <a:ext cx="5042451" cy="5078397"/>
        </p:xfrm>
        <a:graphic>
          <a:graphicData uri="http://schemas.openxmlformats.org/drawingml/2006/table">
            <a:tbl>
              <a:tblPr/>
              <a:tblGrid>
                <a:gridCol w="927650">
                  <a:extLst>
                    <a:ext uri="{9D8B030D-6E8A-4147-A177-3AD203B41FA5}">
                      <a16:colId xmlns:a16="http://schemas.microsoft.com/office/drawing/2014/main" val="1091418196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19401">
                  <a:extLst>
                    <a:ext uri="{9D8B030D-6E8A-4147-A177-3AD203B41FA5}">
                      <a16:colId xmlns:a16="http://schemas.microsoft.com/office/drawing/2014/main" val="3438463186"/>
                    </a:ext>
                  </a:extLst>
                </a:gridCol>
              </a:tblGrid>
              <a:tr h="295384">
                <a:tc gridSpan="3"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>
                          <a:solidFill>
                            <a:schemeClr val="bg1"/>
                          </a:solidFill>
                        </a:rPr>
                        <a:t>INSTR MEM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 hMerge="1"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endParaRPr lang="en-US" sz="3600" dirty="0">
                        <a:solidFill>
                          <a:schemeClr val="bg1"/>
                        </a:solidFill>
                      </a:endParaRPr>
                    </a:p>
                  </a:txBody>
                  <a:tcPr marL="25400" marR="25400" marT="65362" marB="6536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25666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PC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INSRT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 err="1"/>
                        <a:t>Dmem</a:t>
                      </a:r>
                      <a:r>
                        <a:rPr lang="en-US" sz="3600" dirty="0"/>
                        <a:t>[0] = Result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5701013"/>
                  </a:ext>
                </a:extLst>
              </a:tr>
              <a:tr h="825666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0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 rowSpan="4"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SB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00_00_00_</a:t>
                      </a:r>
                      <a:r>
                        <a:rPr lang="en-US" sz="3600" dirty="0">
                          <a:highlight>
                            <a:srgbClr val="FFFF00"/>
                          </a:highlight>
                        </a:rPr>
                        <a:t>44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25666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1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 vMerge="1"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endParaRPr lang="en-US" sz="3600" dirty="0"/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00_00_</a:t>
                      </a:r>
                      <a:r>
                        <a:rPr lang="en-US" sz="3600" dirty="0">
                          <a:highlight>
                            <a:srgbClr val="FFFF00"/>
                          </a:highlight>
                        </a:rPr>
                        <a:t>33</a:t>
                      </a:r>
                      <a:r>
                        <a:rPr lang="en-US" sz="3600" dirty="0"/>
                        <a:t>_44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8771999"/>
                  </a:ext>
                </a:extLst>
              </a:tr>
              <a:tr h="825666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2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 vMerge="1"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endParaRPr lang="en-US" sz="3600" dirty="0"/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00_</a:t>
                      </a:r>
                      <a:r>
                        <a:rPr lang="en-US" sz="3600" dirty="0">
                          <a:highlight>
                            <a:srgbClr val="FFFF00"/>
                          </a:highlight>
                        </a:rPr>
                        <a:t>22</a:t>
                      </a:r>
                      <a:r>
                        <a:rPr lang="en-US" sz="3600" dirty="0"/>
                        <a:t>_33_44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5456246"/>
                  </a:ext>
                </a:extLst>
              </a:tr>
              <a:tr h="825666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3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 vMerge="1"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endParaRPr lang="en-US" sz="3600" dirty="0"/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>
                          <a:highlight>
                            <a:srgbClr val="FFFF00"/>
                          </a:highlight>
                        </a:rPr>
                        <a:t>11</a:t>
                      </a:r>
                      <a:r>
                        <a:rPr lang="en-US" sz="3600" dirty="0"/>
                        <a:t>_22_33_44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1448885"/>
                  </a:ext>
                </a:extLst>
              </a:tr>
            </a:tbl>
          </a:graphicData>
        </a:graphic>
      </p:graphicFrame>
      <p:pic>
        <p:nvPicPr>
          <p:cNvPr id="9" name="그림 8">
            <a:extLst>
              <a:ext uri="{FF2B5EF4-FFF2-40B4-BE49-F238E27FC236}">
                <a16:creationId xmlns:a16="http://schemas.microsoft.com/office/drawing/2014/main" id="{D229823B-0C77-3A68-21BB-CD89E9B324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5339" y="3748325"/>
            <a:ext cx="16306800" cy="900755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4687B54-F674-A397-E20D-448165F29936}"/>
              </a:ext>
            </a:extLst>
          </p:cNvPr>
          <p:cNvSpPr txBox="1"/>
          <p:nvPr/>
        </p:nvSpPr>
        <p:spPr>
          <a:xfrm>
            <a:off x="10399719" y="5085068"/>
            <a:ext cx="135255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000" dirty="0">
                <a:highlight>
                  <a:srgbClr val="FFFF00"/>
                </a:highlight>
              </a:rPr>
              <a:t>SB</a:t>
            </a:r>
            <a:endParaRPr lang="ko-KR" altLang="en-US" sz="4000" dirty="0">
              <a:highlight>
                <a:srgbClr val="FFFF00"/>
              </a:highlight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12DCDF6-1EC1-6038-871D-0113CA2D880D}"/>
              </a:ext>
            </a:extLst>
          </p:cNvPr>
          <p:cNvSpPr txBox="1"/>
          <p:nvPr/>
        </p:nvSpPr>
        <p:spPr>
          <a:xfrm>
            <a:off x="10399719" y="6655301"/>
            <a:ext cx="19446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000" dirty="0" err="1">
                <a:highlight>
                  <a:srgbClr val="FFFF00"/>
                </a:highlight>
              </a:rPr>
              <a:t>dwe</a:t>
            </a:r>
            <a:r>
              <a:rPr lang="en-US" altLang="ko-KR" sz="4000" dirty="0">
                <a:highlight>
                  <a:srgbClr val="FFFF00"/>
                </a:highlight>
              </a:rPr>
              <a:t> =1</a:t>
            </a:r>
            <a:endParaRPr lang="ko-KR" altLang="en-US" sz="4000" dirty="0">
              <a:highlight>
                <a:srgbClr val="FFFF00"/>
              </a:highlight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6B11A384-8AFB-B33D-884F-950D284D7EFA}"/>
              </a:ext>
            </a:extLst>
          </p:cNvPr>
          <p:cNvSpPr/>
          <p:nvPr/>
        </p:nvSpPr>
        <p:spPr>
          <a:xfrm>
            <a:off x="6843920" y="7620000"/>
            <a:ext cx="8464150" cy="1695362"/>
          </a:xfrm>
          <a:prstGeom prst="rect">
            <a:avLst/>
          </a:prstGeom>
          <a:noFill/>
          <a:ln w="762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877CF31A-0D4C-136C-A4DA-C4AD4C1DCF3A}"/>
              </a:ext>
            </a:extLst>
          </p:cNvPr>
          <p:cNvCxnSpPr>
            <a:cxnSpLocks/>
          </p:cNvCxnSpPr>
          <p:nvPr/>
        </p:nvCxnSpPr>
        <p:spPr>
          <a:xfrm>
            <a:off x="8686800" y="9315362"/>
            <a:ext cx="685800" cy="1974364"/>
          </a:xfrm>
          <a:prstGeom prst="straightConnector1">
            <a:avLst/>
          </a:prstGeom>
          <a:ln w="76200">
            <a:solidFill>
              <a:srgbClr val="FFFF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72DB30FB-4172-DE37-A450-D11C131F08E1}"/>
              </a:ext>
            </a:extLst>
          </p:cNvPr>
          <p:cNvCxnSpPr>
            <a:cxnSpLocks/>
          </p:cNvCxnSpPr>
          <p:nvPr/>
        </p:nvCxnSpPr>
        <p:spPr>
          <a:xfrm>
            <a:off x="10539619" y="9315362"/>
            <a:ext cx="1413166" cy="1974364"/>
          </a:xfrm>
          <a:prstGeom prst="straightConnector1">
            <a:avLst/>
          </a:prstGeom>
          <a:ln w="76200">
            <a:solidFill>
              <a:srgbClr val="FFFF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C5DECCEC-863A-791E-A4B6-ABE6A13C0D90}"/>
              </a:ext>
            </a:extLst>
          </p:cNvPr>
          <p:cNvCxnSpPr>
            <a:cxnSpLocks/>
          </p:cNvCxnSpPr>
          <p:nvPr/>
        </p:nvCxnSpPr>
        <p:spPr>
          <a:xfrm>
            <a:off x="12609028" y="9315362"/>
            <a:ext cx="1716572" cy="1974364"/>
          </a:xfrm>
          <a:prstGeom prst="straightConnector1">
            <a:avLst/>
          </a:prstGeom>
          <a:ln w="76200">
            <a:solidFill>
              <a:srgbClr val="FFFF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DB1BBE2D-4990-B4D6-A973-243A30F92D77}"/>
              </a:ext>
            </a:extLst>
          </p:cNvPr>
          <p:cNvCxnSpPr>
            <a:cxnSpLocks/>
          </p:cNvCxnSpPr>
          <p:nvPr/>
        </p:nvCxnSpPr>
        <p:spPr>
          <a:xfrm>
            <a:off x="14572159" y="9315362"/>
            <a:ext cx="1902930" cy="1974364"/>
          </a:xfrm>
          <a:prstGeom prst="straightConnector1">
            <a:avLst/>
          </a:prstGeom>
          <a:ln w="76200">
            <a:solidFill>
              <a:srgbClr val="FFFF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658892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B5C63E-A35E-240E-F3F0-BF7B8F34D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515E2D93-2437-9878-84D2-74E58B665C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3517080"/>
            <a:ext cx="17754600" cy="9360720"/>
          </a:xfrm>
          <a:prstGeom prst="rect">
            <a:avLst/>
          </a:prstGeom>
        </p:spPr>
      </p:pic>
      <p:pic>
        <p:nvPicPr>
          <p:cNvPr id="3" name="Picture 8">
            <a:extLst>
              <a:ext uri="{FF2B5EF4-FFF2-40B4-BE49-F238E27FC236}">
                <a16:creationId xmlns:a16="http://schemas.microsoft.com/office/drawing/2014/main" id="{CBD0E2E5-C4FD-C576-1E49-7D6C0A1AC5A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 flipV="1">
            <a:off x="1045570" y="2059190"/>
            <a:ext cx="21814430" cy="45719"/>
          </a:xfrm>
          <a:prstGeom prst="rect">
            <a:avLst/>
          </a:prstGeom>
        </p:spPr>
      </p:pic>
      <p:sp>
        <p:nvSpPr>
          <p:cNvPr id="4" name="TextBox 10">
            <a:extLst>
              <a:ext uri="{FF2B5EF4-FFF2-40B4-BE49-F238E27FC236}">
                <a16:creationId xmlns:a16="http://schemas.microsoft.com/office/drawing/2014/main" id="{2DB7BFBE-ECD9-6000-D519-10A83338C840}"/>
              </a:ext>
            </a:extLst>
          </p:cNvPr>
          <p:cNvSpPr txBox="1"/>
          <p:nvPr/>
        </p:nvSpPr>
        <p:spPr>
          <a:xfrm>
            <a:off x="1295400" y="609600"/>
            <a:ext cx="18897600" cy="1181100"/>
          </a:xfrm>
          <a:prstGeom prst="rect">
            <a:avLst/>
          </a:prstGeom>
        </p:spPr>
        <p:txBody>
          <a:bodyPr lIns="0" tIns="0" rIns="0" bIns="0" anchor="t"/>
          <a:lstStyle/>
          <a:p>
            <a:pPr lvl="0">
              <a:lnSpc>
                <a:spcPct val="116199"/>
              </a:lnSpc>
              <a:defRPr/>
            </a:pPr>
            <a:r>
              <a:rPr lang="en-US" altLang="ko-KR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3. Type </a:t>
            </a:r>
            <a:r>
              <a:rPr lang="ko-KR" altLang="en-US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별 동작 방식</a:t>
            </a:r>
            <a:r>
              <a:rPr lang="en-US" altLang="ko-KR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(S-type)</a:t>
            </a:r>
            <a:r>
              <a:rPr lang="ko-KR" altLang="en-US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4EF3408-16A0-98E5-A98D-056D4420597F}"/>
              </a:ext>
            </a:extLst>
          </p:cNvPr>
          <p:cNvSpPr txBox="1"/>
          <p:nvPr/>
        </p:nvSpPr>
        <p:spPr>
          <a:xfrm>
            <a:off x="1305339" y="2426274"/>
            <a:ext cx="837206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400" dirty="0"/>
              <a:t>• simulation(Data mem)</a:t>
            </a:r>
          </a:p>
        </p:txBody>
      </p:sp>
      <p:graphicFrame>
        <p:nvGraphicFramePr>
          <p:cNvPr id="7" name="Table 12">
            <a:extLst>
              <a:ext uri="{FF2B5EF4-FFF2-40B4-BE49-F238E27FC236}">
                <a16:creationId xmlns:a16="http://schemas.microsoft.com/office/drawing/2014/main" id="{F3B7F824-2B4C-6F3F-5FC4-D324D3C4D7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8238008"/>
              </p:ext>
            </p:extLst>
          </p:nvPr>
        </p:nvGraphicFramePr>
        <p:xfrm>
          <a:off x="18592800" y="4866727"/>
          <a:ext cx="5042451" cy="5078397"/>
        </p:xfrm>
        <a:graphic>
          <a:graphicData uri="http://schemas.openxmlformats.org/drawingml/2006/table">
            <a:tbl>
              <a:tblPr/>
              <a:tblGrid>
                <a:gridCol w="927650">
                  <a:extLst>
                    <a:ext uri="{9D8B030D-6E8A-4147-A177-3AD203B41FA5}">
                      <a16:colId xmlns:a16="http://schemas.microsoft.com/office/drawing/2014/main" val="1091418196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19401">
                  <a:extLst>
                    <a:ext uri="{9D8B030D-6E8A-4147-A177-3AD203B41FA5}">
                      <a16:colId xmlns:a16="http://schemas.microsoft.com/office/drawing/2014/main" val="3438463186"/>
                    </a:ext>
                  </a:extLst>
                </a:gridCol>
              </a:tblGrid>
              <a:tr h="295384">
                <a:tc gridSpan="3"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>
                          <a:solidFill>
                            <a:schemeClr val="bg1"/>
                          </a:solidFill>
                        </a:rPr>
                        <a:t>INSTR MEM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 hMerge="1"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endParaRPr lang="en-US" sz="3600" dirty="0">
                        <a:solidFill>
                          <a:schemeClr val="bg1"/>
                        </a:solidFill>
                      </a:endParaRPr>
                    </a:p>
                  </a:txBody>
                  <a:tcPr marL="25400" marR="25400" marT="65362" marB="6536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25666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PC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INSRT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 err="1"/>
                        <a:t>Dmem</a:t>
                      </a:r>
                      <a:r>
                        <a:rPr lang="en-US" sz="3600" dirty="0"/>
                        <a:t>[0] = Result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5701013"/>
                  </a:ext>
                </a:extLst>
              </a:tr>
              <a:tr h="825666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0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 rowSpan="4"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SH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11_22_</a:t>
                      </a:r>
                      <a:r>
                        <a:rPr lang="en-US" sz="3600" dirty="0">
                          <a:highlight>
                            <a:srgbClr val="FFFF00"/>
                          </a:highlight>
                        </a:rPr>
                        <a:t>00_44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25666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1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 vMerge="1"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endParaRPr lang="en-US" sz="3600" dirty="0"/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11_22_</a:t>
                      </a:r>
                      <a:r>
                        <a:rPr lang="en-US" sz="3600" dirty="0">
                          <a:highlight>
                            <a:srgbClr val="FFFF00"/>
                          </a:highlight>
                        </a:rPr>
                        <a:t>00_33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8771999"/>
                  </a:ext>
                </a:extLst>
              </a:tr>
              <a:tr h="825666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2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 vMerge="1"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endParaRPr lang="en-US" sz="3600" dirty="0"/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>
                          <a:highlight>
                            <a:srgbClr val="FFFF00"/>
                          </a:highlight>
                        </a:rPr>
                        <a:t>00_22</a:t>
                      </a:r>
                      <a:r>
                        <a:rPr lang="en-US" sz="3600" dirty="0"/>
                        <a:t>_00_33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5456246"/>
                  </a:ext>
                </a:extLst>
              </a:tr>
              <a:tr h="825666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3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 vMerge="1"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endParaRPr lang="en-US" sz="3600" dirty="0"/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>
                          <a:highlight>
                            <a:srgbClr val="FFFF00"/>
                          </a:highlight>
                        </a:rPr>
                        <a:t>00_11</a:t>
                      </a:r>
                      <a:r>
                        <a:rPr lang="en-US" sz="3600" dirty="0"/>
                        <a:t>_00_33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1448885"/>
                  </a:ext>
                </a:extLst>
              </a:tr>
            </a:tbl>
          </a:graphicData>
        </a:graphic>
      </p:graphicFrame>
      <p:sp>
        <p:nvSpPr>
          <p:cNvPr id="10" name="직사각형 9">
            <a:extLst>
              <a:ext uri="{FF2B5EF4-FFF2-40B4-BE49-F238E27FC236}">
                <a16:creationId xmlns:a16="http://schemas.microsoft.com/office/drawing/2014/main" id="{225ED995-CED4-E936-EAF1-F393BE9D11C2}"/>
              </a:ext>
            </a:extLst>
          </p:cNvPr>
          <p:cNvSpPr/>
          <p:nvPr/>
        </p:nvSpPr>
        <p:spPr>
          <a:xfrm>
            <a:off x="7774961" y="7489071"/>
            <a:ext cx="8001000" cy="1974364"/>
          </a:xfrm>
          <a:prstGeom prst="rect">
            <a:avLst/>
          </a:prstGeom>
          <a:noFill/>
          <a:ln w="762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2AC2CFB-5517-6B60-DE7F-0CA068AE3079}"/>
              </a:ext>
            </a:extLst>
          </p:cNvPr>
          <p:cNvSpPr txBox="1"/>
          <p:nvPr/>
        </p:nvSpPr>
        <p:spPr>
          <a:xfrm>
            <a:off x="11132239" y="4806821"/>
            <a:ext cx="135255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000" dirty="0">
                <a:highlight>
                  <a:srgbClr val="FFFF00"/>
                </a:highlight>
              </a:rPr>
              <a:t>SH</a:t>
            </a:r>
            <a:endParaRPr lang="ko-KR" altLang="en-US" sz="4000" dirty="0">
              <a:highlight>
                <a:srgbClr val="FFFF00"/>
              </a:highlight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1A2AF86-A7A2-69FE-66E5-8443E03802A8}"/>
              </a:ext>
            </a:extLst>
          </p:cNvPr>
          <p:cNvSpPr txBox="1"/>
          <p:nvPr/>
        </p:nvSpPr>
        <p:spPr>
          <a:xfrm>
            <a:off x="10744200" y="6514003"/>
            <a:ext cx="212863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000" dirty="0" err="1">
                <a:highlight>
                  <a:srgbClr val="FFFF00"/>
                </a:highlight>
              </a:rPr>
              <a:t>dwe</a:t>
            </a:r>
            <a:r>
              <a:rPr lang="en-US" altLang="ko-KR" sz="4000" dirty="0">
                <a:highlight>
                  <a:srgbClr val="FFFF00"/>
                </a:highlight>
              </a:rPr>
              <a:t> = 1</a:t>
            </a:r>
            <a:endParaRPr lang="ko-KR" altLang="en-US" sz="4000" dirty="0">
              <a:highlight>
                <a:srgbClr val="FFFF00"/>
              </a:highlight>
            </a:endParaRPr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FF0B6BAC-0F0F-0CCE-8D6E-EF117450231E}"/>
              </a:ext>
            </a:extLst>
          </p:cNvPr>
          <p:cNvCxnSpPr>
            <a:cxnSpLocks/>
          </p:cNvCxnSpPr>
          <p:nvPr/>
        </p:nvCxnSpPr>
        <p:spPr>
          <a:xfrm>
            <a:off x="8839200" y="9463435"/>
            <a:ext cx="1676400" cy="2193375"/>
          </a:xfrm>
          <a:prstGeom prst="straightConnector1">
            <a:avLst/>
          </a:prstGeom>
          <a:ln w="76200">
            <a:solidFill>
              <a:srgbClr val="FFFF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83793A6A-C2FF-1F24-12A1-4EB219524B12}"/>
              </a:ext>
            </a:extLst>
          </p:cNvPr>
          <p:cNvCxnSpPr>
            <a:cxnSpLocks/>
          </p:cNvCxnSpPr>
          <p:nvPr/>
        </p:nvCxnSpPr>
        <p:spPr>
          <a:xfrm>
            <a:off x="10859780" y="9446014"/>
            <a:ext cx="1789420" cy="2210796"/>
          </a:xfrm>
          <a:prstGeom prst="straightConnector1">
            <a:avLst/>
          </a:prstGeom>
          <a:ln w="76200">
            <a:solidFill>
              <a:srgbClr val="FFFF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2EE2C683-0DFD-D817-4EAB-BB2B85656317}"/>
              </a:ext>
            </a:extLst>
          </p:cNvPr>
          <p:cNvCxnSpPr>
            <a:cxnSpLocks/>
          </p:cNvCxnSpPr>
          <p:nvPr/>
        </p:nvCxnSpPr>
        <p:spPr>
          <a:xfrm>
            <a:off x="13113026" y="9463435"/>
            <a:ext cx="1789420" cy="2210796"/>
          </a:xfrm>
          <a:prstGeom prst="straightConnector1">
            <a:avLst/>
          </a:prstGeom>
          <a:ln w="76200">
            <a:solidFill>
              <a:srgbClr val="FFFF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F65A99DA-5BBD-50AE-6A2D-F9A6284B304D}"/>
              </a:ext>
            </a:extLst>
          </p:cNvPr>
          <p:cNvCxnSpPr>
            <a:cxnSpLocks/>
          </p:cNvCxnSpPr>
          <p:nvPr/>
        </p:nvCxnSpPr>
        <p:spPr>
          <a:xfrm>
            <a:off x="15018026" y="9463435"/>
            <a:ext cx="1898374" cy="2193375"/>
          </a:xfrm>
          <a:prstGeom prst="straightConnector1">
            <a:avLst/>
          </a:prstGeom>
          <a:ln w="76200">
            <a:solidFill>
              <a:srgbClr val="FFFF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722067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17D72A-3A76-50C2-1B35-D2D6F4CE02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A944A383-8B18-8279-D551-BC6100162A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4114800"/>
            <a:ext cx="18064065" cy="8839200"/>
          </a:xfrm>
          <a:prstGeom prst="rect">
            <a:avLst/>
          </a:prstGeom>
        </p:spPr>
      </p:pic>
      <p:pic>
        <p:nvPicPr>
          <p:cNvPr id="3" name="Picture 8">
            <a:extLst>
              <a:ext uri="{FF2B5EF4-FFF2-40B4-BE49-F238E27FC236}">
                <a16:creationId xmlns:a16="http://schemas.microsoft.com/office/drawing/2014/main" id="{BAEB1C82-0FF1-659D-1795-2A3B5E8A9A5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 flipV="1">
            <a:off x="1045570" y="2059190"/>
            <a:ext cx="21814430" cy="45719"/>
          </a:xfrm>
          <a:prstGeom prst="rect">
            <a:avLst/>
          </a:prstGeom>
        </p:spPr>
      </p:pic>
      <p:sp>
        <p:nvSpPr>
          <p:cNvPr id="4" name="TextBox 10">
            <a:extLst>
              <a:ext uri="{FF2B5EF4-FFF2-40B4-BE49-F238E27FC236}">
                <a16:creationId xmlns:a16="http://schemas.microsoft.com/office/drawing/2014/main" id="{CD214F7F-B00D-CB2A-07EC-F649AFFB62B6}"/>
              </a:ext>
            </a:extLst>
          </p:cNvPr>
          <p:cNvSpPr txBox="1"/>
          <p:nvPr/>
        </p:nvSpPr>
        <p:spPr>
          <a:xfrm>
            <a:off x="1295400" y="609600"/>
            <a:ext cx="18897600" cy="1181100"/>
          </a:xfrm>
          <a:prstGeom prst="rect">
            <a:avLst/>
          </a:prstGeom>
        </p:spPr>
        <p:txBody>
          <a:bodyPr lIns="0" tIns="0" rIns="0" bIns="0" anchor="t"/>
          <a:lstStyle/>
          <a:p>
            <a:pPr lvl="0">
              <a:lnSpc>
                <a:spcPct val="116199"/>
              </a:lnSpc>
              <a:defRPr/>
            </a:pPr>
            <a:r>
              <a:rPr lang="en-US" altLang="ko-KR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3. Type </a:t>
            </a:r>
            <a:r>
              <a:rPr lang="ko-KR" altLang="en-US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별 동작 방식</a:t>
            </a:r>
            <a:r>
              <a:rPr lang="en-US" altLang="ko-KR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(S-type)</a:t>
            </a:r>
            <a:r>
              <a:rPr lang="ko-KR" altLang="en-US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BAC3142-75B1-6522-83AF-BE922A4C5B06}"/>
              </a:ext>
            </a:extLst>
          </p:cNvPr>
          <p:cNvSpPr txBox="1"/>
          <p:nvPr/>
        </p:nvSpPr>
        <p:spPr>
          <a:xfrm>
            <a:off x="1305339" y="2426274"/>
            <a:ext cx="837206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400" dirty="0"/>
              <a:t>• simulation(Data mem)</a:t>
            </a:r>
          </a:p>
        </p:txBody>
      </p:sp>
      <p:graphicFrame>
        <p:nvGraphicFramePr>
          <p:cNvPr id="7" name="Table 12">
            <a:extLst>
              <a:ext uri="{FF2B5EF4-FFF2-40B4-BE49-F238E27FC236}">
                <a16:creationId xmlns:a16="http://schemas.microsoft.com/office/drawing/2014/main" id="{965EC0E6-3168-F170-5DEC-271D63F66E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7021809"/>
              </p:ext>
            </p:extLst>
          </p:nvPr>
        </p:nvGraphicFramePr>
        <p:xfrm>
          <a:off x="18592800" y="4866727"/>
          <a:ext cx="5042451" cy="5078397"/>
        </p:xfrm>
        <a:graphic>
          <a:graphicData uri="http://schemas.openxmlformats.org/drawingml/2006/table">
            <a:tbl>
              <a:tblPr/>
              <a:tblGrid>
                <a:gridCol w="927650">
                  <a:extLst>
                    <a:ext uri="{9D8B030D-6E8A-4147-A177-3AD203B41FA5}">
                      <a16:colId xmlns:a16="http://schemas.microsoft.com/office/drawing/2014/main" val="1091418196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19401">
                  <a:extLst>
                    <a:ext uri="{9D8B030D-6E8A-4147-A177-3AD203B41FA5}">
                      <a16:colId xmlns:a16="http://schemas.microsoft.com/office/drawing/2014/main" val="3438463186"/>
                    </a:ext>
                  </a:extLst>
                </a:gridCol>
              </a:tblGrid>
              <a:tr h="295384">
                <a:tc gridSpan="3"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>
                          <a:solidFill>
                            <a:schemeClr val="bg1"/>
                          </a:solidFill>
                        </a:rPr>
                        <a:t>INSTR MEM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 hMerge="1"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endParaRPr lang="en-US" sz="3600" dirty="0">
                        <a:solidFill>
                          <a:schemeClr val="bg1"/>
                        </a:solidFill>
                      </a:endParaRPr>
                    </a:p>
                  </a:txBody>
                  <a:tcPr marL="25400" marR="25400" marT="65362" marB="6536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25666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PC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INSRT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 err="1"/>
                        <a:t>Dmem</a:t>
                      </a:r>
                      <a:r>
                        <a:rPr lang="en-US" sz="3600" dirty="0"/>
                        <a:t>[0] = Result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5701013"/>
                  </a:ext>
                </a:extLst>
              </a:tr>
              <a:tr h="825666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0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 rowSpan="4"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SW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>
                          <a:highlight>
                            <a:srgbClr val="FFFF00"/>
                          </a:highlight>
                        </a:rPr>
                        <a:t>00_00_00_44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25666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1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 vMerge="1"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endParaRPr lang="en-US" sz="3600" dirty="0"/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>
                          <a:highlight>
                            <a:srgbClr val="FFFF00"/>
                          </a:highlight>
                        </a:rPr>
                        <a:t>00_00_00_33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8771999"/>
                  </a:ext>
                </a:extLst>
              </a:tr>
              <a:tr h="825666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2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 vMerge="1"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endParaRPr lang="en-US" sz="3600" dirty="0"/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>
                          <a:highlight>
                            <a:srgbClr val="FFFF00"/>
                          </a:highlight>
                        </a:rPr>
                        <a:t>00_00_00_22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5456246"/>
                  </a:ext>
                </a:extLst>
              </a:tr>
              <a:tr h="825666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3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 vMerge="1"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endParaRPr lang="en-US" sz="3600" dirty="0"/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>
                          <a:highlight>
                            <a:srgbClr val="FFFF00"/>
                          </a:highlight>
                        </a:rPr>
                        <a:t>00_00_00_11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1448885"/>
                  </a:ext>
                </a:extLst>
              </a:tr>
            </a:tbl>
          </a:graphicData>
        </a:graphic>
      </p:graphicFrame>
      <p:sp>
        <p:nvSpPr>
          <p:cNvPr id="10" name="직사각형 9">
            <a:extLst>
              <a:ext uri="{FF2B5EF4-FFF2-40B4-BE49-F238E27FC236}">
                <a16:creationId xmlns:a16="http://schemas.microsoft.com/office/drawing/2014/main" id="{E140C987-3C49-588E-FFCB-403903C0F249}"/>
              </a:ext>
            </a:extLst>
          </p:cNvPr>
          <p:cNvSpPr/>
          <p:nvPr/>
        </p:nvSpPr>
        <p:spPr>
          <a:xfrm>
            <a:off x="4483790" y="7913910"/>
            <a:ext cx="6565210" cy="1974364"/>
          </a:xfrm>
          <a:prstGeom prst="rect">
            <a:avLst/>
          </a:prstGeom>
          <a:noFill/>
          <a:ln w="762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4A451C-D37A-F8C4-741D-75573A1E0F88}"/>
              </a:ext>
            </a:extLst>
          </p:cNvPr>
          <p:cNvSpPr txBox="1"/>
          <p:nvPr/>
        </p:nvSpPr>
        <p:spPr>
          <a:xfrm>
            <a:off x="7090119" y="5366138"/>
            <a:ext cx="135255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000" dirty="0">
                <a:highlight>
                  <a:srgbClr val="FFFF00"/>
                </a:highlight>
              </a:rPr>
              <a:t>SW</a:t>
            </a:r>
            <a:endParaRPr lang="ko-KR" altLang="en-US" sz="4000" dirty="0">
              <a:highlight>
                <a:srgbClr val="FFFF00"/>
              </a:highlight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7F9FBCC-67A5-E42D-89A6-04003A0467FD}"/>
              </a:ext>
            </a:extLst>
          </p:cNvPr>
          <p:cNvSpPr txBox="1"/>
          <p:nvPr/>
        </p:nvSpPr>
        <p:spPr>
          <a:xfrm>
            <a:off x="6858000" y="7051982"/>
            <a:ext cx="212863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000" dirty="0" err="1">
                <a:highlight>
                  <a:srgbClr val="FFFF00"/>
                </a:highlight>
              </a:rPr>
              <a:t>dwe</a:t>
            </a:r>
            <a:r>
              <a:rPr lang="en-US" altLang="ko-KR" sz="4000" dirty="0">
                <a:highlight>
                  <a:srgbClr val="FFFF00"/>
                </a:highlight>
              </a:rPr>
              <a:t> = 1</a:t>
            </a:r>
            <a:endParaRPr lang="ko-KR" altLang="en-US" sz="4000" dirty="0">
              <a:highlight>
                <a:srgbClr val="FFFF00"/>
              </a:highlight>
            </a:endParaRPr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A1E0C252-86B1-5332-B043-26B389057B91}"/>
              </a:ext>
            </a:extLst>
          </p:cNvPr>
          <p:cNvCxnSpPr>
            <a:cxnSpLocks/>
          </p:cNvCxnSpPr>
          <p:nvPr/>
        </p:nvCxnSpPr>
        <p:spPr>
          <a:xfrm>
            <a:off x="5292515" y="9888274"/>
            <a:ext cx="1413085" cy="2046060"/>
          </a:xfrm>
          <a:prstGeom prst="straightConnector1">
            <a:avLst/>
          </a:prstGeom>
          <a:ln w="76200">
            <a:solidFill>
              <a:srgbClr val="FFFF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600FC6F6-E81E-EF40-3217-4B978C08DC6B}"/>
              </a:ext>
            </a:extLst>
          </p:cNvPr>
          <p:cNvCxnSpPr>
            <a:cxnSpLocks/>
          </p:cNvCxnSpPr>
          <p:nvPr/>
        </p:nvCxnSpPr>
        <p:spPr>
          <a:xfrm>
            <a:off x="6904383" y="9853812"/>
            <a:ext cx="1630017" cy="2044353"/>
          </a:xfrm>
          <a:prstGeom prst="straightConnector1">
            <a:avLst/>
          </a:prstGeom>
          <a:ln w="76200">
            <a:solidFill>
              <a:srgbClr val="FFFF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7F027490-BFC8-F6DE-3307-E7DE9D976F85}"/>
              </a:ext>
            </a:extLst>
          </p:cNvPr>
          <p:cNvCxnSpPr>
            <a:cxnSpLocks/>
          </p:cNvCxnSpPr>
          <p:nvPr/>
        </p:nvCxnSpPr>
        <p:spPr>
          <a:xfrm>
            <a:off x="8524461" y="9853812"/>
            <a:ext cx="1729221" cy="2071811"/>
          </a:xfrm>
          <a:prstGeom prst="straightConnector1">
            <a:avLst/>
          </a:prstGeom>
          <a:ln w="76200">
            <a:solidFill>
              <a:srgbClr val="FFFF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A54CA9FC-1595-7EDF-F7C9-CB01B2173F53}"/>
              </a:ext>
            </a:extLst>
          </p:cNvPr>
          <p:cNvCxnSpPr>
            <a:cxnSpLocks/>
          </p:cNvCxnSpPr>
          <p:nvPr/>
        </p:nvCxnSpPr>
        <p:spPr>
          <a:xfrm>
            <a:off x="10562658" y="9888274"/>
            <a:ext cx="6429942" cy="2227526"/>
          </a:xfrm>
          <a:prstGeom prst="straightConnector1">
            <a:avLst/>
          </a:prstGeom>
          <a:ln w="76200">
            <a:solidFill>
              <a:srgbClr val="FFFF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1028050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EBA41A-51F1-9178-9A16-D58F1120B0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8">
            <a:extLst>
              <a:ext uri="{FF2B5EF4-FFF2-40B4-BE49-F238E27FC236}">
                <a16:creationId xmlns:a16="http://schemas.microsoft.com/office/drawing/2014/main" id="{EE691C21-90A2-D126-6B77-C06313846A8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 flipV="1">
            <a:off x="1045570" y="2059190"/>
            <a:ext cx="21814430" cy="45719"/>
          </a:xfrm>
          <a:prstGeom prst="rect">
            <a:avLst/>
          </a:prstGeom>
        </p:spPr>
      </p:pic>
      <p:sp>
        <p:nvSpPr>
          <p:cNvPr id="4" name="TextBox 10">
            <a:extLst>
              <a:ext uri="{FF2B5EF4-FFF2-40B4-BE49-F238E27FC236}">
                <a16:creationId xmlns:a16="http://schemas.microsoft.com/office/drawing/2014/main" id="{0EEB9807-1DE1-179A-3FE8-FC21785D8AA6}"/>
              </a:ext>
            </a:extLst>
          </p:cNvPr>
          <p:cNvSpPr txBox="1"/>
          <p:nvPr/>
        </p:nvSpPr>
        <p:spPr>
          <a:xfrm>
            <a:off x="1295400" y="609600"/>
            <a:ext cx="18897600" cy="1181100"/>
          </a:xfrm>
          <a:prstGeom prst="rect">
            <a:avLst/>
          </a:prstGeom>
        </p:spPr>
        <p:txBody>
          <a:bodyPr lIns="0" tIns="0" rIns="0" bIns="0" anchor="t"/>
          <a:lstStyle/>
          <a:p>
            <a:pPr lvl="0">
              <a:lnSpc>
                <a:spcPct val="116199"/>
              </a:lnSpc>
              <a:defRPr/>
            </a:pPr>
            <a:r>
              <a:rPr lang="en-US" altLang="ko-KR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3. Type </a:t>
            </a:r>
            <a:r>
              <a:rPr lang="ko-KR" altLang="en-US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별 동작 방식</a:t>
            </a:r>
            <a:r>
              <a:rPr lang="en-US" altLang="ko-KR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(S-type)</a:t>
            </a:r>
            <a:r>
              <a:rPr lang="ko-KR" altLang="en-US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E94AFEC-9291-D475-7AA8-8AAFDDA11F31}"/>
              </a:ext>
            </a:extLst>
          </p:cNvPr>
          <p:cNvSpPr txBox="1"/>
          <p:nvPr/>
        </p:nvSpPr>
        <p:spPr>
          <a:xfrm>
            <a:off x="1305339" y="2426274"/>
            <a:ext cx="837206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400" dirty="0"/>
              <a:t>• simulation(PC)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7041A406-03A3-2259-12B2-02EFA72016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493934"/>
            <a:ext cx="23469600" cy="9585962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6A9903A6-CE36-09B9-6F24-41143B9A2C2C}"/>
              </a:ext>
            </a:extLst>
          </p:cNvPr>
          <p:cNvSpPr/>
          <p:nvPr/>
        </p:nvSpPr>
        <p:spPr>
          <a:xfrm>
            <a:off x="5486400" y="3957333"/>
            <a:ext cx="18364200" cy="639171"/>
          </a:xfrm>
          <a:prstGeom prst="rect">
            <a:avLst/>
          </a:prstGeom>
          <a:noFill/>
          <a:ln w="762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1755092B-8602-EA3C-89EB-75DB9A64F3BD}"/>
              </a:ext>
            </a:extLst>
          </p:cNvPr>
          <p:cNvSpPr/>
          <p:nvPr/>
        </p:nvSpPr>
        <p:spPr>
          <a:xfrm>
            <a:off x="5516217" y="11044178"/>
            <a:ext cx="18364201" cy="639171"/>
          </a:xfrm>
          <a:prstGeom prst="rect">
            <a:avLst/>
          </a:prstGeom>
          <a:noFill/>
          <a:ln w="762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B38E6CD3-11FD-2EE9-0FCB-580115362678}"/>
              </a:ext>
            </a:extLst>
          </p:cNvPr>
          <p:cNvCxnSpPr>
            <a:cxnSpLocks/>
          </p:cNvCxnSpPr>
          <p:nvPr/>
        </p:nvCxnSpPr>
        <p:spPr>
          <a:xfrm>
            <a:off x="10172700" y="8839200"/>
            <a:ext cx="0" cy="2111911"/>
          </a:xfrm>
          <a:prstGeom prst="straightConnector1">
            <a:avLst/>
          </a:prstGeom>
          <a:ln w="76200">
            <a:solidFill>
              <a:srgbClr val="FFFF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4C49BF8B-23FD-1C4B-B347-C48B0654D525}"/>
              </a:ext>
            </a:extLst>
          </p:cNvPr>
          <p:cNvSpPr txBox="1"/>
          <p:nvPr/>
        </p:nvSpPr>
        <p:spPr>
          <a:xfrm>
            <a:off x="15621000" y="5761629"/>
            <a:ext cx="3429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000" dirty="0">
                <a:highlight>
                  <a:srgbClr val="FFFF00"/>
                </a:highlight>
              </a:rPr>
              <a:t>+</a:t>
            </a:r>
            <a:r>
              <a:rPr lang="ko-KR" altLang="en-US" sz="4000" dirty="0">
                <a:highlight>
                  <a:srgbClr val="FFFF00"/>
                </a:highlight>
              </a:rPr>
              <a:t> </a:t>
            </a:r>
            <a:r>
              <a:rPr lang="en-US" altLang="ko-KR" sz="4000" dirty="0">
                <a:highlight>
                  <a:srgbClr val="FFFF00"/>
                </a:highlight>
              </a:rPr>
              <a:t>1</a:t>
            </a:r>
            <a:r>
              <a:rPr lang="ko-KR" altLang="en-US" sz="4000" dirty="0">
                <a:highlight>
                  <a:srgbClr val="FFFF00"/>
                </a:highlight>
              </a:rPr>
              <a:t>씩 증가</a:t>
            </a:r>
          </a:p>
        </p:txBody>
      </p: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7BD719BF-5016-5AAB-F1F0-3C8A1D084E05}"/>
              </a:ext>
            </a:extLst>
          </p:cNvPr>
          <p:cNvCxnSpPr>
            <a:cxnSpLocks/>
          </p:cNvCxnSpPr>
          <p:nvPr/>
        </p:nvCxnSpPr>
        <p:spPr>
          <a:xfrm flipV="1">
            <a:off x="13868400" y="4593724"/>
            <a:ext cx="0" cy="7049834"/>
          </a:xfrm>
          <a:prstGeom prst="straightConnector1">
            <a:avLst/>
          </a:prstGeom>
          <a:ln w="76200">
            <a:solidFill>
              <a:srgbClr val="FFFF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B7795E90-32D8-C8FA-EBCB-1A76948B5B2B}"/>
              </a:ext>
            </a:extLst>
          </p:cNvPr>
          <p:cNvCxnSpPr>
            <a:cxnSpLocks/>
          </p:cNvCxnSpPr>
          <p:nvPr/>
        </p:nvCxnSpPr>
        <p:spPr>
          <a:xfrm flipH="1" flipV="1">
            <a:off x="15338562" y="4593724"/>
            <a:ext cx="815838" cy="1391805"/>
          </a:xfrm>
          <a:prstGeom prst="straightConnector1">
            <a:avLst/>
          </a:prstGeom>
          <a:ln w="76200">
            <a:solidFill>
              <a:srgbClr val="FFFF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F42EA5DA-9ABC-8B4B-7908-9BA638B87035}"/>
              </a:ext>
            </a:extLst>
          </p:cNvPr>
          <p:cNvSpPr txBox="1"/>
          <p:nvPr/>
        </p:nvSpPr>
        <p:spPr>
          <a:xfrm>
            <a:off x="14063872" y="7762938"/>
            <a:ext cx="231912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000" dirty="0" err="1">
                <a:highlight>
                  <a:srgbClr val="FFFF00"/>
                </a:highlight>
              </a:rPr>
              <a:t>O_pc</a:t>
            </a:r>
            <a:r>
              <a:rPr lang="en-US" altLang="ko-KR" sz="4000" dirty="0">
                <a:highlight>
                  <a:srgbClr val="FFFF00"/>
                </a:highlight>
              </a:rPr>
              <a:t>[31:2]</a:t>
            </a:r>
            <a:endParaRPr lang="ko-KR" altLang="en-US" sz="4000" dirty="0">
              <a:highlight>
                <a:srgbClr val="FFFF00"/>
              </a:highlight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B11FB8A-C069-C0A7-D909-FA95210EBAFB}"/>
              </a:ext>
            </a:extLst>
          </p:cNvPr>
          <p:cNvSpPr txBox="1"/>
          <p:nvPr/>
        </p:nvSpPr>
        <p:spPr>
          <a:xfrm>
            <a:off x="8839200" y="8084781"/>
            <a:ext cx="2667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000" dirty="0">
                <a:highlight>
                  <a:srgbClr val="FFFF00"/>
                </a:highlight>
              </a:rPr>
              <a:t>PC</a:t>
            </a:r>
            <a:r>
              <a:rPr lang="ko-KR" altLang="en-US" sz="4000" dirty="0">
                <a:highlight>
                  <a:srgbClr val="FFFF00"/>
                </a:highlight>
              </a:rPr>
              <a:t> </a:t>
            </a:r>
            <a:r>
              <a:rPr lang="en-US" altLang="ko-KR" sz="4000" dirty="0">
                <a:highlight>
                  <a:srgbClr val="FFFF00"/>
                </a:highlight>
              </a:rPr>
              <a:t>+ 4 </a:t>
            </a:r>
            <a:r>
              <a:rPr lang="ko-KR" altLang="en-US" sz="4000" dirty="0">
                <a:highlight>
                  <a:srgbClr val="FFFF00"/>
                </a:highlight>
              </a:rPr>
              <a:t>출력</a:t>
            </a:r>
          </a:p>
        </p:txBody>
      </p:sp>
    </p:spTree>
    <p:extLst>
      <p:ext uri="{BB962C8B-B14F-4D97-AF65-F5344CB8AC3E}">
        <p14:creationId xmlns:p14="http://schemas.microsoft.com/office/powerpoint/2010/main" val="421214064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830331-ECB4-7C75-82F3-68FCFE0D8A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>
            <a:extLst>
              <a:ext uri="{FF2B5EF4-FFF2-40B4-BE49-F238E27FC236}">
                <a16:creationId xmlns:a16="http://schemas.microsoft.com/office/drawing/2014/main" id="{215E8B6E-5FCF-3108-5CB9-C38EAFFCF8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2443519"/>
            <a:ext cx="11688417" cy="10191436"/>
          </a:xfrm>
          <a:prstGeom prst="rect">
            <a:avLst/>
          </a:prstGeom>
        </p:spPr>
      </p:pic>
      <p:pic>
        <p:nvPicPr>
          <p:cNvPr id="3" name="Picture 8">
            <a:extLst>
              <a:ext uri="{FF2B5EF4-FFF2-40B4-BE49-F238E27FC236}">
                <a16:creationId xmlns:a16="http://schemas.microsoft.com/office/drawing/2014/main" id="{AF2A8D3C-6671-987C-FF53-3793F3DD851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 flipV="1">
            <a:off x="1045570" y="2059190"/>
            <a:ext cx="21814430" cy="45719"/>
          </a:xfrm>
          <a:prstGeom prst="rect">
            <a:avLst/>
          </a:prstGeom>
        </p:spPr>
      </p:pic>
      <p:sp>
        <p:nvSpPr>
          <p:cNvPr id="4" name="TextBox 10">
            <a:extLst>
              <a:ext uri="{FF2B5EF4-FFF2-40B4-BE49-F238E27FC236}">
                <a16:creationId xmlns:a16="http://schemas.microsoft.com/office/drawing/2014/main" id="{8B730CAA-49E5-F04F-0713-8ECE34928303}"/>
              </a:ext>
            </a:extLst>
          </p:cNvPr>
          <p:cNvSpPr txBox="1"/>
          <p:nvPr/>
        </p:nvSpPr>
        <p:spPr>
          <a:xfrm>
            <a:off x="1295400" y="609600"/>
            <a:ext cx="18897600" cy="1181100"/>
          </a:xfrm>
          <a:prstGeom prst="rect">
            <a:avLst/>
          </a:prstGeom>
        </p:spPr>
        <p:txBody>
          <a:bodyPr lIns="0" tIns="0" rIns="0" bIns="0" anchor="t"/>
          <a:lstStyle/>
          <a:p>
            <a:pPr lvl="0">
              <a:lnSpc>
                <a:spcPct val="116199"/>
              </a:lnSpc>
              <a:defRPr/>
            </a:pPr>
            <a:r>
              <a:rPr lang="en-US" altLang="ko-KR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3. Type </a:t>
            </a:r>
            <a:r>
              <a:rPr lang="ko-KR" altLang="en-US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별 동작 방식</a:t>
            </a:r>
            <a:r>
              <a:rPr lang="en-US" altLang="ko-KR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(IL-type)</a:t>
            </a:r>
            <a:r>
              <a:rPr lang="ko-KR" altLang="en-US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D142A84-83AC-54B1-062F-FBB512C162B4}"/>
              </a:ext>
            </a:extLst>
          </p:cNvPr>
          <p:cNvSpPr txBox="1"/>
          <p:nvPr/>
        </p:nvSpPr>
        <p:spPr>
          <a:xfrm>
            <a:off x="1305339" y="2426274"/>
            <a:ext cx="540026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400" dirty="0"/>
              <a:t>• </a:t>
            </a:r>
            <a:r>
              <a:rPr lang="en-US" altLang="ko-KR" sz="4400" dirty="0" err="1"/>
              <a:t>DataFolw</a:t>
            </a:r>
            <a:endParaRPr lang="en-US" altLang="ko-KR" sz="4400" dirty="0"/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7FCD32E9-10F4-6A90-F100-B2A962068F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8082985"/>
              </p:ext>
            </p:extLst>
          </p:nvPr>
        </p:nvGraphicFramePr>
        <p:xfrm>
          <a:off x="1600200" y="12651520"/>
          <a:ext cx="21031199" cy="57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04457">
                  <a:extLst>
                    <a:ext uri="{9D8B030D-6E8A-4147-A177-3AD203B41FA5}">
                      <a16:colId xmlns:a16="http://schemas.microsoft.com/office/drawing/2014/main" val="4932414"/>
                    </a:ext>
                  </a:extLst>
                </a:gridCol>
                <a:gridCol w="6008914">
                  <a:extLst>
                    <a:ext uri="{9D8B030D-6E8A-4147-A177-3AD203B41FA5}">
                      <a16:colId xmlns:a16="http://schemas.microsoft.com/office/drawing/2014/main" val="4289750731"/>
                    </a:ext>
                  </a:extLst>
                </a:gridCol>
                <a:gridCol w="3004457">
                  <a:extLst>
                    <a:ext uri="{9D8B030D-6E8A-4147-A177-3AD203B41FA5}">
                      <a16:colId xmlns:a16="http://schemas.microsoft.com/office/drawing/2014/main" val="1722059348"/>
                    </a:ext>
                  </a:extLst>
                </a:gridCol>
                <a:gridCol w="3004457">
                  <a:extLst>
                    <a:ext uri="{9D8B030D-6E8A-4147-A177-3AD203B41FA5}">
                      <a16:colId xmlns:a16="http://schemas.microsoft.com/office/drawing/2014/main" val="798401735"/>
                    </a:ext>
                  </a:extLst>
                </a:gridCol>
                <a:gridCol w="3004457">
                  <a:extLst>
                    <a:ext uri="{9D8B030D-6E8A-4147-A177-3AD203B41FA5}">
                      <a16:colId xmlns:a16="http://schemas.microsoft.com/office/drawing/2014/main" val="989108138"/>
                    </a:ext>
                  </a:extLst>
                </a:gridCol>
                <a:gridCol w="3004457">
                  <a:extLst>
                    <a:ext uri="{9D8B030D-6E8A-4147-A177-3AD203B41FA5}">
                      <a16:colId xmlns:a16="http://schemas.microsoft.com/office/drawing/2014/main" val="1997596351"/>
                    </a:ext>
                  </a:extLst>
                </a:gridCol>
              </a:tblGrid>
              <a:tr h="42903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3200" dirty="0">
                          <a:solidFill>
                            <a:schemeClr val="tx1"/>
                          </a:solidFill>
                        </a:rPr>
                        <a:t>명령어</a:t>
                      </a:r>
                      <a:r>
                        <a:rPr lang="en-US" altLang="ko-KR" sz="3200" dirty="0">
                          <a:solidFill>
                            <a:schemeClr val="tx1"/>
                          </a:solidFill>
                        </a:rPr>
                        <a:t>:</a:t>
                      </a:r>
                      <a:endParaRPr lang="ko-KR" altLang="en-US" sz="3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Imm[11:0]</a:t>
                      </a:r>
                      <a:endParaRPr lang="ko-KR" altLang="en-US" sz="3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Rs1</a:t>
                      </a:r>
                      <a:endParaRPr lang="ko-KR" altLang="en-US" sz="3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Funct3</a:t>
                      </a:r>
                      <a:endParaRPr lang="ko-KR" altLang="en-US" sz="3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Rd</a:t>
                      </a:r>
                      <a:endParaRPr lang="ko-KR" altLang="en-US" sz="3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OPCODE(I-type)</a:t>
                      </a:r>
                      <a:endParaRPr lang="ko-KR" altLang="en-US" sz="3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59916584"/>
                  </a:ext>
                </a:extLst>
              </a:tr>
            </a:tbl>
          </a:graphicData>
        </a:graphic>
      </p:graphicFrame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B1EC8397-EEA9-0E91-14E7-B007CBE1A5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8318818"/>
              </p:ext>
            </p:extLst>
          </p:nvPr>
        </p:nvGraphicFramePr>
        <p:xfrm>
          <a:off x="17068800" y="3352800"/>
          <a:ext cx="4400550" cy="7802883"/>
        </p:xfrm>
        <a:graphic>
          <a:graphicData uri="http://schemas.openxmlformats.org/drawingml/2006/table">
            <a:tbl>
              <a:tblPr/>
              <a:tblGrid>
                <a:gridCol w="2933700">
                  <a:extLst>
                    <a:ext uri="{9D8B030D-6E8A-4147-A177-3AD203B41FA5}">
                      <a16:colId xmlns:a16="http://schemas.microsoft.com/office/drawing/2014/main" val="537022533"/>
                    </a:ext>
                  </a:extLst>
                </a:gridCol>
                <a:gridCol w="1466850">
                  <a:extLst>
                    <a:ext uri="{9D8B030D-6E8A-4147-A177-3AD203B41FA5}">
                      <a16:colId xmlns:a16="http://schemas.microsoft.com/office/drawing/2014/main" val="670880419"/>
                    </a:ext>
                  </a:extLst>
                </a:gridCol>
              </a:tblGrid>
              <a:tr h="709353">
                <a:tc grid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control_unit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512022581"/>
                  </a:ext>
                </a:extLst>
              </a:tr>
              <a:tr h="70935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OUTPUT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IL_type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93391757"/>
                  </a:ext>
                </a:extLst>
              </a:tr>
              <a:tr h="70935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rf_we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9554840"/>
                  </a:ext>
                </a:extLst>
              </a:tr>
              <a:tr h="70935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alu_src_sel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8138010"/>
                  </a:ext>
                </a:extLst>
              </a:tr>
              <a:tr h="70935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rf_wd_sel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513158"/>
                  </a:ext>
                </a:extLst>
              </a:tr>
              <a:tr h="70935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alu_control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ADD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1246071"/>
                  </a:ext>
                </a:extLst>
              </a:tr>
              <a:tr h="70935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[b_taken,ALU_ctrl]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4184728"/>
                  </a:ext>
                </a:extLst>
              </a:tr>
              <a:tr h="70935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b_src_sel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7317491"/>
                  </a:ext>
                </a:extLst>
              </a:tr>
              <a:tr h="70935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branch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8334389"/>
                  </a:ext>
                </a:extLst>
              </a:tr>
              <a:tr h="70935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o_funct3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funct3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4160465"/>
                  </a:ext>
                </a:extLst>
              </a:tr>
              <a:tr h="70935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dwe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587804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73E51D20-14D3-A95D-0F55-D94AC283879B}"/>
              </a:ext>
            </a:extLst>
          </p:cNvPr>
          <p:cNvSpPr txBox="1"/>
          <p:nvPr/>
        </p:nvSpPr>
        <p:spPr>
          <a:xfrm>
            <a:off x="3657600" y="9601200"/>
            <a:ext cx="141284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highlight>
                  <a:srgbClr val="FFFF00"/>
                </a:highlight>
              </a:rPr>
              <a:t>PC+4</a:t>
            </a:r>
            <a:endParaRPr lang="ko-KR" altLang="en-US" sz="4400" b="1" dirty="0">
              <a:highlight>
                <a:srgbClr val="FFFF00"/>
              </a:highlight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EDF4D3D-D49D-6E85-8C47-2CB09F095475}"/>
              </a:ext>
            </a:extLst>
          </p:cNvPr>
          <p:cNvSpPr txBox="1"/>
          <p:nvPr/>
        </p:nvSpPr>
        <p:spPr>
          <a:xfrm>
            <a:off x="9829801" y="6294564"/>
            <a:ext cx="236219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highlight>
                  <a:srgbClr val="FFFF00"/>
                </a:highlight>
              </a:rPr>
              <a:t>Imm+rs1</a:t>
            </a:r>
            <a:endParaRPr lang="ko-KR" altLang="en-US" sz="4400" b="1" dirty="0">
              <a:highlight>
                <a:srgbClr val="FFFF00"/>
              </a:highlight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6F09DD0-CEA7-49C6-A84D-8FBF26EFEBC8}"/>
              </a:ext>
            </a:extLst>
          </p:cNvPr>
          <p:cNvSpPr txBox="1"/>
          <p:nvPr/>
        </p:nvSpPr>
        <p:spPr>
          <a:xfrm>
            <a:off x="7934739" y="4343400"/>
            <a:ext cx="12954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highlight>
                  <a:srgbClr val="FFFF00"/>
                </a:highlight>
              </a:rPr>
              <a:t>ADD</a:t>
            </a:r>
            <a:endParaRPr lang="ko-KR" altLang="en-US" sz="4400" b="1" dirty="0">
              <a:highlight>
                <a:srgbClr val="FFFF00"/>
              </a:highlight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F37F46D-2F98-EE7C-9BA0-D1E0805D2387}"/>
              </a:ext>
            </a:extLst>
          </p:cNvPr>
          <p:cNvSpPr txBox="1"/>
          <p:nvPr/>
        </p:nvSpPr>
        <p:spPr>
          <a:xfrm>
            <a:off x="6248399" y="4320209"/>
            <a:ext cx="56321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highlight>
                  <a:srgbClr val="FFFF00"/>
                </a:highlight>
              </a:rPr>
              <a:t>1</a:t>
            </a:r>
            <a:endParaRPr lang="ko-KR" altLang="en-US" sz="4400" b="1" dirty="0">
              <a:highlight>
                <a:srgbClr val="FFFF00"/>
              </a:highlight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3285D6A-E599-DAE2-8845-7543F786CC87}"/>
              </a:ext>
            </a:extLst>
          </p:cNvPr>
          <p:cNvSpPr txBox="1"/>
          <p:nvPr/>
        </p:nvSpPr>
        <p:spPr>
          <a:xfrm>
            <a:off x="11506200" y="2824679"/>
            <a:ext cx="176585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highlight>
                  <a:srgbClr val="FFFF00"/>
                </a:highlight>
              </a:rPr>
              <a:t>funct3</a:t>
            </a:r>
            <a:endParaRPr lang="ko-KR" altLang="en-US" sz="4400" b="1" dirty="0">
              <a:highlight>
                <a:srgbClr val="FFFF00"/>
              </a:highlight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8505605-7EC4-C67A-F385-F7F5C5D1CCAE}"/>
              </a:ext>
            </a:extLst>
          </p:cNvPr>
          <p:cNvSpPr txBox="1"/>
          <p:nvPr/>
        </p:nvSpPr>
        <p:spPr>
          <a:xfrm>
            <a:off x="7162800" y="8218439"/>
            <a:ext cx="236219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 err="1">
                <a:highlight>
                  <a:srgbClr val="FFFF00"/>
                </a:highlight>
              </a:rPr>
              <a:t>Drdata</a:t>
            </a:r>
            <a:endParaRPr lang="ko-KR" altLang="en-US" sz="4400" b="1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41087672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5DE16D-3533-8794-466D-FCE2B366B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>
            <a:extLst>
              <a:ext uri="{FF2B5EF4-FFF2-40B4-BE49-F238E27FC236}">
                <a16:creationId xmlns:a16="http://schemas.microsoft.com/office/drawing/2014/main" id="{E8110268-BF47-998D-77F7-6950646E10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2443519"/>
            <a:ext cx="11688417" cy="10191436"/>
          </a:xfrm>
          <a:prstGeom prst="rect">
            <a:avLst/>
          </a:prstGeom>
        </p:spPr>
      </p:pic>
      <p:pic>
        <p:nvPicPr>
          <p:cNvPr id="3" name="Picture 8">
            <a:extLst>
              <a:ext uri="{FF2B5EF4-FFF2-40B4-BE49-F238E27FC236}">
                <a16:creationId xmlns:a16="http://schemas.microsoft.com/office/drawing/2014/main" id="{A0C16722-01EF-69BF-C2BD-1C1A74AF8E6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 flipV="1">
            <a:off x="1045570" y="2059190"/>
            <a:ext cx="21814430" cy="45719"/>
          </a:xfrm>
          <a:prstGeom prst="rect">
            <a:avLst/>
          </a:prstGeom>
        </p:spPr>
      </p:pic>
      <p:sp>
        <p:nvSpPr>
          <p:cNvPr id="4" name="TextBox 10">
            <a:extLst>
              <a:ext uri="{FF2B5EF4-FFF2-40B4-BE49-F238E27FC236}">
                <a16:creationId xmlns:a16="http://schemas.microsoft.com/office/drawing/2014/main" id="{8CEB8E16-43B1-34DD-CB6E-C8648274EAC1}"/>
              </a:ext>
            </a:extLst>
          </p:cNvPr>
          <p:cNvSpPr txBox="1"/>
          <p:nvPr/>
        </p:nvSpPr>
        <p:spPr>
          <a:xfrm>
            <a:off x="1295400" y="609600"/>
            <a:ext cx="18897600" cy="1181100"/>
          </a:xfrm>
          <a:prstGeom prst="rect">
            <a:avLst/>
          </a:prstGeom>
        </p:spPr>
        <p:txBody>
          <a:bodyPr lIns="0" tIns="0" rIns="0" bIns="0" anchor="t"/>
          <a:lstStyle/>
          <a:p>
            <a:pPr lvl="0">
              <a:lnSpc>
                <a:spcPct val="116199"/>
              </a:lnSpc>
              <a:defRPr/>
            </a:pPr>
            <a:r>
              <a:rPr lang="en-US" altLang="ko-KR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3. Type </a:t>
            </a:r>
            <a:r>
              <a:rPr lang="ko-KR" altLang="en-US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별 동작 방식</a:t>
            </a:r>
            <a:r>
              <a:rPr lang="en-US" altLang="ko-KR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(IL-type)</a:t>
            </a:r>
            <a:r>
              <a:rPr lang="ko-KR" altLang="en-US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2B74557-69E4-1132-7876-C398A024DA76}"/>
              </a:ext>
            </a:extLst>
          </p:cNvPr>
          <p:cNvSpPr txBox="1"/>
          <p:nvPr/>
        </p:nvSpPr>
        <p:spPr>
          <a:xfrm>
            <a:off x="1305339" y="2426274"/>
            <a:ext cx="540026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400" dirty="0"/>
              <a:t>• </a:t>
            </a:r>
            <a:r>
              <a:rPr lang="en-US" altLang="ko-KR" sz="4400" dirty="0" err="1"/>
              <a:t>DataFolw</a:t>
            </a:r>
            <a:endParaRPr lang="en-US" altLang="ko-KR" sz="4400" dirty="0"/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41DFBA2F-3B79-672B-8454-A753FD04E622}"/>
              </a:ext>
            </a:extLst>
          </p:cNvPr>
          <p:cNvGraphicFramePr>
            <a:graphicFrameLocks noGrp="1"/>
          </p:cNvGraphicFramePr>
          <p:nvPr/>
        </p:nvGraphicFramePr>
        <p:xfrm>
          <a:off x="1600200" y="12651520"/>
          <a:ext cx="21031199" cy="57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04457">
                  <a:extLst>
                    <a:ext uri="{9D8B030D-6E8A-4147-A177-3AD203B41FA5}">
                      <a16:colId xmlns:a16="http://schemas.microsoft.com/office/drawing/2014/main" val="4932414"/>
                    </a:ext>
                  </a:extLst>
                </a:gridCol>
                <a:gridCol w="6008914">
                  <a:extLst>
                    <a:ext uri="{9D8B030D-6E8A-4147-A177-3AD203B41FA5}">
                      <a16:colId xmlns:a16="http://schemas.microsoft.com/office/drawing/2014/main" val="4289750731"/>
                    </a:ext>
                  </a:extLst>
                </a:gridCol>
                <a:gridCol w="3004457">
                  <a:extLst>
                    <a:ext uri="{9D8B030D-6E8A-4147-A177-3AD203B41FA5}">
                      <a16:colId xmlns:a16="http://schemas.microsoft.com/office/drawing/2014/main" val="1722059348"/>
                    </a:ext>
                  </a:extLst>
                </a:gridCol>
                <a:gridCol w="3004457">
                  <a:extLst>
                    <a:ext uri="{9D8B030D-6E8A-4147-A177-3AD203B41FA5}">
                      <a16:colId xmlns:a16="http://schemas.microsoft.com/office/drawing/2014/main" val="798401735"/>
                    </a:ext>
                  </a:extLst>
                </a:gridCol>
                <a:gridCol w="3004457">
                  <a:extLst>
                    <a:ext uri="{9D8B030D-6E8A-4147-A177-3AD203B41FA5}">
                      <a16:colId xmlns:a16="http://schemas.microsoft.com/office/drawing/2014/main" val="989108138"/>
                    </a:ext>
                  </a:extLst>
                </a:gridCol>
                <a:gridCol w="3004457">
                  <a:extLst>
                    <a:ext uri="{9D8B030D-6E8A-4147-A177-3AD203B41FA5}">
                      <a16:colId xmlns:a16="http://schemas.microsoft.com/office/drawing/2014/main" val="1997596351"/>
                    </a:ext>
                  </a:extLst>
                </a:gridCol>
              </a:tblGrid>
              <a:tr h="42903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3200" dirty="0">
                          <a:solidFill>
                            <a:schemeClr val="tx1"/>
                          </a:solidFill>
                        </a:rPr>
                        <a:t>명령어</a:t>
                      </a:r>
                      <a:r>
                        <a:rPr lang="en-US" altLang="ko-KR" sz="3200" dirty="0">
                          <a:solidFill>
                            <a:schemeClr val="tx1"/>
                          </a:solidFill>
                        </a:rPr>
                        <a:t>:</a:t>
                      </a:r>
                      <a:endParaRPr lang="ko-KR" altLang="en-US" sz="3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Imm[11:0]</a:t>
                      </a:r>
                      <a:endParaRPr lang="ko-KR" altLang="en-US" sz="3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Rs1</a:t>
                      </a:r>
                      <a:endParaRPr lang="ko-KR" altLang="en-US" sz="3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Funct3</a:t>
                      </a:r>
                      <a:endParaRPr lang="ko-KR" altLang="en-US" sz="3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Rd</a:t>
                      </a:r>
                      <a:endParaRPr lang="ko-KR" altLang="en-US" sz="3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OPCODE(I-type)</a:t>
                      </a:r>
                      <a:endParaRPr lang="ko-KR" altLang="en-US" sz="3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59916584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4D4F65D3-A36B-9140-6780-896C8F2C0B0B}"/>
              </a:ext>
            </a:extLst>
          </p:cNvPr>
          <p:cNvSpPr txBox="1"/>
          <p:nvPr/>
        </p:nvSpPr>
        <p:spPr>
          <a:xfrm>
            <a:off x="3657600" y="9601200"/>
            <a:ext cx="141284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highlight>
                  <a:srgbClr val="FFFF00"/>
                </a:highlight>
              </a:rPr>
              <a:t>PC+4</a:t>
            </a:r>
            <a:endParaRPr lang="ko-KR" altLang="en-US" sz="4400" b="1" dirty="0">
              <a:highlight>
                <a:srgbClr val="FFFF00"/>
              </a:highlight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4747992-6B50-2C1B-A656-B8A782D85292}"/>
              </a:ext>
            </a:extLst>
          </p:cNvPr>
          <p:cNvSpPr txBox="1"/>
          <p:nvPr/>
        </p:nvSpPr>
        <p:spPr>
          <a:xfrm>
            <a:off x="9829801" y="6294564"/>
            <a:ext cx="236219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highlight>
                  <a:srgbClr val="FFFF00"/>
                </a:highlight>
              </a:rPr>
              <a:t>Imm+rs1</a:t>
            </a:r>
            <a:endParaRPr lang="ko-KR" altLang="en-US" sz="4400" b="1" dirty="0">
              <a:highlight>
                <a:srgbClr val="FFFF00"/>
              </a:highlight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4296A1A-B88B-464C-B5D8-A741AE452D92}"/>
              </a:ext>
            </a:extLst>
          </p:cNvPr>
          <p:cNvSpPr txBox="1"/>
          <p:nvPr/>
        </p:nvSpPr>
        <p:spPr>
          <a:xfrm>
            <a:off x="7934739" y="4343400"/>
            <a:ext cx="12954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highlight>
                  <a:srgbClr val="FFFF00"/>
                </a:highlight>
              </a:rPr>
              <a:t>ADD</a:t>
            </a:r>
            <a:endParaRPr lang="ko-KR" altLang="en-US" sz="4400" b="1" dirty="0">
              <a:highlight>
                <a:srgbClr val="FFFF00"/>
              </a:highlight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013CBE1-ED02-6D9F-FA44-318B08FD6DF3}"/>
              </a:ext>
            </a:extLst>
          </p:cNvPr>
          <p:cNvSpPr txBox="1"/>
          <p:nvPr/>
        </p:nvSpPr>
        <p:spPr>
          <a:xfrm>
            <a:off x="6248399" y="4320209"/>
            <a:ext cx="56321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highlight>
                  <a:srgbClr val="FFFF00"/>
                </a:highlight>
              </a:rPr>
              <a:t>1</a:t>
            </a:r>
            <a:endParaRPr lang="ko-KR" altLang="en-US" sz="4400" b="1" dirty="0">
              <a:highlight>
                <a:srgbClr val="FFFF00"/>
              </a:highlight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98127EC-B7F8-5690-D857-9F94BC1045FD}"/>
              </a:ext>
            </a:extLst>
          </p:cNvPr>
          <p:cNvSpPr txBox="1"/>
          <p:nvPr/>
        </p:nvSpPr>
        <p:spPr>
          <a:xfrm>
            <a:off x="11506200" y="2824679"/>
            <a:ext cx="176585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highlight>
                  <a:srgbClr val="FFFF00"/>
                </a:highlight>
              </a:rPr>
              <a:t>funct3</a:t>
            </a:r>
            <a:endParaRPr lang="ko-KR" altLang="en-US" sz="4400" b="1" dirty="0">
              <a:highlight>
                <a:srgbClr val="FFFF00"/>
              </a:highlight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1B23494-0958-6210-9483-CD8A0611A991}"/>
              </a:ext>
            </a:extLst>
          </p:cNvPr>
          <p:cNvSpPr txBox="1"/>
          <p:nvPr/>
        </p:nvSpPr>
        <p:spPr>
          <a:xfrm>
            <a:off x="7162800" y="8218439"/>
            <a:ext cx="236219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 err="1">
                <a:highlight>
                  <a:srgbClr val="FFFF00"/>
                </a:highlight>
              </a:rPr>
              <a:t>Drdata</a:t>
            </a:r>
            <a:endParaRPr lang="ko-KR" altLang="en-US" sz="4400" b="1" dirty="0">
              <a:highlight>
                <a:srgbClr val="FFFF00"/>
              </a:highlight>
            </a:endParaRPr>
          </a:p>
        </p:txBody>
      </p:sp>
      <p:graphicFrame>
        <p:nvGraphicFramePr>
          <p:cNvPr id="11" name="Table 12">
            <a:extLst>
              <a:ext uri="{FF2B5EF4-FFF2-40B4-BE49-F238E27FC236}">
                <a16:creationId xmlns:a16="http://schemas.microsoft.com/office/drawing/2014/main" id="{FD0C6899-B568-AE83-BD00-DE31DCC72A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7220074"/>
              </p:ext>
            </p:extLst>
          </p:nvPr>
        </p:nvGraphicFramePr>
        <p:xfrm>
          <a:off x="14706600" y="4614977"/>
          <a:ext cx="9144000" cy="7358891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3181337078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381537622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443255725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1066265829"/>
                    </a:ext>
                  </a:extLst>
                </a:gridCol>
              </a:tblGrid>
              <a:tr h="0">
                <a:tc gridSpan="5"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>
                          <a:solidFill>
                            <a:schemeClr val="bg1"/>
                          </a:solidFill>
                        </a:rPr>
                        <a:t>DATA MEM</a:t>
                      </a:r>
                    </a:p>
                  </a:txBody>
                  <a:tcPr marL="25400" marR="25400" marT="65362" marB="6536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25400" marR="25400" marT="65362" marB="6536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 hMerge="1"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endParaRPr lang="en-US" sz="3600" dirty="0">
                        <a:solidFill>
                          <a:schemeClr val="bg1"/>
                        </a:solidFill>
                      </a:endParaRPr>
                    </a:p>
                  </a:txBody>
                  <a:tcPr marL="25400" marR="25400" marT="65362" marB="6536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 hMerge="1"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endParaRPr lang="en-US" sz="3600" dirty="0">
                        <a:solidFill>
                          <a:schemeClr val="bg1"/>
                        </a:solidFill>
                      </a:endParaRPr>
                    </a:p>
                  </a:txBody>
                  <a:tcPr marL="25400" marR="25400" marT="65362" marB="6536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 hMerge="1"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endParaRPr lang="en-US" sz="3600" dirty="0">
                        <a:solidFill>
                          <a:schemeClr val="bg1"/>
                        </a:solidFill>
                      </a:endParaRPr>
                    </a:p>
                  </a:txBody>
                  <a:tcPr marL="25400" marR="25400" marT="65362" marB="6536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25666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INSRT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read </a:t>
                      </a:r>
                      <a:r>
                        <a:rPr lang="ko-KR" altLang="en-US" sz="3600" dirty="0"/>
                        <a:t>조건</a:t>
                      </a:r>
                      <a:endParaRPr lang="en-US" sz="3600" dirty="0"/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Funct3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 err="1"/>
                        <a:t>Addr</a:t>
                      </a:r>
                      <a:r>
                        <a:rPr lang="en-US" sz="3600" dirty="0"/>
                        <a:t> scale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Signed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5701013"/>
                  </a:ext>
                </a:extLst>
              </a:tr>
              <a:tr h="1100888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LB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 rowSpan="5"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 err="1"/>
                        <a:t>dwe</a:t>
                      </a:r>
                      <a:r>
                        <a:rPr lang="en-US" sz="3600" dirty="0"/>
                        <a:t> = 0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3’h0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Byte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altLang="ko-KR" sz="3600" dirty="0"/>
                        <a:t>Signed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00888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LH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 vMerge="1"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endParaRPr lang="en-US" sz="3600" dirty="0"/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altLang="ko-KR" sz="3600" dirty="0"/>
                        <a:t>3’h1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Half word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altLang="ko-KR" sz="3600" dirty="0"/>
                        <a:t>Signed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8322434"/>
                  </a:ext>
                </a:extLst>
              </a:tr>
              <a:tr h="1100888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LW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 vMerge="1"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endParaRPr lang="en-US" sz="3600" dirty="0"/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altLang="ko-KR" sz="3600" dirty="0"/>
                        <a:t>3’h2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word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Signed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4024723"/>
                  </a:ext>
                </a:extLst>
              </a:tr>
              <a:tr h="1100888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LBU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 vMerge="1"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endParaRPr lang="en-US" sz="3600" dirty="0"/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altLang="ko-KR" sz="3600" dirty="0"/>
                        <a:t>3’h3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9171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3600" dirty="0"/>
                        <a:t>Byte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9171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3600" dirty="0"/>
                        <a:t>Unsigned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4312889"/>
                  </a:ext>
                </a:extLst>
              </a:tr>
              <a:tr h="1100888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600" dirty="0"/>
                        <a:t>LHU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 vMerge="1"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endParaRPr lang="en-US" sz="3600" dirty="0"/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altLang="ko-KR" sz="3600" dirty="0"/>
                        <a:t>3’h4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9171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3600" dirty="0"/>
                        <a:t>Half word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9171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3600" dirty="0"/>
                        <a:t>Unsigned</a:t>
                      </a:r>
                    </a:p>
                  </a:txBody>
                  <a:tcPr marL="25400" marR="25400" marT="65362" marB="653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19714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056258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771B23-336A-2A5F-D763-D199056106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8">
            <a:extLst>
              <a:ext uri="{FF2B5EF4-FFF2-40B4-BE49-F238E27FC236}">
                <a16:creationId xmlns:a16="http://schemas.microsoft.com/office/drawing/2014/main" id="{43D705CF-E48A-44FB-7BAD-6AE63D4E450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 flipV="1">
            <a:off x="1045570" y="2059190"/>
            <a:ext cx="21814430" cy="45719"/>
          </a:xfrm>
          <a:prstGeom prst="rect">
            <a:avLst/>
          </a:prstGeom>
        </p:spPr>
      </p:pic>
      <p:sp>
        <p:nvSpPr>
          <p:cNvPr id="4" name="TextBox 10">
            <a:extLst>
              <a:ext uri="{FF2B5EF4-FFF2-40B4-BE49-F238E27FC236}">
                <a16:creationId xmlns:a16="http://schemas.microsoft.com/office/drawing/2014/main" id="{C865CDA9-E8A4-47D2-6512-E77D6BD9ABD3}"/>
              </a:ext>
            </a:extLst>
          </p:cNvPr>
          <p:cNvSpPr txBox="1"/>
          <p:nvPr/>
        </p:nvSpPr>
        <p:spPr>
          <a:xfrm>
            <a:off x="1295400" y="609600"/>
            <a:ext cx="18897600" cy="1181100"/>
          </a:xfrm>
          <a:prstGeom prst="rect">
            <a:avLst/>
          </a:prstGeom>
        </p:spPr>
        <p:txBody>
          <a:bodyPr lIns="0" tIns="0" rIns="0" bIns="0" anchor="t"/>
          <a:lstStyle/>
          <a:p>
            <a:pPr lvl="0">
              <a:lnSpc>
                <a:spcPct val="116199"/>
              </a:lnSpc>
              <a:defRPr/>
            </a:pPr>
            <a:r>
              <a:rPr lang="en-US" altLang="ko-KR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3. Type </a:t>
            </a:r>
            <a:r>
              <a:rPr lang="ko-KR" altLang="en-US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별 동작 방식</a:t>
            </a:r>
            <a:r>
              <a:rPr lang="en-US" altLang="ko-KR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(IL-type)</a:t>
            </a:r>
            <a:r>
              <a:rPr lang="ko-KR" altLang="en-US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C8B2F3A-98AC-6384-07F0-31C021C67634}"/>
              </a:ext>
            </a:extLst>
          </p:cNvPr>
          <p:cNvSpPr txBox="1"/>
          <p:nvPr/>
        </p:nvSpPr>
        <p:spPr>
          <a:xfrm>
            <a:off x="1305339" y="2426274"/>
            <a:ext cx="540026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400" dirty="0"/>
              <a:t>• simulation(</a:t>
            </a:r>
            <a:r>
              <a:rPr lang="ko-KR" altLang="en-US" sz="4400" dirty="0"/>
              <a:t>시나리오</a:t>
            </a:r>
            <a:r>
              <a:rPr lang="en-US" altLang="ko-KR" sz="44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10502687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0B27BC-C03B-77DE-B546-612586298A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8">
            <a:extLst>
              <a:ext uri="{FF2B5EF4-FFF2-40B4-BE49-F238E27FC236}">
                <a16:creationId xmlns:a16="http://schemas.microsoft.com/office/drawing/2014/main" id="{476697B6-ACA4-D854-120D-DA9C0B4FB9E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 flipV="1">
            <a:off x="1045570" y="2059190"/>
            <a:ext cx="21814430" cy="45719"/>
          </a:xfrm>
          <a:prstGeom prst="rect">
            <a:avLst/>
          </a:prstGeom>
        </p:spPr>
      </p:pic>
      <p:sp>
        <p:nvSpPr>
          <p:cNvPr id="4" name="TextBox 10">
            <a:extLst>
              <a:ext uri="{FF2B5EF4-FFF2-40B4-BE49-F238E27FC236}">
                <a16:creationId xmlns:a16="http://schemas.microsoft.com/office/drawing/2014/main" id="{CF1F27C7-7508-3E3F-BA3F-C6466C7F2AEF}"/>
              </a:ext>
            </a:extLst>
          </p:cNvPr>
          <p:cNvSpPr txBox="1"/>
          <p:nvPr/>
        </p:nvSpPr>
        <p:spPr>
          <a:xfrm>
            <a:off x="1295400" y="609600"/>
            <a:ext cx="18897600" cy="1181100"/>
          </a:xfrm>
          <a:prstGeom prst="rect">
            <a:avLst/>
          </a:prstGeom>
        </p:spPr>
        <p:txBody>
          <a:bodyPr lIns="0" tIns="0" rIns="0" bIns="0" anchor="t"/>
          <a:lstStyle/>
          <a:p>
            <a:pPr lvl="0">
              <a:lnSpc>
                <a:spcPct val="116199"/>
              </a:lnSpc>
              <a:defRPr/>
            </a:pPr>
            <a:r>
              <a:rPr lang="en-US" altLang="ko-KR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3. Type </a:t>
            </a:r>
            <a:r>
              <a:rPr lang="ko-KR" altLang="en-US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별 동작 방식</a:t>
            </a:r>
            <a:r>
              <a:rPr lang="en-US" altLang="ko-KR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(IL-type)</a:t>
            </a:r>
            <a:r>
              <a:rPr lang="ko-KR" altLang="en-US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791069C-EB74-2BDA-0C30-A81AA27F67AC}"/>
              </a:ext>
            </a:extLst>
          </p:cNvPr>
          <p:cNvSpPr txBox="1"/>
          <p:nvPr/>
        </p:nvSpPr>
        <p:spPr>
          <a:xfrm>
            <a:off x="1305339" y="2426274"/>
            <a:ext cx="540026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400" dirty="0"/>
              <a:t>• simulation</a:t>
            </a:r>
          </a:p>
        </p:txBody>
      </p:sp>
    </p:spTree>
    <p:extLst>
      <p:ext uri="{BB962C8B-B14F-4D97-AF65-F5344CB8AC3E}">
        <p14:creationId xmlns:p14="http://schemas.microsoft.com/office/powerpoint/2010/main" val="173010453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42A485-5AF9-2E1E-3C18-DCF730B050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그림 15">
            <a:extLst>
              <a:ext uri="{FF2B5EF4-FFF2-40B4-BE49-F238E27FC236}">
                <a16:creationId xmlns:a16="http://schemas.microsoft.com/office/drawing/2014/main" id="{AD24264D-4DB1-A1DE-43C5-3306F34F40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4438" y="2656067"/>
            <a:ext cx="11340162" cy="9842842"/>
          </a:xfrm>
          <a:prstGeom prst="rect">
            <a:avLst/>
          </a:prstGeom>
        </p:spPr>
      </p:pic>
      <p:pic>
        <p:nvPicPr>
          <p:cNvPr id="3" name="Picture 8">
            <a:extLst>
              <a:ext uri="{FF2B5EF4-FFF2-40B4-BE49-F238E27FC236}">
                <a16:creationId xmlns:a16="http://schemas.microsoft.com/office/drawing/2014/main" id="{E7144D76-CF71-0610-FEB1-20177809D2D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 flipV="1">
            <a:off x="1045570" y="2059190"/>
            <a:ext cx="21814430" cy="45719"/>
          </a:xfrm>
          <a:prstGeom prst="rect">
            <a:avLst/>
          </a:prstGeom>
        </p:spPr>
      </p:pic>
      <p:sp>
        <p:nvSpPr>
          <p:cNvPr id="4" name="TextBox 10">
            <a:extLst>
              <a:ext uri="{FF2B5EF4-FFF2-40B4-BE49-F238E27FC236}">
                <a16:creationId xmlns:a16="http://schemas.microsoft.com/office/drawing/2014/main" id="{6E0C66C4-FF7C-EF64-A2C1-B99D33A029FD}"/>
              </a:ext>
            </a:extLst>
          </p:cNvPr>
          <p:cNvSpPr txBox="1"/>
          <p:nvPr/>
        </p:nvSpPr>
        <p:spPr>
          <a:xfrm>
            <a:off x="1295400" y="609600"/>
            <a:ext cx="18897600" cy="1181100"/>
          </a:xfrm>
          <a:prstGeom prst="rect">
            <a:avLst/>
          </a:prstGeom>
        </p:spPr>
        <p:txBody>
          <a:bodyPr lIns="0" tIns="0" rIns="0" bIns="0" anchor="t"/>
          <a:lstStyle/>
          <a:p>
            <a:pPr lvl="0">
              <a:lnSpc>
                <a:spcPct val="116199"/>
              </a:lnSpc>
              <a:defRPr/>
            </a:pPr>
            <a:r>
              <a:rPr lang="en-US" altLang="ko-KR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3. Type </a:t>
            </a:r>
            <a:r>
              <a:rPr lang="ko-KR" altLang="en-US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별 동작 방식</a:t>
            </a:r>
            <a:r>
              <a:rPr lang="en-US" altLang="ko-KR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(B-type)</a:t>
            </a:r>
            <a:r>
              <a:rPr lang="ko-KR" altLang="en-US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8641A1F-F777-F3F0-08C1-A30418EF4E2A}"/>
              </a:ext>
            </a:extLst>
          </p:cNvPr>
          <p:cNvSpPr txBox="1"/>
          <p:nvPr/>
        </p:nvSpPr>
        <p:spPr>
          <a:xfrm>
            <a:off x="1305339" y="2426274"/>
            <a:ext cx="540026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400" dirty="0"/>
              <a:t>• </a:t>
            </a:r>
            <a:r>
              <a:rPr lang="en-US" altLang="ko-KR" sz="4400" dirty="0" err="1"/>
              <a:t>DataFolw</a:t>
            </a:r>
            <a:endParaRPr lang="en-US" altLang="ko-KR" sz="4400" dirty="0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5C30D347-B937-D5C9-3563-7C53B77F25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7402762"/>
              </p:ext>
            </p:extLst>
          </p:nvPr>
        </p:nvGraphicFramePr>
        <p:xfrm>
          <a:off x="1600200" y="12651520"/>
          <a:ext cx="21031199" cy="57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04457">
                  <a:extLst>
                    <a:ext uri="{9D8B030D-6E8A-4147-A177-3AD203B41FA5}">
                      <a16:colId xmlns:a16="http://schemas.microsoft.com/office/drawing/2014/main" val="4932414"/>
                    </a:ext>
                  </a:extLst>
                </a:gridCol>
                <a:gridCol w="3004457">
                  <a:extLst>
                    <a:ext uri="{9D8B030D-6E8A-4147-A177-3AD203B41FA5}">
                      <a16:colId xmlns:a16="http://schemas.microsoft.com/office/drawing/2014/main" val="4289750731"/>
                    </a:ext>
                  </a:extLst>
                </a:gridCol>
                <a:gridCol w="3004457">
                  <a:extLst>
                    <a:ext uri="{9D8B030D-6E8A-4147-A177-3AD203B41FA5}">
                      <a16:colId xmlns:a16="http://schemas.microsoft.com/office/drawing/2014/main" val="3362934941"/>
                    </a:ext>
                  </a:extLst>
                </a:gridCol>
                <a:gridCol w="3004457">
                  <a:extLst>
                    <a:ext uri="{9D8B030D-6E8A-4147-A177-3AD203B41FA5}">
                      <a16:colId xmlns:a16="http://schemas.microsoft.com/office/drawing/2014/main" val="1722059348"/>
                    </a:ext>
                  </a:extLst>
                </a:gridCol>
                <a:gridCol w="3004457">
                  <a:extLst>
                    <a:ext uri="{9D8B030D-6E8A-4147-A177-3AD203B41FA5}">
                      <a16:colId xmlns:a16="http://schemas.microsoft.com/office/drawing/2014/main" val="798401735"/>
                    </a:ext>
                  </a:extLst>
                </a:gridCol>
                <a:gridCol w="3004457">
                  <a:extLst>
                    <a:ext uri="{9D8B030D-6E8A-4147-A177-3AD203B41FA5}">
                      <a16:colId xmlns:a16="http://schemas.microsoft.com/office/drawing/2014/main" val="989108138"/>
                    </a:ext>
                  </a:extLst>
                </a:gridCol>
                <a:gridCol w="3004457">
                  <a:extLst>
                    <a:ext uri="{9D8B030D-6E8A-4147-A177-3AD203B41FA5}">
                      <a16:colId xmlns:a16="http://schemas.microsoft.com/office/drawing/2014/main" val="1997596351"/>
                    </a:ext>
                  </a:extLst>
                </a:gridCol>
              </a:tblGrid>
              <a:tr h="42903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3200" dirty="0">
                          <a:solidFill>
                            <a:schemeClr val="tx1"/>
                          </a:solidFill>
                        </a:rPr>
                        <a:t>명령어</a:t>
                      </a:r>
                      <a:r>
                        <a:rPr lang="en-US" altLang="ko-KR" sz="3200" dirty="0">
                          <a:solidFill>
                            <a:schemeClr val="tx1"/>
                          </a:solidFill>
                        </a:rPr>
                        <a:t>:</a:t>
                      </a:r>
                      <a:endParaRPr lang="ko-KR" altLang="en-US" sz="3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Imm[12,10:5]</a:t>
                      </a:r>
                      <a:endParaRPr lang="ko-KR" altLang="en-US" sz="3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Rs2</a:t>
                      </a:r>
                      <a:endParaRPr lang="ko-KR" altLang="en-US" sz="3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Rs1</a:t>
                      </a:r>
                      <a:endParaRPr lang="ko-KR" altLang="en-US" sz="3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Funct3</a:t>
                      </a:r>
                      <a:endParaRPr lang="ko-KR" altLang="en-US" sz="3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Imm[4:1,11]</a:t>
                      </a:r>
                      <a:endParaRPr lang="ko-KR" altLang="en-US" sz="3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OPCODE(B-type)</a:t>
                      </a:r>
                      <a:endParaRPr lang="ko-KR" altLang="en-US" sz="3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59916584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E99E9E69-5CAE-889A-86E6-92514C094864}"/>
              </a:ext>
            </a:extLst>
          </p:cNvPr>
          <p:cNvGraphicFramePr>
            <a:graphicFrameLocks noGrp="1"/>
          </p:cNvGraphicFramePr>
          <p:nvPr/>
        </p:nvGraphicFramePr>
        <p:xfrm>
          <a:off x="16230600" y="3205654"/>
          <a:ext cx="5257800" cy="8488678"/>
        </p:xfrm>
        <a:graphic>
          <a:graphicData uri="http://schemas.openxmlformats.org/drawingml/2006/table">
            <a:tbl>
              <a:tblPr/>
              <a:tblGrid>
                <a:gridCol w="3505200">
                  <a:extLst>
                    <a:ext uri="{9D8B030D-6E8A-4147-A177-3AD203B41FA5}">
                      <a16:colId xmlns:a16="http://schemas.microsoft.com/office/drawing/2014/main" val="3979343758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377030382"/>
                    </a:ext>
                  </a:extLst>
                </a:gridCol>
              </a:tblGrid>
              <a:tr h="771698">
                <a:tc grid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control_unit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3595235"/>
                  </a:ext>
                </a:extLst>
              </a:tr>
              <a:tr h="7716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OUTPUT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B_type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5460802"/>
                  </a:ext>
                </a:extLst>
              </a:tr>
              <a:tr h="7716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rf_we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6872207"/>
                  </a:ext>
                </a:extLst>
              </a:tr>
              <a:tr h="7716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alu_src_sel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4584127"/>
                  </a:ext>
                </a:extLst>
              </a:tr>
              <a:tr h="7716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rf_wd_sel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2299413"/>
                  </a:ext>
                </a:extLst>
              </a:tr>
              <a:tr h="7716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alu_control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1,0,funct3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4980171"/>
                  </a:ext>
                </a:extLst>
              </a:tr>
              <a:tr h="7716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[b_taken,ALU_ctrl]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5950869"/>
                  </a:ext>
                </a:extLst>
              </a:tr>
              <a:tr h="7716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b_src_sel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7897757"/>
                  </a:ext>
                </a:extLst>
              </a:tr>
              <a:tr h="7716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branch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3719301"/>
                  </a:ext>
                </a:extLst>
              </a:tr>
              <a:tr h="7716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o_funct3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1990034"/>
                  </a:ext>
                </a:extLst>
              </a:tr>
              <a:tr h="7716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dwe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7775221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C73C8B0B-BB54-4777-2F16-7DBEF541B892}"/>
              </a:ext>
            </a:extLst>
          </p:cNvPr>
          <p:cNvSpPr txBox="1"/>
          <p:nvPr/>
        </p:nvSpPr>
        <p:spPr>
          <a:xfrm>
            <a:off x="3283640" y="9525000"/>
            <a:ext cx="217484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 err="1">
                <a:highlight>
                  <a:srgbClr val="FFFF00"/>
                </a:highlight>
              </a:rPr>
              <a:t>PC+imm</a:t>
            </a:r>
            <a:endParaRPr lang="ko-KR" altLang="en-US" sz="4400" b="1" dirty="0">
              <a:highlight>
                <a:srgbClr val="FFFF00"/>
              </a:highlight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EA847F8-49D1-F66A-81DF-E63D8460ACDD}"/>
              </a:ext>
            </a:extLst>
          </p:cNvPr>
          <p:cNvSpPr txBox="1"/>
          <p:nvPr/>
        </p:nvSpPr>
        <p:spPr>
          <a:xfrm>
            <a:off x="8610600" y="4343400"/>
            <a:ext cx="118424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highlight>
                  <a:srgbClr val="FFFF00"/>
                </a:highlight>
              </a:rPr>
              <a:t>1</a:t>
            </a:r>
            <a:endParaRPr lang="ko-KR" altLang="en-US" sz="4400" b="1" dirty="0">
              <a:highlight>
                <a:srgbClr val="FFFF00"/>
              </a:highlight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48E97F6-048A-8681-3F7F-22C64DEF8BB4}"/>
              </a:ext>
            </a:extLst>
          </p:cNvPr>
          <p:cNvSpPr txBox="1"/>
          <p:nvPr/>
        </p:nvSpPr>
        <p:spPr>
          <a:xfrm>
            <a:off x="6531665" y="4343399"/>
            <a:ext cx="145277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highlight>
                  <a:srgbClr val="FFFF00"/>
                </a:highlight>
              </a:rPr>
              <a:t>ADD</a:t>
            </a:r>
            <a:endParaRPr lang="ko-KR" altLang="en-US" sz="4400" b="1" dirty="0">
              <a:highlight>
                <a:srgbClr val="FFFF00"/>
              </a:highlight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C3B9951-248A-9156-7EB0-E2044BDEB4EA}"/>
              </a:ext>
            </a:extLst>
          </p:cNvPr>
          <p:cNvSpPr txBox="1"/>
          <p:nvPr/>
        </p:nvSpPr>
        <p:spPr>
          <a:xfrm>
            <a:off x="6760894" y="8915400"/>
            <a:ext cx="170356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highlight>
                  <a:srgbClr val="FFFF00"/>
                </a:highlight>
              </a:rPr>
              <a:t>1 or 0</a:t>
            </a:r>
            <a:endParaRPr lang="ko-KR" altLang="en-US" sz="4400" b="1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372161873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9697B2-D3F0-894E-FA43-0683510184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8">
            <a:extLst>
              <a:ext uri="{FF2B5EF4-FFF2-40B4-BE49-F238E27FC236}">
                <a16:creationId xmlns:a16="http://schemas.microsoft.com/office/drawing/2014/main" id="{D83FEE47-DE52-2A9B-647D-4885A034CF0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 flipV="1">
            <a:off x="1045570" y="2059190"/>
            <a:ext cx="21814430" cy="45719"/>
          </a:xfrm>
          <a:prstGeom prst="rect">
            <a:avLst/>
          </a:prstGeom>
        </p:spPr>
      </p:pic>
      <p:sp>
        <p:nvSpPr>
          <p:cNvPr id="4" name="TextBox 10">
            <a:extLst>
              <a:ext uri="{FF2B5EF4-FFF2-40B4-BE49-F238E27FC236}">
                <a16:creationId xmlns:a16="http://schemas.microsoft.com/office/drawing/2014/main" id="{8A672D94-EEA7-0750-676E-C6258BBB6B86}"/>
              </a:ext>
            </a:extLst>
          </p:cNvPr>
          <p:cNvSpPr txBox="1"/>
          <p:nvPr/>
        </p:nvSpPr>
        <p:spPr>
          <a:xfrm>
            <a:off x="1295400" y="609600"/>
            <a:ext cx="18897600" cy="1181100"/>
          </a:xfrm>
          <a:prstGeom prst="rect">
            <a:avLst/>
          </a:prstGeom>
        </p:spPr>
        <p:txBody>
          <a:bodyPr lIns="0" tIns="0" rIns="0" bIns="0" anchor="t"/>
          <a:lstStyle/>
          <a:p>
            <a:pPr lvl="0">
              <a:lnSpc>
                <a:spcPct val="116199"/>
              </a:lnSpc>
              <a:defRPr/>
            </a:pPr>
            <a:r>
              <a:rPr lang="en-US" altLang="ko-KR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3. Type </a:t>
            </a:r>
            <a:r>
              <a:rPr lang="ko-KR" altLang="en-US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별 동작 방식</a:t>
            </a:r>
            <a:r>
              <a:rPr lang="en-US" altLang="ko-KR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(B-type)</a:t>
            </a:r>
            <a:r>
              <a:rPr lang="ko-KR" altLang="en-US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E72FCAC-71C1-473F-5A82-BFAD650D798D}"/>
              </a:ext>
            </a:extLst>
          </p:cNvPr>
          <p:cNvSpPr txBox="1"/>
          <p:nvPr/>
        </p:nvSpPr>
        <p:spPr>
          <a:xfrm>
            <a:off x="1305339" y="2426274"/>
            <a:ext cx="540026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400" dirty="0"/>
              <a:t>• simulation(</a:t>
            </a:r>
            <a:r>
              <a:rPr lang="ko-KR" altLang="en-US" sz="4400" dirty="0"/>
              <a:t>시나리오</a:t>
            </a:r>
            <a:r>
              <a:rPr lang="en-US" altLang="ko-KR" sz="44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11963738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447DD8-2599-014D-1731-A28878FA9C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8">
            <a:extLst>
              <a:ext uri="{FF2B5EF4-FFF2-40B4-BE49-F238E27FC236}">
                <a16:creationId xmlns:a16="http://schemas.microsoft.com/office/drawing/2014/main" id="{136BD15C-E3B6-4470-F8C8-29C2B28B4F7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 flipV="1">
            <a:off x="1045570" y="2059190"/>
            <a:ext cx="21814430" cy="45719"/>
          </a:xfrm>
          <a:prstGeom prst="rect">
            <a:avLst/>
          </a:prstGeom>
        </p:spPr>
      </p:pic>
      <p:sp>
        <p:nvSpPr>
          <p:cNvPr id="4" name="TextBox 10">
            <a:extLst>
              <a:ext uri="{FF2B5EF4-FFF2-40B4-BE49-F238E27FC236}">
                <a16:creationId xmlns:a16="http://schemas.microsoft.com/office/drawing/2014/main" id="{560658B5-010C-9943-BE47-878C6E5F1492}"/>
              </a:ext>
            </a:extLst>
          </p:cNvPr>
          <p:cNvSpPr txBox="1"/>
          <p:nvPr/>
        </p:nvSpPr>
        <p:spPr>
          <a:xfrm>
            <a:off x="1295400" y="609600"/>
            <a:ext cx="18897600" cy="1181100"/>
          </a:xfrm>
          <a:prstGeom prst="rect">
            <a:avLst/>
          </a:prstGeom>
        </p:spPr>
        <p:txBody>
          <a:bodyPr lIns="0" tIns="0" rIns="0" bIns="0" anchor="t"/>
          <a:lstStyle/>
          <a:p>
            <a:pPr lvl="0">
              <a:lnSpc>
                <a:spcPct val="116199"/>
              </a:lnSpc>
              <a:defRPr/>
            </a:pPr>
            <a:r>
              <a:rPr lang="en-US" altLang="ko-KR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3. Type </a:t>
            </a:r>
            <a:r>
              <a:rPr lang="ko-KR" altLang="en-US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별 동작 방식</a:t>
            </a:r>
            <a:r>
              <a:rPr lang="en-US" altLang="ko-KR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(B-type)</a:t>
            </a:r>
            <a:r>
              <a:rPr lang="ko-KR" altLang="en-US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E49C747-8EA3-E3DA-BEC9-D53919297417}"/>
              </a:ext>
            </a:extLst>
          </p:cNvPr>
          <p:cNvSpPr txBox="1"/>
          <p:nvPr/>
        </p:nvSpPr>
        <p:spPr>
          <a:xfrm>
            <a:off x="1305339" y="2426274"/>
            <a:ext cx="540026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400" dirty="0"/>
              <a:t>• simulation</a:t>
            </a:r>
          </a:p>
        </p:txBody>
      </p:sp>
    </p:spTree>
    <p:extLst>
      <p:ext uri="{BB962C8B-B14F-4D97-AF65-F5344CB8AC3E}">
        <p14:creationId xmlns:p14="http://schemas.microsoft.com/office/powerpoint/2010/main" val="181192363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3BABD7-9C5C-D946-352B-4917A6BCCA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그림 18">
            <a:extLst>
              <a:ext uri="{FF2B5EF4-FFF2-40B4-BE49-F238E27FC236}">
                <a16:creationId xmlns:a16="http://schemas.microsoft.com/office/drawing/2014/main" id="{AE41AFD9-4D75-F123-3C7C-ACFB98D617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7750" y="2675119"/>
            <a:ext cx="11430649" cy="9908124"/>
          </a:xfrm>
          <a:prstGeom prst="rect">
            <a:avLst/>
          </a:prstGeom>
        </p:spPr>
      </p:pic>
      <p:pic>
        <p:nvPicPr>
          <p:cNvPr id="3" name="Picture 8">
            <a:extLst>
              <a:ext uri="{FF2B5EF4-FFF2-40B4-BE49-F238E27FC236}">
                <a16:creationId xmlns:a16="http://schemas.microsoft.com/office/drawing/2014/main" id="{95B4746C-84EA-F66C-DE9B-AE3081D3270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 flipV="1">
            <a:off x="1045570" y="2059190"/>
            <a:ext cx="21814430" cy="45719"/>
          </a:xfrm>
          <a:prstGeom prst="rect">
            <a:avLst/>
          </a:prstGeom>
        </p:spPr>
      </p:pic>
      <p:sp>
        <p:nvSpPr>
          <p:cNvPr id="4" name="TextBox 10">
            <a:extLst>
              <a:ext uri="{FF2B5EF4-FFF2-40B4-BE49-F238E27FC236}">
                <a16:creationId xmlns:a16="http://schemas.microsoft.com/office/drawing/2014/main" id="{48977815-3C96-D78B-A856-1087AA5D7D8B}"/>
              </a:ext>
            </a:extLst>
          </p:cNvPr>
          <p:cNvSpPr txBox="1"/>
          <p:nvPr/>
        </p:nvSpPr>
        <p:spPr>
          <a:xfrm>
            <a:off x="1295400" y="609600"/>
            <a:ext cx="18897600" cy="1181100"/>
          </a:xfrm>
          <a:prstGeom prst="rect">
            <a:avLst/>
          </a:prstGeom>
        </p:spPr>
        <p:txBody>
          <a:bodyPr lIns="0" tIns="0" rIns="0" bIns="0" anchor="t"/>
          <a:lstStyle/>
          <a:p>
            <a:pPr lvl="0">
              <a:lnSpc>
                <a:spcPct val="116199"/>
              </a:lnSpc>
              <a:defRPr/>
            </a:pPr>
            <a:r>
              <a:rPr lang="en-US" altLang="ko-KR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3. Type </a:t>
            </a:r>
            <a:r>
              <a:rPr lang="ko-KR" altLang="en-US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별 동작 방식</a:t>
            </a:r>
            <a:r>
              <a:rPr lang="en-US" altLang="ko-KR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(U-type)</a:t>
            </a:r>
            <a:r>
              <a:rPr lang="ko-KR" altLang="en-US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F35D931-FAAF-B3CE-D7AC-DACB5A3B63FC}"/>
              </a:ext>
            </a:extLst>
          </p:cNvPr>
          <p:cNvSpPr txBox="1"/>
          <p:nvPr/>
        </p:nvSpPr>
        <p:spPr>
          <a:xfrm>
            <a:off x="1305339" y="2426274"/>
            <a:ext cx="540026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400" dirty="0"/>
              <a:t>• </a:t>
            </a:r>
            <a:r>
              <a:rPr lang="en-US" altLang="ko-KR" sz="4400" dirty="0" err="1"/>
              <a:t>DataFolw</a:t>
            </a:r>
            <a:endParaRPr lang="en-US" altLang="ko-KR" sz="4400" dirty="0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85F4E95A-7825-6ED0-40CD-24187BCE86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5180243"/>
              </p:ext>
            </p:extLst>
          </p:nvPr>
        </p:nvGraphicFramePr>
        <p:xfrm>
          <a:off x="1600200" y="12651520"/>
          <a:ext cx="21031199" cy="57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04457">
                  <a:extLst>
                    <a:ext uri="{9D8B030D-6E8A-4147-A177-3AD203B41FA5}">
                      <a16:colId xmlns:a16="http://schemas.microsoft.com/office/drawing/2014/main" val="4932414"/>
                    </a:ext>
                  </a:extLst>
                </a:gridCol>
                <a:gridCol w="12017828">
                  <a:extLst>
                    <a:ext uri="{9D8B030D-6E8A-4147-A177-3AD203B41FA5}">
                      <a16:colId xmlns:a16="http://schemas.microsoft.com/office/drawing/2014/main" val="4289750731"/>
                    </a:ext>
                  </a:extLst>
                </a:gridCol>
                <a:gridCol w="3004457">
                  <a:extLst>
                    <a:ext uri="{9D8B030D-6E8A-4147-A177-3AD203B41FA5}">
                      <a16:colId xmlns:a16="http://schemas.microsoft.com/office/drawing/2014/main" val="989108138"/>
                    </a:ext>
                  </a:extLst>
                </a:gridCol>
                <a:gridCol w="3004457">
                  <a:extLst>
                    <a:ext uri="{9D8B030D-6E8A-4147-A177-3AD203B41FA5}">
                      <a16:colId xmlns:a16="http://schemas.microsoft.com/office/drawing/2014/main" val="1997596351"/>
                    </a:ext>
                  </a:extLst>
                </a:gridCol>
              </a:tblGrid>
              <a:tr h="42903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3200" dirty="0">
                          <a:solidFill>
                            <a:schemeClr val="tx1"/>
                          </a:solidFill>
                        </a:rPr>
                        <a:t>명령어</a:t>
                      </a:r>
                      <a:r>
                        <a:rPr lang="en-US" altLang="ko-KR" sz="3200" dirty="0">
                          <a:solidFill>
                            <a:schemeClr val="tx1"/>
                          </a:solidFill>
                        </a:rPr>
                        <a:t>:</a:t>
                      </a:r>
                      <a:endParaRPr lang="ko-KR" altLang="en-US" sz="3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Imm[31:12]</a:t>
                      </a:r>
                      <a:endParaRPr lang="ko-KR" altLang="en-US" sz="3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Rd</a:t>
                      </a:r>
                      <a:endParaRPr lang="ko-KR" altLang="en-US" sz="3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OPCODE(U-type)</a:t>
                      </a:r>
                      <a:endParaRPr lang="ko-KR" altLang="en-US" sz="3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59916584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9DD0B2BB-50C5-A227-2B66-77BFEA3C71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386579"/>
              </p:ext>
            </p:extLst>
          </p:nvPr>
        </p:nvGraphicFramePr>
        <p:xfrm>
          <a:off x="15316200" y="3197656"/>
          <a:ext cx="7848600" cy="7894263"/>
        </p:xfrm>
        <a:graphic>
          <a:graphicData uri="http://schemas.openxmlformats.org/drawingml/2006/table">
            <a:tbl>
              <a:tblPr/>
              <a:tblGrid>
                <a:gridCol w="3924300">
                  <a:extLst>
                    <a:ext uri="{9D8B030D-6E8A-4147-A177-3AD203B41FA5}">
                      <a16:colId xmlns:a16="http://schemas.microsoft.com/office/drawing/2014/main" val="30288951"/>
                    </a:ext>
                  </a:extLst>
                </a:gridCol>
                <a:gridCol w="1962150">
                  <a:extLst>
                    <a:ext uri="{9D8B030D-6E8A-4147-A177-3AD203B41FA5}">
                      <a16:colId xmlns:a16="http://schemas.microsoft.com/office/drawing/2014/main" val="4149388138"/>
                    </a:ext>
                  </a:extLst>
                </a:gridCol>
                <a:gridCol w="1962150">
                  <a:extLst>
                    <a:ext uri="{9D8B030D-6E8A-4147-A177-3AD203B41FA5}">
                      <a16:colId xmlns:a16="http://schemas.microsoft.com/office/drawing/2014/main" val="581514038"/>
                    </a:ext>
                  </a:extLst>
                </a:gridCol>
              </a:tblGrid>
              <a:tr h="685784">
                <a:tc gridSpan="3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control_unit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71929627"/>
                  </a:ext>
                </a:extLst>
              </a:tr>
              <a:tr h="93462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OUTPUT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LUI_type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AUIPC_type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2203969"/>
                  </a:ext>
                </a:extLst>
              </a:tr>
              <a:tr h="69709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rf_we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2614742"/>
                  </a:ext>
                </a:extLst>
              </a:tr>
              <a:tr h="69709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alu_src_sel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8107086"/>
                  </a:ext>
                </a:extLst>
              </a:tr>
              <a:tr h="69709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rf_wd_sel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1615139"/>
                  </a:ext>
                </a:extLst>
              </a:tr>
              <a:tr h="69709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alu_control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 rowSpan="2" grid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ADD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DDEBF7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2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3795865"/>
                  </a:ext>
                </a:extLst>
              </a:tr>
              <a:tr h="69709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[b_taken,ALU_ctrl]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altLang="ko-KR" sz="2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1574353"/>
                  </a:ext>
                </a:extLst>
              </a:tr>
              <a:tr h="69709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b_src_sel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6815585"/>
                  </a:ext>
                </a:extLst>
              </a:tr>
              <a:tr h="69709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branch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7376960"/>
                  </a:ext>
                </a:extLst>
              </a:tr>
              <a:tr h="69709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o_funct3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5089613"/>
                  </a:ext>
                </a:extLst>
              </a:tr>
              <a:tr h="69709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dwe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9459151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0DD532A4-C100-8167-9769-93A1F9B3A0DE}"/>
              </a:ext>
            </a:extLst>
          </p:cNvPr>
          <p:cNvSpPr txBox="1"/>
          <p:nvPr/>
        </p:nvSpPr>
        <p:spPr>
          <a:xfrm>
            <a:off x="3283640" y="9525000"/>
            <a:ext cx="217484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highlight>
                  <a:srgbClr val="FFFF00"/>
                </a:highlight>
              </a:rPr>
              <a:t>PC+4</a:t>
            </a:r>
            <a:endParaRPr lang="ko-KR" altLang="en-US" sz="4400" b="1" dirty="0">
              <a:highlight>
                <a:srgbClr val="FFFF00"/>
              </a:highlight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AE7EAA-3DB3-F6FC-003C-79E109B72CEA}"/>
              </a:ext>
            </a:extLst>
          </p:cNvPr>
          <p:cNvSpPr txBox="1"/>
          <p:nvPr/>
        </p:nvSpPr>
        <p:spPr>
          <a:xfrm>
            <a:off x="5638800" y="4185901"/>
            <a:ext cx="1066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highlight>
                  <a:srgbClr val="FFFF00"/>
                </a:highlight>
              </a:rPr>
              <a:t>1</a:t>
            </a:r>
            <a:endParaRPr lang="ko-KR" altLang="en-US" sz="4400" b="1" dirty="0">
              <a:highlight>
                <a:srgbClr val="FFFF00"/>
              </a:highlight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926FB91-0942-1503-39A7-5BF2A64CF0A0}"/>
              </a:ext>
            </a:extLst>
          </p:cNvPr>
          <p:cNvSpPr txBox="1"/>
          <p:nvPr/>
        </p:nvSpPr>
        <p:spPr>
          <a:xfrm>
            <a:off x="10439400" y="4419600"/>
            <a:ext cx="21336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highlight>
                  <a:srgbClr val="FFFF00"/>
                </a:highlight>
              </a:rPr>
              <a:t>2 or 3</a:t>
            </a:r>
            <a:endParaRPr lang="ko-KR" altLang="en-US" sz="4400" b="1" dirty="0">
              <a:highlight>
                <a:srgbClr val="FFFF00"/>
              </a:highlight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82AFA2B-9B6E-EA38-B036-44DB529BA6AE}"/>
              </a:ext>
            </a:extLst>
          </p:cNvPr>
          <p:cNvSpPr txBox="1"/>
          <p:nvPr/>
        </p:nvSpPr>
        <p:spPr>
          <a:xfrm>
            <a:off x="6172200" y="8510035"/>
            <a:ext cx="35814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b="1" dirty="0">
                <a:highlight>
                  <a:srgbClr val="FFFF00"/>
                </a:highlight>
              </a:rPr>
              <a:t>PC + </a:t>
            </a:r>
            <a:r>
              <a:rPr lang="en-US" altLang="ko-KR" sz="3200" b="1" dirty="0" err="1">
                <a:highlight>
                  <a:srgbClr val="FFFF00"/>
                </a:highlight>
              </a:rPr>
              <a:t>imm</a:t>
            </a:r>
            <a:r>
              <a:rPr lang="en-US" altLang="ko-KR" sz="3200" b="1" dirty="0">
                <a:highlight>
                  <a:srgbClr val="FFFF00"/>
                </a:highlight>
              </a:rPr>
              <a:t> or </a:t>
            </a:r>
            <a:r>
              <a:rPr lang="en-US" altLang="ko-KR" sz="3200" b="1" dirty="0" err="1">
                <a:highlight>
                  <a:srgbClr val="FFFF00"/>
                </a:highlight>
              </a:rPr>
              <a:t>imm</a:t>
            </a:r>
            <a:r>
              <a:rPr lang="ko-KR" altLang="en-US" sz="3200" b="1" dirty="0">
                <a:highlight>
                  <a:srgbClr val="FFFF00"/>
                </a:highlight>
              </a:rPr>
              <a:t> </a:t>
            </a:r>
            <a:endParaRPr lang="en-US" altLang="ko-KR" sz="3200" b="1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338388573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F7ED1D-41B2-5D87-5C05-811E9451BA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8">
            <a:extLst>
              <a:ext uri="{FF2B5EF4-FFF2-40B4-BE49-F238E27FC236}">
                <a16:creationId xmlns:a16="http://schemas.microsoft.com/office/drawing/2014/main" id="{F324235F-CFB3-9E39-362E-07CD31A9927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 flipV="1">
            <a:off x="1045570" y="2059190"/>
            <a:ext cx="21814430" cy="45719"/>
          </a:xfrm>
          <a:prstGeom prst="rect">
            <a:avLst/>
          </a:prstGeom>
        </p:spPr>
      </p:pic>
      <p:sp>
        <p:nvSpPr>
          <p:cNvPr id="4" name="TextBox 10">
            <a:extLst>
              <a:ext uri="{FF2B5EF4-FFF2-40B4-BE49-F238E27FC236}">
                <a16:creationId xmlns:a16="http://schemas.microsoft.com/office/drawing/2014/main" id="{2AD5FE83-9DFB-C8B9-277E-D282DF1FC642}"/>
              </a:ext>
            </a:extLst>
          </p:cNvPr>
          <p:cNvSpPr txBox="1"/>
          <p:nvPr/>
        </p:nvSpPr>
        <p:spPr>
          <a:xfrm>
            <a:off x="1295400" y="609600"/>
            <a:ext cx="18897600" cy="1181100"/>
          </a:xfrm>
          <a:prstGeom prst="rect">
            <a:avLst/>
          </a:prstGeom>
        </p:spPr>
        <p:txBody>
          <a:bodyPr lIns="0" tIns="0" rIns="0" bIns="0" anchor="t"/>
          <a:lstStyle/>
          <a:p>
            <a:pPr lvl="0">
              <a:lnSpc>
                <a:spcPct val="116199"/>
              </a:lnSpc>
              <a:defRPr/>
            </a:pPr>
            <a:r>
              <a:rPr lang="en-US" altLang="ko-KR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3. Type </a:t>
            </a:r>
            <a:r>
              <a:rPr lang="ko-KR" altLang="en-US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별 동작 방식</a:t>
            </a:r>
            <a:r>
              <a:rPr lang="en-US" altLang="ko-KR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(U-type)</a:t>
            </a:r>
            <a:r>
              <a:rPr lang="ko-KR" altLang="en-US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D64BB57-C751-669A-2505-0C1C4E3ED717}"/>
              </a:ext>
            </a:extLst>
          </p:cNvPr>
          <p:cNvSpPr txBox="1"/>
          <p:nvPr/>
        </p:nvSpPr>
        <p:spPr>
          <a:xfrm>
            <a:off x="1305339" y="2426274"/>
            <a:ext cx="540026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400" dirty="0"/>
              <a:t>• simulation(</a:t>
            </a:r>
            <a:r>
              <a:rPr lang="ko-KR" altLang="en-US" sz="4400" dirty="0"/>
              <a:t>시나리오</a:t>
            </a:r>
            <a:r>
              <a:rPr lang="en-US" altLang="ko-KR" sz="44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41893872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90CDAE-49E8-D07D-64B4-439A9F341E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8">
            <a:extLst>
              <a:ext uri="{FF2B5EF4-FFF2-40B4-BE49-F238E27FC236}">
                <a16:creationId xmlns:a16="http://schemas.microsoft.com/office/drawing/2014/main" id="{BA5BFB16-77EA-E9AB-4B17-A8243E32E71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 flipV="1">
            <a:off x="1045570" y="2059190"/>
            <a:ext cx="21814430" cy="45719"/>
          </a:xfrm>
          <a:prstGeom prst="rect">
            <a:avLst/>
          </a:prstGeom>
        </p:spPr>
      </p:pic>
      <p:sp>
        <p:nvSpPr>
          <p:cNvPr id="4" name="TextBox 10">
            <a:extLst>
              <a:ext uri="{FF2B5EF4-FFF2-40B4-BE49-F238E27FC236}">
                <a16:creationId xmlns:a16="http://schemas.microsoft.com/office/drawing/2014/main" id="{476057DB-8186-1DC6-EDA9-104CBB1ACB75}"/>
              </a:ext>
            </a:extLst>
          </p:cNvPr>
          <p:cNvSpPr txBox="1"/>
          <p:nvPr/>
        </p:nvSpPr>
        <p:spPr>
          <a:xfrm>
            <a:off x="1295400" y="609600"/>
            <a:ext cx="18897600" cy="1181100"/>
          </a:xfrm>
          <a:prstGeom prst="rect">
            <a:avLst/>
          </a:prstGeom>
        </p:spPr>
        <p:txBody>
          <a:bodyPr lIns="0" tIns="0" rIns="0" bIns="0" anchor="t"/>
          <a:lstStyle/>
          <a:p>
            <a:pPr lvl="0">
              <a:lnSpc>
                <a:spcPct val="116199"/>
              </a:lnSpc>
              <a:defRPr/>
            </a:pPr>
            <a:r>
              <a:rPr lang="en-US" altLang="ko-KR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3. Type </a:t>
            </a:r>
            <a:r>
              <a:rPr lang="ko-KR" altLang="en-US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별 동작 방식</a:t>
            </a:r>
            <a:r>
              <a:rPr lang="en-US" altLang="ko-KR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(U-type)</a:t>
            </a:r>
            <a:r>
              <a:rPr lang="ko-KR" altLang="en-US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9F34105-4A6D-6FC5-02D6-222AC7B9CF82}"/>
              </a:ext>
            </a:extLst>
          </p:cNvPr>
          <p:cNvSpPr txBox="1"/>
          <p:nvPr/>
        </p:nvSpPr>
        <p:spPr>
          <a:xfrm>
            <a:off x="1305339" y="2426274"/>
            <a:ext cx="540026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400" dirty="0"/>
              <a:t>• simulation</a:t>
            </a:r>
          </a:p>
        </p:txBody>
      </p:sp>
    </p:spTree>
    <p:extLst>
      <p:ext uri="{BB962C8B-B14F-4D97-AF65-F5344CB8AC3E}">
        <p14:creationId xmlns:p14="http://schemas.microsoft.com/office/powerpoint/2010/main" val="47215632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9147E1-72DB-D61D-F642-9B4BFA9B4E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그림 22">
            <a:extLst>
              <a:ext uri="{FF2B5EF4-FFF2-40B4-BE49-F238E27FC236}">
                <a16:creationId xmlns:a16="http://schemas.microsoft.com/office/drawing/2014/main" id="{9981613B-D86E-25DF-3F78-F826D1F621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4978" y="2716878"/>
            <a:ext cx="10821022" cy="9340733"/>
          </a:xfrm>
          <a:prstGeom prst="rect">
            <a:avLst/>
          </a:prstGeom>
        </p:spPr>
      </p:pic>
      <p:pic>
        <p:nvPicPr>
          <p:cNvPr id="3" name="Picture 8">
            <a:extLst>
              <a:ext uri="{FF2B5EF4-FFF2-40B4-BE49-F238E27FC236}">
                <a16:creationId xmlns:a16="http://schemas.microsoft.com/office/drawing/2014/main" id="{88E14FEC-83CE-ADC9-FE80-D2A531153A9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 flipV="1">
            <a:off x="1045570" y="2059190"/>
            <a:ext cx="21814430" cy="45719"/>
          </a:xfrm>
          <a:prstGeom prst="rect">
            <a:avLst/>
          </a:prstGeom>
        </p:spPr>
      </p:pic>
      <p:sp>
        <p:nvSpPr>
          <p:cNvPr id="4" name="TextBox 10">
            <a:extLst>
              <a:ext uri="{FF2B5EF4-FFF2-40B4-BE49-F238E27FC236}">
                <a16:creationId xmlns:a16="http://schemas.microsoft.com/office/drawing/2014/main" id="{979ABB00-31EC-E677-DE0F-62290CBC5D6C}"/>
              </a:ext>
            </a:extLst>
          </p:cNvPr>
          <p:cNvSpPr txBox="1"/>
          <p:nvPr/>
        </p:nvSpPr>
        <p:spPr>
          <a:xfrm>
            <a:off x="1295400" y="609600"/>
            <a:ext cx="18897600" cy="1181100"/>
          </a:xfrm>
          <a:prstGeom prst="rect">
            <a:avLst/>
          </a:prstGeom>
        </p:spPr>
        <p:txBody>
          <a:bodyPr lIns="0" tIns="0" rIns="0" bIns="0" anchor="t"/>
          <a:lstStyle/>
          <a:p>
            <a:pPr lvl="0">
              <a:lnSpc>
                <a:spcPct val="116199"/>
              </a:lnSpc>
              <a:defRPr/>
            </a:pPr>
            <a:r>
              <a:rPr lang="en-US" altLang="ko-KR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3. Type </a:t>
            </a:r>
            <a:r>
              <a:rPr lang="ko-KR" altLang="en-US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별 동작 방식</a:t>
            </a:r>
            <a:r>
              <a:rPr lang="en-US" altLang="ko-KR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(J-type)</a:t>
            </a:r>
            <a:r>
              <a:rPr lang="ko-KR" altLang="en-US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703935F-3B75-453B-DEA3-C1CEF53E56A4}"/>
              </a:ext>
            </a:extLst>
          </p:cNvPr>
          <p:cNvSpPr txBox="1"/>
          <p:nvPr/>
        </p:nvSpPr>
        <p:spPr>
          <a:xfrm>
            <a:off x="1305339" y="2426274"/>
            <a:ext cx="540026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400" dirty="0"/>
              <a:t>• </a:t>
            </a:r>
            <a:r>
              <a:rPr lang="en-US" altLang="ko-KR" sz="4400" dirty="0" err="1"/>
              <a:t>DataFolw</a:t>
            </a:r>
            <a:endParaRPr lang="en-US" altLang="ko-KR" sz="4400" dirty="0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5FF2F97A-659C-9518-2E0B-78C57C1201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5555710"/>
              </p:ext>
            </p:extLst>
          </p:nvPr>
        </p:nvGraphicFramePr>
        <p:xfrm>
          <a:off x="1437185" y="12185450"/>
          <a:ext cx="21031199" cy="57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04457">
                  <a:extLst>
                    <a:ext uri="{9D8B030D-6E8A-4147-A177-3AD203B41FA5}">
                      <a16:colId xmlns:a16="http://schemas.microsoft.com/office/drawing/2014/main" val="4932414"/>
                    </a:ext>
                  </a:extLst>
                </a:gridCol>
                <a:gridCol w="12017828">
                  <a:extLst>
                    <a:ext uri="{9D8B030D-6E8A-4147-A177-3AD203B41FA5}">
                      <a16:colId xmlns:a16="http://schemas.microsoft.com/office/drawing/2014/main" val="4289750731"/>
                    </a:ext>
                  </a:extLst>
                </a:gridCol>
                <a:gridCol w="3004457">
                  <a:extLst>
                    <a:ext uri="{9D8B030D-6E8A-4147-A177-3AD203B41FA5}">
                      <a16:colId xmlns:a16="http://schemas.microsoft.com/office/drawing/2014/main" val="989108138"/>
                    </a:ext>
                  </a:extLst>
                </a:gridCol>
                <a:gridCol w="3004457">
                  <a:extLst>
                    <a:ext uri="{9D8B030D-6E8A-4147-A177-3AD203B41FA5}">
                      <a16:colId xmlns:a16="http://schemas.microsoft.com/office/drawing/2014/main" val="1997596351"/>
                    </a:ext>
                  </a:extLst>
                </a:gridCol>
              </a:tblGrid>
              <a:tr h="42903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3200" dirty="0">
                          <a:solidFill>
                            <a:schemeClr val="tx1"/>
                          </a:solidFill>
                        </a:rPr>
                        <a:t>명령어</a:t>
                      </a:r>
                      <a:r>
                        <a:rPr lang="en-US" altLang="ko-KR" sz="3200" dirty="0">
                          <a:solidFill>
                            <a:schemeClr val="tx1"/>
                          </a:solidFill>
                        </a:rPr>
                        <a:t>:</a:t>
                      </a:r>
                      <a:endParaRPr lang="ko-KR" altLang="en-US" sz="3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Imm[20,10:1,11,19:12]</a:t>
                      </a:r>
                      <a:endParaRPr lang="ko-KR" altLang="en-US" sz="3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Rd</a:t>
                      </a:r>
                      <a:endParaRPr lang="ko-KR" altLang="en-US" sz="3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OPCODE(JAL)</a:t>
                      </a:r>
                      <a:endParaRPr lang="ko-KR" altLang="en-US" sz="3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59916584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87F5A15A-9171-3C01-C3C2-9CF2C82F186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2033979"/>
              </p:ext>
            </p:extLst>
          </p:nvPr>
        </p:nvGraphicFramePr>
        <p:xfrm>
          <a:off x="15773400" y="3096197"/>
          <a:ext cx="6553200" cy="8104591"/>
        </p:xfrm>
        <a:graphic>
          <a:graphicData uri="http://schemas.openxmlformats.org/drawingml/2006/table">
            <a:tbl>
              <a:tblPr/>
              <a:tblGrid>
                <a:gridCol w="3276600">
                  <a:extLst>
                    <a:ext uri="{9D8B030D-6E8A-4147-A177-3AD203B41FA5}">
                      <a16:colId xmlns:a16="http://schemas.microsoft.com/office/drawing/2014/main" val="3020696417"/>
                    </a:ext>
                  </a:extLst>
                </a:gridCol>
                <a:gridCol w="1638300">
                  <a:extLst>
                    <a:ext uri="{9D8B030D-6E8A-4147-A177-3AD203B41FA5}">
                      <a16:colId xmlns:a16="http://schemas.microsoft.com/office/drawing/2014/main" val="1640973055"/>
                    </a:ext>
                  </a:extLst>
                </a:gridCol>
                <a:gridCol w="1638300">
                  <a:extLst>
                    <a:ext uri="{9D8B030D-6E8A-4147-A177-3AD203B41FA5}">
                      <a16:colId xmlns:a16="http://schemas.microsoft.com/office/drawing/2014/main" val="698214118"/>
                    </a:ext>
                  </a:extLst>
                </a:gridCol>
              </a:tblGrid>
              <a:tr h="736781">
                <a:tc gridSpan="3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control_unit</a:t>
                      </a:r>
                      <a:endParaRPr lang="en-US" sz="2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1617612"/>
                  </a:ext>
                </a:extLst>
              </a:tr>
              <a:tr h="73678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OUTPUT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JAL_type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JALR_type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9870897"/>
                  </a:ext>
                </a:extLst>
              </a:tr>
              <a:tr h="73678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rf_we</a:t>
                      </a:r>
                      <a:endParaRPr lang="en-US" sz="2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9613752"/>
                  </a:ext>
                </a:extLst>
              </a:tr>
              <a:tr h="73678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alu_src_sel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6223792"/>
                  </a:ext>
                </a:extLst>
              </a:tr>
              <a:tr h="73678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rf_wd_sel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9803162"/>
                  </a:ext>
                </a:extLst>
              </a:tr>
              <a:tr h="73678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alu_control</a:t>
                      </a:r>
                      <a:endParaRPr lang="en-US" sz="2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 rowSpan="2" grid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ALU:ADD</a:t>
                      </a:r>
                    </a:p>
                    <a:p>
                      <a:pPr algn="ctr" fontAlgn="ctr">
                        <a:buNone/>
                      </a:pPr>
                      <a:r>
                        <a:rPr lang="en-US" altLang="ko-KR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B_taken:1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8501130"/>
                  </a:ext>
                </a:extLst>
              </a:tr>
              <a:tr h="73678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[</a:t>
                      </a:r>
                      <a:r>
                        <a:rPr lang="en-US" sz="2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b_taken,ALU_ctrl</a:t>
                      </a:r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]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 gridSpan="2" vMerge="1">
                  <a:txBody>
                    <a:bodyPr/>
                    <a:lstStyle/>
                    <a:p>
                      <a:endParaRPr/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 dirty="0"/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247091"/>
                  </a:ext>
                </a:extLst>
              </a:tr>
              <a:tr h="73678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b_src_sel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8317626"/>
                  </a:ext>
                </a:extLst>
              </a:tr>
              <a:tr h="73678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branch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8553202"/>
                  </a:ext>
                </a:extLst>
              </a:tr>
              <a:tr h="73678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o_funct3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4296044"/>
                  </a:ext>
                </a:extLst>
              </a:tr>
              <a:tr h="73678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dwe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2399670"/>
                  </a:ext>
                </a:extLst>
              </a:tr>
            </a:tbl>
          </a:graphicData>
        </a:graphic>
      </p:graphicFrame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A43700CA-E651-5F11-8B4A-D7F99DECFB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1120488"/>
              </p:ext>
            </p:extLst>
          </p:nvPr>
        </p:nvGraphicFramePr>
        <p:xfrm>
          <a:off x="1437185" y="12816840"/>
          <a:ext cx="21031199" cy="57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04457">
                  <a:extLst>
                    <a:ext uri="{9D8B030D-6E8A-4147-A177-3AD203B41FA5}">
                      <a16:colId xmlns:a16="http://schemas.microsoft.com/office/drawing/2014/main" val="4932414"/>
                    </a:ext>
                  </a:extLst>
                </a:gridCol>
                <a:gridCol w="6008914">
                  <a:extLst>
                    <a:ext uri="{9D8B030D-6E8A-4147-A177-3AD203B41FA5}">
                      <a16:colId xmlns:a16="http://schemas.microsoft.com/office/drawing/2014/main" val="4289750731"/>
                    </a:ext>
                  </a:extLst>
                </a:gridCol>
                <a:gridCol w="3004457">
                  <a:extLst>
                    <a:ext uri="{9D8B030D-6E8A-4147-A177-3AD203B41FA5}">
                      <a16:colId xmlns:a16="http://schemas.microsoft.com/office/drawing/2014/main" val="361441780"/>
                    </a:ext>
                  </a:extLst>
                </a:gridCol>
                <a:gridCol w="3004457">
                  <a:extLst>
                    <a:ext uri="{9D8B030D-6E8A-4147-A177-3AD203B41FA5}">
                      <a16:colId xmlns:a16="http://schemas.microsoft.com/office/drawing/2014/main" val="2482639015"/>
                    </a:ext>
                  </a:extLst>
                </a:gridCol>
                <a:gridCol w="3004457">
                  <a:extLst>
                    <a:ext uri="{9D8B030D-6E8A-4147-A177-3AD203B41FA5}">
                      <a16:colId xmlns:a16="http://schemas.microsoft.com/office/drawing/2014/main" val="989108138"/>
                    </a:ext>
                  </a:extLst>
                </a:gridCol>
                <a:gridCol w="3004457">
                  <a:extLst>
                    <a:ext uri="{9D8B030D-6E8A-4147-A177-3AD203B41FA5}">
                      <a16:colId xmlns:a16="http://schemas.microsoft.com/office/drawing/2014/main" val="1997596351"/>
                    </a:ext>
                  </a:extLst>
                </a:gridCol>
              </a:tblGrid>
              <a:tr h="42903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3200" dirty="0">
                          <a:solidFill>
                            <a:schemeClr val="tx1"/>
                          </a:solidFill>
                        </a:rPr>
                        <a:t>명령어</a:t>
                      </a:r>
                      <a:r>
                        <a:rPr lang="en-US" altLang="ko-KR" sz="3200" dirty="0">
                          <a:solidFill>
                            <a:schemeClr val="tx1"/>
                          </a:solidFill>
                        </a:rPr>
                        <a:t>:</a:t>
                      </a:r>
                      <a:endParaRPr lang="ko-KR" altLang="en-US" sz="3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Imm[11:0]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rs1</a:t>
                      </a:r>
                      <a:endParaRPr lang="ko-KR" altLang="en-US" sz="3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funct3</a:t>
                      </a:r>
                      <a:endParaRPr lang="ko-KR" altLang="en-US" sz="3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Rd</a:t>
                      </a:r>
                      <a:endParaRPr lang="ko-KR" altLang="en-US" sz="3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OPCODE(JALR)</a:t>
                      </a:r>
                      <a:endParaRPr lang="ko-KR" altLang="en-US" sz="3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59916584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C86EA8CC-AD4E-2291-593F-03D3533FB09A}"/>
              </a:ext>
            </a:extLst>
          </p:cNvPr>
          <p:cNvSpPr txBox="1"/>
          <p:nvPr/>
        </p:nvSpPr>
        <p:spPr>
          <a:xfrm>
            <a:off x="3062337" y="9063375"/>
            <a:ext cx="308924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b="1" dirty="0">
                <a:highlight>
                  <a:srgbClr val="FFFF00"/>
                </a:highlight>
              </a:rPr>
              <a:t>Rs1 + </a:t>
            </a:r>
            <a:r>
              <a:rPr lang="en-US" altLang="ko-KR" sz="3200" b="1" dirty="0" err="1">
                <a:highlight>
                  <a:srgbClr val="FFFF00"/>
                </a:highlight>
              </a:rPr>
              <a:t>imm</a:t>
            </a:r>
            <a:r>
              <a:rPr lang="en-US" altLang="ko-KR" sz="3200" b="1" dirty="0">
                <a:highlight>
                  <a:srgbClr val="FFFF00"/>
                </a:highlight>
              </a:rPr>
              <a:t>,</a:t>
            </a:r>
          </a:p>
          <a:p>
            <a:pPr algn="ctr"/>
            <a:r>
              <a:rPr lang="en-US" altLang="ko-KR" sz="3200" b="1" dirty="0">
                <a:highlight>
                  <a:srgbClr val="FFFF00"/>
                </a:highlight>
              </a:rPr>
              <a:t>PC +</a:t>
            </a:r>
            <a:r>
              <a:rPr lang="en-US" altLang="ko-KR" sz="3200" b="1" dirty="0" err="1">
                <a:highlight>
                  <a:srgbClr val="FFFF00"/>
                </a:highlight>
              </a:rPr>
              <a:t>imm</a:t>
            </a:r>
            <a:endParaRPr lang="ko-KR" altLang="en-US" sz="3200" b="1" dirty="0">
              <a:highlight>
                <a:srgbClr val="FFFF00"/>
              </a:highlight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B9B7A68-5C06-76ED-5BDB-24920968E6EB}"/>
              </a:ext>
            </a:extLst>
          </p:cNvPr>
          <p:cNvSpPr txBox="1"/>
          <p:nvPr/>
        </p:nvSpPr>
        <p:spPr>
          <a:xfrm>
            <a:off x="5555231" y="8202295"/>
            <a:ext cx="308924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b="1" dirty="0">
                <a:highlight>
                  <a:srgbClr val="FFFF00"/>
                </a:highlight>
              </a:rPr>
              <a:t>PC + 4</a:t>
            </a:r>
            <a:endParaRPr lang="ko-KR" altLang="en-US" sz="3200" b="1" dirty="0">
              <a:highlight>
                <a:srgbClr val="FFFF00"/>
              </a:highlight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758A01D-0E5D-15DE-C0B6-53BF8E02851D}"/>
              </a:ext>
            </a:extLst>
          </p:cNvPr>
          <p:cNvSpPr txBox="1"/>
          <p:nvPr/>
        </p:nvSpPr>
        <p:spPr>
          <a:xfrm>
            <a:off x="5483387" y="4391303"/>
            <a:ext cx="110804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b="1" dirty="0">
                <a:highlight>
                  <a:srgbClr val="FFFF00"/>
                </a:highlight>
              </a:rPr>
              <a:t>1</a:t>
            </a:r>
            <a:endParaRPr lang="ko-KR" altLang="en-US" sz="3200" b="1" dirty="0">
              <a:highlight>
                <a:srgbClr val="FFFF00"/>
              </a:highlight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978BDF0-D2F2-3167-AB86-6FB9AB6F6E01}"/>
              </a:ext>
            </a:extLst>
          </p:cNvPr>
          <p:cNvSpPr txBox="1"/>
          <p:nvPr/>
        </p:nvSpPr>
        <p:spPr>
          <a:xfrm>
            <a:off x="7160304" y="4373483"/>
            <a:ext cx="110804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b="1" dirty="0">
                <a:highlight>
                  <a:srgbClr val="FFFF00"/>
                </a:highlight>
              </a:rPr>
              <a:t>ADD</a:t>
            </a:r>
            <a:endParaRPr lang="ko-KR" altLang="en-US" sz="3200" b="1" dirty="0">
              <a:highlight>
                <a:srgbClr val="FFFF00"/>
              </a:highlight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F71B4-1D87-8C75-AA05-36432E9C7843}"/>
              </a:ext>
            </a:extLst>
          </p:cNvPr>
          <p:cNvSpPr txBox="1"/>
          <p:nvPr/>
        </p:nvSpPr>
        <p:spPr>
          <a:xfrm>
            <a:off x="10473092" y="4358381"/>
            <a:ext cx="110804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b="1" dirty="0">
                <a:highlight>
                  <a:srgbClr val="FFFF00"/>
                </a:highlight>
              </a:rPr>
              <a:t>4</a:t>
            </a:r>
            <a:endParaRPr lang="ko-KR" altLang="en-US" sz="3200" b="1" dirty="0">
              <a:highlight>
                <a:srgbClr val="FFFF00"/>
              </a:highlight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F641013-82DE-107E-0308-1A933CD53CE0}"/>
              </a:ext>
            </a:extLst>
          </p:cNvPr>
          <p:cNvSpPr txBox="1"/>
          <p:nvPr/>
        </p:nvSpPr>
        <p:spPr>
          <a:xfrm>
            <a:off x="8082950" y="4365973"/>
            <a:ext cx="110804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b="1" dirty="0">
                <a:highlight>
                  <a:srgbClr val="FFFF00"/>
                </a:highlight>
              </a:rPr>
              <a:t>1</a:t>
            </a:r>
            <a:endParaRPr lang="ko-KR" altLang="en-US" sz="3200" b="1" dirty="0">
              <a:highlight>
                <a:srgbClr val="FFFF00"/>
              </a:highlight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4A099C4-D3F8-6BBA-89C1-3F7991AF5D50}"/>
              </a:ext>
            </a:extLst>
          </p:cNvPr>
          <p:cNvSpPr txBox="1"/>
          <p:nvPr/>
        </p:nvSpPr>
        <p:spPr>
          <a:xfrm>
            <a:off x="9265663" y="4578869"/>
            <a:ext cx="133503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b="1" dirty="0">
                <a:highlight>
                  <a:srgbClr val="FFFF00"/>
                </a:highlight>
              </a:rPr>
              <a:t>0 or 1</a:t>
            </a:r>
            <a:endParaRPr lang="ko-KR" altLang="en-US" sz="3200" b="1" dirty="0">
              <a:highlight>
                <a:srgbClr val="FFFF00"/>
              </a:highlight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785259B-5DED-4A09-9E15-81A70AE40916}"/>
              </a:ext>
            </a:extLst>
          </p:cNvPr>
          <p:cNvSpPr txBox="1"/>
          <p:nvPr/>
        </p:nvSpPr>
        <p:spPr>
          <a:xfrm>
            <a:off x="7391400" y="8925722"/>
            <a:ext cx="110804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b="1" dirty="0">
                <a:highlight>
                  <a:srgbClr val="FFFF00"/>
                </a:highlight>
              </a:rPr>
              <a:t>1</a:t>
            </a:r>
            <a:endParaRPr lang="ko-KR" altLang="en-US" sz="3200" b="1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189436547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876164-EAE0-B19B-9F8A-5784DEF433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8">
            <a:extLst>
              <a:ext uri="{FF2B5EF4-FFF2-40B4-BE49-F238E27FC236}">
                <a16:creationId xmlns:a16="http://schemas.microsoft.com/office/drawing/2014/main" id="{E6A110CC-095F-3A48-112C-03E6B47FA3A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 flipV="1">
            <a:off x="1045570" y="2059190"/>
            <a:ext cx="21814430" cy="45719"/>
          </a:xfrm>
          <a:prstGeom prst="rect">
            <a:avLst/>
          </a:prstGeom>
        </p:spPr>
      </p:pic>
      <p:sp>
        <p:nvSpPr>
          <p:cNvPr id="4" name="TextBox 10">
            <a:extLst>
              <a:ext uri="{FF2B5EF4-FFF2-40B4-BE49-F238E27FC236}">
                <a16:creationId xmlns:a16="http://schemas.microsoft.com/office/drawing/2014/main" id="{273859FD-4EBB-97DC-77E4-E99DFAC751BE}"/>
              </a:ext>
            </a:extLst>
          </p:cNvPr>
          <p:cNvSpPr txBox="1"/>
          <p:nvPr/>
        </p:nvSpPr>
        <p:spPr>
          <a:xfrm>
            <a:off x="1295400" y="609600"/>
            <a:ext cx="18897600" cy="1181100"/>
          </a:xfrm>
          <a:prstGeom prst="rect">
            <a:avLst/>
          </a:prstGeom>
        </p:spPr>
        <p:txBody>
          <a:bodyPr lIns="0" tIns="0" rIns="0" bIns="0" anchor="t"/>
          <a:lstStyle/>
          <a:p>
            <a:pPr lvl="0">
              <a:lnSpc>
                <a:spcPct val="116199"/>
              </a:lnSpc>
              <a:defRPr/>
            </a:pPr>
            <a:r>
              <a:rPr lang="en-US" altLang="ko-KR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3. Type </a:t>
            </a:r>
            <a:r>
              <a:rPr lang="ko-KR" altLang="en-US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별 동작 방식</a:t>
            </a:r>
            <a:r>
              <a:rPr lang="en-US" altLang="ko-KR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(J-type)</a:t>
            </a:r>
            <a:r>
              <a:rPr lang="ko-KR" altLang="en-US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EB00C3E-F6B2-7644-508C-C210774C97D1}"/>
              </a:ext>
            </a:extLst>
          </p:cNvPr>
          <p:cNvSpPr txBox="1"/>
          <p:nvPr/>
        </p:nvSpPr>
        <p:spPr>
          <a:xfrm>
            <a:off x="1305339" y="2426274"/>
            <a:ext cx="540026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400" dirty="0"/>
              <a:t>• simulation(</a:t>
            </a:r>
            <a:r>
              <a:rPr lang="ko-KR" altLang="en-US" sz="4400" dirty="0"/>
              <a:t>시나리오</a:t>
            </a:r>
            <a:r>
              <a:rPr lang="en-US" altLang="ko-KR" sz="44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11397558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E3520F-B8C0-8AE0-79F6-2963519F3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8">
            <a:extLst>
              <a:ext uri="{FF2B5EF4-FFF2-40B4-BE49-F238E27FC236}">
                <a16:creationId xmlns:a16="http://schemas.microsoft.com/office/drawing/2014/main" id="{971073C2-B06F-BC80-4ACF-FA7836619ED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 flipV="1">
            <a:off x="1045570" y="2059190"/>
            <a:ext cx="21814430" cy="45719"/>
          </a:xfrm>
          <a:prstGeom prst="rect">
            <a:avLst/>
          </a:prstGeom>
        </p:spPr>
      </p:pic>
      <p:sp>
        <p:nvSpPr>
          <p:cNvPr id="4" name="TextBox 10">
            <a:extLst>
              <a:ext uri="{FF2B5EF4-FFF2-40B4-BE49-F238E27FC236}">
                <a16:creationId xmlns:a16="http://schemas.microsoft.com/office/drawing/2014/main" id="{7BAF71DB-A399-2F10-16F4-1F2D6BD775E7}"/>
              </a:ext>
            </a:extLst>
          </p:cNvPr>
          <p:cNvSpPr txBox="1"/>
          <p:nvPr/>
        </p:nvSpPr>
        <p:spPr>
          <a:xfrm>
            <a:off x="1295400" y="609600"/>
            <a:ext cx="18897600" cy="1181100"/>
          </a:xfrm>
          <a:prstGeom prst="rect">
            <a:avLst/>
          </a:prstGeom>
        </p:spPr>
        <p:txBody>
          <a:bodyPr lIns="0" tIns="0" rIns="0" bIns="0" anchor="t"/>
          <a:lstStyle/>
          <a:p>
            <a:pPr lvl="0">
              <a:lnSpc>
                <a:spcPct val="116199"/>
              </a:lnSpc>
              <a:defRPr/>
            </a:pPr>
            <a:r>
              <a:rPr lang="en-US" altLang="ko-KR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3. Type </a:t>
            </a:r>
            <a:r>
              <a:rPr lang="ko-KR" altLang="en-US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별 동작 방식</a:t>
            </a:r>
            <a:r>
              <a:rPr lang="en-US" altLang="ko-KR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(J-type)</a:t>
            </a:r>
            <a:r>
              <a:rPr lang="ko-KR" altLang="en-US" sz="9600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1EDC121-26F8-ED24-E9FB-CF82257CEDFE}"/>
              </a:ext>
            </a:extLst>
          </p:cNvPr>
          <p:cNvSpPr txBox="1"/>
          <p:nvPr/>
        </p:nvSpPr>
        <p:spPr>
          <a:xfrm>
            <a:off x="1305339" y="2426274"/>
            <a:ext cx="540026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400" dirty="0"/>
              <a:t>• simulation</a:t>
            </a:r>
          </a:p>
        </p:txBody>
      </p:sp>
    </p:spTree>
    <p:extLst>
      <p:ext uri="{BB962C8B-B14F-4D97-AF65-F5344CB8AC3E}">
        <p14:creationId xmlns:p14="http://schemas.microsoft.com/office/powerpoint/2010/main" val="42499024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1196</TotalTime>
  <Words>2399</Words>
  <Application>Microsoft Office PowerPoint</Application>
  <PresentationFormat>사용자 지정</PresentationFormat>
  <Paragraphs>1019</Paragraphs>
  <Slides>43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43</vt:i4>
      </vt:variant>
    </vt:vector>
  </HeadingPairs>
  <TitlesOfParts>
    <vt:vector size="50" baseType="lpstr">
      <vt:lpstr>Pretendard Bold</vt:lpstr>
      <vt:lpstr>Pretendard Regular</vt:lpstr>
      <vt:lpstr>Pretendard SemiBold</vt:lpstr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cp:lastModifiedBy>준형 이</cp:lastModifiedBy>
  <cp:revision>170</cp:revision>
  <dcterms:created xsi:type="dcterms:W3CDTF">2006-08-16T00:00:00Z</dcterms:created>
  <dcterms:modified xsi:type="dcterms:W3CDTF">2026-03-15T14:13:19Z</dcterms:modified>
  <cp:version/>
</cp:coreProperties>
</file>