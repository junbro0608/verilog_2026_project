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95" r:id="rId4"/>
    <p:sldId id="296" r:id="rId5"/>
    <p:sldId id="293" r:id="rId6"/>
    <p:sldId id="297" r:id="rId7"/>
    <p:sldId id="350" r:id="rId8"/>
    <p:sldId id="298" r:id="rId9"/>
    <p:sldId id="310" r:id="rId10"/>
    <p:sldId id="304" r:id="rId11"/>
    <p:sldId id="323" r:id="rId12"/>
    <p:sldId id="319" r:id="rId13"/>
    <p:sldId id="320" r:id="rId14"/>
    <p:sldId id="351" r:id="rId15"/>
    <p:sldId id="299" r:id="rId16"/>
    <p:sldId id="326" r:id="rId17"/>
    <p:sldId id="305" r:id="rId18"/>
    <p:sldId id="311" r:id="rId19"/>
    <p:sldId id="324" r:id="rId20"/>
    <p:sldId id="321" r:id="rId21"/>
    <p:sldId id="325" r:id="rId22"/>
    <p:sldId id="322" r:id="rId23"/>
    <p:sldId id="368" r:id="rId24"/>
    <p:sldId id="300" r:id="rId25"/>
    <p:sldId id="327" r:id="rId26"/>
    <p:sldId id="306" r:id="rId27"/>
    <p:sldId id="312" r:id="rId28"/>
    <p:sldId id="328" r:id="rId29"/>
    <p:sldId id="330" r:id="rId30"/>
    <p:sldId id="331" r:id="rId31"/>
    <p:sldId id="332" r:id="rId32"/>
    <p:sldId id="333" r:id="rId33"/>
    <p:sldId id="334" r:id="rId34"/>
    <p:sldId id="301" r:id="rId35"/>
    <p:sldId id="369" r:id="rId36"/>
    <p:sldId id="335" r:id="rId37"/>
    <p:sldId id="307" r:id="rId38"/>
    <p:sldId id="313" r:id="rId39"/>
    <p:sldId id="336" r:id="rId40"/>
    <p:sldId id="337" r:id="rId41"/>
    <p:sldId id="338" r:id="rId42"/>
    <p:sldId id="340" r:id="rId43"/>
    <p:sldId id="341" r:id="rId44"/>
    <p:sldId id="316" r:id="rId45"/>
    <p:sldId id="370" r:id="rId46"/>
    <p:sldId id="342" r:id="rId47"/>
    <p:sldId id="317" r:id="rId48"/>
    <p:sldId id="318" r:id="rId49"/>
    <p:sldId id="343" r:id="rId50"/>
    <p:sldId id="344" r:id="rId51"/>
    <p:sldId id="371" r:id="rId52"/>
    <p:sldId id="302" r:id="rId53"/>
    <p:sldId id="308" r:id="rId54"/>
    <p:sldId id="314" r:id="rId55"/>
    <p:sldId id="347" r:id="rId56"/>
    <p:sldId id="303" r:id="rId57"/>
    <p:sldId id="367" r:id="rId58"/>
    <p:sldId id="309" r:id="rId59"/>
    <p:sldId id="315" r:id="rId60"/>
    <p:sldId id="348" r:id="rId61"/>
    <p:sldId id="349" r:id="rId62"/>
    <p:sldId id="345" r:id="rId63"/>
    <p:sldId id="353" r:id="rId64"/>
    <p:sldId id="352" r:id="rId65"/>
    <p:sldId id="355" r:id="rId66"/>
    <p:sldId id="357" r:id="rId67"/>
    <p:sldId id="358" r:id="rId68"/>
    <p:sldId id="360" r:id="rId69"/>
    <p:sldId id="361" r:id="rId70"/>
    <p:sldId id="362" r:id="rId71"/>
    <p:sldId id="364" r:id="rId72"/>
    <p:sldId id="363" r:id="rId73"/>
    <p:sldId id="366" r:id="rId74"/>
    <p:sldId id="365" r:id="rId7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0" autoAdjust="0"/>
    <p:restoredTop sz="94394" autoAdjust="0"/>
  </p:normalViewPr>
  <p:slideViewPr>
    <p:cSldViewPr>
      <p:cViewPr varScale="1">
        <p:scale>
          <a:sx n="78" d="100"/>
          <a:sy n="78" d="100"/>
        </p:scale>
        <p:origin x="570" y="108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28.03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0,'34'34'125,"1"-34"-109,-1 0-1,0 35 32,1-35-47,-1 0 16,0 0 15,1 0 0,-1 0-31,0 0 16,0 0 0,1 0 15,-1 0 0,0 0 47,1 0-62,-1 0 31,0 0-32,1 0-15,-1 0 125,0 0-125,1 0 63,33 0-47,-33 0-16,33 0 15,-33 0-15,-1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29.79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-1 103 0,'34'0'125,"69"0"-125,-69-34 15,35 34 1,-35 0-16,35-35 16,0 1-1,-35 34 1,0 0-1,0 0 1,35 0 0,-35 0-1,1 0 1,33 34 0,-33-34 62,-1 0 0,0 0-63,1 0 17,-1 0-17,0 0 17,1 0-32,-1 0 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33.09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102 1 0,'34'0'78,"0"0"-63,1 0-15,33 0 16,-33 0 0,66 0-16,-66 0 15,33 0-15,-33 0 32,-1 0-32,0 0 31,1 0-31,-1 0 15,0 0 1,1 0-16,-1 0 16,0 0 46,-68 0 235,0 0-297,-1 0 16,1 0-16,-35 0 15,35 0 1,0 0-16,-1 0 16,1 0-1,0 0 1,-1 0 15,2 0 0,-1 0-15,0 0 0,-1 0 46,1 0-46,0 0-1,-1 0 1,1 0 15,0 0 63,-1 0-63,1 0-15,0 0 31,34 35 125,0-1-172,34 0 15,-34 1 1,0-1-1,0 1 1,0 0 15,0-1-31,0 0 16,0 1 0,0-1-1,0 0 1,0 1-16,0-1 31,0 0 47,0 1-62,0 0-16,0-1 15,34 35 17,35-69 265,0 0-297,-1 0 15,1 0-15,-35 0 16,68 0-16,-33 0 15,-35 0-15,0 0 16,1 0-16,-1 0 16,0 0-16,1 0 15,-1 0 1,0 0-16,35 0 16,-35 0-1,35 0 1,-35 0-1,1 0 17,-1 0-17,0 0 1,34 0 187,-34 0-187,35 0-16,-35 0 78,35 0-47,-35 0 32,35 0 30,-35 0-93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37.28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0,'34'0'172,"69"0"-156,0 0-16,0 0 15,0 0-15,-34 0 16,34 0-16,-35 0 16,-33 0-16,33 0 15,-33 0-15,-1 0 16,35 0 0,-35 0-16,0 0 15,35 0-15,0 0 16,-35 0-1,35 0 1,-35 0 0,0 0-1,1 0-15,-1 0 16,35 0-16,-35 0 16,35 0-1,-35 0 16,34 0-15,1 0 0,-35 0-16,1 0 15,33 0 1,-33 0 0,33 0-1,-33 0 1,68 0-1,-69 0-15,35 0 16,-35 0-16,35 0 16,-35 0-16,35 0 15,-35 0 1,35 0-16,-1 0 16,1 0-1,-35 0 1,1 0-16,-1 0 15,35 0 17,-35 0-32,0 0 31,0 0-31,1 0 0,-1 0 16,0 0-1,1 0 1,33 0-16,-33 0 15,-1 0 1,0 0 0,1 0-1,-1 0 1,0 0 0,35 0-1,-35 0 1,1 0-1,-1 0-15,0 0 16,1 0 0,33 0-1,-33 0 17,33 0 202,-33 0-218,33 0-1,-33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0.03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0 103 0,'35'0'125,"-1"0"-125,35 0 0,-35 0 16,35 0-16,-1 0 15,1 0-15,-35 0 16,35 0-16,-35 0 15,1 0 1,-1 0-16,0 0 16,1 0-16,-1 0 15,35 0-15,-1 0 16,-33 0-16,-1 0 16,0 0-16,35 0 15,-35 0-15,0 0 16,1 0-16,-1 0 15,0 0-15,1 0 16,-1 0 0,0 0-16,1 0 15,33 0 1,-33 0-16,-1 0 16,0 0-16,1 0 15,-1 0 1,0 0-16,1 0 15,-1 0 1,0 0 0,1 0-16,33 0 0,1 0 15,-35 0 1,1 0 15,-1 0-31,0 0 16,1 0 15,-1 0-15,0 0-16,1 0 15,33 0 1,-34 0 0,1 0-16,-1-34 15,0 34-15,1 0 31,-1 0 1,0 0-17,1 0-15,-1 0 16,0 0-16,1 0 16,-1 0-1,-34-35-15,34 1 0,1 34 78,-1 0-62,0 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3.36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0,'34'0'156,"104"0"-156,-1 0 16,69 0-16,-69 0 15,35 0-15,-1 0 16,-33 0-16,-1 0 15,-34 0-15,0 0 16,-34 0 0,-35 0-1,0 0-15,1 0 16,-1 0-16,0 0 16,35 0-1,-35 0-15,1 0 16,33 0-16,1 0 15,-35 0 1,0 0-16,35 0 16,-35 0-16,35 0 15,-35 0-15,35 0 16,-35 0-16,69 0 16,-68 0-1,-1 0 1,0 0 15,1 0-15,-1 0-1,0 0 1,1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6.85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0,'0'37'157,"68"-37"-142,35 0-15,-34 0 16,68 0-16,-34 0 16,34 0-16,-68 0 15,0 0-15,-1 0 16,1 0-16,-35 0 15,1 0 1,33 0-16,1 0 16,0 0-1,-35 0-15,69 0 16,-34 0-16,-1 0 16,1 0-16,-1 0 15,1 0 1,-35 0-1,35 0-15,-35 0 16,1 0-16,-2 0 16,1 0-16,35 0 15,-35 0 1,35 0-16,-35 0 16,35 0-1,-35 0-15,35 0 16,-35 0-1,1 0-15,33 0 16,-33 0-16,-1 0 16,0 0-16,1 0 15,-1 0-15,0 0 16,1 0 0,-1 0-16,34 0 15,1 0 1,-35 0-1,1 0-15,-1 0 16,0 0-16,1 0 16,-1 0-16,0 0 15,1 0 1,-1 0-16,35 0 16,-35 0-1,0 0 1,1 0-16,-1 0 15,0 0-15,1 0 16,-1 0-16,0 0 16,1 0-16,-1 0 15,0 0 32,1 0-31,-1 0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9.59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70 0,'69'-34'140,"34"34"-140,0 0 16,34 0-16,-34 0 16,0 0-16,-34 0 15,34 0-15,-34 0 16,-35 0-16,0 0 16,1 0-16,-1 0 15,34 0 1,-33 0-16,-1 0 15,0 0-15,1 0 16,-1 0-16,0 0 16,1 0-16,-1 0 125,0 0-110,1 0 1,33 0-16,-33 0 16,-1 0-16,0 0 15,1 0 204,-1 0-188,0 0 0,1-35-31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1.87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50 0,'103'0'156,"0"0"-156,0 0 16,0 0-16,-34 0 15,34 0-15,0 0 16,-69 0-16,0 0 16,1 0-16,-1 0 15,0 0-15,1 0 16,-1 0 0,0 0-1,69 0-15,-35 0 16,-34 0-16,69 0 15,-34 0-15,-35 0 16,35 0-16,-35 0 16,0 0-16,1 0 15,68-36 126,-35 36-125,1 0-16,-35 0 15,35 0-15,-35 0 16,1 0-16,-1 0 15,0 0 235,1 0-234,-1 0-16,35 0 16,-35 0-1,0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6.91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0,'34'0'109,"35"0"-93,-35 34-16,35-34 16,-35 0-1,35 0 1,-35 0 15,35 0-31,-35 0 31,35 0-31,-35 0 16,35 0 0,-35 0-16,35 0 15,-1 0 1,35 0-16,-34 0 16,-35 0-16,35 0 15,-35 0-15,1 0 16,-1 0-1,35 0-15,-35 0 16,35 0 0,-35 0-1,0 0-15,1 0 16,-1 0 0,0 0-16,0 0 15,35 0 1,-35 0-16,1 0 15,33 0-15,1 0 16,-35 0-16,1 0 16,33 0-16,-33 0 15,-1 0-15,35 0 16,-35 0 0,35 0-16,-1 0 15,-33 0-15,-1 0 16,0 0-16,1 0 15,-1 0-15,0 0 16,35 0 0,0 0-16,-1 0 15,1 0 1,-1 0-16,-33 0 16,33 0 46,-33 0-46,33 0-1,1 0 1,0 0-16,-35 0 0,35 0 16,34 0-16,-69 0 15,0 0 1,1 0-1,-1 0 314,0 0-314,1 0 1,-1 0-16,0 0 15,1 0 95,-1 0-110,0 0 15,1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9.97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0,'35'0'125,"-1"0"-125,34 0 16,-33 0-1,-1 0-15,35 0 16,-35 0-16,35 0 16,-35 0-16,35 0 15,-35 0 16,35 0-31,-1 0 16,-33 0 0,-1 0-16,0 0 15,35 0-15,-35 0 16,1 0 0,-1 0-1,0 0-15,1 0 16,-1 0-16,0 0 15,35 0-15,-35 0 16,1 0 0,-1 0-1,35 0 1,-35 0-16,0 0 16,35 0-16,-35 0 15,35 0-15,-35 0 16,35 0-16,-35 0 15,35 0-15,-35 0 16,35 0-16,34 0 16,-35 0-16,-33 0 15,33 0-15,-33 0 16,33 0-16,-33 0 31,33 0-31,-33 0 16,33 0-1,-33 0-15,-1 0 16,0 0-16,1 0 16,-1 0-16,34 0 15,-33 0 1,-1 0-16,69 0 16,-69 0-1,69 0-15,-34 0 16,0 0-16,-35 0 15,35 0 1,-35 0-16,35 0 16,-35 0 46,0 0-46,1 0-1,-1 0 1,0 0 15,1 0-15,-1 0-16,0 0 78,1 0-31,33 0 125,-33 0-157,-1 0 314,0 0-329,1 0 15,-1 0 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1.850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0,'68'0'78,"35"0"-62,-34 0-16,-1 0 15,35 0-15,-34 0 16,34 0-16,-34 0 15,34 0 1,-35 0-16,1 0 16,0 0-16,-2 0 15,-32 0-15,-1 0 16,0 0-16,1 0 16,-1 0-16,35 0 15,-35 0-15,35 0 16,-1 0-16,35 0 15,-34 0-15,-35 0 16,35 0-16,-35 0 16,0 0-16,35 0 15,-35 0 1,35 0-16,-35 0 16,35 0 15,-35 0-31,69 0 15,-68 0 1,-1 0-16,0 0 16,1 0-1,-1 0 1,0 0 0,1 0-1,-1 0-15,0 0 16,35 0-16,-35 0 15,1 0 1,-1 0-16,0 0 16,0 0-16,1 0 15,-1 0-15,0 0 16,34 0-16,-34 0 16,1 0-1,-1 0-15,0 0 16,1 0-16,-1 0 15,0 0 1,1 0-16,-1 0 16,0 0-1,1 0 1,33 0 0,1 0-16,-35 0 15,35 0-15,34 0 16,-34 0-16,-1 0 15,-33 0-15,33 0 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3.94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0,'69'34'125,"0"-34"-125,68 0 16,0 0-16,103 0 0,-68 0 15,68 0-15,-102 0 16,102 0-16,-171 0 15,34 0-15,-35 0 16,-34 0-16,35 0 16,-35 0-16,1 0 15,33 0-15,-33 0 32,33 0-32,-33 0 15,-1 0-15,35 0 16,-35 0-16,35 0 15,-35 0-15,0 0 16,1 0-16,-1 0 16,35 0-16,-35 0 15,35 0-15,-35 0 32,35 0-32,-35 0 0,0 0 0,35 0 15,-35 0 1,35 0-1,-35 0-15,35 0 32,-35 0-17,69 0-15,-69 0 16,35 0-16,-35 0 16,35 0-16,-35 0 15,35 0 1,-35 0-1,1 0 1,33 0-16,35 0 31,-68 0-15,-1 0-16,0 0 16,35 0 15,-35 0 0,35 0 172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6.42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0 166 0,'0'-35'110,"35"35"-95,67 0-15,36 0 16,-1-69-16,-34 69 16,0 0-16,34 0 15,-34 0-15,0 0 16,-68 0-16,68 0 15,-69 0-15,0 0 16,0 0-16,0 0 16,35 0-16,-1 0 15,-34-36 1,1 36 0,-1 0-1,0 0 1,1 0 15,-1 0-15,0 0 15,1 0-15,33 0-16,-33 0 15,33 0 1,-33 0-1,-1 0-15,0 0 16,1 0 15,-1 0-31,0 0 16,1 0 0,-1 0-1,0 0-15,1 0 47,-1 0-31,0 0-1,35 0-15,-35 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9.03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0 285 0,'34'0'46,"35"0"-30,34 0-16,0 0 16,-35-34-16,70 34 15,-1 0-15,-34 0 16,0-69-16,34 69 16,-34 0-16,0-34 15,0 34-15,-68 0 16,33 0-16,1-35 15,-1 35-15,35 0 16,-34-68-16,-35 68 16,1 0-16,-1 0 15,0 0 48,1 0-63,-1 0 31,0-35-31,1 35 63,33 0-48,-33 0-15,-1 0 0,0 0 16,1 0-16,-1 0 344,35 0-344,-35 0 15,0 0-15,1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25.94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 0,'35'0'250,"-1"0"-235,0 0 110,1 0-125,-1 0 31,0 0 63,1 0-94,-1 0 16,0 0 15,1 0-31,-1 0 328,35 0-265,-35 0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0.117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154 143 0,'34'0'187,"0"0"-171,1 0 0,-1 0 93,0 0-46,1 0-48,-1 35-15,0-35 235,-34 34-173,0 0-46,0 1-1,0-1 1,0 35 0,-68-69 62,33 0-63,-33 0 1,33 0 93,1 0-15,34-35-78,0-33-1,0 33 63,34 1-46,1 0-17,-1-1 1,0 35 62,1 0-78,33 0 31,-68 35 235,35-35-266,-35 34 16,0 35-16,0-35 62,0 0-31,0 1-31,-35-35 16,1 34 0,0-34-16,-1 34 15,1 0-15,0-34 16,-1 0-1,1 0 17,0 0-32,-1 0 31,1 0 0,-35-34-15,69 0-1,0 0 1,0-1-16,0-33 16,0 33-1,0 1 1,0 0-16,0-1 62,0-33-62,35 33 16,-1 35 47,0 0-63,1 0 15,33 0 32,-33-34-31,33 34-16,-33 0 15,33 0-15,-33 0 16,-1 0 78,-34 34-79,0 1-15,0-1 16,0 0-16,0 1 16,0-1-1,0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2.16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422 625 0,'-34'0'235,"34"-35"-220,0-34-15,0 35 16,0-1-1,0 1 17,0 0-1,0-1-15,34 1-1,-34 0-15,34 34 16,0 0-1,1-34-15,-1 34 47,35 0-47,-1 0 16,-33 0 0,-1 34 77,-34 0-93,0 0 16,0 35-16,0-35 16,0 1-16,0 33 15,0-33-15,0 0 16,0-1-1,0 1 1,-34-1-16,-1-34 16,1 34-1,0-34-15,-1 35 32,1-35-17,0 0 1,-35 0-1,35 0-15,0 0 32,0 0-32,0 0 15,-35 0 1,35 0-16,34-35 16,-35 35-16,-33 0 15,68-34-15,-69 0 31,69-1-15,-34 35-16,34-34 16,0-1-1,0 0-15,0 1 16,0 0 0,0-1-1,0 1-15,0 0 16,0-1-16,0 1 15,0 0-15,0 0 16,0-1-16,0 0 31,34 1-15,0-1-16,35 1 16,0 0-16,-69-1 15,34 35 1,0 0 78,35 0-79,-69 35-15,0-1 16,34 69-16,0-33 15,0-36-15,-34 0 16,0 35-16,34-35 16,-34 0 46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8.487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29 0,'69'0'125,"34"0"-109,-69 0-16,35 0 16,-1 0-16,1 0 15,0 0-15,34 0 16,-35 0-1,-33 0-15,33 0 16,1 0-16,-35 0 16,35 0-16,-35 0 15,0 0-15,1 0 16,-1 0-16,35 0 16,-1 0-1,1 0-15,0 0 16,-1 0-1,-33 0-15,-1 0 63,0 0-47,1 0 15,33 34 266,-33-34-282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40.78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0,'69'0'109,"-35"0"-109,0 0 16,1 0-16,-1 0 15,0 0-15,0 0 16,35 0 0,-35 0-1,1 0-15,-1 0 16,35 0 0,-35 0-1,0 0-15,1 0 16,33 0-1,-33 0-15,-1 0 16,35 0-16,-35 0 16,35 0-16,-35 0 15,35 0-15,-35 0 16,35 0-16,-35 0 16,0 0-1,1 0-15,-1 0 16,35 0-1,-35 0-15,0 0 16,1 0 0,-1 0-16,0 0 31,0 0-31,1 0 16,-1 0-1,35 0-15,-35 0 31,0 0-31,1 0 16,-1 0 0,0 0-16,1 0 15,-1 0 1,0 0-16,1 0 16,33 0-1,-33 0 1,33 0-1,-33 0 1,-1 0 15,0 0-31,1 0 16,33 0-16,-33 0 31,33 0-31,-33 0 16,33 0-1,-33 0 126,33 0-125,-33 0-1,33 0 1,-34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8289-7649-435B-BFB7-322273429278}" type="datetimeFigureOut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6844F-5401-47B9-AA5C-B6D924C32B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305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3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36C1-3147-F265-DC0F-E55C0CD0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75174B-BDAE-1208-51A9-DC132648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2753B-4EA4-EB45-612A-2AFBE6A18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EB4D9-C283-03E5-86FD-CCE846690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6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091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85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59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02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5" Type="http://schemas.openxmlformats.org/officeDocument/2006/relationships/customXml" Target="../ink/ink2.xml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customXml" Target="../ink/ink9.xml"/><Relationship Id="rId18" Type="http://schemas.openxmlformats.org/officeDocument/2006/relationships/image" Target="../media/image45.emf"/><Relationship Id="rId26" Type="http://schemas.openxmlformats.org/officeDocument/2006/relationships/image" Target="../media/image49.emf"/><Relationship Id="rId3" Type="http://schemas.openxmlformats.org/officeDocument/2006/relationships/customXml" Target="../ink/ink4.xml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42.emf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2" Type="http://schemas.openxmlformats.org/officeDocument/2006/relationships/image" Target="../media/image4.png"/><Relationship Id="rId16" Type="http://schemas.openxmlformats.org/officeDocument/2006/relationships/image" Target="../media/image44.emf"/><Relationship Id="rId20" Type="http://schemas.openxmlformats.org/officeDocument/2006/relationships/image" Target="../media/image4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11" Type="http://schemas.openxmlformats.org/officeDocument/2006/relationships/customXml" Target="../ink/ink8.xml"/><Relationship Id="rId24" Type="http://schemas.openxmlformats.org/officeDocument/2006/relationships/image" Target="../media/image48.emf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10" Type="http://schemas.openxmlformats.org/officeDocument/2006/relationships/image" Target="../media/image41.emf"/><Relationship Id="rId19" Type="http://schemas.openxmlformats.org/officeDocument/2006/relationships/customXml" Target="../ink/ink12.xml"/><Relationship Id="rId4" Type="http://schemas.openxmlformats.org/officeDocument/2006/relationships/image" Target="../media/image38.emf"/><Relationship Id="rId9" Type="http://schemas.openxmlformats.org/officeDocument/2006/relationships/customXml" Target="../ink/ink7.xml"/><Relationship Id="rId14" Type="http://schemas.openxmlformats.org/officeDocument/2006/relationships/image" Target="../media/image43.emf"/><Relationship Id="rId22" Type="http://schemas.openxmlformats.org/officeDocument/2006/relationships/image" Target="../media/image4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6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emf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customXml" Target="../ink/ink1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b="1" dirty="0">
                <a:solidFill>
                  <a:srgbClr val="000000"/>
                </a:solidFill>
                <a:latin typeface="맑은 고딕"/>
                <a:cs typeface="Pretendard SemiBold"/>
              </a:rPr>
              <a:t>RISC-V rv32i CPU</a:t>
            </a:r>
          </a:p>
          <a:p>
            <a:pPr lvl="0" algn="ctr">
              <a:lnSpc>
                <a:spcPct val="99600"/>
              </a:lnSpc>
              <a:defRPr/>
            </a:pPr>
            <a:r>
              <a:rPr lang="ko-KR" altLang="en-US" sz="12000" b="1" i="0" u="none" strike="noStrike" dirty="0">
                <a:solidFill>
                  <a:srgbClr val="000000"/>
                </a:solidFill>
                <a:latin typeface="맑은 고딕"/>
                <a:cs typeface="Pretendard SemiBold"/>
              </a:rPr>
              <a:t>설계 및 </a:t>
            </a:r>
            <a:r>
              <a:rPr lang="en-US" altLang="ko-KR" sz="12000" b="1" i="0" u="none" strike="noStrike" dirty="0">
                <a:solidFill>
                  <a:srgbClr val="000000"/>
                </a:solidFill>
                <a:latin typeface="맑은 고딕"/>
                <a:cs typeface="Pretendard SemiBold"/>
              </a:rPr>
              <a:t>simulation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67000" y="9156700"/>
            <a:ext cx="191262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r">
              <a:lnSpc>
                <a:spcPct val="107899"/>
              </a:lnSpc>
              <a:defRPr/>
            </a:pPr>
            <a:r>
              <a:rPr lang="ko-KR" altLang="en-US" sz="3733" dirty="0">
                <a:solidFill>
                  <a:srgbClr val="000000"/>
                </a:solidFill>
                <a:latin typeface="맑은 고딕"/>
                <a:cs typeface="Pretendard Bold"/>
              </a:rPr>
              <a:t>이준형</a:t>
            </a:r>
            <a:endParaRPr lang="en-US" sz="3733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C806E3B6-8CE4-CAF5-473B-CE479B91F3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05F5ED6-9B4C-CBD4-769A-8B750BDF44B7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25739-137F-04E6-1810-33CF2F926976}"/>
              </a:ext>
            </a:extLst>
          </p:cNvPr>
          <p:cNvSpPr txBox="1"/>
          <p:nvPr/>
        </p:nvSpPr>
        <p:spPr>
          <a:xfrm>
            <a:off x="1305339" y="2426274"/>
            <a:ext cx="73152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4400" dirty="0"/>
              <a:t>RISC – V </a:t>
            </a:r>
            <a:r>
              <a:rPr lang="ko-KR" altLang="en-US" sz="4400" dirty="0"/>
              <a:t>개요</a:t>
            </a:r>
            <a:endParaRPr lang="en-US" altLang="ko-KR" sz="4400" dirty="0"/>
          </a:p>
          <a:p>
            <a:pPr marL="742950" indent="-742950">
              <a:buAutoNum type="arabicPeriod"/>
            </a:pPr>
            <a:r>
              <a:rPr lang="en-US" altLang="ko-KR" sz="4400" dirty="0"/>
              <a:t>B/D</a:t>
            </a:r>
          </a:p>
          <a:p>
            <a:pPr marL="742950" indent="-742950">
              <a:buAutoNum type="arabicPeriod"/>
            </a:pPr>
            <a:r>
              <a:rPr lang="en-US" altLang="ko-KR" sz="4400" dirty="0"/>
              <a:t>Type</a:t>
            </a:r>
            <a:r>
              <a:rPr lang="ko-KR" altLang="en-US" sz="4400" dirty="0"/>
              <a:t>별 동작 방식</a:t>
            </a:r>
            <a:endParaRPr lang="en-US" altLang="ko-KR" sz="4400" dirty="0"/>
          </a:p>
          <a:p>
            <a:pPr marL="1200150" lvl="1" indent="-742950">
              <a:buAutoNum type="alphaLcPeriod"/>
            </a:pPr>
            <a:r>
              <a:rPr lang="en-US" altLang="ko-KR" sz="4400" dirty="0"/>
              <a:t>R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I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S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IL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B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U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J	-type</a:t>
            </a:r>
          </a:p>
          <a:p>
            <a:pPr marL="742950" indent="-742950">
              <a:buAutoNum type="arabicPeriod"/>
            </a:pPr>
            <a:r>
              <a:rPr lang="en-US" altLang="ko-KR" sz="4400" dirty="0"/>
              <a:t>C</a:t>
            </a:r>
            <a:r>
              <a:rPr lang="ko-KR" altLang="en-US" sz="4400" dirty="0"/>
              <a:t> </a:t>
            </a:r>
            <a:r>
              <a:rPr lang="en-US" altLang="ko-KR" sz="4400" dirty="0"/>
              <a:t>to Assembler </a:t>
            </a:r>
            <a:r>
              <a:rPr lang="ko-KR" altLang="en-US" sz="4400" dirty="0"/>
              <a:t>분석</a:t>
            </a:r>
            <a:endParaRPr lang="en-US" altLang="ko-KR" sz="4400" dirty="0"/>
          </a:p>
          <a:p>
            <a:pPr marL="742950" indent="-742950">
              <a:buAutoNum type="arabicPeriod"/>
            </a:pPr>
            <a:r>
              <a:rPr lang="en-US" altLang="ko-KR" sz="4400" dirty="0"/>
              <a:t>Trouble Shooting</a:t>
            </a:r>
            <a:endParaRPr lang="ko-KR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954A-E76A-CF67-4272-5DADD353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B6DBC61D-2EC4-0C10-C167-672DF2D75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4C65EFB-FC89-D997-414A-B75FFED6E1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0111D69-FD1C-3547-9954-A613E6286C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83F069C-2872-E381-B0DD-2657E937C0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9F8AFE97-D858-98A7-FEBF-6705FD242196}"/>
              </a:ext>
            </a:extLst>
          </p:cNvPr>
          <p:cNvSpPr txBox="1"/>
          <p:nvPr/>
        </p:nvSpPr>
        <p:spPr>
          <a:xfrm>
            <a:off x="1295400" y="609600"/>
            <a:ext cx="1097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1. RISC – V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8B72F-27BA-05A8-068F-6103FA4401DB}"/>
              </a:ext>
            </a:extLst>
          </p:cNvPr>
          <p:cNvSpPr txBox="1"/>
          <p:nvPr/>
        </p:nvSpPr>
        <p:spPr>
          <a:xfrm>
            <a:off x="1625601" y="2480479"/>
            <a:ext cx="18694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/>
              <a:t>RISC-V </a:t>
            </a:r>
            <a:r>
              <a:rPr lang="ko-KR" altLang="en-US" sz="6600" b="1" dirty="0"/>
              <a:t>란</a:t>
            </a:r>
            <a:r>
              <a:rPr lang="en-US" altLang="ko-KR" sz="6600" b="1" dirty="0"/>
              <a:t>:</a:t>
            </a:r>
          </a:p>
          <a:p>
            <a:r>
              <a:rPr lang="en-US" altLang="ko-KR" sz="4800" dirty="0"/>
              <a:t>	</a:t>
            </a:r>
            <a:r>
              <a:rPr lang="ko-KR" altLang="en-US" sz="4800" dirty="0"/>
              <a:t>오픈 소스 명령어 집합 아키텍처</a:t>
            </a:r>
            <a:r>
              <a:rPr lang="en-US" altLang="ko-KR" sz="4800" dirty="0"/>
              <a:t>(ISA)</a:t>
            </a:r>
            <a:r>
              <a:rPr lang="ko-KR" altLang="en-US" sz="4800" dirty="0"/>
              <a:t>로</a:t>
            </a:r>
            <a:r>
              <a:rPr lang="en-US" altLang="ko-KR" sz="4800" dirty="0"/>
              <a:t>, </a:t>
            </a:r>
          </a:p>
          <a:p>
            <a:r>
              <a:rPr lang="en-US" altLang="ko-KR" sz="4800" dirty="0"/>
              <a:t>	</a:t>
            </a:r>
            <a:r>
              <a:rPr lang="ko-KR" altLang="en-US" sz="4800" dirty="0"/>
              <a:t>최소한의 필수 명령어만 유지하는 것이 특징</a:t>
            </a: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8A860296-CF07-45AB-DB55-DCC14AC6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16946"/>
              </p:ext>
            </p:extLst>
          </p:nvPr>
        </p:nvGraphicFramePr>
        <p:xfrm>
          <a:off x="4310271" y="6019800"/>
          <a:ext cx="14782800" cy="5114123"/>
        </p:xfrm>
        <a:graphic>
          <a:graphicData uri="http://schemas.openxmlformats.org/drawingml/2006/table">
            <a:tbl>
              <a:tblPr/>
              <a:tblGrid>
                <a:gridCol w="3276329">
                  <a:extLst>
                    <a:ext uri="{9D8B030D-6E8A-4147-A177-3AD203B41FA5}">
                      <a16:colId xmlns:a16="http://schemas.microsoft.com/office/drawing/2014/main" val="3045984157"/>
                    </a:ext>
                  </a:extLst>
                </a:gridCol>
                <a:gridCol w="1504600">
                  <a:extLst>
                    <a:ext uri="{9D8B030D-6E8A-4147-A177-3AD203B41FA5}">
                      <a16:colId xmlns:a16="http://schemas.microsoft.com/office/drawing/2014/main" val="3505175083"/>
                    </a:ext>
                  </a:extLst>
                </a:gridCol>
                <a:gridCol w="5609749">
                  <a:extLst>
                    <a:ext uri="{9D8B030D-6E8A-4147-A177-3AD203B41FA5}">
                      <a16:colId xmlns:a16="http://schemas.microsoft.com/office/drawing/2014/main" val="2111161342"/>
                    </a:ext>
                  </a:extLst>
                </a:gridCol>
                <a:gridCol w="4392122">
                  <a:extLst>
                    <a:ext uri="{9D8B030D-6E8A-4147-A177-3AD203B41FA5}">
                      <a16:colId xmlns:a16="http://schemas.microsoft.com/office/drawing/2014/main" val="1520041265"/>
                    </a:ext>
                  </a:extLst>
                </a:gridCol>
              </a:tblGrid>
              <a:tr h="22494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>
                          <a:solidFill>
                            <a:schemeClr val="bg1"/>
                          </a:solidFill>
                        </a:rPr>
                        <a:t>RISC- </a:t>
                      </a:r>
                      <a:r>
                        <a:rPr lang="en-US" altLang="ko-KR" sz="3600" dirty="0" smtClean="0">
                          <a:solidFill>
                            <a:schemeClr val="bg1"/>
                          </a:solidFill>
                        </a:rPr>
                        <a:t>V rv32i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명령어 </a:t>
                      </a:r>
                      <a:r>
                        <a:rPr lang="en-US" altLang="ko-KR" sz="3600" dirty="0"/>
                        <a:t>set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sz="3200" dirty="0">
                          <a:latin typeface="+mn-lt"/>
                        </a:rPr>
                        <a:t>32bit</a:t>
                      </a:r>
                      <a:r>
                        <a:rPr lang="ko-KR" altLang="en-US" sz="3200" dirty="0">
                          <a:latin typeface="+mn-lt"/>
                        </a:rPr>
                        <a:t> 고정 길이</a:t>
                      </a:r>
                      <a:endParaRPr lang="ko-KR" altLang="en-US" dirty="0"/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Register file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32</a:t>
                      </a: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개 구성</a:t>
                      </a:r>
                      <a:endParaRPr lang="ko-KR" altLang="en-US" dirty="0"/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0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아키텍처</a:t>
                      </a:r>
                      <a:endParaRPr lang="ko-KR" altLang="en-US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방식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Von </a:t>
                      </a:r>
                      <a:r>
                        <a:rPr lang="en-US" altLang="ko-KR" sz="3600" dirty="0" err="1" smtClean="0"/>
                        <a:t>Neuman</a:t>
                      </a:r>
                      <a:r>
                        <a:rPr lang="ko-KR" altLang="en-US" sz="3600" dirty="0" smtClean="0"/>
                        <a:t>아키텍처</a:t>
                      </a:r>
                      <a:endParaRPr lang="ko-KR" altLang="en-US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200" dirty="0"/>
                        <a:t>Harvard</a:t>
                      </a:r>
                      <a:r>
                        <a:rPr lang="ko-KR" altLang="en-US" sz="3200" dirty="0">
                          <a:latin typeface="+mn-lt"/>
                        </a:rPr>
                        <a:t> 아키텍처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94723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특징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sz="3600" dirty="0"/>
                        <a:t>Data</a:t>
                      </a:r>
                      <a:r>
                        <a:rPr lang="ko-KR" altLang="en-US" sz="3600" dirty="0"/>
                        <a:t>와 명령어가 </a:t>
                      </a:r>
                      <a:endParaRPr lang="en-US" altLang="ko-KR" sz="3600" dirty="0"/>
                    </a:p>
                    <a:p>
                      <a:pPr algn="ctr" latinLnBrk="1"/>
                      <a:r>
                        <a:rPr lang="ko-KR" altLang="en-US" sz="3600" dirty="0"/>
                        <a:t>하나의 메모리에 저장</a:t>
                      </a:r>
                      <a:endParaRPr lang="ko-KR" altLang="en-US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Data</a:t>
                      </a:r>
                      <a:r>
                        <a:rPr lang="ko-KR" altLang="en-US" sz="3200" dirty="0"/>
                        <a:t>와 명령어 메모리가 분리되어 저장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55917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0A28EF-481B-BC2E-B123-C9D466A8E74B}"/>
              </a:ext>
            </a:extLst>
          </p:cNvPr>
          <p:cNvSpPr/>
          <p:nvPr/>
        </p:nvSpPr>
        <p:spPr>
          <a:xfrm>
            <a:off x="14706600" y="9118970"/>
            <a:ext cx="4386471" cy="20824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038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38DE-4AF5-152D-118B-5C90FCB0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2CD32774-1A51-1041-C13F-A12B1854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3" y="2201862"/>
            <a:ext cx="12123734" cy="10472738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E6F7075-2CBD-6293-F4ED-10AF9F059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57006AA-8187-1FDA-6074-4E4A312959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FD41FA4-0A1A-A600-B55A-95F771895C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425ABDE-A939-3045-A626-AE7C2E02C31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E2AA6AE-90FB-E400-78AB-DB88C20808A4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B/D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21597DB6-A3A6-F92B-C2A1-DA151B62B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341219"/>
              </p:ext>
            </p:extLst>
          </p:nvPr>
        </p:nvGraphicFramePr>
        <p:xfrm>
          <a:off x="13105904" y="2658991"/>
          <a:ext cx="10592296" cy="8711252"/>
        </p:xfrm>
        <a:graphic>
          <a:graphicData uri="http://schemas.openxmlformats.org/drawingml/2006/table">
            <a:tbl>
              <a:tblPr/>
              <a:tblGrid>
                <a:gridCol w="57825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15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796265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Module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part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Instruction Mem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ROM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dirty="0">
                          <a:latin typeface="+mn-lt"/>
                        </a:rPr>
                        <a:t>실행 명령어 메모리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Control Unit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Control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Unit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전체적인 </a:t>
                      </a:r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System </a:t>
                      </a: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제어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Register File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Data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path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ALU </a:t>
                      </a: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연산을 위한 </a:t>
                      </a:r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register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  <a:r>
                        <a:rPr lang="en-US" sz="3600" dirty="0" smtClean="0"/>
                        <a:t>-input</a:t>
                      </a:r>
                      <a:endParaRPr lang="en-US" sz="36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MUX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>
                          <a:latin typeface="+mn-lt"/>
                        </a:rPr>
                        <a:t>Register File 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>
                          <a:latin typeface="+mn-lt"/>
                        </a:rPr>
                        <a:t>Write</a:t>
                      </a:r>
                      <a:r>
                        <a:rPr lang="ko-KR" altLang="en-US" sz="3200" dirty="0">
                          <a:latin typeface="+mn-lt"/>
                        </a:rPr>
                        <a:t> </a:t>
                      </a:r>
                      <a:r>
                        <a:rPr lang="en-US" altLang="ko-KR" sz="3200" dirty="0">
                          <a:latin typeface="+mn-lt"/>
                        </a:rPr>
                        <a:t>Data MUX</a:t>
                      </a:r>
                      <a:r>
                        <a:rPr lang="en-US" sz="3200" dirty="0">
                          <a:latin typeface="+mn-lt"/>
                        </a:rPr>
                        <a:t> 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Imm Extender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200" dirty="0">
                          <a:latin typeface="+mn-lt"/>
                        </a:rPr>
                        <a:t>32 bit</a:t>
                      </a:r>
                      <a:r>
                        <a:rPr lang="ko-KR" altLang="en-US" sz="3200" dirty="0">
                          <a:latin typeface="+mn-lt"/>
                        </a:rPr>
                        <a:t> 상수로 변환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ALU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dirty="0">
                          <a:latin typeface="+mn-lt"/>
                        </a:rPr>
                        <a:t>연산처리 </a:t>
                      </a:r>
                      <a:r>
                        <a:rPr lang="en-US" altLang="ko-KR" sz="3200" dirty="0">
                          <a:latin typeface="+mn-lt"/>
                        </a:rPr>
                        <a:t>&amp; </a:t>
                      </a:r>
                      <a:r>
                        <a:rPr lang="ko-KR" altLang="en-US" sz="3200" dirty="0">
                          <a:latin typeface="+mn-lt"/>
                        </a:rPr>
                        <a:t>분기 확인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PC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 Mem 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다음 주소 지정</a:t>
                      </a:r>
                      <a:endParaRPr kumimoji="0" lang="en-US" altLang="ko-KR" sz="3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RAM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Load &amp; STORE 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kumimoji="0" lang="ko-KR" altLang="en-US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메모리</a:t>
                      </a:r>
                      <a:endParaRPr kumimoji="0" lang="en-US" altLang="ko-KR" sz="3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(word addressing)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71637"/>
                  </a:ext>
                </a:extLst>
              </a:tr>
            </a:tbl>
          </a:graphicData>
        </a:graphic>
      </p:graphicFrame>
      <p:sp>
        <p:nvSpPr>
          <p:cNvPr id="18" name="타원 17">
            <a:extLst>
              <a:ext uri="{FF2B5EF4-FFF2-40B4-BE49-F238E27FC236}">
                <a16:creationId xmlns:a16="http://schemas.microsoft.com/office/drawing/2014/main" id="{A3F37371-2149-40FA-296D-1199B62411CA}"/>
              </a:ext>
            </a:extLst>
          </p:cNvPr>
          <p:cNvSpPr/>
          <p:nvPr/>
        </p:nvSpPr>
        <p:spPr>
          <a:xfrm>
            <a:off x="235742" y="32766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6A74AC-CC05-92DA-E2DD-594854510B12}"/>
              </a:ext>
            </a:extLst>
          </p:cNvPr>
          <p:cNvSpPr/>
          <p:nvPr/>
        </p:nvSpPr>
        <p:spPr>
          <a:xfrm>
            <a:off x="3283742" y="26670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2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4863D79-339C-A5A9-0BCC-AD62E62FEC83}"/>
              </a:ext>
            </a:extLst>
          </p:cNvPr>
          <p:cNvSpPr/>
          <p:nvPr/>
        </p:nvSpPr>
        <p:spPr>
          <a:xfrm>
            <a:off x="4114800" y="4800598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3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61BF31D-4037-3363-74E5-21B9F6705740}"/>
              </a:ext>
            </a:extLst>
          </p:cNvPr>
          <p:cNvSpPr/>
          <p:nvPr/>
        </p:nvSpPr>
        <p:spPr>
          <a:xfrm>
            <a:off x="7543800" y="80772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4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054844C-5973-AD96-4F5B-93931066B263}"/>
              </a:ext>
            </a:extLst>
          </p:cNvPr>
          <p:cNvSpPr/>
          <p:nvPr/>
        </p:nvSpPr>
        <p:spPr>
          <a:xfrm>
            <a:off x="3200400" y="7400133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5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B6CE632-BB16-B61A-A70D-798EFD660532}"/>
              </a:ext>
            </a:extLst>
          </p:cNvPr>
          <p:cNvSpPr/>
          <p:nvPr/>
        </p:nvSpPr>
        <p:spPr>
          <a:xfrm>
            <a:off x="6137671" y="4800599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6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54EF4BD-AF46-BEBE-B18E-CFA476DB0445}"/>
              </a:ext>
            </a:extLst>
          </p:cNvPr>
          <p:cNvSpPr/>
          <p:nvPr/>
        </p:nvSpPr>
        <p:spPr>
          <a:xfrm>
            <a:off x="3429000" y="91440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7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AC0CA2D-3DF1-4769-79AF-27463D62CEDF}"/>
              </a:ext>
            </a:extLst>
          </p:cNvPr>
          <p:cNvSpPr/>
          <p:nvPr/>
        </p:nvSpPr>
        <p:spPr>
          <a:xfrm>
            <a:off x="10744200" y="32766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8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56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6666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endParaRPr lang="en-US" altLang="ko-KR" sz="6666" b="1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2973050" y="36322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8497550" y="36322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9074150" y="75311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4598650" y="75311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283950" y="59817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08450" y="59817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83948" y="7010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DATA Flow</a:t>
            </a:r>
            <a:endParaRPr lang="en-US" altLang="ko-KR" sz="35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598710" y="701040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simulation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FC8B06A8-4DE9-8D4E-985F-A6E241FC1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198302"/>
              </p:ext>
            </p:extLst>
          </p:nvPr>
        </p:nvGraphicFramePr>
        <p:xfrm>
          <a:off x="3806104" y="4483100"/>
          <a:ext cx="4029792" cy="6330846"/>
        </p:xfrm>
        <a:graphic>
          <a:graphicData uri="http://schemas.openxmlformats.org/drawingml/2006/table">
            <a:tbl>
              <a:tblPr/>
              <a:tblGrid>
                <a:gridCol w="57825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45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>
                          <a:solidFill>
                            <a:schemeClr val="bg1"/>
                          </a:solidFill>
                        </a:rPr>
                        <a:t>설명순서</a:t>
                      </a:r>
                      <a:r>
                        <a:rPr lang="en-US" sz="3600" dirty="0"/>
                        <a:t>j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 –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 -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S - 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IL -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 - 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U - type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J - type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E974-80DF-3142-9CCC-F311A0A5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CE95680-264D-22AC-358B-EE10762A1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746F0EB-22B4-339F-D6FC-4FD8CACC6AE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F191824-6F9D-698C-2E87-22E4DF9B3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390912"/>
              </p:ext>
            </p:extLst>
          </p:nvPr>
        </p:nvGraphicFramePr>
        <p:xfrm>
          <a:off x="1045570" y="10744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33800" y="8385919"/>
            <a:ext cx="10134600" cy="20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Rs1, Rs2</a:t>
            </a:r>
            <a:r>
              <a:rPr lang="ko-KR" altLang="en-US" sz="4400" dirty="0"/>
              <a:t>을 산술 연산하는 명령어</a:t>
            </a: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</a:t>
            </a:r>
            <a:r>
              <a:rPr lang="ko-KR" altLang="en-US" sz="4400" dirty="0"/>
              <a:t>연산자는 </a:t>
            </a:r>
            <a:r>
              <a:rPr lang="en-US" altLang="ko-KR" sz="4400" dirty="0"/>
              <a:t>Funct3, Funct7</a:t>
            </a:r>
            <a:r>
              <a:rPr lang="ko-KR" altLang="en-US" sz="4400" dirty="0"/>
              <a:t>에 의해 결정</a:t>
            </a:r>
            <a:endParaRPr lang="en-US" altLang="ko-KR" sz="4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13387"/>
              </p:ext>
            </p:extLst>
          </p:nvPr>
        </p:nvGraphicFramePr>
        <p:xfrm>
          <a:off x="3962400" y="3200400"/>
          <a:ext cx="15752651" cy="4447814"/>
        </p:xfrm>
        <a:graphic>
          <a:graphicData uri="http://schemas.openxmlformats.org/drawingml/2006/table">
            <a:tbl>
              <a:tblPr/>
              <a:tblGrid>
                <a:gridCol w="1776893">
                  <a:extLst>
                    <a:ext uri="{9D8B030D-6E8A-4147-A177-3AD203B41FA5}">
                      <a16:colId xmlns:a16="http://schemas.microsoft.com/office/drawing/2014/main" val="3026228695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346933030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848271704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367391896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3757884890"/>
                    </a:ext>
                  </a:extLst>
                </a:gridCol>
                <a:gridCol w="1410720">
                  <a:extLst>
                    <a:ext uri="{9D8B030D-6E8A-4147-A177-3AD203B41FA5}">
                      <a16:colId xmlns:a16="http://schemas.microsoft.com/office/drawing/2014/main" val="899968726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365708330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80175775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544102319"/>
                    </a:ext>
                  </a:extLst>
                </a:gridCol>
                <a:gridCol w="1279302">
                  <a:extLst>
                    <a:ext uri="{9D8B030D-6E8A-4147-A177-3AD203B41FA5}">
                      <a16:colId xmlns:a16="http://schemas.microsoft.com/office/drawing/2014/main" val="234480134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958721246"/>
                    </a:ext>
                  </a:extLst>
                </a:gridCol>
              </a:tblGrid>
              <a:tr h="10862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001542"/>
                  </a:ext>
                </a:extLst>
              </a:tr>
              <a:tr h="2052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0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0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570425"/>
                  </a:ext>
                </a:extLst>
              </a:tr>
              <a:tr h="13093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2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3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4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5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6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7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81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09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E974-80DF-3142-9CCC-F311A0A5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6C2AF19-C181-A54C-265D-B6847C1C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70" y="2373399"/>
            <a:ext cx="11335407" cy="9775068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3CE95680-264D-22AC-358B-EE10762A1D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746F0EB-22B4-339F-D6FC-4FD8CACC6AE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ED689-9D19-45E6-DD4B-5E8EB7965918}"/>
              </a:ext>
            </a:extLst>
          </p:cNvPr>
          <p:cNvSpPr txBox="1"/>
          <p:nvPr/>
        </p:nvSpPr>
        <p:spPr>
          <a:xfrm>
            <a:off x="162339" y="216344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F191824-6F9D-698C-2E87-22E4DF9B3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14718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12AAA55-C386-FAB8-66E7-2EA6BD469FD5}"/>
              </a:ext>
            </a:extLst>
          </p:cNvPr>
          <p:cNvGraphicFramePr>
            <a:graphicFrameLocks noGrp="1"/>
          </p:cNvGraphicFramePr>
          <p:nvPr/>
        </p:nvGraphicFramePr>
        <p:xfrm>
          <a:off x="15127330" y="3429000"/>
          <a:ext cx="5974080" cy="7472289"/>
        </p:xfrm>
        <a:graphic>
          <a:graphicData uri="http://schemas.openxmlformats.org/drawingml/2006/table">
            <a:tbl>
              <a:tblPr/>
              <a:tblGrid>
                <a:gridCol w="2987040">
                  <a:extLst>
                    <a:ext uri="{9D8B030D-6E8A-4147-A177-3AD203B41FA5}">
                      <a16:colId xmlns:a16="http://schemas.microsoft.com/office/drawing/2014/main" val="1179993107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920872321"/>
                    </a:ext>
                  </a:extLst>
                </a:gridCol>
              </a:tblGrid>
              <a:tr h="67929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000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R_type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05201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27568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141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51745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47769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9411082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0403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266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583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82022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1CC918B-ADAE-2DCC-2E8F-CF83574A847F}"/>
              </a:ext>
            </a:extLst>
          </p:cNvPr>
          <p:cNvSpPr txBox="1"/>
          <p:nvPr/>
        </p:nvSpPr>
        <p:spPr>
          <a:xfrm>
            <a:off x="4550770" y="40619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9620C7-2A7A-D2E4-B472-22CEDAA5B7BF}"/>
              </a:ext>
            </a:extLst>
          </p:cNvPr>
          <p:cNvSpPr txBox="1"/>
          <p:nvPr/>
        </p:nvSpPr>
        <p:spPr>
          <a:xfrm>
            <a:off x="9275170" y="42143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A0288-5A15-5D42-132D-DD346F488F80}"/>
              </a:ext>
            </a:extLst>
          </p:cNvPr>
          <p:cNvSpPr txBox="1"/>
          <p:nvPr/>
        </p:nvSpPr>
        <p:spPr>
          <a:xfrm>
            <a:off x="2493370" y="9014925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2EBB0-50FC-815A-AE2F-E3F9FDB85006}"/>
              </a:ext>
            </a:extLst>
          </p:cNvPr>
          <p:cNvSpPr txBox="1"/>
          <p:nvPr/>
        </p:nvSpPr>
        <p:spPr>
          <a:xfrm>
            <a:off x="6455770" y="4214324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6EBAD4-76D5-152D-A742-CE5A5943C2FF}"/>
              </a:ext>
            </a:extLst>
          </p:cNvPr>
          <p:cNvSpPr txBox="1"/>
          <p:nvPr/>
        </p:nvSpPr>
        <p:spPr>
          <a:xfrm>
            <a:off x="5160370" y="7871925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4369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84B9-3EF9-83CD-AFDB-2C2F1684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AF2E816-DC8B-2747-F282-41319D2737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396AA63-01EF-62C0-593A-1816824E5CB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334EF0-0E28-30A2-1379-DEAAF4AC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48565"/>
              </p:ext>
            </p:extLst>
          </p:nvPr>
        </p:nvGraphicFramePr>
        <p:xfrm>
          <a:off x="12496800" y="4613460"/>
          <a:ext cx="11681813" cy="5128947"/>
        </p:xfrm>
        <a:graphic>
          <a:graphicData uri="http://schemas.openxmlformats.org/drawingml/2006/table">
            <a:tbl>
              <a:tblPr/>
              <a:tblGrid>
                <a:gridCol w="852423">
                  <a:extLst>
                    <a:ext uri="{9D8B030D-6E8A-4147-A177-3AD203B41FA5}">
                      <a16:colId xmlns:a16="http://schemas.microsoft.com/office/drawing/2014/main" val="1686743289"/>
                    </a:ext>
                  </a:extLst>
                </a:gridCol>
                <a:gridCol w="1221551">
                  <a:extLst>
                    <a:ext uri="{9D8B030D-6E8A-4147-A177-3AD203B41FA5}">
                      <a16:colId xmlns:a16="http://schemas.microsoft.com/office/drawing/2014/main" val="16940635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419310636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46785183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26078962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781578471"/>
                    </a:ext>
                  </a:extLst>
                </a:gridCol>
                <a:gridCol w="969820">
                  <a:extLst>
                    <a:ext uri="{9D8B030D-6E8A-4147-A177-3AD203B41FA5}">
                      <a16:colId xmlns:a16="http://schemas.microsoft.com/office/drawing/2014/main" val="278234494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331381186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94380760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290620688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85403473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581163607"/>
                    </a:ext>
                  </a:extLst>
                </a:gridCol>
              </a:tblGrid>
              <a:tr h="568467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33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ALU_control</a:t>
                      </a: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31460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97346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97199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29480"/>
                  </a:ext>
                </a:extLst>
              </a:tr>
              <a:tr h="45679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sng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6774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+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-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a&lt;&lt;b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(a&lt;b)?1:0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98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72612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02867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59FEADA-D583-B6E7-00C3-7B6CAE869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02211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pic>
        <p:nvPicPr>
          <p:cNvPr id="23" name="그림 22">
            <a:extLst>
              <a:ext uri="{FF2B5EF4-FFF2-40B4-BE49-F238E27FC236}">
                <a16:creationId xmlns:a16="http://schemas.microsoft.com/office/drawing/2014/main" id="{6CE6CE41-3729-AFD9-B01B-50AE7199E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70" y="2373399"/>
            <a:ext cx="11335407" cy="97750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A737FC9-8037-3381-B978-EEE8BA014393}"/>
              </a:ext>
            </a:extLst>
          </p:cNvPr>
          <p:cNvSpPr txBox="1"/>
          <p:nvPr/>
        </p:nvSpPr>
        <p:spPr>
          <a:xfrm>
            <a:off x="162339" y="216344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D7A64B-721A-8123-7DD7-0E24BB7A94EF}"/>
              </a:ext>
            </a:extLst>
          </p:cNvPr>
          <p:cNvSpPr txBox="1"/>
          <p:nvPr/>
        </p:nvSpPr>
        <p:spPr>
          <a:xfrm>
            <a:off x="4550770" y="40619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AE626-53D8-2B78-3606-93FB05B20207}"/>
              </a:ext>
            </a:extLst>
          </p:cNvPr>
          <p:cNvSpPr txBox="1"/>
          <p:nvPr/>
        </p:nvSpPr>
        <p:spPr>
          <a:xfrm>
            <a:off x="9275170" y="42143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9ED4A-A1DD-434E-DBDC-A941FF4208A7}"/>
              </a:ext>
            </a:extLst>
          </p:cNvPr>
          <p:cNvSpPr txBox="1"/>
          <p:nvPr/>
        </p:nvSpPr>
        <p:spPr>
          <a:xfrm>
            <a:off x="2493370" y="9014925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55479C-42FF-DCB2-E3C6-532C6EA3ECB5}"/>
              </a:ext>
            </a:extLst>
          </p:cNvPr>
          <p:cNvSpPr txBox="1"/>
          <p:nvPr/>
        </p:nvSpPr>
        <p:spPr>
          <a:xfrm>
            <a:off x="6455770" y="4214324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8BE81-376E-6BC4-E300-8C79E8F96699}"/>
              </a:ext>
            </a:extLst>
          </p:cNvPr>
          <p:cNvSpPr txBox="1"/>
          <p:nvPr/>
        </p:nvSpPr>
        <p:spPr>
          <a:xfrm>
            <a:off x="5160370" y="7871925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4374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D4B4-3BDD-5163-45F2-C5DDDE54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A3CFF72-9813-95AF-788F-4CACAD7E5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D153261-CD7F-F8C4-0967-39AFEA60EB6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00253-4AD0-D923-B17A-FD265419E2B9}"/>
              </a:ext>
            </a:extLst>
          </p:cNvPr>
          <p:cNvSpPr txBox="1"/>
          <p:nvPr/>
        </p:nvSpPr>
        <p:spPr>
          <a:xfrm>
            <a:off x="304800" y="2209800"/>
            <a:ext cx="5628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 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70F591B-AAF6-1DDE-EBA0-0C87D716A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564614"/>
              </p:ext>
            </p:extLst>
          </p:nvPr>
        </p:nvGraphicFramePr>
        <p:xfrm>
          <a:off x="1514128" y="4544317"/>
          <a:ext cx="11668471" cy="5056883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  <a:gridCol w="4267199">
                  <a:extLst>
                    <a:ext uri="{9D8B030D-6E8A-4147-A177-3AD203B41FA5}">
                      <a16:colId xmlns:a16="http://schemas.microsoft.com/office/drawing/2014/main" val="439004716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용도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Full case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r>
                        <a:rPr lang="en-US" sz="3600" dirty="0"/>
                        <a:t> </a:t>
                      </a:r>
                      <a:r>
                        <a:rPr lang="ko-KR" altLang="en-US" sz="3600" dirty="0"/>
                        <a:t>연산을 제외한 나머지 </a:t>
                      </a:r>
                      <a:r>
                        <a:rPr lang="en-US" altLang="ko-KR" sz="3600" dirty="0"/>
                        <a:t>case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Shift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SLL, SRL,SRA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rd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Alu_result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90D39D-82AA-E852-2800-F0FCC825C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597242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AFDCC336-5ECB-56CD-F9AF-57A9FE7F2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22105"/>
              </p:ext>
            </p:extLst>
          </p:nvPr>
        </p:nvGraphicFramePr>
        <p:xfrm>
          <a:off x="14249400" y="2577594"/>
          <a:ext cx="6553201" cy="9601239"/>
        </p:xfrm>
        <a:graphic>
          <a:graphicData uri="http://schemas.openxmlformats.org/drawingml/2006/table">
            <a:tbl>
              <a:tblPr/>
              <a:tblGrid>
                <a:gridCol w="99037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-300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-400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72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B9464-7257-0B5C-7BFE-5859BB0E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CD6EA68-95A9-AE14-C91A-71D4A40A45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5EFB367-53FE-0694-A953-9CB6C8873EE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D561B-4868-3AD0-8B90-22811FB1AA6D}"/>
              </a:ext>
            </a:extLst>
          </p:cNvPr>
          <p:cNvSpPr txBox="1"/>
          <p:nvPr/>
        </p:nvSpPr>
        <p:spPr>
          <a:xfrm>
            <a:off x="457200" y="2131413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D1FAD9-505A-8A19-ABB5-0A1CE59286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2"/>
          <a:stretch>
            <a:fillRect/>
          </a:stretch>
        </p:blipFill>
        <p:spPr>
          <a:xfrm>
            <a:off x="304800" y="3031299"/>
            <a:ext cx="17571236" cy="100584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12E85C-5862-7721-FAC3-D648FCC278F6}"/>
              </a:ext>
            </a:extLst>
          </p:cNvPr>
          <p:cNvSpPr txBox="1"/>
          <p:nvPr/>
        </p:nvSpPr>
        <p:spPr>
          <a:xfrm>
            <a:off x="2255036" y="7718491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24162-B411-EC58-E253-59C5593478ED}"/>
              </a:ext>
            </a:extLst>
          </p:cNvPr>
          <p:cNvSpPr txBox="1"/>
          <p:nvPr/>
        </p:nvSpPr>
        <p:spPr>
          <a:xfrm>
            <a:off x="2591285" y="8362016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3DB60F5-6575-97F5-80E9-AFCCA6E51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257793"/>
              </p:ext>
            </p:extLst>
          </p:nvPr>
        </p:nvGraphicFramePr>
        <p:xfrm>
          <a:off x="18068136" y="4427575"/>
          <a:ext cx="5974080" cy="7229235"/>
        </p:xfrm>
        <a:graphic>
          <a:graphicData uri="http://schemas.openxmlformats.org/drawingml/2006/table">
            <a:tbl>
              <a:tblPr/>
              <a:tblGrid>
                <a:gridCol w="2987040">
                  <a:extLst>
                    <a:ext uri="{9D8B030D-6E8A-4147-A177-3AD203B41FA5}">
                      <a16:colId xmlns:a16="http://schemas.microsoft.com/office/drawing/2014/main" val="1179993107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920872321"/>
                    </a:ext>
                  </a:extLst>
                </a:gridCol>
              </a:tblGrid>
              <a:tr h="6735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000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05201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27568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141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51745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47769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9411082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0403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266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583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8202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B3726F6-95F1-A516-8AED-1DE8CD189DA3}"/>
              </a:ext>
            </a:extLst>
          </p:cNvPr>
          <p:cNvSpPr txBox="1"/>
          <p:nvPr/>
        </p:nvSpPr>
        <p:spPr>
          <a:xfrm>
            <a:off x="2419231" y="10438540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460568-098E-3DE1-04C5-894DC6194831}"/>
              </a:ext>
            </a:extLst>
          </p:cNvPr>
          <p:cNvSpPr/>
          <p:nvPr/>
        </p:nvSpPr>
        <p:spPr>
          <a:xfrm>
            <a:off x="18068136" y="5484610"/>
            <a:ext cx="5927875" cy="20753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E2204E7-C5E0-E0F3-D5D7-294E763130B3}"/>
              </a:ext>
            </a:extLst>
          </p:cNvPr>
          <p:cNvSpPr/>
          <p:nvPr/>
        </p:nvSpPr>
        <p:spPr>
          <a:xfrm>
            <a:off x="18099344" y="8915400"/>
            <a:ext cx="5927875" cy="26737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797E78-6C65-2BC5-3E25-5EA926D25AC5}"/>
              </a:ext>
            </a:extLst>
          </p:cNvPr>
          <p:cNvSpPr txBox="1"/>
          <p:nvPr/>
        </p:nvSpPr>
        <p:spPr>
          <a:xfrm>
            <a:off x="2423162" y="11030351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4262E5-2167-C29F-E2AF-738E203D9F6B}"/>
              </a:ext>
            </a:extLst>
          </p:cNvPr>
          <p:cNvSpPr txBox="1"/>
          <p:nvPr/>
        </p:nvSpPr>
        <p:spPr>
          <a:xfrm>
            <a:off x="2430449" y="1163989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9F51D1-C5AD-CD1A-144E-7E10E1BB15A9}"/>
              </a:ext>
            </a:extLst>
          </p:cNvPr>
          <p:cNvSpPr txBox="1"/>
          <p:nvPr/>
        </p:nvSpPr>
        <p:spPr>
          <a:xfrm>
            <a:off x="2418129" y="12242242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D9112D-3D19-3595-4CFD-CB002301D40F}"/>
              </a:ext>
            </a:extLst>
          </p:cNvPr>
          <p:cNvSpPr txBox="1"/>
          <p:nvPr/>
        </p:nvSpPr>
        <p:spPr>
          <a:xfrm>
            <a:off x="2591285" y="9020731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4E41016-CD48-CBE9-FD18-D656D6DD8507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359936" y="6522302"/>
            <a:ext cx="14708200" cy="224069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53736163-E1B4-0CDF-4646-2664648D12EA}"/>
              </a:ext>
            </a:extLst>
          </p:cNvPr>
          <p:cNvCxnSpPr>
            <a:cxnSpLocks/>
          </p:cNvCxnSpPr>
          <p:nvPr/>
        </p:nvCxnSpPr>
        <p:spPr>
          <a:xfrm flipH="1">
            <a:off x="3399787" y="10288828"/>
            <a:ext cx="14699557" cy="129575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8B2376-BAB5-5627-27E0-3CF5CC5DF92E}"/>
              </a:ext>
            </a:extLst>
          </p:cNvPr>
          <p:cNvSpPr/>
          <p:nvPr/>
        </p:nvSpPr>
        <p:spPr>
          <a:xfrm>
            <a:off x="533401" y="7718491"/>
            <a:ext cx="1721636" cy="523163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038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C503-E8D7-262C-3D21-693845AE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55EEEED0-C4BD-FD54-35C7-A100D95A29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07F1F7B-D8CA-D396-7D1A-E2A8EB8E40B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8AF4CA-679B-5C9C-42F3-D7DA26D28B86}"/>
              </a:ext>
            </a:extLst>
          </p:cNvPr>
          <p:cNvSpPr txBox="1"/>
          <p:nvPr/>
        </p:nvSpPr>
        <p:spPr>
          <a:xfrm>
            <a:off x="457200" y="2131413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2EAFD0-0A7A-AF2A-D54C-96B1A4AA0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1" y="4876800"/>
            <a:ext cx="24360809" cy="822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036D28-B148-2782-5DE2-21F0947CA01E}"/>
              </a:ext>
            </a:extLst>
          </p:cNvPr>
          <p:cNvSpPr txBox="1"/>
          <p:nvPr/>
        </p:nvSpPr>
        <p:spPr>
          <a:xfrm>
            <a:off x="12210221" y="4853609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1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6144864-9B59-A1CC-CB75-03C9C0971669}"/>
              </a:ext>
            </a:extLst>
          </p:cNvPr>
          <p:cNvCxnSpPr>
            <a:cxnSpLocks/>
          </p:cNvCxnSpPr>
          <p:nvPr/>
        </p:nvCxnSpPr>
        <p:spPr>
          <a:xfrm flipH="1">
            <a:off x="8382001" y="5646241"/>
            <a:ext cx="4876800" cy="159275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17AA597-DA1B-5506-47B4-4AA1050812B8}"/>
              </a:ext>
            </a:extLst>
          </p:cNvPr>
          <p:cNvCxnSpPr>
            <a:cxnSpLocks/>
          </p:cNvCxnSpPr>
          <p:nvPr/>
        </p:nvCxnSpPr>
        <p:spPr>
          <a:xfrm>
            <a:off x="14401801" y="5646241"/>
            <a:ext cx="4267200" cy="159275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4412300" y="7262191"/>
            <a:ext cx="19438301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CF8C07-6875-D1FE-0306-F43D180657F5}"/>
              </a:ext>
            </a:extLst>
          </p:cNvPr>
          <p:cNvSpPr/>
          <p:nvPr/>
        </p:nvSpPr>
        <p:spPr>
          <a:xfrm>
            <a:off x="4682650" y="11627239"/>
            <a:ext cx="19438301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134B196-5AD0-6A79-F802-E62226BD835F}"/>
              </a:ext>
            </a:extLst>
          </p:cNvPr>
          <p:cNvCxnSpPr>
            <a:cxnSpLocks/>
          </p:cNvCxnSpPr>
          <p:nvPr/>
        </p:nvCxnSpPr>
        <p:spPr>
          <a:xfrm>
            <a:off x="11734801" y="8663362"/>
            <a:ext cx="0" cy="296387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7315201" y="7258477"/>
            <a:ext cx="914400" cy="66236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19126201" y="7258477"/>
            <a:ext cx="914400" cy="66236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56223"/>
              </p:ext>
            </p:extLst>
          </p:nvPr>
        </p:nvGraphicFramePr>
        <p:xfrm>
          <a:off x="11582403" y="2564148"/>
          <a:ext cx="12245007" cy="1464168"/>
        </p:xfrm>
        <a:graphic>
          <a:graphicData uri="http://schemas.openxmlformats.org/drawingml/2006/table">
            <a:tbl>
              <a:tblPr/>
              <a:tblGrid>
                <a:gridCol w="1523997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5205757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39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9871-27B5-CCDF-D69B-DCCDEC42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6A6C3379-69C2-DA50-8CC0-3F56523550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C8F6C53-50BD-2C9A-92A2-FBB670B2BEA4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42A7B-8767-3048-2979-F4DB86784C16}"/>
              </a:ext>
            </a:extLst>
          </p:cNvPr>
          <p:cNvSpPr txBox="1"/>
          <p:nvPr/>
        </p:nvSpPr>
        <p:spPr>
          <a:xfrm>
            <a:off x="457200" y="2131413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A2EC640C-D363-666F-2645-409DA4606549}"/>
              </a:ext>
            </a:extLst>
          </p:cNvPr>
          <p:cNvGraphicFramePr>
            <a:graphicFrameLocks noGrp="1"/>
          </p:cNvGraphicFramePr>
          <p:nvPr/>
        </p:nvGraphicFramePr>
        <p:xfrm>
          <a:off x="1078395" y="3276600"/>
          <a:ext cx="4157870" cy="9601239"/>
        </p:xfrm>
        <a:graphic>
          <a:graphicData uri="http://schemas.openxmlformats.org/drawingml/2006/table">
            <a:tbl>
              <a:tblPr/>
              <a:tblGrid>
                <a:gridCol w="546427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7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91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16613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-300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-400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3777D550-FFB5-6213-0C8E-D995104EF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53" y="2919354"/>
            <a:ext cx="16860881" cy="50292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1ECD107-B84D-996F-1450-7D9D857540CA}"/>
              </a:ext>
            </a:extLst>
          </p:cNvPr>
          <p:cNvSpPr/>
          <p:nvPr/>
        </p:nvSpPr>
        <p:spPr>
          <a:xfrm>
            <a:off x="10578547" y="5404384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C96B16-335D-89BB-E13B-468D5A8ACF48}"/>
              </a:ext>
            </a:extLst>
          </p:cNvPr>
          <p:cNvSpPr/>
          <p:nvPr/>
        </p:nvSpPr>
        <p:spPr>
          <a:xfrm>
            <a:off x="13525445" y="5433954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81CEFA-DE7E-4975-383D-8E8B8198F5D1}"/>
              </a:ext>
            </a:extLst>
          </p:cNvPr>
          <p:cNvSpPr/>
          <p:nvPr/>
        </p:nvSpPr>
        <p:spPr>
          <a:xfrm>
            <a:off x="18399441" y="5453585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EB1CAE-58E2-AFE2-0F8F-43E2999CA554}"/>
              </a:ext>
            </a:extLst>
          </p:cNvPr>
          <p:cNvSpPr/>
          <p:nvPr/>
        </p:nvSpPr>
        <p:spPr>
          <a:xfrm>
            <a:off x="15986582" y="5453585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5D5D82-2C33-92D6-877B-53EC1F269AFA}"/>
              </a:ext>
            </a:extLst>
          </p:cNvPr>
          <p:cNvSpPr/>
          <p:nvPr/>
        </p:nvSpPr>
        <p:spPr>
          <a:xfrm>
            <a:off x="20812300" y="5417142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0E15E5-3E90-3FB3-B640-030A8F31F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05" y="8763000"/>
            <a:ext cx="16860881" cy="4495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ADE7F42-F479-541A-1DDA-A3981E475159}"/>
              </a:ext>
            </a:extLst>
          </p:cNvPr>
          <p:cNvSpPr txBox="1"/>
          <p:nvPr/>
        </p:nvSpPr>
        <p:spPr>
          <a:xfrm>
            <a:off x="6004435" y="2144665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ADD ~ SLTU</a:t>
            </a:r>
            <a:endParaRPr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2B189C-38F1-DEFC-E5F9-ADCF633C7687}"/>
              </a:ext>
            </a:extLst>
          </p:cNvPr>
          <p:cNvSpPr txBox="1"/>
          <p:nvPr/>
        </p:nvSpPr>
        <p:spPr>
          <a:xfrm>
            <a:off x="5958053" y="8008460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XOR ~ AND</a:t>
            </a:r>
            <a:endParaRPr lang="ko-KR" altLang="en-US" sz="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933543-2EBA-B688-F917-9305A1D5EA6E}"/>
              </a:ext>
            </a:extLst>
          </p:cNvPr>
          <p:cNvSpPr/>
          <p:nvPr/>
        </p:nvSpPr>
        <p:spPr>
          <a:xfrm>
            <a:off x="1045570" y="4752999"/>
            <a:ext cx="4190694" cy="4010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94D141-25DC-E347-2BB8-EF5D7E2265F9}"/>
              </a:ext>
            </a:extLst>
          </p:cNvPr>
          <p:cNvSpPr/>
          <p:nvPr/>
        </p:nvSpPr>
        <p:spPr>
          <a:xfrm>
            <a:off x="1045570" y="8795541"/>
            <a:ext cx="4190694" cy="4082298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641C12B-5B8F-05B4-E39D-2D9BEFA83B3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236264" y="5433955"/>
            <a:ext cx="721789" cy="7382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F6A911A-6D43-8110-7AD6-10BBAEDDCB96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269393" y="10844155"/>
            <a:ext cx="701912" cy="166745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AC4AEF-A197-FA74-15CC-74983CD8FF7D}"/>
              </a:ext>
            </a:extLst>
          </p:cNvPr>
          <p:cNvSpPr/>
          <p:nvPr/>
        </p:nvSpPr>
        <p:spPr>
          <a:xfrm>
            <a:off x="13258799" y="11010900"/>
            <a:ext cx="1142945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561440-776C-533D-B80D-CCEBBA28B3A9}"/>
              </a:ext>
            </a:extLst>
          </p:cNvPr>
          <p:cNvSpPr/>
          <p:nvPr/>
        </p:nvSpPr>
        <p:spPr>
          <a:xfrm>
            <a:off x="15103656" y="11027465"/>
            <a:ext cx="1431744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D7FE6D6-E1DD-88F9-B775-CABDC50A4F30}"/>
              </a:ext>
            </a:extLst>
          </p:cNvPr>
          <p:cNvSpPr/>
          <p:nvPr/>
        </p:nvSpPr>
        <p:spPr>
          <a:xfrm>
            <a:off x="17449800" y="11000961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F4816DC-6279-0E48-C434-0B1129631C3E}"/>
              </a:ext>
            </a:extLst>
          </p:cNvPr>
          <p:cNvSpPr/>
          <p:nvPr/>
        </p:nvSpPr>
        <p:spPr>
          <a:xfrm>
            <a:off x="19431000" y="11027465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066807-5EA9-51B7-B47A-F7F08945935B}"/>
              </a:ext>
            </a:extLst>
          </p:cNvPr>
          <p:cNvSpPr/>
          <p:nvPr/>
        </p:nvSpPr>
        <p:spPr>
          <a:xfrm>
            <a:off x="21397191" y="11010899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2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20DA-B81F-E709-67AE-1A419CC7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2DCE1584-4F81-4BD3-CD0C-3AC3010A6C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61239A2-B871-9A9D-23BC-D133E39176D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F3956-7514-67A3-6148-1DC684D2CD24}"/>
              </a:ext>
            </a:extLst>
          </p:cNvPr>
          <p:cNvSpPr txBox="1"/>
          <p:nvPr/>
        </p:nvSpPr>
        <p:spPr>
          <a:xfrm>
            <a:off x="457200" y="2131413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simulation(INSTR mem &amp; PC)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E902D8-C3DD-C5C4-6265-3967B5E4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16" y="2940610"/>
            <a:ext cx="23515983" cy="103943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C91A02-05BC-F698-AE2D-B5E5CE1395D8}"/>
              </a:ext>
            </a:extLst>
          </p:cNvPr>
          <p:cNvSpPr/>
          <p:nvPr/>
        </p:nvSpPr>
        <p:spPr>
          <a:xfrm>
            <a:off x="3505202" y="5562600"/>
            <a:ext cx="20497798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C187AD-2166-4A58-1D2B-1AE110423D08}"/>
              </a:ext>
            </a:extLst>
          </p:cNvPr>
          <p:cNvSpPr/>
          <p:nvPr/>
        </p:nvSpPr>
        <p:spPr>
          <a:xfrm>
            <a:off x="3505201" y="11643558"/>
            <a:ext cx="20497797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612641-56BD-F782-265F-16C4834EF1DF}"/>
              </a:ext>
            </a:extLst>
          </p:cNvPr>
          <p:cNvSpPr txBox="1"/>
          <p:nvPr/>
        </p:nvSpPr>
        <p:spPr>
          <a:xfrm>
            <a:off x="8686800" y="882376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F58339B-05FD-D962-55C3-5D77AF4F34F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20300" y="9531647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B1A816-8418-723B-06E7-72EF5E97EDFA}"/>
              </a:ext>
            </a:extLst>
          </p:cNvPr>
          <p:cNvSpPr txBox="1"/>
          <p:nvPr/>
        </p:nvSpPr>
        <p:spPr>
          <a:xfrm>
            <a:off x="12420600" y="3862877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29D83E6-D9D8-35EB-0B75-1B3B7E35FEF6}"/>
              </a:ext>
            </a:extLst>
          </p:cNvPr>
          <p:cNvCxnSpPr>
            <a:cxnSpLocks/>
          </p:cNvCxnSpPr>
          <p:nvPr/>
        </p:nvCxnSpPr>
        <p:spPr>
          <a:xfrm flipH="1">
            <a:off x="14135100" y="4506644"/>
            <a:ext cx="114300" cy="105595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4BEA26F-585B-8B8F-27A3-618D5C42C674}"/>
              </a:ext>
            </a:extLst>
          </p:cNvPr>
          <p:cNvCxnSpPr>
            <a:cxnSpLocks/>
          </p:cNvCxnSpPr>
          <p:nvPr/>
        </p:nvCxnSpPr>
        <p:spPr>
          <a:xfrm flipV="1">
            <a:off x="13868400" y="6201771"/>
            <a:ext cx="115127" cy="54417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BF0334-481B-C63B-9C3C-B77C774C7410}"/>
              </a:ext>
            </a:extLst>
          </p:cNvPr>
          <p:cNvSpPr txBox="1"/>
          <p:nvPr/>
        </p:nvSpPr>
        <p:spPr>
          <a:xfrm>
            <a:off x="14178998" y="8651360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236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D91B-C3CB-0025-989B-2F4A13D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EDCEE28-8E74-CC3D-B982-C27881ADB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F36D86-FB21-5573-82A5-755A82FD2F8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6751FF-0F5C-57C8-F7A2-611B0D7B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23151"/>
              </p:ext>
            </p:extLst>
          </p:nvPr>
        </p:nvGraphicFramePr>
        <p:xfrm>
          <a:off x="1828801" y="105156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94362"/>
              </p:ext>
            </p:extLst>
          </p:nvPr>
        </p:nvGraphicFramePr>
        <p:xfrm>
          <a:off x="1828801" y="114300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 - shift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06251"/>
              </p:ext>
            </p:extLst>
          </p:nvPr>
        </p:nvGraphicFramePr>
        <p:xfrm>
          <a:off x="4419600" y="3124200"/>
          <a:ext cx="14554204" cy="3657600"/>
        </p:xfrm>
        <a:graphic>
          <a:graphicData uri="http://schemas.openxmlformats.org/drawingml/2006/table">
            <a:tbl>
              <a:tblPr/>
              <a:tblGrid>
                <a:gridCol w="1985209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ANDI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x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0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x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137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5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6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962400" y="7313603"/>
            <a:ext cx="18059400" cy="3034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Rs1, </a:t>
            </a:r>
            <a:r>
              <a:rPr lang="ko-KR" altLang="en-US" sz="4400" dirty="0"/>
              <a:t>상수 </a:t>
            </a:r>
            <a:r>
              <a:rPr lang="en-US" altLang="ko-KR" sz="4400" dirty="0" err="1"/>
              <a:t>imm</a:t>
            </a:r>
            <a:r>
              <a:rPr lang="ko-KR" altLang="en-US" sz="4400" dirty="0"/>
              <a:t>을 산술 연산하는 명령어</a:t>
            </a: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shift </a:t>
            </a:r>
            <a:r>
              <a:rPr lang="ko-KR" altLang="en-US" sz="4400" dirty="0"/>
              <a:t>연산자 이외의 명령어는 </a:t>
            </a:r>
            <a:r>
              <a:rPr lang="en-US" altLang="ko-KR" sz="4400" dirty="0"/>
              <a:t>Funct3</a:t>
            </a:r>
            <a:r>
              <a:rPr lang="ko-KR" altLang="en-US" sz="4400" dirty="0"/>
              <a:t> 의해 결정</a:t>
            </a: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Shift </a:t>
            </a:r>
            <a:r>
              <a:rPr lang="ko-KR" altLang="en-US" sz="4400" dirty="0"/>
              <a:t>연산자는 </a:t>
            </a:r>
            <a:r>
              <a:rPr lang="en-US" altLang="ko-KR" sz="4400" dirty="0"/>
              <a:t>Funct7,Funct3</a:t>
            </a:r>
            <a:r>
              <a:rPr lang="ko-KR" altLang="en-US" sz="4400" dirty="0"/>
              <a:t>에 의해 결정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3215469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D91B-C3CB-0025-989B-2F4A13D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9AFBA95-237C-6AF1-1BE2-1E43950A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70" y="2373399"/>
            <a:ext cx="11302334" cy="9728161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EDCEE28-8E74-CC3D-B982-C27881ADB0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F36D86-FB21-5573-82A5-755A82FD2F8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96331-D1FB-ACD7-71EB-380C942C54C9}"/>
              </a:ext>
            </a:extLst>
          </p:cNvPr>
          <p:cNvSpPr txBox="1"/>
          <p:nvPr/>
        </p:nvSpPr>
        <p:spPr>
          <a:xfrm>
            <a:off x="162339" y="2248029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6751FF-0F5C-57C8-F7A2-611B0D7B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14751"/>
              </p:ext>
            </p:extLst>
          </p:nvPr>
        </p:nvGraphicFramePr>
        <p:xfrm>
          <a:off x="1563577" y="1224267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0E55E4A-86B2-AE05-9DEA-294879121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11893"/>
              </p:ext>
            </p:extLst>
          </p:nvPr>
        </p:nvGraphicFramePr>
        <p:xfrm>
          <a:off x="13851309" y="2819400"/>
          <a:ext cx="7381460" cy="8249325"/>
        </p:xfrm>
        <a:graphic>
          <a:graphicData uri="http://schemas.openxmlformats.org/drawingml/2006/table">
            <a:tbl>
              <a:tblPr/>
              <a:tblGrid>
                <a:gridCol w="2952584">
                  <a:extLst>
                    <a:ext uri="{9D8B030D-6E8A-4147-A177-3AD203B41FA5}">
                      <a16:colId xmlns:a16="http://schemas.microsoft.com/office/drawing/2014/main" val="870163477"/>
                    </a:ext>
                  </a:extLst>
                </a:gridCol>
                <a:gridCol w="1476292">
                  <a:extLst>
                    <a:ext uri="{9D8B030D-6E8A-4147-A177-3AD203B41FA5}">
                      <a16:colId xmlns:a16="http://schemas.microsoft.com/office/drawing/2014/main" val="306369564"/>
                    </a:ext>
                  </a:extLst>
                </a:gridCol>
                <a:gridCol w="2952584">
                  <a:extLst>
                    <a:ext uri="{9D8B030D-6E8A-4147-A177-3AD203B41FA5}">
                      <a16:colId xmlns:a16="http://schemas.microsoft.com/office/drawing/2014/main" val="1666020689"/>
                    </a:ext>
                  </a:extLst>
                </a:gridCol>
              </a:tblGrid>
              <a:tr h="738636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2605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47273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781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3962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5259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SLL,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SRL,SRA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91472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24779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3525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4824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66544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2263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1EA170E-6102-9348-2B09-F47D8010B46F}"/>
              </a:ext>
            </a:extLst>
          </p:cNvPr>
          <p:cNvSpPr txBox="1"/>
          <p:nvPr/>
        </p:nvSpPr>
        <p:spPr>
          <a:xfrm>
            <a:off x="4626970" y="4055299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2B598-43DD-666E-2FA1-2493971F9721}"/>
              </a:ext>
            </a:extLst>
          </p:cNvPr>
          <p:cNvSpPr txBox="1"/>
          <p:nvPr/>
        </p:nvSpPr>
        <p:spPr>
          <a:xfrm>
            <a:off x="5773283" y="409779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27AD9B-E058-BFAD-BA94-EBF258B27BDB}"/>
              </a:ext>
            </a:extLst>
          </p:cNvPr>
          <p:cNvSpPr txBox="1"/>
          <p:nvPr/>
        </p:nvSpPr>
        <p:spPr>
          <a:xfrm>
            <a:off x="9205596" y="409779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F27317-F3D2-BF9A-14DE-5856CE4253CF}"/>
              </a:ext>
            </a:extLst>
          </p:cNvPr>
          <p:cNvSpPr txBox="1"/>
          <p:nvPr/>
        </p:nvSpPr>
        <p:spPr>
          <a:xfrm>
            <a:off x="6760570" y="4111047"/>
            <a:ext cx="2062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042B8-78EE-2C43-E468-0F85B2C6F9E4}"/>
              </a:ext>
            </a:extLst>
          </p:cNvPr>
          <p:cNvSpPr txBox="1"/>
          <p:nvPr/>
        </p:nvSpPr>
        <p:spPr>
          <a:xfrm>
            <a:off x="2569570" y="9008299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7D407-F148-2D83-9F36-0900C146E0C5}"/>
              </a:ext>
            </a:extLst>
          </p:cNvPr>
          <p:cNvSpPr txBox="1"/>
          <p:nvPr/>
        </p:nvSpPr>
        <p:spPr>
          <a:xfrm>
            <a:off x="5236570" y="7865299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986426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I-shift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326474" y="6528563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shift  </a:t>
            </a:r>
            <a:r>
              <a:rPr lang="ko-KR" altLang="en-US" sz="2400" b="1" dirty="0"/>
              <a:t>명령어</a:t>
            </a:r>
            <a:r>
              <a:rPr lang="en-US" altLang="ko-KR" sz="2400" b="1" dirty="0"/>
              <a:t>:</a:t>
            </a:r>
          </a:p>
          <a:p>
            <a:r>
              <a:rPr lang="ko-KR" altLang="en-US" sz="2400" b="1" dirty="0"/>
              <a:t> </a:t>
            </a:r>
            <a:r>
              <a:rPr lang="en-US" altLang="ko-KR" sz="2400" b="1" dirty="0"/>
              <a:t>funct7[5]</a:t>
            </a:r>
            <a:r>
              <a:rPr lang="ko-KR" altLang="en-US" sz="2400" b="1" dirty="0"/>
              <a:t>의해 동작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9998" y="7341025"/>
            <a:ext cx="3074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other </a:t>
            </a:r>
            <a:r>
              <a:rPr lang="ko-KR" altLang="en-US" sz="2400" b="1" dirty="0"/>
              <a:t>명령어</a:t>
            </a:r>
            <a:r>
              <a:rPr lang="en-US" altLang="ko-KR" sz="2400" b="1" dirty="0"/>
              <a:t>:</a:t>
            </a:r>
          </a:p>
          <a:p>
            <a:r>
              <a:rPr lang="ko-KR" altLang="en-US" sz="2400" b="1" dirty="0"/>
              <a:t> </a:t>
            </a:r>
            <a:r>
              <a:rPr lang="en-US" altLang="ko-KR" sz="2400" b="1" dirty="0"/>
              <a:t>funct7[5] </a:t>
            </a:r>
            <a:r>
              <a:rPr lang="ko-KR" altLang="en-US" sz="2400" b="1" dirty="0"/>
              <a:t>관계없음</a:t>
            </a:r>
          </a:p>
        </p:txBody>
      </p:sp>
    </p:spTree>
    <p:extLst>
      <p:ext uri="{BB962C8B-B14F-4D97-AF65-F5344CB8AC3E}">
        <p14:creationId xmlns:p14="http://schemas.microsoft.com/office/powerpoint/2010/main" val="274175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6DD7-E547-4AE5-B7F6-583F6B7B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519F53E-FFDD-CD3C-B35E-9730713A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86" y="2372493"/>
            <a:ext cx="11302334" cy="9728161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888B5E8-F5D6-462E-9CDD-2FECC36A1F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22A937-64CA-FB78-BF9D-88DFBDCBB16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F9D4D-6003-F0C6-0B7F-E108A17A7BE0}"/>
              </a:ext>
            </a:extLst>
          </p:cNvPr>
          <p:cNvSpPr txBox="1"/>
          <p:nvPr/>
        </p:nvSpPr>
        <p:spPr>
          <a:xfrm>
            <a:off x="464625" y="2365867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763697"/>
              </p:ext>
            </p:extLst>
          </p:nvPr>
        </p:nvGraphicFramePr>
        <p:xfrm>
          <a:off x="1600200" y="12268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24F7FB6-6890-3A79-EA02-490A7C2B9F53}"/>
              </a:ext>
            </a:extLst>
          </p:cNvPr>
          <p:cNvSpPr txBox="1"/>
          <p:nvPr/>
        </p:nvSpPr>
        <p:spPr>
          <a:xfrm>
            <a:off x="5562600" y="4114800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68C5BB-6735-BC85-EA13-9BD39045FF40}"/>
              </a:ext>
            </a:extLst>
          </p:cNvPr>
          <p:cNvSpPr txBox="1"/>
          <p:nvPr/>
        </p:nvSpPr>
        <p:spPr>
          <a:xfrm>
            <a:off x="6708913" y="4157296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F040C7-D4E7-E33D-61AE-B5959F12649C}"/>
              </a:ext>
            </a:extLst>
          </p:cNvPr>
          <p:cNvSpPr txBox="1"/>
          <p:nvPr/>
        </p:nvSpPr>
        <p:spPr>
          <a:xfrm>
            <a:off x="10141226" y="4157296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DE988-3844-9BBD-115B-DEB15FE2BE00}"/>
              </a:ext>
            </a:extLst>
          </p:cNvPr>
          <p:cNvSpPr txBox="1"/>
          <p:nvPr/>
        </p:nvSpPr>
        <p:spPr>
          <a:xfrm>
            <a:off x="7696200" y="4170548"/>
            <a:ext cx="2062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715FF-36C7-6B25-A6B1-4C6E3AF16E17}"/>
              </a:ext>
            </a:extLst>
          </p:cNvPr>
          <p:cNvSpPr txBox="1"/>
          <p:nvPr/>
        </p:nvSpPr>
        <p:spPr>
          <a:xfrm>
            <a:off x="3505200" y="90678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A298E-5A1D-B51A-2940-7B1F3427FB64}"/>
              </a:ext>
            </a:extLst>
          </p:cNvPr>
          <p:cNvSpPr txBox="1"/>
          <p:nvPr/>
        </p:nvSpPr>
        <p:spPr>
          <a:xfrm>
            <a:off x="6172200" y="7924800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A334EF0-0E28-30A2-1379-DEAAF4AC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96911"/>
              </p:ext>
            </p:extLst>
          </p:nvPr>
        </p:nvGraphicFramePr>
        <p:xfrm>
          <a:off x="12973355" y="4568789"/>
          <a:ext cx="10711995" cy="4996725"/>
        </p:xfrm>
        <a:graphic>
          <a:graphicData uri="http://schemas.openxmlformats.org/drawingml/2006/table">
            <a:tbl>
              <a:tblPr/>
              <a:tblGrid>
                <a:gridCol w="852423">
                  <a:extLst>
                    <a:ext uri="{9D8B030D-6E8A-4147-A177-3AD203B41FA5}">
                      <a16:colId xmlns:a16="http://schemas.microsoft.com/office/drawing/2014/main" val="1686743289"/>
                    </a:ext>
                  </a:extLst>
                </a:gridCol>
                <a:gridCol w="1221551">
                  <a:extLst>
                    <a:ext uri="{9D8B030D-6E8A-4147-A177-3AD203B41FA5}">
                      <a16:colId xmlns:a16="http://schemas.microsoft.com/office/drawing/2014/main" val="16940635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419310636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26078962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781578471"/>
                    </a:ext>
                  </a:extLst>
                </a:gridCol>
                <a:gridCol w="969820">
                  <a:extLst>
                    <a:ext uri="{9D8B030D-6E8A-4147-A177-3AD203B41FA5}">
                      <a16:colId xmlns:a16="http://schemas.microsoft.com/office/drawing/2014/main" val="278234494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331381186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94380760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290620688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85403473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581163607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33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ALU_control</a:t>
                      </a: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31460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97346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97199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29480"/>
                  </a:ext>
                </a:extLst>
              </a:tr>
              <a:tr h="456794">
                <a:tc grid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sng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6774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+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a&lt;&lt;b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(a&lt;b)?1:0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98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72612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0286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938983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I-shift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779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AAFF-68E7-F54E-6E89-AE5D3608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0355574-0FCC-5036-A4D1-ACF041094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8398E8-0F05-C33E-E3D4-A165ADDBD96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13069-46EF-3256-DD78-0D1B201613AE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9DD0C284-195D-5AC8-BF6A-CABB2EE36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95054"/>
              </p:ext>
            </p:extLst>
          </p:nvPr>
        </p:nvGraphicFramePr>
        <p:xfrm>
          <a:off x="1514128" y="4572000"/>
          <a:ext cx="11668471" cy="5056883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  <a:gridCol w="4267199">
                  <a:extLst>
                    <a:ext uri="{9D8B030D-6E8A-4147-A177-3AD203B41FA5}">
                      <a16:colId xmlns:a16="http://schemas.microsoft.com/office/drawing/2014/main" val="439004716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용도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Full case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r>
                        <a:rPr lang="en-US" sz="3600" dirty="0"/>
                        <a:t> </a:t>
                      </a:r>
                      <a:r>
                        <a:rPr lang="ko-KR" altLang="en-US" sz="3600" dirty="0"/>
                        <a:t>연산을 제외한 나머지 </a:t>
                      </a:r>
                      <a:r>
                        <a:rPr lang="en-US" altLang="ko-KR" sz="3600" dirty="0"/>
                        <a:t>case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SLTI,SLTUI,SRLI,SRAI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rd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Alu_result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F3A3472B-28E5-5EF0-C528-B04F961C8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42935"/>
              </p:ext>
            </p:extLst>
          </p:nvPr>
        </p:nvGraphicFramePr>
        <p:xfrm>
          <a:off x="14249400" y="2577594"/>
          <a:ext cx="6553201" cy="7991181"/>
        </p:xfrm>
        <a:graphic>
          <a:graphicData uri="http://schemas.openxmlformats.org/drawingml/2006/table">
            <a:tbl>
              <a:tblPr/>
              <a:tblGrid>
                <a:gridCol w="99037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322307"/>
              </p:ext>
            </p:extLst>
          </p:nvPr>
        </p:nvGraphicFramePr>
        <p:xfrm>
          <a:off x="1600200" y="12268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878059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I-shift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61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EB64-EB0C-D5C5-9179-713D294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CE0125A-D69E-A649-84D0-28BA8907F8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8D0F978-3614-8DF0-D82A-838F46FBC421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BB3B1-7977-BBA3-99BC-75943423CA89}"/>
              </a:ext>
            </a:extLst>
          </p:cNvPr>
          <p:cNvSpPr txBox="1"/>
          <p:nvPr/>
        </p:nvSpPr>
        <p:spPr>
          <a:xfrm>
            <a:off x="1305339" y="2426274"/>
            <a:ext cx="6009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5A4364-FBBB-AF9D-1969-4BAA21D7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86"/>
          <a:stretch>
            <a:fillRect/>
          </a:stretch>
        </p:blipFill>
        <p:spPr>
          <a:xfrm>
            <a:off x="457200" y="3173944"/>
            <a:ext cx="14859000" cy="1051440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55A0D1-8E2E-0ED4-5D84-F88779661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89515"/>
              </p:ext>
            </p:extLst>
          </p:nvPr>
        </p:nvGraphicFramePr>
        <p:xfrm>
          <a:off x="15830115" y="3568100"/>
          <a:ext cx="7381460" cy="8249325"/>
        </p:xfrm>
        <a:graphic>
          <a:graphicData uri="http://schemas.openxmlformats.org/drawingml/2006/table">
            <a:tbl>
              <a:tblPr/>
              <a:tblGrid>
                <a:gridCol w="2952584">
                  <a:extLst>
                    <a:ext uri="{9D8B030D-6E8A-4147-A177-3AD203B41FA5}">
                      <a16:colId xmlns:a16="http://schemas.microsoft.com/office/drawing/2014/main" val="870163477"/>
                    </a:ext>
                  </a:extLst>
                </a:gridCol>
                <a:gridCol w="1476292">
                  <a:extLst>
                    <a:ext uri="{9D8B030D-6E8A-4147-A177-3AD203B41FA5}">
                      <a16:colId xmlns:a16="http://schemas.microsoft.com/office/drawing/2014/main" val="306369564"/>
                    </a:ext>
                  </a:extLst>
                </a:gridCol>
                <a:gridCol w="2952584">
                  <a:extLst>
                    <a:ext uri="{9D8B030D-6E8A-4147-A177-3AD203B41FA5}">
                      <a16:colId xmlns:a16="http://schemas.microsoft.com/office/drawing/2014/main" val="1666020689"/>
                    </a:ext>
                  </a:extLst>
                </a:gridCol>
              </a:tblGrid>
              <a:tr h="738636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2605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47273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781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3962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5259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SRL,SRA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91472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24779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3525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4824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66544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226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DE5926-D763-6131-7D32-8447FE36CE1B}"/>
              </a:ext>
            </a:extLst>
          </p:cNvPr>
          <p:cNvSpPr txBox="1"/>
          <p:nvPr/>
        </p:nvSpPr>
        <p:spPr>
          <a:xfrm>
            <a:off x="2400300" y="759791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0E703-9346-128B-F42F-B7AB05CE515D}"/>
              </a:ext>
            </a:extLst>
          </p:cNvPr>
          <p:cNvSpPr txBox="1"/>
          <p:nvPr/>
        </p:nvSpPr>
        <p:spPr>
          <a:xfrm>
            <a:off x="2586506" y="9113632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1332BE-2753-5862-F9CD-B2CFCE0C31D0}"/>
              </a:ext>
            </a:extLst>
          </p:cNvPr>
          <p:cNvSpPr txBox="1"/>
          <p:nvPr/>
        </p:nvSpPr>
        <p:spPr>
          <a:xfrm>
            <a:off x="2770355" y="8431146"/>
            <a:ext cx="593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1C4EB-5B72-76A4-DA61-9996ACCFA01A}"/>
              </a:ext>
            </a:extLst>
          </p:cNvPr>
          <p:cNvSpPr txBox="1"/>
          <p:nvPr/>
        </p:nvSpPr>
        <p:spPr>
          <a:xfrm>
            <a:off x="2586506" y="1050400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EAAD1-766B-6686-66B2-5A7DD202BA05}"/>
              </a:ext>
            </a:extLst>
          </p:cNvPr>
          <p:cNvSpPr txBox="1"/>
          <p:nvPr/>
        </p:nvSpPr>
        <p:spPr>
          <a:xfrm>
            <a:off x="2586506" y="1120305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CD8F2-D83A-5540-6EF3-7810BD5BA9E9}"/>
              </a:ext>
            </a:extLst>
          </p:cNvPr>
          <p:cNvSpPr txBox="1"/>
          <p:nvPr/>
        </p:nvSpPr>
        <p:spPr>
          <a:xfrm>
            <a:off x="2586506" y="12772837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C1028E-CD8F-74EC-B78D-8A96DF63CBF3}"/>
              </a:ext>
            </a:extLst>
          </p:cNvPr>
          <p:cNvSpPr txBox="1"/>
          <p:nvPr/>
        </p:nvSpPr>
        <p:spPr>
          <a:xfrm>
            <a:off x="2564131" y="12014467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B76D67-6A31-DB3A-B4A6-192FE56A22B4}"/>
              </a:ext>
            </a:extLst>
          </p:cNvPr>
          <p:cNvSpPr/>
          <p:nvPr/>
        </p:nvSpPr>
        <p:spPr>
          <a:xfrm>
            <a:off x="15873767" y="5103298"/>
            <a:ext cx="7337808" cy="21224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F39077-546B-6FB9-B465-08FF52EA5444}"/>
              </a:ext>
            </a:extLst>
          </p:cNvPr>
          <p:cNvSpPr/>
          <p:nvPr/>
        </p:nvSpPr>
        <p:spPr>
          <a:xfrm>
            <a:off x="15851941" y="8812296"/>
            <a:ext cx="7337808" cy="2880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B6B076C-0FBA-8302-8665-72932D17DF98}"/>
              </a:ext>
            </a:extLst>
          </p:cNvPr>
          <p:cNvCxnSpPr>
            <a:cxnSpLocks/>
          </p:cNvCxnSpPr>
          <p:nvPr/>
        </p:nvCxnSpPr>
        <p:spPr>
          <a:xfrm flipH="1">
            <a:off x="3505200" y="6118086"/>
            <a:ext cx="12324915" cy="269421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D36A58-9DFD-6E6C-7F74-88E98C3E142B}"/>
              </a:ext>
            </a:extLst>
          </p:cNvPr>
          <p:cNvCxnSpPr>
            <a:cxnSpLocks/>
          </p:cNvCxnSpPr>
          <p:nvPr/>
        </p:nvCxnSpPr>
        <p:spPr>
          <a:xfrm flipH="1">
            <a:off x="3657600" y="10121147"/>
            <a:ext cx="12150689" cy="178979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8E53C3-AF15-8942-6658-4FD88AE0B328}"/>
              </a:ext>
            </a:extLst>
          </p:cNvPr>
          <p:cNvSpPr/>
          <p:nvPr/>
        </p:nvSpPr>
        <p:spPr>
          <a:xfrm>
            <a:off x="533400" y="7454605"/>
            <a:ext cx="2030731" cy="602611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558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87A6-B024-278C-A785-E2D12698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86348BA-5671-1683-FE73-D0F2BD9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ADDF8C5-08FE-63BB-F29C-DF93F4268FD4}"/>
              </a:ext>
            </a:extLst>
          </p:cNvPr>
          <p:cNvSpPr txBox="1"/>
          <p:nvPr/>
        </p:nvSpPr>
        <p:spPr>
          <a:xfrm>
            <a:off x="1295399" y="609600"/>
            <a:ext cx="16306801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F5945-2A79-9B91-9073-71E394A61514}"/>
              </a:ext>
            </a:extLst>
          </p:cNvPr>
          <p:cNvSpPr txBox="1"/>
          <p:nvPr/>
        </p:nvSpPr>
        <p:spPr>
          <a:xfrm>
            <a:off x="1305339" y="2426274"/>
            <a:ext cx="6009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2EFE829-592F-2F12-8F8A-D0528B213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1863"/>
            <a:ext cx="24407191" cy="934413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B0C46C-DE15-372E-71EA-742AB1DA505A}"/>
              </a:ext>
            </a:extLst>
          </p:cNvPr>
          <p:cNvSpPr/>
          <p:nvPr/>
        </p:nvSpPr>
        <p:spPr>
          <a:xfrm>
            <a:off x="3962400" y="12313920"/>
            <a:ext cx="12954000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292C61-3235-92F7-348C-C0DCAF3ABC6A}"/>
              </a:ext>
            </a:extLst>
          </p:cNvPr>
          <p:cNvSpPr/>
          <p:nvPr/>
        </p:nvSpPr>
        <p:spPr>
          <a:xfrm>
            <a:off x="17916938" y="12323858"/>
            <a:ext cx="6152321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FCD4E9-FAF4-3FDB-F667-0CDFEA0125D9}"/>
              </a:ext>
            </a:extLst>
          </p:cNvPr>
          <p:cNvSpPr/>
          <p:nvPr/>
        </p:nvSpPr>
        <p:spPr>
          <a:xfrm>
            <a:off x="12954000" y="7896211"/>
            <a:ext cx="1726096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2CF07F-2E70-93CB-5438-292C02261193}"/>
              </a:ext>
            </a:extLst>
          </p:cNvPr>
          <p:cNvSpPr/>
          <p:nvPr/>
        </p:nvSpPr>
        <p:spPr>
          <a:xfrm>
            <a:off x="3810000" y="6814525"/>
            <a:ext cx="13411200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67C2A-8B4F-08A7-073A-CB1C54246109}"/>
              </a:ext>
            </a:extLst>
          </p:cNvPr>
          <p:cNvSpPr txBox="1"/>
          <p:nvPr/>
        </p:nvSpPr>
        <p:spPr>
          <a:xfrm>
            <a:off x="1827143" y="5773629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funct7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BB6A6-317A-820C-8309-F25557881346}"/>
              </a:ext>
            </a:extLst>
          </p:cNvPr>
          <p:cNvSpPr txBox="1"/>
          <p:nvPr/>
        </p:nvSpPr>
        <p:spPr>
          <a:xfrm>
            <a:off x="1827143" y="6863628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funct3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ADB293-11D3-F24B-FF71-EBE0B675B811}"/>
              </a:ext>
            </a:extLst>
          </p:cNvPr>
          <p:cNvSpPr txBox="1"/>
          <p:nvPr/>
        </p:nvSpPr>
        <p:spPr>
          <a:xfrm>
            <a:off x="1596887" y="7977965"/>
            <a:ext cx="221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OPCODE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153A18-0932-0010-6FEA-11ED0183139A}"/>
              </a:ext>
            </a:extLst>
          </p:cNvPr>
          <p:cNvSpPr txBox="1"/>
          <p:nvPr/>
        </p:nvSpPr>
        <p:spPr>
          <a:xfrm>
            <a:off x="1467678" y="11711653"/>
            <a:ext cx="221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ALU_Ctrl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CA3DC1A-9FC1-4868-C5AD-D7069777DB42}"/>
              </a:ext>
            </a:extLst>
          </p:cNvPr>
          <p:cNvCxnSpPr>
            <a:cxnSpLocks/>
          </p:cNvCxnSpPr>
          <p:nvPr/>
        </p:nvCxnSpPr>
        <p:spPr>
          <a:xfrm flipH="1">
            <a:off x="10896600" y="7698372"/>
            <a:ext cx="76200" cy="46155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CBB09D3-E196-4131-9616-9EE5FD9E7A98}"/>
              </a:ext>
            </a:extLst>
          </p:cNvPr>
          <p:cNvSpPr/>
          <p:nvPr/>
        </p:nvSpPr>
        <p:spPr>
          <a:xfrm>
            <a:off x="18059400" y="5821454"/>
            <a:ext cx="5867400" cy="181161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7080FB0-9FB9-EF9E-440A-CBC40F8C0669}"/>
              </a:ext>
            </a:extLst>
          </p:cNvPr>
          <p:cNvCxnSpPr>
            <a:cxnSpLocks/>
          </p:cNvCxnSpPr>
          <p:nvPr/>
        </p:nvCxnSpPr>
        <p:spPr>
          <a:xfrm flipH="1">
            <a:off x="20885522" y="7603418"/>
            <a:ext cx="76200" cy="46155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A0B76D-6687-9773-7E75-D304DAB89203}"/>
              </a:ext>
            </a:extLst>
          </p:cNvPr>
          <p:cNvSpPr txBox="1"/>
          <p:nvPr/>
        </p:nvSpPr>
        <p:spPr>
          <a:xfrm>
            <a:off x="16746653" y="4420588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0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24F22D-D1C5-22B1-F71D-6581ADF97477}"/>
              </a:ext>
            </a:extLst>
          </p:cNvPr>
          <p:cNvSpPr txBox="1"/>
          <p:nvPr/>
        </p:nvSpPr>
        <p:spPr>
          <a:xfrm>
            <a:off x="21143550" y="4348039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1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CD52BA0-5FD0-676E-E9D4-FC6480B9D60D}"/>
              </a:ext>
            </a:extLst>
          </p:cNvPr>
          <p:cNvCxnSpPr>
            <a:cxnSpLocks/>
          </p:cNvCxnSpPr>
          <p:nvPr/>
        </p:nvCxnSpPr>
        <p:spPr>
          <a:xfrm>
            <a:off x="18665639" y="5273232"/>
            <a:ext cx="1070161" cy="411288"/>
          </a:xfrm>
          <a:prstGeom prst="straightConnector1">
            <a:avLst/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BDA4F3F-11EB-B2F2-509F-BB1B53FC4DC7}"/>
              </a:ext>
            </a:extLst>
          </p:cNvPr>
          <p:cNvCxnSpPr>
            <a:cxnSpLocks/>
          </p:cNvCxnSpPr>
          <p:nvPr/>
        </p:nvCxnSpPr>
        <p:spPr>
          <a:xfrm>
            <a:off x="23283948" y="5074863"/>
            <a:ext cx="0" cy="698766"/>
          </a:xfrm>
          <a:prstGeom prst="straightConnector1">
            <a:avLst/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68302"/>
              </p:ext>
            </p:extLst>
          </p:nvPr>
        </p:nvGraphicFramePr>
        <p:xfrm>
          <a:off x="11582403" y="2564148"/>
          <a:ext cx="11172906" cy="1464168"/>
        </p:xfrm>
        <a:graphic>
          <a:graphicData uri="http://schemas.openxmlformats.org/drawingml/2006/table">
            <a:tbl>
              <a:tblPr/>
              <a:tblGrid>
                <a:gridCol w="1523997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x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x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83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4738-E08F-B1E0-5768-B90D23F3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265AE37B-11A6-36F0-004B-88EA1187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66" y="3429000"/>
            <a:ext cx="24400565" cy="7772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5E9751-3C33-595C-0FE1-ABB3465F9B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A1B4982-D9DB-25B4-EECB-40039EF2B3D0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BB7C6-AFD5-2F31-0D90-6170055E35E4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en-US" altLang="ko-KR" sz="4400" dirty="0" err="1"/>
              <a:t>imm_extender</a:t>
            </a:r>
            <a:r>
              <a:rPr lang="en-US" altLang="ko-KR" sz="4400" dirty="0"/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AAA2D0-29D5-097B-2B2C-32BA08F2E4F7}"/>
              </a:ext>
            </a:extLst>
          </p:cNvPr>
          <p:cNvSpPr/>
          <p:nvPr/>
        </p:nvSpPr>
        <p:spPr>
          <a:xfrm>
            <a:off x="11430000" y="7620000"/>
            <a:ext cx="1371600" cy="1066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CB02E8-74ED-5A64-0FAB-7D512F9367C0}"/>
              </a:ext>
            </a:extLst>
          </p:cNvPr>
          <p:cNvSpPr/>
          <p:nvPr/>
        </p:nvSpPr>
        <p:spPr>
          <a:xfrm>
            <a:off x="6629400" y="9525000"/>
            <a:ext cx="11277600" cy="1066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40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8659-DD9B-D4CE-083A-E2CEB942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0C864C2-4882-7E97-1720-C4E605153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D96C1E1A-6302-4B92-DB25-673D7349544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8C469-D146-449F-87DA-3C09B0263243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1D0C6B07-1A69-B16E-0246-36D59716D267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4114800"/>
          <a:ext cx="4648201" cy="7991181"/>
        </p:xfrm>
        <a:graphic>
          <a:graphicData uri="http://schemas.openxmlformats.org/drawingml/2006/table">
            <a:tbl>
              <a:tblPr/>
              <a:tblGrid>
                <a:gridCol w="5333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2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CD16C80-2F38-818D-ED68-1FE4B3B9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434" y="2895620"/>
            <a:ext cx="18074765" cy="4678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DB7F37-0858-2CB3-33C3-EAF183A52FF2}"/>
              </a:ext>
            </a:extLst>
          </p:cNvPr>
          <p:cNvSpPr txBox="1"/>
          <p:nvPr/>
        </p:nvSpPr>
        <p:spPr>
          <a:xfrm>
            <a:off x="6004435" y="2144665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ADD ~ SLTU</a:t>
            </a:r>
            <a:endParaRPr lang="ko-KR" altLang="en-US" sz="4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2699A5-4830-4AF3-9588-7812E96E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99" y="8763000"/>
            <a:ext cx="18074765" cy="4495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532B81-9D3D-5494-A104-84D38CD8A9C6}"/>
              </a:ext>
            </a:extLst>
          </p:cNvPr>
          <p:cNvSpPr txBox="1"/>
          <p:nvPr/>
        </p:nvSpPr>
        <p:spPr>
          <a:xfrm>
            <a:off x="6004434" y="8103764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AND ~ SRA</a:t>
            </a:r>
            <a:endParaRPr lang="ko-KR" altLang="en-US" sz="4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54ECF1-1DB8-63D6-2DC7-03BCE9BB7E34}"/>
              </a:ext>
            </a:extLst>
          </p:cNvPr>
          <p:cNvSpPr/>
          <p:nvPr/>
        </p:nvSpPr>
        <p:spPr>
          <a:xfrm>
            <a:off x="304800" y="5638800"/>
            <a:ext cx="4648201" cy="3124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AED674-569E-8EF6-06F7-1309E6F50519}"/>
              </a:ext>
            </a:extLst>
          </p:cNvPr>
          <p:cNvSpPr/>
          <p:nvPr/>
        </p:nvSpPr>
        <p:spPr>
          <a:xfrm>
            <a:off x="304800" y="8803006"/>
            <a:ext cx="4648200" cy="330297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C3980CD-7647-201B-53E7-E172AA6368A3}"/>
              </a:ext>
            </a:extLst>
          </p:cNvPr>
          <p:cNvCxnSpPr>
            <a:cxnSpLocks/>
          </p:cNvCxnSpPr>
          <p:nvPr/>
        </p:nvCxnSpPr>
        <p:spPr>
          <a:xfrm flipV="1">
            <a:off x="4953001" y="5433955"/>
            <a:ext cx="1005052" cy="10430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B0157AD-8C69-06EF-5289-4E405BE0C818}"/>
              </a:ext>
            </a:extLst>
          </p:cNvPr>
          <p:cNvCxnSpPr>
            <a:cxnSpLocks/>
          </p:cNvCxnSpPr>
          <p:nvPr/>
        </p:nvCxnSpPr>
        <p:spPr>
          <a:xfrm>
            <a:off x="4966253" y="10439400"/>
            <a:ext cx="1005052" cy="571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2F1C23-BB48-DC88-C28D-34E8EC509888}"/>
              </a:ext>
            </a:extLst>
          </p:cNvPr>
          <p:cNvSpPr/>
          <p:nvPr/>
        </p:nvSpPr>
        <p:spPr>
          <a:xfrm>
            <a:off x="108966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796531-9127-BD29-F60F-D21808ED8EC8}"/>
              </a:ext>
            </a:extLst>
          </p:cNvPr>
          <p:cNvSpPr/>
          <p:nvPr/>
        </p:nvSpPr>
        <p:spPr>
          <a:xfrm>
            <a:off x="141732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746CD2-B4B6-3ECB-7B89-F04E1B4F448F}"/>
              </a:ext>
            </a:extLst>
          </p:cNvPr>
          <p:cNvSpPr/>
          <p:nvPr/>
        </p:nvSpPr>
        <p:spPr>
          <a:xfrm>
            <a:off x="167640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2B54E8-7A18-307A-F3AB-EB3C70585A67}"/>
              </a:ext>
            </a:extLst>
          </p:cNvPr>
          <p:cNvSpPr/>
          <p:nvPr/>
        </p:nvSpPr>
        <p:spPr>
          <a:xfrm>
            <a:off x="195072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8D8B63-6FE1-A625-61FC-9D85CA0496C4}"/>
              </a:ext>
            </a:extLst>
          </p:cNvPr>
          <p:cNvSpPr/>
          <p:nvPr/>
        </p:nvSpPr>
        <p:spPr>
          <a:xfrm>
            <a:off x="12192000" y="11010900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5D3F88-61F5-C94B-49FF-4CC5FC33B226}"/>
              </a:ext>
            </a:extLst>
          </p:cNvPr>
          <p:cNvSpPr/>
          <p:nvPr/>
        </p:nvSpPr>
        <p:spPr>
          <a:xfrm>
            <a:off x="22148895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F10647-C3CA-9264-E08C-C8763480C30B}"/>
              </a:ext>
            </a:extLst>
          </p:cNvPr>
          <p:cNvSpPr/>
          <p:nvPr/>
        </p:nvSpPr>
        <p:spPr>
          <a:xfrm>
            <a:off x="17472991" y="4422490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0BC338-1EB4-55B5-5B4F-77C3EE27B0B9}"/>
              </a:ext>
            </a:extLst>
          </p:cNvPr>
          <p:cNvSpPr/>
          <p:nvPr/>
        </p:nvSpPr>
        <p:spPr>
          <a:xfrm>
            <a:off x="15392400" y="11004274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AFF15F-66F4-A244-B0DA-4687335E1705}"/>
              </a:ext>
            </a:extLst>
          </p:cNvPr>
          <p:cNvSpPr/>
          <p:nvPr/>
        </p:nvSpPr>
        <p:spPr>
          <a:xfrm>
            <a:off x="18592800" y="11004274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552BB2-0254-8C44-F21C-DC331A28597F}"/>
              </a:ext>
            </a:extLst>
          </p:cNvPr>
          <p:cNvSpPr/>
          <p:nvPr/>
        </p:nvSpPr>
        <p:spPr>
          <a:xfrm>
            <a:off x="21793200" y="10995991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53DA94-407C-FA34-9846-1BD1DE5634EA}"/>
              </a:ext>
            </a:extLst>
          </p:cNvPr>
          <p:cNvSpPr/>
          <p:nvPr/>
        </p:nvSpPr>
        <p:spPr>
          <a:xfrm>
            <a:off x="11658600" y="10264789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9222A9-9A23-6975-B4A7-E2E5E831D666}"/>
              </a:ext>
            </a:extLst>
          </p:cNvPr>
          <p:cNvSpPr/>
          <p:nvPr/>
        </p:nvSpPr>
        <p:spPr>
          <a:xfrm>
            <a:off x="16941705" y="10264789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FB63DA-C018-8949-59BA-31A338D1748E}"/>
              </a:ext>
            </a:extLst>
          </p:cNvPr>
          <p:cNvSpPr txBox="1"/>
          <p:nvPr/>
        </p:nvSpPr>
        <p:spPr>
          <a:xfrm>
            <a:off x="17500695" y="3707845"/>
            <a:ext cx="1777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</a:rPr>
              <a:t>imm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4F5D6-8518-943C-9CE7-D4E3AD628786}"/>
              </a:ext>
            </a:extLst>
          </p:cNvPr>
          <p:cNvSpPr txBox="1"/>
          <p:nvPr/>
        </p:nvSpPr>
        <p:spPr>
          <a:xfrm>
            <a:off x="11779069" y="9520495"/>
            <a:ext cx="1777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</a:rPr>
              <a:t>imm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BDCDB-9EDE-E59B-62E9-86F106CDD882}"/>
              </a:ext>
            </a:extLst>
          </p:cNvPr>
          <p:cNvSpPr txBox="1"/>
          <p:nvPr/>
        </p:nvSpPr>
        <p:spPr>
          <a:xfrm>
            <a:off x="19807630" y="8668004"/>
            <a:ext cx="2142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Shift = 2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120BB8-3A5D-3A95-215D-DFE956E970EF}"/>
              </a:ext>
            </a:extLst>
          </p:cNvPr>
          <p:cNvSpPr/>
          <p:nvPr/>
        </p:nvSpPr>
        <p:spPr>
          <a:xfrm>
            <a:off x="21793200" y="10289936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7616DD-44AC-042A-7A12-D296B1609103}"/>
              </a:ext>
            </a:extLst>
          </p:cNvPr>
          <p:cNvSpPr txBox="1"/>
          <p:nvPr/>
        </p:nvSpPr>
        <p:spPr>
          <a:xfrm>
            <a:off x="22274790" y="9445263"/>
            <a:ext cx="2142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32’h42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BB45776-5F43-A6C4-34CC-9B2E03767B15}"/>
              </a:ext>
            </a:extLst>
          </p:cNvPr>
          <p:cNvCxnSpPr>
            <a:cxnSpLocks/>
          </p:cNvCxnSpPr>
          <p:nvPr/>
        </p:nvCxnSpPr>
        <p:spPr>
          <a:xfrm flipH="1">
            <a:off x="18363001" y="9445263"/>
            <a:ext cx="2134799" cy="84467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D8B9B25-AA4F-4084-AEC8-47784BF91DAC}"/>
              </a:ext>
            </a:extLst>
          </p:cNvPr>
          <p:cNvCxnSpPr>
            <a:cxnSpLocks/>
          </p:cNvCxnSpPr>
          <p:nvPr/>
        </p:nvCxnSpPr>
        <p:spPr>
          <a:xfrm>
            <a:off x="20726400" y="9445263"/>
            <a:ext cx="1066800" cy="81952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11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E2C0-00E8-9385-2ECF-AF53A0EE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76403BF-8869-1A71-60DB-94388A7D7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5DF862C-AFD5-6D21-B12E-06A048692AC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CB6A1-6D4A-EB17-DBC6-82EC8F1C4FD8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685EBC-909D-3C6F-0EE7-E2623EACC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1434"/>
            <a:ext cx="24384000" cy="1004784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6C8B21B-B562-A009-1086-F75EB82B4254}"/>
              </a:ext>
            </a:extLst>
          </p:cNvPr>
          <p:cNvSpPr/>
          <p:nvPr/>
        </p:nvSpPr>
        <p:spPr>
          <a:xfrm>
            <a:off x="3505202" y="5761629"/>
            <a:ext cx="20497798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1B1636-AD59-C905-C59A-699B78BC461F}"/>
              </a:ext>
            </a:extLst>
          </p:cNvPr>
          <p:cNvSpPr/>
          <p:nvPr/>
        </p:nvSpPr>
        <p:spPr>
          <a:xfrm>
            <a:off x="3505201" y="11643558"/>
            <a:ext cx="20497797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13BF51B-C44E-E7E1-7579-2EC909DBA73F}"/>
              </a:ext>
            </a:extLst>
          </p:cNvPr>
          <p:cNvCxnSpPr>
            <a:cxnSpLocks/>
          </p:cNvCxnSpPr>
          <p:nvPr/>
        </p:nvCxnSpPr>
        <p:spPr>
          <a:xfrm>
            <a:off x="10020300" y="9531647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1FAC88-1D88-F658-0325-FBF1CEF4B823}"/>
              </a:ext>
            </a:extLst>
          </p:cNvPr>
          <p:cNvSpPr txBox="1"/>
          <p:nvPr/>
        </p:nvSpPr>
        <p:spPr>
          <a:xfrm>
            <a:off x="13030200" y="4047193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04FFEA-64D8-B6F4-94D2-E3EADAED97EC}"/>
              </a:ext>
            </a:extLst>
          </p:cNvPr>
          <p:cNvCxnSpPr>
            <a:cxnSpLocks/>
          </p:cNvCxnSpPr>
          <p:nvPr/>
        </p:nvCxnSpPr>
        <p:spPr>
          <a:xfrm flipV="1">
            <a:off x="13868400" y="6400800"/>
            <a:ext cx="115126" cy="524275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D63B544-2DD3-A611-E818-C928F4C98DDD}"/>
              </a:ext>
            </a:extLst>
          </p:cNvPr>
          <p:cNvCxnSpPr>
            <a:cxnSpLocks/>
          </p:cNvCxnSpPr>
          <p:nvPr/>
        </p:nvCxnSpPr>
        <p:spPr>
          <a:xfrm flipH="1">
            <a:off x="13983526" y="4506644"/>
            <a:ext cx="265874" cy="125498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AB5FF4-0620-6713-0F66-6516B65876F5}"/>
              </a:ext>
            </a:extLst>
          </p:cNvPr>
          <p:cNvSpPr txBox="1"/>
          <p:nvPr/>
        </p:nvSpPr>
        <p:spPr>
          <a:xfrm>
            <a:off x="14178998" y="8651360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C1F218-63FE-BCD9-AB38-B75AA41882DE}"/>
              </a:ext>
            </a:extLst>
          </p:cNvPr>
          <p:cNvSpPr txBox="1"/>
          <p:nvPr/>
        </p:nvSpPr>
        <p:spPr>
          <a:xfrm>
            <a:off x="8686800" y="882376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965858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3549F-9762-F390-2BCA-EBDF8BBC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F8E491C-C3FA-0183-3301-78B781B25E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F81788B-2E08-C22D-2FAB-1CF9DDDA8A2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B4AA2F5-903A-3AF4-DA99-E663E4812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90325"/>
              </p:ext>
            </p:extLst>
          </p:nvPr>
        </p:nvGraphicFramePr>
        <p:xfrm>
          <a:off x="1282148" y="102870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S-type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OPCODE(S-type)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B1FDD45-D3CC-843A-947C-37E1F5818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952264"/>
              </p:ext>
            </p:extLst>
          </p:nvPr>
        </p:nvGraphicFramePr>
        <p:xfrm>
          <a:off x="7656763" y="3308729"/>
          <a:ext cx="6174874" cy="2516495"/>
        </p:xfrm>
        <a:graphic>
          <a:graphicData uri="http://schemas.openxmlformats.org/drawingml/2006/table">
            <a:tbl>
              <a:tblPr/>
              <a:tblGrid>
                <a:gridCol w="1985209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</a:tblGrid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137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46EEE3-9069-542F-9BFA-48E6C5B5D354}"/>
              </a:ext>
            </a:extLst>
          </p:cNvPr>
          <p:cNvSpPr txBox="1"/>
          <p:nvPr/>
        </p:nvSpPr>
        <p:spPr>
          <a:xfrm>
            <a:off x="5867400" y="5865767"/>
            <a:ext cx="13487400" cy="405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S-type </a:t>
            </a:r>
            <a:r>
              <a:rPr lang="ko-KR" altLang="en-US" sz="4400" dirty="0"/>
              <a:t>명령어 </a:t>
            </a:r>
            <a:r>
              <a:rPr lang="en-US" altLang="ko-KR" sz="4400" dirty="0"/>
              <a:t>: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 + </a:t>
            </a:r>
            <a:r>
              <a:rPr lang="en-US" altLang="ko-KR" sz="4400" dirty="0" err="1"/>
              <a:t>imm</a:t>
            </a:r>
            <a:r>
              <a:rPr lang="en-US" altLang="ko-KR" sz="4400" dirty="0"/>
              <a:t>] = rs2</a:t>
            </a:r>
          </a:p>
          <a:p>
            <a:pPr>
              <a:lnSpc>
                <a:spcPct val="150000"/>
              </a:lnSpc>
            </a:pPr>
            <a:r>
              <a:rPr lang="en-US" altLang="ko-KR" sz="4400" dirty="0"/>
              <a:t>• SB : byte addressing</a:t>
            </a:r>
          </a:p>
          <a:p>
            <a:pPr>
              <a:lnSpc>
                <a:spcPct val="150000"/>
              </a:lnSpc>
            </a:pPr>
            <a:r>
              <a:rPr lang="en-US" altLang="ko-KR" sz="4400" dirty="0"/>
              <a:t>• SH : half-word addressing</a:t>
            </a:r>
          </a:p>
          <a:p>
            <a:pPr>
              <a:lnSpc>
                <a:spcPct val="150000"/>
              </a:lnSpc>
            </a:pPr>
            <a:r>
              <a:rPr lang="en-US" altLang="ko-KR" sz="4400" dirty="0"/>
              <a:t>• SW: word addressing </a:t>
            </a:r>
          </a:p>
        </p:txBody>
      </p:sp>
    </p:spTree>
    <p:extLst>
      <p:ext uri="{BB962C8B-B14F-4D97-AF65-F5344CB8AC3E}">
        <p14:creationId xmlns:p14="http://schemas.microsoft.com/office/powerpoint/2010/main" val="526581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6F64F-A03B-C986-5E03-BBFC236A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3099073-8AFB-79F5-A992-252AC2AB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26274"/>
            <a:ext cx="11734800" cy="1015684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CC336CC-CC80-8192-D3A3-49FCFD024C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E57E3B9-D1FC-216A-33AD-B56ABC7E80A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84683-34E3-486C-FF16-63A09985D023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05F21D-C85E-2F32-AC75-9428FB904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79717"/>
              </p:ext>
            </p:extLst>
          </p:nvPr>
        </p:nvGraphicFramePr>
        <p:xfrm>
          <a:off x="16230600" y="3810000"/>
          <a:ext cx="5486400" cy="761999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090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568788"/>
                    </a:ext>
                  </a:extLst>
                </a:gridCol>
              </a:tblGrid>
              <a:tr h="6927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09729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090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5422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106649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7995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78223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381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10095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8267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95360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2148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1940E2E-B9C2-6003-6DA0-0F94FB3E7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583674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S-type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OPCODE(S-type)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2E13426-6665-6B74-8836-8DFDCA47F152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7DEB9-D382-E6E7-3DCE-3DACDF79D248}"/>
              </a:ext>
            </a:extLst>
          </p:cNvPr>
          <p:cNvSpPr txBox="1"/>
          <p:nvPr/>
        </p:nvSpPr>
        <p:spPr>
          <a:xfrm>
            <a:off x="10733585" y="6769456"/>
            <a:ext cx="121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rs2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A36F1-6047-498C-D03B-EC86C9032C5B}"/>
              </a:ext>
            </a:extLst>
          </p:cNvPr>
          <p:cNvSpPr txBox="1"/>
          <p:nvPr/>
        </p:nvSpPr>
        <p:spPr>
          <a:xfrm>
            <a:off x="9563100" y="5389253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617D6-3829-250B-4E27-B89C9C38068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AF72F-6984-2207-C246-84687E82733E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0B416A-6DE8-D45E-203B-D1BBD2B4B7AF}"/>
              </a:ext>
            </a:extLst>
          </p:cNvPr>
          <p:cNvSpPr txBox="1"/>
          <p:nvPr/>
        </p:nvSpPr>
        <p:spPr>
          <a:xfrm>
            <a:off x="12192000" y="2801055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A01821-A9C3-90F1-230E-5BEA18389511}"/>
              </a:ext>
            </a:extLst>
          </p:cNvPr>
          <p:cNvSpPr txBox="1"/>
          <p:nvPr/>
        </p:nvSpPr>
        <p:spPr>
          <a:xfrm>
            <a:off x="10349944" y="4104250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8839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CC2A-5E15-B8F7-2C99-99E33B67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A72E527-EAF7-EC49-9F75-806E172B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26274"/>
            <a:ext cx="11734800" cy="1015684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BA85CE9-F427-AD70-461D-C911D924D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470EDED-88CE-9783-D190-1C89D7652B0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39BB2-3E0A-2CBB-7B18-208B8EB08E10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EC91592-B107-1FC1-16EE-C2F70F35A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563091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S-type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OPCODE(S-type)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5EC3EF-49D8-7434-EA80-DA97852B16CC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FE0C6-9315-5502-98C4-77844EE20CB8}"/>
              </a:ext>
            </a:extLst>
          </p:cNvPr>
          <p:cNvSpPr txBox="1"/>
          <p:nvPr/>
        </p:nvSpPr>
        <p:spPr>
          <a:xfrm>
            <a:off x="10733585" y="6769456"/>
            <a:ext cx="121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rs2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B52E6-4F89-E071-58A4-15F58A9175C4}"/>
              </a:ext>
            </a:extLst>
          </p:cNvPr>
          <p:cNvSpPr txBox="1"/>
          <p:nvPr/>
        </p:nvSpPr>
        <p:spPr>
          <a:xfrm>
            <a:off x="9563100" y="5389253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5E4BA-B58C-7291-27B6-A6CC80F5CD7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8D6F0-EB9C-141A-E0E2-BE8A53F58883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6605B9-6D96-35BF-0BF2-45CBBBACF50E}"/>
              </a:ext>
            </a:extLst>
          </p:cNvPr>
          <p:cNvSpPr txBox="1"/>
          <p:nvPr/>
        </p:nvSpPr>
        <p:spPr>
          <a:xfrm>
            <a:off x="12192000" y="2801055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30CE3B-5AA6-50AA-B86F-64825133EA45}"/>
              </a:ext>
            </a:extLst>
          </p:cNvPr>
          <p:cNvSpPr txBox="1"/>
          <p:nvPr/>
        </p:nvSpPr>
        <p:spPr>
          <a:xfrm>
            <a:off x="10349944" y="4104250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ED9DA823-CE20-339A-B31D-ED8390B74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77962"/>
              </p:ext>
            </p:extLst>
          </p:nvPr>
        </p:nvGraphicFramePr>
        <p:xfrm>
          <a:off x="14706600" y="4614977"/>
          <a:ext cx="8153400" cy="5117756"/>
        </p:xfrm>
        <a:graphic>
          <a:graphicData uri="http://schemas.openxmlformats.org/drawingml/2006/table">
            <a:tbl>
              <a:tblPr/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80438109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181337078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81537622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443255725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설계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Write </a:t>
                      </a:r>
                      <a:r>
                        <a:rPr lang="ko-KR" altLang="en-US" sz="3600" dirty="0"/>
                        <a:t>조건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Funct3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r>
                        <a:rPr lang="en-US" sz="3600" dirty="0"/>
                        <a:t> scale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/>
                        <a:t>word</a:t>
                      </a:r>
                      <a:r>
                        <a:rPr lang="en-US" altLang="ko-KR" sz="2400" baseline="0" dirty="0"/>
                        <a:t> addressing</a:t>
                      </a:r>
                      <a:endParaRPr lang="en-US" altLang="ko-KR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dwe</a:t>
                      </a:r>
                      <a:r>
                        <a:rPr lang="en-US" sz="3600" dirty="0"/>
                        <a:t> = 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3’h0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22434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2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475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F67C-89D0-102B-4A06-433201C4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C58BC366-AB67-DDCC-A1F2-3B91CC578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9CB3957-7D0E-6791-29FF-70F0A8DDBAC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F4A8E-3AE9-D4AA-4D0D-2D3DC15EAF56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96760"/>
              </p:ext>
            </p:extLst>
          </p:nvPr>
        </p:nvGraphicFramePr>
        <p:xfrm>
          <a:off x="2362200" y="4497606"/>
          <a:ext cx="7401272" cy="4720788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Store Data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546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7006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30084"/>
                  </a:ext>
                </a:extLst>
              </a:tr>
            </a:tbl>
          </a:graphicData>
        </a:graphic>
      </p:graphicFrame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619945"/>
              </p:ext>
            </p:extLst>
          </p:nvPr>
        </p:nvGraphicFramePr>
        <p:xfrm>
          <a:off x="11797750" y="2057400"/>
          <a:ext cx="11277598" cy="11597669"/>
        </p:xfrm>
        <a:graphic>
          <a:graphicData uri="http://schemas.openxmlformats.org/drawingml/2006/table">
            <a:tbl>
              <a:tblPr/>
              <a:tblGrid>
                <a:gridCol w="107999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93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96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809998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36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36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36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36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36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(32’hx </a:t>
                      </a:r>
                      <a:r>
                        <a:rPr lang="ko-KR" altLang="en-US" sz="3600" dirty="0"/>
                        <a:t>초기화</a:t>
                      </a:r>
                      <a:r>
                        <a:rPr lang="en-US" sz="3600" dirty="0"/>
                        <a:t>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[0+0] = </a:t>
                      </a:r>
                      <a:r>
                        <a:rPr lang="en-US" altLang="ko-KR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xx_xx_xx_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xx_xx_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33</a:t>
                      </a:r>
                      <a:r>
                        <a:rPr lang="en-US" sz="3600" dirty="0"/>
                        <a:t>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xx_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22</a:t>
                      </a:r>
                      <a:r>
                        <a:rPr lang="en-US" sz="3600" dirty="0"/>
                        <a:t>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11</a:t>
                      </a:r>
                      <a:r>
                        <a:rPr lang="en-US" sz="3600" dirty="0"/>
                        <a:t>_22_33_44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[0+0] = 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00_22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0_11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[0+0] = 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2819400" y="9753600"/>
            <a:ext cx="60960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/>
              <p14:cNvContentPartPr/>
              <p14:nvPr/>
            </p14:nvContentPartPr>
            <p14:xfrm>
              <a:off x="19968548" y="10058342"/>
              <a:ext cx="346320" cy="29880"/>
            </p14:xfrm>
          </p:contentPart>
        </mc:Choice>
        <mc:Fallback xmlns="">
          <p:pic>
            <p:nvPicPr>
              <p:cNvPr id="8" name="잉크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20668" y="9962222"/>
                <a:ext cx="442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/>
              <p14:cNvContentPartPr/>
              <p14:nvPr/>
            </p14:nvContentPartPr>
            <p14:xfrm>
              <a:off x="19919588" y="9897782"/>
              <a:ext cx="358200" cy="37440"/>
            </p14:xfrm>
          </p:contentPart>
        </mc:Choice>
        <mc:Fallback xmlns="">
          <p:pic>
            <p:nvPicPr>
              <p:cNvPr id="9" name="잉크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71348" y="9801662"/>
                <a:ext cx="4543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/>
              <p14:cNvContentPartPr/>
              <p14:nvPr/>
            </p14:nvContentPartPr>
            <p14:xfrm>
              <a:off x="19956668" y="9835502"/>
              <a:ext cx="555480" cy="272520"/>
            </p14:xfrm>
          </p:contentPart>
        </mc:Choice>
        <mc:Fallback xmlns="">
          <p:pic>
            <p:nvPicPr>
              <p:cNvPr id="10" name="잉크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08428" y="9739742"/>
                <a:ext cx="651960" cy="4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3449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FBCC-7349-DE03-1F78-98AC458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5B7FFC9-68C2-D12F-E036-3039BA2C49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082E95C-CABE-BF06-C94A-088A91DFD4F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D721F-7390-E3C4-34C5-DFABA36A307A}"/>
              </a:ext>
            </a:extLst>
          </p:cNvPr>
          <p:cNvSpPr txBox="1"/>
          <p:nvPr/>
        </p:nvSpPr>
        <p:spPr>
          <a:xfrm>
            <a:off x="1305339" y="2426274"/>
            <a:ext cx="6924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</a:t>
            </a:r>
            <a:r>
              <a:rPr lang="en-US" altLang="ko-KR" sz="4400" dirty="0" err="1"/>
              <a:t>Uint</a:t>
            </a:r>
            <a:r>
              <a:rPr lang="en-US" altLang="ko-KR" sz="44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2DBA08-5E41-E44F-9871-5878AFA45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553522"/>
            <a:ext cx="18211800" cy="9171877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BB2B52-9F45-51AB-1EBB-890283F2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85197"/>
              </p:ext>
            </p:extLst>
          </p:nvPr>
        </p:nvGraphicFramePr>
        <p:xfrm>
          <a:off x="18726150" y="3886200"/>
          <a:ext cx="5486400" cy="761999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090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568788"/>
                    </a:ext>
                  </a:extLst>
                </a:gridCol>
              </a:tblGrid>
              <a:tr h="6927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09729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090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5422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106649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7995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78223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381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10095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8267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95360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214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2590800" y="744482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432F0-D4D4-AB93-B20F-CAA4A713488D}"/>
              </a:ext>
            </a:extLst>
          </p:cNvPr>
          <p:cNvSpPr txBox="1"/>
          <p:nvPr/>
        </p:nvSpPr>
        <p:spPr>
          <a:xfrm>
            <a:off x="2590800" y="805511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42AB0-6589-AE8E-EE2D-871E684D8E7A}"/>
              </a:ext>
            </a:extLst>
          </p:cNvPr>
          <p:cNvSpPr txBox="1"/>
          <p:nvPr/>
        </p:nvSpPr>
        <p:spPr>
          <a:xfrm>
            <a:off x="2590800" y="870888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56468F-03C6-C4CE-6679-2EE7815057EC}"/>
              </a:ext>
            </a:extLst>
          </p:cNvPr>
          <p:cNvSpPr/>
          <p:nvPr/>
        </p:nvSpPr>
        <p:spPr>
          <a:xfrm>
            <a:off x="381001" y="7444826"/>
            <a:ext cx="1752600" cy="50519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4ADCA-392C-D7FF-3F04-7D2D93A7E773}"/>
              </a:ext>
            </a:extLst>
          </p:cNvPr>
          <p:cNvSpPr txBox="1"/>
          <p:nvPr/>
        </p:nvSpPr>
        <p:spPr>
          <a:xfrm>
            <a:off x="2914650" y="9416772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53A03-6D6D-705C-9852-389288F7460F}"/>
              </a:ext>
            </a:extLst>
          </p:cNvPr>
          <p:cNvSpPr txBox="1"/>
          <p:nvPr/>
        </p:nvSpPr>
        <p:spPr>
          <a:xfrm>
            <a:off x="2590800" y="1000925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D5066-DA47-EDEA-8D1B-D6E5A2AFB467}"/>
              </a:ext>
            </a:extLst>
          </p:cNvPr>
          <p:cNvSpPr txBox="1"/>
          <p:nvPr/>
        </p:nvSpPr>
        <p:spPr>
          <a:xfrm>
            <a:off x="2590800" y="11973053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DD842-A0C9-A831-8DAE-E38ADB6F1D80}"/>
              </a:ext>
            </a:extLst>
          </p:cNvPr>
          <p:cNvSpPr txBox="1"/>
          <p:nvPr/>
        </p:nvSpPr>
        <p:spPr>
          <a:xfrm>
            <a:off x="2590800" y="1058184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41A6B2-F001-04D8-604C-99C93B36ED35}"/>
              </a:ext>
            </a:extLst>
          </p:cNvPr>
          <p:cNvSpPr/>
          <p:nvPr/>
        </p:nvSpPr>
        <p:spPr>
          <a:xfrm>
            <a:off x="18726148" y="5322423"/>
            <a:ext cx="5486401" cy="61837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793972" y="11265165"/>
            <a:ext cx="12274827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561FDD-B05C-D6E2-F096-A0F417032240}"/>
              </a:ext>
            </a:extLst>
          </p:cNvPr>
          <p:cNvSpPr/>
          <p:nvPr/>
        </p:nvSpPr>
        <p:spPr>
          <a:xfrm>
            <a:off x="5257800" y="6150113"/>
            <a:ext cx="12274827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020300" y="6858000"/>
            <a:ext cx="0" cy="440716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23155E-4A95-6952-3D94-FEC444753CB3}"/>
              </a:ext>
            </a:extLst>
          </p:cNvPr>
          <p:cNvSpPr txBox="1"/>
          <p:nvPr/>
        </p:nvSpPr>
        <p:spPr>
          <a:xfrm>
            <a:off x="10229849" y="7701171"/>
            <a:ext cx="4476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o_funct3 = funct3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BA0E43-5684-2764-5CB6-DE8F897B843E}"/>
              </a:ext>
            </a:extLst>
          </p:cNvPr>
          <p:cNvCxnSpPr>
            <a:cxnSpLocks/>
          </p:cNvCxnSpPr>
          <p:nvPr/>
        </p:nvCxnSpPr>
        <p:spPr>
          <a:xfrm flipH="1">
            <a:off x="3695700" y="7162800"/>
            <a:ext cx="15030448" cy="7078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712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5BD-C4A6-9F08-046D-3E2EA9D9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F0A990EB-F54B-0120-A272-9A9562958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E11B2971-057A-7466-0E10-9E2BC0112C0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39AC8-E492-B32F-C5F1-399357194085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en-US" altLang="ko-KR" sz="4400" dirty="0" err="1"/>
              <a:t>imm_extender</a:t>
            </a:r>
            <a:r>
              <a:rPr lang="en-US" altLang="ko-KR" sz="4400" dirty="0"/>
              <a:t> &amp; ALU)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66CC8D6-C784-F0AB-9751-34FADF6A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513766"/>
            <a:ext cx="21412200" cy="28260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3468097-5564-E0B0-7098-172239376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85" y="7276409"/>
            <a:ext cx="21412200" cy="5129104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1B7324BE-8817-5491-6BB4-04163410FD4C}"/>
              </a:ext>
            </a:extLst>
          </p:cNvPr>
          <p:cNvSpPr/>
          <p:nvPr/>
        </p:nvSpPr>
        <p:spPr>
          <a:xfrm>
            <a:off x="11000285" y="6350157"/>
            <a:ext cx="190500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738769" y="8262597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rs1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466DE-1D72-5590-BCB9-28CBDF6035E1}"/>
              </a:ext>
            </a:extLst>
          </p:cNvPr>
          <p:cNvSpPr txBox="1"/>
          <p:nvPr/>
        </p:nvSpPr>
        <p:spPr>
          <a:xfrm>
            <a:off x="3738769" y="8969580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280D-4F02-2577-BBA0-8F3600A07486}"/>
              </a:ext>
            </a:extLst>
          </p:cNvPr>
          <p:cNvSpPr txBox="1"/>
          <p:nvPr/>
        </p:nvSpPr>
        <p:spPr>
          <a:xfrm>
            <a:off x="3738769" y="10675591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daddr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4B7EDE-72E8-A0A4-B96E-2C13B97A4AD2}"/>
              </a:ext>
            </a:extLst>
          </p:cNvPr>
          <p:cNvSpPr/>
          <p:nvPr/>
        </p:nvSpPr>
        <p:spPr>
          <a:xfrm>
            <a:off x="4953000" y="12410739"/>
            <a:ext cx="64008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SB</a:t>
            </a:r>
            <a:endParaRPr lang="ko-KR" altLang="en-US" sz="4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C2C9D6E-F915-C6A8-DB48-390454D7CAD9}"/>
              </a:ext>
            </a:extLst>
          </p:cNvPr>
          <p:cNvSpPr/>
          <p:nvPr/>
        </p:nvSpPr>
        <p:spPr>
          <a:xfrm>
            <a:off x="11353800" y="12417365"/>
            <a:ext cx="61722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SH</a:t>
            </a:r>
            <a:endParaRPr lang="ko-KR" altLang="en-US" sz="4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467081-96F2-36B0-57C8-62776180090E}"/>
              </a:ext>
            </a:extLst>
          </p:cNvPr>
          <p:cNvSpPr/>
          <p:nvPr/>
        </p:nvSpPr>
        <p:spPr>
          <a:xfrm>
            <a:off x="17549191" y="12405513"/>
            <a:ext cx="5109694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SW</a:t>
            </a:r>
            <a:endParaRPr lang="ko-KR" alt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73584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02686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C75FF-11A5-AB2E-32A0-FFDAA34E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0A35628-03F0-9ECF-FFDD-5812D2DD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49312"/>
            <a:ext cx="23452834" cy="838548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722DBB9-ADFC-FD04-2D64-AB93D2558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0ABF691-5663-7194-B2E6-F8C396D12FE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D748A-38BD-03FE-FFBC-E894F6959F00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simulation(Register File)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FC6F67-5BEB-41DA-8197-FE14DCC4F782}"/>
              </a:ext>
            </a:extLst>
          </p:cNvPr>
          <p:cNvSpPr txBox="1"/>
          <p:nvPr/>
        </p:nvSpPr>
        <p:spPr>
          <a:xfrm>
            <a:off x="3124200" y="9246877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rs2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F4B39E-0201-9488-D071-ACE87B7A319B}"/>
              </a:ext>
            </a:extLst>
          </p:cNvPr>
          <p:cNvSpPr txBox="1"/>
          <p:nvPr/>
        </p:nvSpPr>
        <p:spPr>
          <a:xfrm>
            <a:off x="2514600" y="10101329"/>
            <a:ext cx="220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dwdata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7CB980-C68D-6978-6304-2CAFAC575B91}"/>
              </a:ext>
            </a:extLst>
          </p:cNvPr>
          <p:cNvSpPr/>
          <p:nvPr/>
        </p:nvSpPr>
        <p:spPr>
          <a:xfrm>
            <a:off x="4457700" y="11656810"/>
            <a:ext cx="68961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SB</a:t>
            </a:r>
            <a:endParaRPr lang="ko-KR" altLang="en-US" sz="4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F6032E-2DCD-F0D3-CB08-07622DE8EF87}"/>
              </a:ext>
            </a:extLst>
          </p:cNvPr>
          <p:cNvSpPr/>
          <p:nvPr/>
        </p:nvSpPr>
        <p:spPr>
          <a:xfrm>
            <a:off x="11353800" y="11656810"/>
            <a:ext cx="64008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SH</a:t>
            </a:r>
            <a:endParaRPr lang="ko-KR" altLang="en-US" sz="4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7754600" y="11656810"/>
            <a:ext cx="6079234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SW</a:t>
            </a:r>
            <a:endParaRPr lang="ko-KR" altLang="en-US" sz="4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BF17A9-E142-1DF9-9228-C33DF9C17490}"/>
              </a:ext>
            </a:extLst>
          </p:cNvPr>
          <p:cNvSpPr/>
          <p:nvPr/>
        </p:nvSpPr>
        <p:spPr>
          <a:xfrm>
            <a:off x="4474265" y="9144000"/>
            <a:ext cx="19359569" cy="1905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99268"/>
              </p:ext>
            </p:extLst>
          </p:nvPr>
        </p:nvGraphicFramePr>
        <p:xfrm>
          <a:off x="17754600" y="0"/>
          <a:ext cx="6629400" cy="4720788"/>
        </p:xfrm>
        <a:graphic>
          <a:graphicData uri="http://schemas.openxmlformats.org/drawingml/2006/table">
            <a:tbl>
              <a:tblPr/>
              <a:tblGrid>
                <a:gridCol w="896134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59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646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 err="1"/>
                        <a:t>addr</a:t>
                      </a:r>
                      <a:endParaRPr lang="en-US" sz="32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Store Data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546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7006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30084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 flipH="1">
            <a:off x="11430000" y="3349312"/>
            <a:ext cx="76200" cy="8361358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17754600" y="3195715"/>
            <a:ext cx="76200" cy="8361358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60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E416-FD34-84B8-ED51-4426D924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4C68AD4-C444-8615-9C4D-A3028F4F6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E8ADDB4-1766-C702-E695-176D1DD1528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70CFE-A3FD-F471-BA09-9C4596F93114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1E801510-1C87-CBF1-42CF-7EB7707CB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71430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00_00_00_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33</a:t>
                      </a:r>
                      <a:r>
                        <a:rPr lang="en-US" sz="3600" dirty="0"/>
                        <a:t>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22</a:t>
                      </a:r>
                      <a:r>
                        <a:rPr lang="en-US" sz="3600" dirty="0"/>
                        <a:t>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11</a:t>
                      </a:r>
                      <a:r>
                        <a:rPr lang="en-US" sz="3600" dirty="0"/>
                        <a:t>_22_33_44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229823B-0C77-3A68-21BB-CD89E9B3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39" y="3748325"/>
            <a:ext cx="16306800" cy="90075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687B54-F674-A397-E20D-448165F29936}"/>
              </a:ext>
            </a:extLst>
          </p:cNvPr>
          <p:cNvSpPr txBox="1"/>
          <p:nvPr/>
        </p:nvSpPr>
        <p:spPr>
          <a:xfrm>
            <a:off x="10399719" y="5085068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DCDF6-1EC1-6038-871D-0113CA2D880D}"/>
              </a:ext>
            </a:extLst>
          </p:cNvPr>
          <p:cNvSpPr txBox="1"/>
          <p:nvPr/>
        </p:nvSpPr>
        <p:spPr>
          <a:xfrm>
            <a:off x="10399719" y="6655301"/>
            <a:ext cx="1944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6843920" y="7620000"/>
            <a:ext cx="199528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77CF31A-0D4C-136C-A4DA-C4AD4C1DCF3A}"/>
              </a:ext>
            </a:extLst>
          </p:cNvPr>
          <p:cNvCxnSpPr>
            <a:cxnSpLocks/>
          </p:cNvCxnSpPr>
          <p:nvPr/>
        </p:nvCxnSpPr>
        <p:spPr>
          <a:xfrm>
            <a:off x="8686800" y="9315362"/>
            <a:ext cx="685800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2DB30FB-4172-DE37-A450-D11C131F08E1}"/>
              </a:ext>
            </a:extLst>
          </p:cNvPr>
          <p:cNvCxnSpPr>
            <a:cxnSpLocks/>
          </p:cNvCxnSpPr>
          <p:nvPr/>
        </p:nvCxnSpPr>
        <p:spPr>
          <a:xfrm>
            <a:off x="10539619" y="9315362"/>
            <a:ext cx="1413166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5DECCEC-863A-791E-A4B6-ABE6A13C0D90}"/>
              </a:ext>
            </a:extLst>
          </p:cNvPr>
          <p:cNvCxnSpPr>
            <a:cxnSpLocks/>
          </p:cNvCxnSpPr>
          <p:nvPr/>
        </p:nvCxnSpPr>
        <p:spPr>
          <a:xfrm>
            <a:off x="12609028" y="9315362"/>
            <a:ext cx="1716572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B1BBE2D-4990-B4D6-A973-243A30F92D77}"/>
              </a:ext>
            </a:extLst>
          </p:cNvPr>
          <p:cNvCxnSpPr>
            <a:cxnSpLocks/>
          </p:cNvCxnSpPr>
          <p:nvPr/>
        </p:nvCxnSpPr>
        <p:spPr>
          <a:xfrm>
            <a:off x="14572159" y="9315362"/>
            <a:ext cx="1902930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9819861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3783123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1752270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8707970" y="11317331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1752270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3806639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5805910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6628321" y="10481258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588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C63E-A35E-240E-F3F0-BF7B8F34D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15E2D93-2437-9878-84D2-74E58B66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17080"/>
            <a:ext cx="17754600" cy="936072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CBD0E2E5-C4FD-C576-1E49-7D6C0A1AC5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DB7BFBE-ECD9-6000-D519-10A83338C840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EF3408-16A0-98E5-A98D-056D4420597F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F3B7F824-2B4C-6F3F-5FC4-D324D3C4D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238008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00_22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00_11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7774961" y="7489071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AC2CFB-5517-6B60-DE7F-0CA068AE3079}"/>
              </a:ext>
            </a:extLst>
          </p:cNvPr>
          <p:cNvSpPr txBox="1"/>
          <p:nvPr/>
        </p:nvSpPr>
        <p:spPr>
          <a:xfrm>
            <a:off x="11132239" y="4806821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SH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2AF86-A7A2-69FE-66E5-8443E03802A8}"/>
              </a:ext>
            </a:extLst>
          </p:cNvPr>
          <p:cNvSpPr txBox="1"/>
          <p:nvPr/>
        </p:nvSpPr>
        <p:spPr>
          <a:xfrm>
            <a:off x="10744200" y="6514003"/>
            <a:ext cx="2128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0B6BAC-0F0F-0CCE-8D6E-EF117450231E}"/>
              </a:ext>
            </a:extLst>
          </p:cNvPr>
          <p:cNvCxnSpPr>
            <a:cxnSpLocks/>
          </p:cNvCxnSpPr>
          <p:nvPr/>
        </p:nvCxnSpPr>
        <p:spPr>
          <a:xfrm>
            <a:off x="8839200" y="9463435"/>
            <a:ext cx="1676400" cy="21933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793A6A-C2FF-1F24-12A1-4EB219524B12}"/>
              </a:ext>
            </a:extLst>
          </p:cNvPr>
          <p:cNvCxnSpPr>
            <a:cxnSpLocks/>
          </p:cNvCxnSpPr>
          <p:nvPr/>
        </p:nvCxnSpPr>
        <p:spPr>
          <a:xfrm>
            <a:off x="10859780" y="9446014"/>
            <a:ext cx="1789420" cy="221079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EE2C683-0DFD-D817-4EAB-BB2B85656317}"/>
              </a:ext>
            </a:extLst>
          </p:cNvPr>
          <p:cNvCxnSpPr>
            <a:cxnSpLocks/>
          </p:cNvCxnSpPr>
          <p:nvPr/>
        </p:nvCxnSpPr>
        <p:spPr>
          <a:xfrm>
            <a:off x="13113026" y="9463435"/>
            <a:ext cx="1789420" cy="221079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65A99DA-5BBD-50AE-6A2D-F9A6284B304D}"/>
              </a:ext>
            </a:extLst>
          </p:cNvPr>
          <p:cNvCxnSpPr>
            <a:cxnSpLocks/>
          </p:cNvCxnSpPr>
          <p:nvPr/>
        </p:nvCxnSpPr>
        <p:spPr>
          <a:xfrm>
            <a:off x="15018026" y="9463435"/>
            <a:ext cx="1898374" cy="21933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9954899" y="7524448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2117081" y="7484296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4141726" y="7474476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9983481" y="11644164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2117081" y="11671405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4176863" y="11679006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6425582" y="11628057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6949842" y="10665666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206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D72A-3A76-50C2-1B35-D2D6F4CE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944A383-8B18-8279-D551-BC610016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114800"/>
            <a:ext cx="18064065" cy="88392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EB1C82-0FF1-659D-1795-2A3B5E8A9A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D214F7F-B00D-CB2A-07EC-F649AFFB62B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C3142-75B1-6522-83AF-BE922A4C5B06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965EC0E6-3168-F170-5DEC-271D63F66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21809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4483790" y="7913910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4A451C-D37A-F8C4-741D-75573A1E0F88}"/>
              </a:ext>
            </a:extLst>
          </p:cNvPr>
          <p:cNvSpPr txBox="1"/>
          <p:nvPr/>
        </p:nvSpPr>
        <p:spPr>
          <a:xfrm>
            <a:off x="7090119" y="5366138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9FBCC-67A5-E42D-89A6-04003A0467FD}"/>
              </a:ext>
            </a:extLst>
          </p:cNvPr>
          <p:cNvSpPr txBox="1"/>
          <p:nvPr/>
        </p:nvSpPr>
        <p:spPr>
          <a:xfrm>
            <a:off x="6858000" y="7051982"/>
            <a:ext cx="2128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1E0C252-86B1-5332-B043-26B389057B91}"/>
              </a:ext>
            </a:extLst>
          </p:cNvPr>
          <p:cNvCxnSpPr>
            <a:cxnSpLocks/>
          </p:cNvCxnSpPr>
          <p:nvPr/>
        </p:nvCxnSpPr>
        <p:spPr>
          <a:xfrm>
            <a:off x="5292515" y="9888274"/>
            <a:ext cx="1413085" cy="204606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0FC6F6-E81E-EF40-3217-4B978C08DC6B}"/>
              </a:ext>
            </a:extLst>
          </p:cNvPr>
          <p:cNvCxnSpPr>
            <a:cxnSpLocks/>
          </p:cNvCxnSpPr>
          <p:nvPr/>
        </p:nvCxnSpPr>
        <p:spPr>
          <a:xfrm>
            <a:off x="6904383" y="9853812"/>
            <a:ext cx="1630017" cy="204435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F027490-BFC8-F6DE-3307-E7DE9D976F85}"/>
              </a:ext>
            </a:extLst>
          </p:cNvPr>
          <p:cNvCxnSpPr>
            <a:cxnSpLocks/>
          </p:cNvCxnSpPr>
          <p:nvPr/>
        </p:nvCxnSpPr>
        <p:spPr>
          <a:xfrm>
            <a:off x="8524461" y="9853812"/>
            <a:ext cx="1729221" cy="20718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54CA9FC-1595-7EDF-F7C9-CB01B2173F5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199530" y="9844200"/>
            <a:ext cx="6356218" cy="211924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6136378" y="7879448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7788966" y="7880843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9431525" y="7869836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6096000" y="11912026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7788966" y="11895949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9385222" y="11885074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16629999" y="11873262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1917787" y="9688818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280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A41A-51F1-9178-9A16-D58F1120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E691C21-90A2-D126-6B77-C06313846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EEB9807-1DE1-179A-3FE8-FC21785D8AA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4AFEC-9291-D475-7AA8-8AAFDDA11F31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simulation(PC)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41A406-03A3-2259-12B2-02EFA7201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93934"/>
            <a:ext cx="23469600" cy="958596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9903A6-CE36-09B9-6F24-41143B9A2C2C}"/>
              </a:ext>
            </a:extLst>
          </p:cNvPr>
          <p:cNvSpPr/>
          <p:nvPr/>
        </p:nvSpPr>
        <p:spPr>
          <a:xfrm>
            <a:off x="5486400" y="3957333"/>
            <a:ext cx="18364200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5092B-8602-EA3C-89EB-75DB9A64F3BD}"/>
              </a:ext>
            </a:extLst>
          </p:cNvPr>
          <p:cNvSpPr/>
          <p:nvPr/>
        </p:nvSpPr>
        <p:spPr>
          <a:xfrm>
            <a:off x="5516217" y="11044178"/>
            <a:ext cx="18364201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38E6CD3-11FD-2EE9-0FCB-580115362678}"/>
              </a:ext>
            </a:extLst>
          </p:cNvPr>
          <p:cNvCxnSpPr>
            <a:cxnSpLocks/>
          </p:cNvCxnSpPr>
          <p:nvPr/>
        </p:nvCxnSpPr>
        <p:spPr>
          <a:xfrm>
            <a:off x="10172700" y="8839200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49BF8B-23FD-1C4B-B347-C48B0654D525}"/>
              </a:ext>
            </a:extLst>
          </p:cNvPr>
          <p:cNvSpPr txBox="1"/>
          <p:nvPr/>
        </p:nvSpPr>
        <p:spPr>
          <a:xfrm>
            <a:off x="15621000" y="5761629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D719BF-5016-5AAB-F1F0-3C8A1D084E05}"/>
              </a:ext>
            </a:extLst>
          </p:cNvPr>
          <p:cNvCxnSpPr>
            <a:cxnSpLocks/>
          </p:cNvCxnSpPr>
          <p:nvPr/>
        </p:nvCxnSpPr>
        <p:spPr>
          <a:xfrm flipV="1">
            <a:off x="13792200" y="4593724"/>
            <a:ext cx="76200" cy="63573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7795E90-32D8-C8FA-EBCB-1A76948B5B2B}"/>
              </a:ext>
            </a:extLst>
          </p:cNvPr>
          <p:cNvCxnSpPr>
            <a:cxnSpLocks/>
          </p:cNvCxnSpPr>
          <p:nvPr/>
        </p:nvCxnSpPr>
        <p:spPr>
          <a:xfrm flipH="1" flipV="1">
            <a:off x="15338562" y="4593724"/>
            <a:ext cx="815838" cy="139180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2EA5DA-9ABC-8B4B-7908-9BA638B87035}"/>
              </a:ext>
            </a:extLst>
          </p:cNvPr>
          <p:cNvSpPr txBox="1"/>
          <p:nvPr/>
        </p:nvSpPr>
        <p:spPr>
          <a:xfrm>
            <a:off x="14063872" y="7762938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11FB8A-C069-C0A7-D909-FA95210EBAFB}"/>
              </a:ext>
            </a:extLst>
          </p:cNvPr>
          <p:cNvSpPr txBox="1"/>
          <p:nvPr/>
        </p:nvSpPr>
        <p:spPr>
          <a:xfrm>
            <a:off x="8839200" y="808478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4212140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0331-ECB4-7C75-82F3-68FCFE0D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AF2A8D3C-6671-987C-FF53-3793F3DD85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B730CAA-49E5-F04F-0713-8ECE3492830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FCD32E9-10F4-6A90-F100-B2A962068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821920"/>
              </p:ext>
            </p:extLst>
          </p:nvPr>
        </p:nvGraphicFramePr>
        <p:xfrm>
          <a:off x="1258957" y="106680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IL-type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OPCODE(IL-type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9E6305-AE49-6E66-05C1-3549BC2EE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22013"/>
              </p:ext>
            </p:extLst>
          </p:nvPr>
        </p:nvGraphicFramePr>
        <p:xfrm>
          <a:off x="5791200" y="3289998"/>
          <a:ext cx="9330612" cy="3891885"/>
        </p:xfrm>
        <a:graphic>
          <a:graphicData uri="http://schemas.openxmlformats.org/drawingml/2006/table">
            <a:tbl>
              <a:tblPr/>
              <a:tblGrid>
                <a:gridCol w="2065482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453026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453026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453026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453026">
                  <a:extLst>
                    <a:ext uri="{9D8B030D-6E8A-4147-A177-3AD203B41FA5}">
                      <a16:colId xmlns:a16="http://schemas.microsoft.com/office/drawing/2014/main" val="4291654697"/>
                    </a:ext>
                  </a:extLst>
                </a:gridCol>
                <a:gridCol w="1453026">
                  <a:extLst>
                    <a:ext uri="{9D8B030D-6E8A-4147-A177-3AD203B41FA5}">
                      <a16:colId xmlns:a16="http://schemas.microsoft.com/office/drawing/2014/main" val="947983482"/>
                    </a:ext>
                  </a:extLst>
                </a:gridCol>
              </a:tblGrid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LBU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137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  <a:tr h="137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2083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1E58EE-B2BA-430B-B081-1E0AD435378B}"/>
              </a:ext>
            </a:extLst>
          </p:cNvPr>
          <p:cNvSpPr txBox="1"/>
          <p:nvPr/>
        </p:nvSpPr>
        <p:spPr>
          <a:xfrm>
            <a:off x="4495800" y="7324949"/>
            <a:ext cx="17678400" cy="3028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IL-type </a:t>
            </a:r>
            <a:r>
              <a:rPr lang="ko-KR" altLang="en-US" sz="4400" dirty="0"/>
              <a:t>명령어 </a:t>
            </a:r>
            <a:r>
              <a:rPr lang="en-US" altLang="ko-KR" sz="4400" dirty="0"/>
              <a:t>: </a:t>
            </a:r>
            <a:r>
              <a:rPr lang="en-US" altLang="ko-KR" sz="4400" dirty="0" err="1"/>
              <a:t>rd</a:t>
            </a:r>
            <a:r>
              <a:rPr lang="en-US" altLang="ko-KR" sz="4400" dirty="0"/>
              <a:t>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 + </a:t>
            </a:r>
            <a:r>
              <a:rPr lang="en-US" altLang="ko-KR" sz="4400" dirty="0" err="1"/>
              <a:t>imm</a:t>
            </a:r>
            <a:r>
              <a:rPr lang="en-US" altLang="ko-KR" sz="4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I-type</a:t>
            </a:r>
            <a:r>
              <a:rPr lang="ko-KR" altLang="en-US" sz="4400" dirty="0"/>
              <a:t>의 </a:t>
            </a:r>
            <a:r>
              <a:rPr lang="en-US" altLang="ko-KR" sz="4400" dirty="0"/>
              <a:t>Load </a:t>
            </a:r>
            <a:r>
              <a:rPr lang="ko-KR" altLang="en-US" sz="4400" dirty="0"/>
              <a:t>명령어는 </a:t>
            </a:r>
            <a:r>
              <a:rPr lang="en-US" altLang="ko-KR" sz="4400" dirty="0"/>
              <a:t>I-type</a:t>
            </a:r>
            <a:r>
              <a:rPr lang="ko-KR" altLang="en-US" sz="4400" dirty="0"/>
              <a:t>의 산술 명령어와 기능적 분리하여 설계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2410876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06051-0BEB-86C5-1E1E-D37FCF3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3E1B400-CF97-72B5-27A4-EDBEC2770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3519"/>
            <a:ext cx="11688417" cy="1019143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04268B27-0F10-88E7-B109-D59D930D7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9007EDF-7AD3-E28F-A9F9-3824B7F1909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D6A5C6-AA01-16B3-6F55-138778AF9E57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42ECD30-0B58-788D-E3E2-6D8483F1D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209902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IL-type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0B2A304-7CA0-7A0F-B9A1-3487396EE5CB}"/>
              </a:ext>
            </a:extLst>
          </p:cNvPr>
          <p:cNvGraphicFramePr>
            <a:graphicFrameLocks noGrp="1"/>
          </p:cNvGraphicFramePr>
          <p:nvPr/>
        </p:nvGraphicFramePr>
        <p:xfrm>
          <a:off x="17068800" y="3352800"/>
          <a:ext cx="4400550" cy="7802883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53702253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670880419"/>
                    </a:ext>
                  </a:extLst>
                </a:gridCol>
              </a:tblGrid>
              <a:tr h="70935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202258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91757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5484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3801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1315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24607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472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1749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34389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60465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7804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9CDF5C-4CDA-85E1-7C11-6FD6528E5961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157781-8510-56B5-CBE2-E408E506A946}"/>
              </a:ext>
            </a:extLst>
          </p:cNvPr>
          <p:cNvSpPr txBox="1"/>
          <p:nvPr/>
        </p:nvSpPr>
        <p:spPr>
          <a:xfrm>
            <a:off x="9829801" y="6294564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17205-D9ED-7D2F-1CA9-03E731F188B1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9E0FB3-4BD9-2162-7379-4DB948FA6969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1276B7-9838-1156-FE8D-E9B7E3D6EC13}"/>
              </a:ext>
            </a:extLst>
          </p:cNvPr>
          <p:cNvSpPr txBox="1"/>
          <p:nvPr/>
        </p:nvSpPr>
        <p:spPr>
          <a:xfrm>
            <a:off x="11506200" y="2824679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9A5EC3-57FF-84F3-DC86-A53F339FBE03}"/>
              </a:ext>
            </a:extLst>
          </p:cNvPr>
          <p:cNvSpPr txBox="1"/>
          <p:nvPr/>
        </p:nvSpPr>
        <p:spPr>
          <a:xfrm>
            <a:off x="7162800" y="8218439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Drdata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4482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E16D-3533-8794-466D-FCE2B366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8110268-BF47-998D-77F7-6950646E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3519"/>
            <a:ext cx="11688417" cy="1019143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0C16722-01EF-69BF-C2BD-1C1A74AF8E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CEB8E16-43B1-34DD-CB6E-C8648274EAC1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B74557-69E4-1132-7876-C398A024DA76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1DFBA2F-3B79-672B-8454-A753FD04E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58888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IL-type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D4F65D3-A36B-9140-6780-896C8F2C0B0B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47992-6B50-2C1B-A656-B8A782D85292}"/>
              </a:ext>
            </a:extLst>
          </p:cNvPr>
          <p:cNvSpPr txBox="1"/>
          <p:nvPr/>
        </p:nvSpPr>
        <p:spPr>
          <a:xfrm>
            <a:off x="9829801" y="6294564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96A1A-B88B-464C-B5D8-A741AE452D9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3CBE1-ED02-6D9F-FA44-318B08FD6DF3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8127EC-B7F8-5690-D857-9F94BC1045FD}"/>
              </a:ext>
            </a:extLst>
          </p:cNvPr>
          <p:cNvSpPr txBox="1"/>
          <p:nvPr/>
        </p:nvSpPr>
        <p:spPr>
          <a:xfrm>
            <a:off x="11506200" y="2824679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B23494-0958-6210-9483-CD8A0611A991}"/>
              </a:ext>
            </a:extLst>
          </p:cNvPr>
          <p:cNvSpPr txBox="1"/>
          <p:nvPr/>
        </p:nvSpPr>
        <p:spPr>
          <a:xfrm>
            <a:off x="7162800" y="8218439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Drdata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FD0C6899-B568-AE83-BD00-DE31DCC72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380386"/>
              </p:ext>
            </p:extLst>
          </p:nvPr>
        </p:nvGraphicFramePr>
        <p:xfrm>
          <a:off x="14706600" y="3276600"/>
          <a:ext cx="9144000" cy="735889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8133707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53762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432557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66265829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설계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Funct3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r>
                        <a:rPr lang="en-US" sz="3600" dirty="0"/>
                        <a:t> scale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CL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/>
                        <a:t>word</a:t>
                      </a:r>
                      <a:r>
                        <a:rPr lang="en-US" sz="2400" baseline="0" dirty="0"/>
                        <a:t> addressing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3’h0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22434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2472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LBU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Unsigned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12889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LHU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Unsigned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71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62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1B23-336A-2A5F-D763-D1990561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D705CF-E48A-44FB-7BAD-6AE63D4E4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865CDA9-E8A4-47D2-6512-E77D6BD9ABD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B2F3A-98AC-6384-07F0-31C021C67634}"/>
              </a:ext>
            </a:extLst>
          </p:cNvPr>
          <p:cNvSpPr txBox="1"/>
          <p:nvPr/>
        </p:nvSpPr>
        <p:spPr>
          <a:xfrm>
            <a:off x="0" y="2286000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54231"/>
              </p:ext>
            </p:extLst>
          </p:nvPr>
        </p:nvGraphicFramePr>
        <p:xfrm>
          <a:off x="6129131" y="2819400"/>
          <a:ext cx="9034669" cy="8948423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/>
                        <a:t>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ff_ff_ff_f2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ff_ff_ff_f3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00_00_04_f3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04_f3_f2_01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42546"/>
              </p:ext>
            </p:extLst>
          </p:nvPr>
        </p:nvGraphicFramePr>
        <p:xfrm>
          <a:off x="15273131" y="2819400"/>
          <a:ext cx="9034669" cy="6369167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LBU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/>
                        <a:t>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LHU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00_00_04_f3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72501"/>
              </p:ext>
            </p:extLst>
          </p:nvPr>
        </p:nvGraphicFramePr>
        <p:xfrm>
          <a:off x="1313509" y="11951430"/>
          <a:ext cx="3173289" cy="1046562"/>
        </p:xfrm>
        <a:graphic>
          <a:graphicData uri="http://schemas.openxmlformats.org/drawingml/2006/table">
            <a:tbl>
              <a:tblPr/>
              <a:tblGrid>
                <a:gridCol w="90446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268829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32878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1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load data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87039"/>
              </p:ext>
            </p:extLst>
          </p:nvPr>
        </p:nvGraphicFramePr>
        <p:xfrm>
          <a:off x="703909" y="8192102"/>
          <a:ext cx="4714461" cy="1569843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32878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7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51201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32’h04_f3_f2_01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sp>
        <p:nvSpPr>
          <p:cNvPr id="10" name="화살표: 아래쪽 22">
            <a:extLst>
              <a:ext uri="{FF2B5EF4-FFF2-40B4-BE49-F238E27FC236}">
                <a16:creationId xmlns:a16="http://schemas.microsoft.com/office/drawing/2014/main" id="{1B7324BE-8817-5491-6BB4-04163410FD4C}"/>
              </a:ext>
            </a:extLst>
          </p:cNvPr>
          <p:cNvSpPr/>
          <p:nvPr/>
        </p:nvSpPr>
        <p:spPr>
          <a:xfrm>
            <a:off x="2108639" y="10275030"/>
            <a:ext cx="1905000" cy="9144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93725" y="3962400"/>
            <a:ext cx="5597475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잉크 36"/>
              <p14:cNvContentPartPr/>
              <p14:nvPr/>
            </p14:nvContentPartPr>
            <p14:xfrm>
              <a:off x="12715628" y="4271099"/>
              <a:ext cx="1396800" cy="720"/>
            </p14:xfrm>
          </p:contentPart>
        </mc:Choice>
        <mc:Fallback xmlns="">
          <p:pic>
            <p:nvPicPr>
              <p:cNvPr id="37" name="잉크 3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7748" y="4174979"/>
                <a:ext cx="1492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8" name="잉크 37"/>
              <p14:cNvContentPartPr/>
              <p14:nvPr/>
            </p14:nvContentPartPr>
            <p14:xfrm>
              <a:off x="12900308" y="4979822"/>
              <a:ext cx="988560" cy="51120"/>
            </p14:xfrm>
          </p:contentPart>
        </mc:Choice>
        <mc:Fallback xmlns="">
          <p:pic>
            <p:nvPicPr>
              <p:cNvPr id="38" name="잉크 3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2428" y="4883702"/>
                <a:ext cx="10846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9" name="잉크 38"/>
              <p14:cNvContentPartPr/>
              <p14:nvPr/>
            </p14:nvContentPartPr>
            <p14:xfrm>
              <a:off x="12962228" y="5634662"/>
              <a:ext cx="976680" cy="360"/>
            </p14:xfrm>
          </p:contentPart>
        </mc:Choice>
        <mc:Fallback xmlns="">
          <p:pic>
            <p:nvPicPr>
              <p:cNvPr id="39" name="잉크 3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14348" y="5538542"/>
                <a:ext cx="1072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0" name="잉크 39"/>
              <p14:cNvContentPartPr/>
              <p14:nvPr/>
            </p14:nvContentPartPr>
            <p14:xfrm>
              <a:off x="12715628" y="6252062"/>
              <a:ext cx="1309680" cy="13680"/>
            </p14:xfrm>
          </p:contentPart>
        </mc:Choice>
        <mc:Fallback xmlns="">
          <p:pic>
            <p:nvPicPr>
              <p:cNvPr id="40" name="잉크 3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67388" y="6156302"/>
                <a:ext cx="14058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" name="잉크 40"/>
              <p14:cNvContentPartPr/>
              <p14:nvPr/>
            </p14:nvContentPartPr>
            <p14:xfrm>
              <a:off x="12863228" y="7240622"/>
              <a:ext cx="618480" cy="29880"/>
            </p14:xfrm>
          </p:contentPart>
        </mc:Choice>
        <mc:Fallback xmlns="">
          <p:pic>
            <p:nvPicPr>
              <p:cNvPr id="41" name="잉크 4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15348" y="7144862"/>
                <a:ext cx="7142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2" name="잉크 41"/>
              <p14:cNvContentPartPr/>
              <p14:nvPr/>
            </p14:nvContentPartPr>
            <p14:xfrm>
              <a:off x="12739748" y="8496662"/>
              <a:ext cx="803160" cy="22680"/>
            </p14:xfrm>
          </p:contentPart>
        </mc:Choice>
        <mc:Fallback xmlns="">
          <p:pic>
            <p:nvPicPr>
              <p:cNvPr id="42" name="잉크 4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91868" y="8400902"/>
                <a:ext cx="8992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3" name="잉크 42"/>
              <p14:cNvContentPartPr/>
              <p14:nvPr/>
            </p14:nvContentPartPr>
            <p14:xfrm>
              <a:off x="21834428" y="4250822"/>
              <a:ext cx="1359720" cy="20160"/>
            </p14:xfrm>
          </p:contentPart>
        </mc:Choice>
        <mc:Fallback xmlns="">
          <p:pic>
            <p:nvPicPr>
              <p:cNvPr id="43" name="잉크 4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786548" y="4154702"/>
                <a:ext cx="14554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잉크 43"/>
              <p14:cNvContentPartPr/>
              <p14:nvPr/>
            </p14:nvContentPartPr>
            <p14:xfrm>
              <a:off x="21883748" y="4967582"/>
              <a:ext cx="1396800" cy="720"/>
            </p14:xfrm>
          </p:contentPart>
        </mc:Choice>
        <mc:Fallback xmlns="">
          <p:pic>
            <p:nvPicPr>
              <p:cNvPr id="44" name="잉크 4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835868" y="4871462"/>
                <a:ext cx="1492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5" name="잉크 44"/>
              <p14:cNvContentPartPr/>
              <p14:nvPr/>
            </p14:nvContentPartPr>
            <p14:xfrm>
              <a:off x="21859628" y="5609462"/>
              <a:ext cx="1395720" cy="720"/>
            </p14:xfrm>
          </p:contentPart>
        </mc:Choice>
        <mc:Fallback xmlns="">
          <p:pic>
            <p:nvPicPr>
              <p:cNvPr id="45" name="잉크 4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811388" y="5513702"/>
                <a:ext cx="14922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6" name="잉크 45"/>
              <p14:cNvContentPartPr/>
              <p14:nvPr/>
            </p14:nvContentPartPr>
            <p14:xfrm>
              <a:off x="21772508" y="6227942"/>
              <a:ext cx="1433880" cy="13320"/>
            </p14:xfrm>
          </p:contentPart>
        </mc:Choice>
        <mc:Fallback xmlns="">
          <p:pic>
            <p:nvPicPr>
              <p:cNvPr id="46" name="잉크 45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724628" y="6131822"/>
                <a:ext cx="15296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7" name="잉크 46"/>
              <p14:cNvContentPartPr/>
              <p14:nvPr/>
            </p14:nvContentPartPr>
            <p14:xfrm>
              <a:off x="21883748" y="7194542"/>
              <a:ext cx="840240" cy="59760"/>
            </p14:xfrm>
          </p:contentPart>
        </mc:Choice>
        <mc:Fallback xmlns="">
          <p:pic>
            <p:nvPicPr>
              <p:cNvPr id="47" name="잉크 4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835868" y="7098782"/>
                <a:ext cx="9363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8" name="잉크 47"/>
              <p14:cNvContentPartPr/>
              <p14:nvPr/>
            </p14:nvContentPartPr>
            <p14:xfrm>
              <a:off x="21834428" y="8460662"/>
              <a:ext cx="865440" cy="102960"/>
            </p14:xfrm>
          </p:contentPart>
        </mc:Choice>
        <mc:Fallback xmlns="">
          <p:pic>
            <p:nvPicPr>
              <p:cNvPr id="48" name="잉크 4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786548" y="8364902"/>
                <a:ext cx="961200" cy="2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026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17080"/>
            <a:ext cx="17754600" cy="897972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1EC8397-EEA9-0E91-14E7-B007CBE1A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49032"/>
              </p:ext>
            </p:extLst>
          </p:nvPr>
        </p:nvGraphicFramePr>
        <p:xfrm>
          <a:off x="19050000" y="3886200"/>
          <a:ext cx="4400550" cy="7802883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53702253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670880419"/>
                    </a:ext>
                  </a:extLst>
                </a:gridCol>
              </a:tblGrid>
              <a:tr h="70935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202258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91757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5484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3801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1315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24607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472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1749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34389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60465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780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2362200" y="647700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432F0-D4D4-AB93-B20F-CAA4A713488D}"/>
              </a:ext>
            </a:extLst>
          </p:cNvPr>
          <p:cNvSpPr txBox="1"/>
          <p:nvPr/>
        </p:nvSpPr>
        <p:spPr>
          <a:xfrm>
            <a:off x="2333884" y="7127185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42AB0-6589-AE8E-EE2D-871E684D8E7A}"/>
              </a:ext>
            </a:extLst>
          </p:cNvPr>
          <p:cNvSpPr txBox="1"/>
          <p:nvPr/>
        </p:nvSpPr>
        <p:spPr>
          <a:xfrm>
            <a:off x="2339035" y="786033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56468F-03C6-C4CE-6679-2EE7815057EC}"/>
              </a:ext>
            </a:extLst>
          </p:cNvPr>
          <p:cNvSpPr/>
          <p:nvPr/>
        </p:nvSpPr>
        <p:spPr>
          <a:xfrm>
            <a:off x="381001" y="6477000"/>
            <a:ext cx="1752600" cy="6019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4ADCA-392C-D7FF-3F04-7D2D93A7E773}"/>
              </a:ext>
            </a:extLst>
          </p:cNvPr>
          <p:cNvSpPr txBox="1"/>
          <p:nvPr/>
        </p:nvSpPr>
        <p:spPr>
          <a:xfrm>
            <a:off x="2647951" y="8601721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53A03-6D6D-705C-9852-389288F7460F}"/>
              </a:ext>
            </a:extLst>
          </p:cNvPr>
          <p:cNvSpPr txBox="1"/>
          <p:nvPr/>
        </p:nvSpPr>
        <p:spPr>
          <a:xfrm>
            <a:off x="2365806" y="9327069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D5066-DA47-EDEA-8D1B-D6E5A2AFB467}"/>
              </a:ext>
            </a:extLst>
          </p:cNvPr>
          <p:cNvSpPr txBox="1"/>
          <p:nvPr/>
        </p:nvSpPr>
        <p:spPr>
          <a:xfrm>
            <a:off x="2378676" y="11622547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DD842-A0C9-A831-8DAE-E38ADB6F1D80}"/>
              </a:ext>
            </a:extLst>
          </p:cNvPr>
          <p:cNvSpPr txBox="1"/>
          <p:nvPr/>
        </p:nvSpPr>
        <p:spPr>
          <a:xfrm>
            <a:off x="2351391" y="10129039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886200" y="10836925"/>
            <a:ext cx="13470919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561FDD-B05C-D6E2-F096-A0F417032240}"/>
              </a:ext>
            </a:extLst>
          </p:cNvPr>
          <p:cNvSpPr/>
          <p:nvPr/>
        </p:nvSpPr>
        <p:spPr>
          <a:xfrm>
            <a:off x="3674081" y="4989272"/>
            <a:ext cx="13470919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436581" y="5697159"/>
            <a:ext cx="21619" cy="504704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23155E-4A95-6952-3D94-FEC444753CB3}"/>
              </a:ext>
            </a:extLst>
          </p:cNvPr>
          <p:cNvSpPr txBox="1"/>
          <p:nvPr/>
        </p:nvSpPr>
        <p:spPr>
          <a:xfrm>
            <a:off x="8646130" y="6540330"/>
            <a:ext cx="491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o_funct3 = funct3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648200" y="7787641"/>
            <a:ext cx="14401800" cy="120395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104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67200"/>
            <a:ext cx="23317200" cy="731520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200400" y="6844150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>
                <a:solidFill>
                  <a:schemeClr val="tx1"/>
                </a:solidFill>
              </a:rPr>
              <a:t>imm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124200" y="5750011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rs1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p:sp>
        <p:nvSpPr>
          <p:cNvPr id="21" name="직사각형 20"/>
          <p:cNvSpPr/>
          <p:nvPr/>
        </p:nvSpPr>
        <p:spPr>
          <a:xfrm>
            <a:off x="2963563" y="9213275"/>
            <a:ext cx="1530178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>
                <a:solidFill>
                  <a:schemeClr val="tx1"/>
                </a:solidFill>
              </a:rPr>
              <a:t>daddr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7CB980-C68D-6978-6304-2CAFAC575B91}"/>
              </a:ext>
            </a:extLst>
          </p:cNvPr>
          <p:cNvSpPr/>
          <p:nvPr/>
        </p:nvSpPr>
        <p:spPr>
          <a:xfrm>
            <a:off x="4343401" y="11582400"/>
            <a:ext cx="43434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LB</a:t>
            </a:r>
            <a:endParaRPr lang="ko-KR" altLang="en-US" sz="4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F6032E-2DCD-F0D3-CB08-07622DE8EF87}"/>
              </a:ext>
            </a:extLst>
          </p:cNvPr>
          <p:cNvSpPr/>
          <p:nvPr/>
        </p:nvSpPr>
        <p:spPr>
          <a:xfrm>
            <a:off x="8686801" y="11582400"/>
            <a:ext cx="3657599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LH</a:t>
            </a:r>
            <a:endParaRPr lang="ko-KR" altLang="en-US" sz="4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2344400" y="11594757"/>
            <a:ext cx="38862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LW</a:t>
            </a:r>
            <a:endParaRPr lang="ko-KR" altLang="en-US" sz="44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6230600" y="11582400"/>
            <a:ext cx="3886197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LBU</a:t>
            </a:r>
            <a:endParaRPr lang="ko-KR" altLang="en-US" sz="4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20116799" y="11570043"/>
            <a:ext cx="3657599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LHU</a:t>
            </a:r>
            <a:endParaRPr lang="ko-KR" altLang="en-US" sz="4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8648700" y="4267200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2317626" y="4269260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6222878" y="4248664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20070975" y="4254843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679868" y="9103840"/>
            <a:ext cx="18942132" cy="10307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816434" y="5641978"/>
            <a:ext cx="18942132" cy="220662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000104" y="7848599"/>
            <a:ext cx="0" cy="125524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076699" y="8055879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ADD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197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92534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 &amp; register file)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92483"/>
            <a:ext cx="14020800" cy="9085441"/>
          </a:xfrm>
          <a:prstGeom prst="rect">
            <a:avLst/>
          </a:prstGeom>
        </p:spPr>
      </p:pic>
      <p:graphicFrame>
        <p:nvGraphicFramePr>
          <p:cNvPr id="2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79290"/>
              </p:ext>
            </p:extLst>
          </p:nvPr>
        </p:nvGraphicFramePr>
        <p:xfrm>
          <a:off x="14815931" y="5867400"/>
          <a:ext cx="9034669" cy="3789911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/>
                        <a:t>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ff_ff_ff_f2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ff_ff_ff_f3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572000" y="5266751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051324" y="4215811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LB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477000" y="6705600"/>
            <a:ext cx="6215962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491331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9935952" y="11788346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429664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874285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391400" y="7280189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9019403" y="7321378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2236792" y="7321377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558802" y="7356389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591300" y="5760576"/>
            <a:ext cx="59817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4419600" y="9277961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419600" y="9843719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716034" y="8989735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301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 &amp; register file)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417404"/>
            <a:ext cx="14312215" cy="9536596"/>
          </a:xfrm>
          <a:prstGeom prst="rect">
            <a:avLst/>
          </a:prstGeom>
        </p:spPr>
      </p:pic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918048"/>
              </p:ext>
            </p:extLst>
          </p:nvPr>
        </p:nvGraphicFramePr>
        <p:xfrm>
          <a:off x="14927006" y="4495800"/>
          <a:ext cx="9034669" cy="6335119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ff_ff_f2_01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00_00_04_f3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04_f3_f2_01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3352800" y="5176632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553200" y="4009962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LH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00400" y="9601200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200400" y="10155389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885985" y="4009961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LW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10200" y="6781799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181600" y="5689243"/>
            <a:ext cx="1524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418886" y="5689243"/>
            <a:ext cx="1496514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619999" y="6808571"/>
            <a:ext cx="114300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9552486" y="5689242"/>
            <a:ext cx="3706314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885985" y="6794410"/>
            <a:ext cx="1066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515100" y="12268200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610600" y="12284676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904071" y="12288795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5943599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121992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1253597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7658100" y="9348432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79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482187"/>
              </p:ext>
            </p:extLst>
          </p:nvPr>
        </p:nvGraphicFramePr>
        <p:xfrm>
          <a:off x="14554200" y="6400800"/>
          <a:ext cx="9034669" cy="3789911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161180630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1239179837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300614534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197241173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5416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3304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LBU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/>
                        <a:t>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6817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2191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267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00_00_00_04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60425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76" y="3199834"/>
            <a:ext cx="14031124" cy="10202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 &amp; register file)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572000" y="5181600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419600" y="9606168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419600" y="10160357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9043443" y="3820726"/>
            <a:ext cx="1572715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LBU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048500" y="5562600"/>
            <a:ext cx="55245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858000" y="6704341"/>
            <a:ext cx="57912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305800" y="12573000"/>
            <a:ext cx="58674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9536999" y="7325264"/>
            <a:ext cx="1213379" cy="522920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7846271" y="7946156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62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IL-type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Rd = </a:t>
            </a:r>
            <a:r>
              <a:rPr lang="en-US" altLang="ko-KR" sz="4400" dirty="0" err="1"/>
              <a:t>Dmem</a:t>
            </a:r>
            <a:r>
              <a:rPr lang="en-US" altLang="ko-KR" sz="4400" dirty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Rd : x1	</a:t>
            </a:r>
            <a:endParaRPr lang="ko-KR" altLang="en-US" sz="4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26127"/>
              </p:ext>
            </p:extLst>
          </p:nvPr>
        </p:nvGraphicFramePr>
        <p:xfrm>
          <a:off x="14892131" y="6705600"/>
          <a:ext cx="9034669" cy="3755863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161180630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1239179837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300614534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197241173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5416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reg</a:t>
                      </a:r>
                      <a:r>
                        <a:rPr lang="en-US" sz="2800" baseline="0" dirty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3304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LHU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32’h01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00_00_f2_01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0891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32’hf2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5884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32’hf3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00_00_04_f3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5736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32’h04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25947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195715"/>
            <a:ext cx="14554200" cy="10215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 &amp; register file)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019800" y="3826502"/>
            <a:ext cx="1572715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LHU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667000" y="4878247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14600" y="9726035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14600" y="10280224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953000" y="5560943"/>
            <a:ext cx="16764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915149" y="5596128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019800" y="12596940"/>
            <a:ext cx="1447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5933437" y="7367739"/>
            <a:ext cx="1213379" cy="522920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086349" y="6796560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921719" y="6796560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652380" y="12621654"/>
            <a:ext cx="1447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592515" y="7313979"/>
            <a:ext cx="5513885" cy="53076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5628036" y="7996992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chemeClr val="tx1"/>
                </a:solidFill>
              </a:rPr>
              <a:t>@(</a:t>
            </a:r>
            <a:r>
              <a:rPr lang="en-US" altLang="ko-KR" sz="4400" dirty="0" err="1">
                <a:solidFill>
                  <a:schemeClr val="tx1"/>
                </a:solidFill>
              </a:rPr>
              <a:t>posedge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 err="1">
                <a:solidFill>
                  <a:schemeClr val="tx1"/>
                </a:solidFill>
              </a:rPr>
              <a:t>clk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543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A485-5AF9-2E1E-3C18-DCF730B0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7144D76-CF71-0610-FEB1-20177809D2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0C66C4-FF7C-EF64-A2C1-B99D33A029F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30D347-B937-D5C9-3563-7C53B77F2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323321"/>
              </p:ext>
            </p:extLst>
          </p:nvPr>
        </p:nvGraphicFramePr>
        <p:xfrm>
          <a:off x="1676400" y="10744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B-type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Imm[12,10:5]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Imm[4:1,11]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OPCODE(B-type)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3BF230B-F906-853A-4560-882885A9A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500353"/>
              </p:ext>
            </p:extLst>
          </p:nvPr>
        </p:nvGraphicFramePr>
        <p:xfrm>
          <a:off x="5563274" y="3757655"/>
          <a:ext cx="10854488" cy="2773320"/>
        </p:xfrm>
        <a:graphic>
          <a:graphicData uri="http://schemas.openxmlformats.org/drawingml/2006/table">
            <a:tbl>
              <a:tblPr/>
              <a:tblGrid>
                <a:gridCol w="1405016">
                  <a:extLst>
                    <a:ext uri="{9D8B030D-6E8A-4147-A177-3AD203B41FA5}">
                      <a16:colId xmlns:a16="http://schemas.microsoft.com/office/drawing/2014/main" val="2011006369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204155993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639185477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2792603999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849768785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132989636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332822230"/>
                    </a:ext>
                  </a:extLst>
                </a:gridCol>
              </a:tblGrid>
              <a:tr h="9244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59834"/>
                  </a:ext>
                </a:extLst>
              </a:tr>
              <a:tr h="9244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057157"/>
                  </a:ext>
                </a:extLst>
              </a:tr>
              <a:tr h="924440">
                <a:tc>
                  <a:txBody>
                    <a:bodyPr/>
                    <a:lstStyle/>
                    <a:p>
                      <a:pPr algn="ctr" fontAlgn="ctr"/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4753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6850D79-2340-65AF-7265-3C93E151A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64025"/>
              </p:ext>
            </p:extLst>
          </p:nvPr>
        </p:nvGraphicFramePr>
        <p:xfrm>
          <a:off x="6968290" y="5606535"/>
          <a:ext cx="9449472" cy="924440"/>
        </p:xfrm>
        <a:graphic>
          <a:graphicData uri="http://schemas.openxmlformats.org/drawingml/2006/table">
            <a:tbl>
              <a:tblPr/>
              <a:tblGrid>
                <a:gridCol w="1574912">
                  <a:extLst>
                    <a:ext uri="{9D8B030D-6E8A-4147-A177-3AD203B41FA5}">
                      <a16:colId xmlns:a16="http://schemas.microsoft.com/office/drawing/2014/main" val="3322863166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1555837423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149001741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2027030000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138011037"/>
                    </a:ext>
                  </a:extLst>
                </a:gridCol>
                <a:gridCol w="1574912">
                  <a:extLst>
                    <a:ext uri="{9D8B030D-6E8A-4147-A177-3AD203B41FA5}">
                      <a16:colId xmlns:a16="http://schemas.microsoft.com/office/drawing/2014/main" val="3204579700"/>
                    </a:ext>
                  </a:extLst>
                </a:gridCol>
              </a:tblGrid>
              <a:tr h="9244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==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!=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&gt;=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&gt;=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821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7FAC855-F8F3-7865-8977-DDCBF6E1B9CD}"/>
              </a:ext>
            </a:extLst>
          </p:cNvPr>
          <p:cNvSpPr txBox="1"/>
          <p:nvPr/>
        </p:nvSpPr>
        <p:spPr>
          <a:xfrm>
            <a:off x="4800600" y="7620000"/>
            <a:ext cx="16916400" cy="20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B-type</a:t>
            </a:r>
            <a:r>
              <a:rPr lang="ko-KR" altLang="en-US" sz="4400" dirty="0"/>
              <a:t>은 </a:t>
            </a:r>
            <a:r>
              <a:rPr lang="en-US" altLang="ko-KR" sz="4400" dirty="0"/>
              <a:t>rs1, rs2</a:t>
            </a:r>
            <a:r>
              <a:rPr lang="ko-KR" altLang="en-US" sz="4400" dirty="0"/>
              <a:t>에 대해 비교 연산자를 사용</a:t>
            </a: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</a:t>
            </a:r>
            <a:r>
              <a:rPr lang="ko-KR" altLang="en-US" sz="4400" dirty="0"/>
              <a:t>참일 경우</a:t>
            </a:r>
            <a:r>
              <a:rPr lang="en-US" altLang="ko-KR" sz="4400" dirty="0"/>
              <a:t>, PC</a:t>
            </a:r>
            <a:r>
              <a:rPr lang="ko-KR" altLang="en-US" sz="4400" dirty="0"/>
              <a:t>는 </a:t>
            </a:r>
            <a:r>
              <a:rPr lang="en-US" altLang="ko-KR" sz="4400" dirty="0"/>
              <a:t>PC + </a:t>
            </a:r>
            <a:r>
              <a:rPr lang="en-US" altLang="ko-KR" sz="4400" dirty="0" err="1"/>
              <a:t>imm</a:t>
            </a:r>
            <a:r>
              <a:rPr lang="ko-KR" altLang="en-US" sz="4400" dirty="0"/>
              <a:t>으로 이동</a:t>
            </a:r>
            <a:r>
              <a:rPr lang="en-US" altLang="ko-KR" sz="4400" dirty="0"/>
              <a:t>(Jump)</a:t>
            </a:r>
          </a:p>
        </p:txBody>
      </p:sp>
    </p:spTree>
    <p:extLst>
      <p:ext uri="{BB962C8B-B14F-4D97-AF65-F5344CB8AC3E}">
        <p14:creationId xmlns:p14="http://schemas.microsoft.com/office/powerpoint/2010/main" val="3721618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806D-EAFA-B120-C907-116CECDD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E663723-4B2B-DCB1-52C0-F0798241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67571"/>
            <a:ext cx="11340162" cy="9842842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5EEBCE87-AFBD-0AB6-4B4C-D00AB5ED1A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91EA336-4013-CF81-6AC3-CBF3D35D017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CE287-B183-315F-37FE-C110BFB79901}"/>
              </a:ext>
            </a:extLst>
          </p:cNvPr>
          <p:cNvSpPr txBox="1"/>
          <p:nvPr/>
        </p:nvSpPr>
        <p:spPr>
          <a:xfrm>
            <a:off x="529701" y="2337778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A090567-D34B-A79C-4268-48207AEE4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480486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B-type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Imm[12,10:5]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Imm[4:1,11]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OPCODE(B-type)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AF0E5CC-3A53-5E5C-BA7F-C720D010A34F}"/>
              </a:ext>
            </a:extLst>
          </p:cNvPr>
          <p:cNvGraphicFramePr>
            <a:graphicFrameLocks noGrp="1"/>
          </p:cNvGraphicFramePr>
          <p:nvPr/>
        </p:nvGraphicFramePr>
        <p:xfrm>
          <a:off x="13516025" y="3282813"/>
          <a:ext cx="5257800" cy="848867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793437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7030382"/>
                    </a:ext>
                  </a:extLst>
                </a:gridCol>
              </a:tblGrid>
              <a:tr h="77169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95235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60802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7220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58412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99413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8017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0869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9775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1930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90034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77522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E7D29F7-0760-4555-1AA5-A19A5481C57A}"/>
              </a:ext>
            </a:extLst>
          </p:cNvPr>
          <p:cNvSpPr txBox="1"/>
          <p:nvPr/>
        </p:nvSpPr>
        <p:spPr>
          <a:xfrm>
            <a:off x="2508002" y="9436504"/>
            <a:ext cx="2174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PC+imm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2F6DE-1417-0047-6751-0858358C20E9}"/>
              </a:ext>
            </a:extLst>
          </p:cNvPr>
          <p:cNvSpPr txBox="1"/>
          <p:nvPr/>
        </p:nvSpPr>
        <p:spPr>
          <a:xfrm>
            <a:off x="7834962" y="4254904"/>
            <a:ext cx="1184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C8F19-66E1-8BCC-F569-C69B05858FFD}"/>
              </a:ext>
            </a:extLst>
          </p:cNvPr>
          <p:cNvSpPr txBox="1"/>
          <p:nvPr/>
        </p:nvSpPr>
        <p:spPr>
          <a:xfrm>
            <a:off x="5756027" y="4254903"/>
            <a:ext cx="1452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9069D-E722-7B4E-6A2F-1B195E579119}"/>
              </a:ext>
            </a:extLst>
          </p:cNvPr>
          <p:cNvSpPr txBox="1"/>
          <p:nvPr/>
        </p:nvSpPr>
        <p:spPr>
          <a:xfrm>
            <a:off x="5985256" y="8826904"/>
            <a:ext cx="1703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 or 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76C9262-9F56-4616-F0BD-01FE07FBCE4B}"/>
              </a:ext>
            </a:extLst>
          </p:cNvPr>
          <p:cNvGraphicFramePr>
            <a:graphicFrameLocks noGrp="1"/>
          </p:cNvGraphicFramePr>
          <p:nvPr/>
        </p:nvGraphicFramePr>
        <p:xfrm>
          <a:off x="19120888" y="3282813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E2810A-30CC-CD0A-4826-44BB2D54E9B1}"/>
              </a:ext>
            </a:extLst>
          </p:cNvPr>
          <p:cNvSpPr/>
          <p:nvPr/>
        </p:nvSpPr>
        <p:spPr>
          <a:xfrm>
            <a:off x="19120887" y="6051568"/>
            <a:ext cx="4876801" cy="9650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11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A485-5AF9-2E1E-3C18-DCF730B0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D24264D-4DB1-A1DE-43C5-3306F34F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94469"/>
            <a:ext cx="11340162" cy="9842842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E7144D76-CF71-0610-FEB1-20177809D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0C66C4-FF7C-EF64-A2C1-B99D33A029F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41A1F-F777-F3F0-08C1-A30418EF4E2A}"/>
              </a:ext>
            </a:extLst>
          </p:cNvPr>
          <p:cNvSpPr txBox="1"/>
          <p:nvPr/>
        </p:nvSpPr>
        <p:spPr>
          <a:xfrm>
            <a:off x="277145" y="2405679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30D347-B937-D5C9-3563-7C53B77F2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11370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B-type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Imm[12,10:5]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Imm[4:1,11]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OPCODE(B-type)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73C8B0B-BB54-4777-2F16-7DBEF541B892}"/>
              </a:ext>
            </a:extLst>
          </p:cNvPr>
          <p:cNvSpPr txBox="1"/>
          <p:nvPr/>
        </p:nvSpPr>
        <p:spPr>
          <a:xfrm>
            <a:off x="1676400" y="8702013"/>
            <a:ext cx="21748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PC+imm</a:t>
            </a:r>
            <a:r>
              <a:rPr lang="en-US" altLang="ko-KR" sz="4400" b="1" dirty="0">
                <a:highlight>
                  <a:srgbClr val="FFFF00"/>
                </a:highlight>
              </a:rPr>
              <a:t>,</a:t>
            </a:r>
          </a:p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847F8-49D1-F66A-81DF-E63D8460ACDD}"/>
              </a:ext>
            </a:extLst>
          </p:cNvPr>
          <p:cNvSpPr txBox="1"/>
          <p:nvPr/>
        </p:nvSpPr>
        <p:spPr>
          <a:xfrm>
            <a:off x="7018475" y="4288146"/>
            <a:ext cx="1184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E97F6-048A-8681-3F7F-22C64DEF8BB4}"/>
              </a:ext>
            </a:extLst>
          </p:cNvPr>
          <p:cNvSpPr txBox="1"/>
          <p:nvPr/>
        </p:nvSpPr>
        <p:spPr>
          <a:xfrm>
            <a:off x="5059910" y="4300327"/>
            <a:ext cx="1452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B9951-248A-9156-7EB0-E2044BDEB4EA}"/>
              </a:ext>
            </a:extLst>
          </p:cNvPr>
          <p:cNvSpPr txBox="1"/>
          <p:nvPr/>
        </p:nvSpPr>
        <p:spPr>
          <a:xfrm>
            <a:off x="5067543" y="8734964"/>
            <a:ext cx="1703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 or 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34084"/>
              </p:ext>
            </p:extLst>
          </p:nvPr>
        </p:nvGraphicFramePr>
        <p:xfrm>
          <a:off x="12760357" y="2543060"/>
          <a:ext cx="11263580" cy="5029053"/>
        </p:xfrm>
        <a:graphic>
          <a:graphicData uri="http://schemas.openxmlformats.org/drawingml/2006/table">
            <a:tbl>
              <a:tblPr/>
              <a:tblGrid>
                <a:gridCol w="672454">
                  <a:extLst>
                    <a:ext uri="{9D8B030D-6E8A-4147-A177-3AD203B41FA5}">
                      <a16:colId xmlns:a16="http://schemas.microsoft.com/office/drawing/2014/main" val="592431840"/>
                    </a:ext>
                  </a:extLst>
                </a:gridCol>
                <a:gridCol w="1370926">
                  <a:extLst>
                    <a:ext uri="{9D8B030D-6E8A-4147-A177-3AD203B41FA5}">
                      <a16:colId xmlns:a16="http://schemas.microsoft.com/office/drawing/2014/main" val="2793313128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401646368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55748501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79602251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95049273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246243749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769496219"/>
                    </a:ext>
                  </a:extLst>
                </a:gridCol>
              </a:tblGrid>
              <a:tr h="520761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724875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</a:t>
                      </a:r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96199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272984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63732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582122"/>
                  </a:ext>
                </a:extLst>
              </a:tr>
              <a:tr h="520761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22001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==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!=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&gt;=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&gt;=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34986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</a:t>
                      </a:r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57233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T/F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797348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63252"/>
              </p:ext>
            </p:extLst>
          </p:nvPr>
        </p:nvGraphicFramePr>
        <p:xfrm>
          <a:off x="15544800" y="7772400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5544799" y="10541155"/>
            <a:ext cx="4876801" cy="9650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710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97B2-D3F0-894E-FA43-06835101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D83FEE47-DE52-2A9B-647D-4885A034CF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A672D94-EEA7-0750-676E-C6258BBB6B8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2FCAC-71C1-473F-5A82-BFAD650D798D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124794"/>
              </p:ext>
            </p:extLst>
          </p:nvPr>
        </p:nvGraphicFramePr>
        <p:xfrm>
          <a:off x="8480675" y="3969122"/>
          <a:ext cx="6705602" cy="6966773"/>
        </p:xfrm>
        <a:graphic>
          <a:graphicData uri="http://schemas.openxmlformats.org/drawingml/2006/table">
            <a:tbl>
              <a:tblPr/>
              <a:tblGrid>
                <a:gridCol w="482588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864560">
                  <a:extLst>
                    <a:ext uri="{9D8B030D-6E8A-4147-A177-3AD203B41FA5}">
                      <a16:colId xmlns:a16="http://schemas.microsoft.com/office/drawing/2014/main" val="2346852202"/>
                    </a:ext>
                  </a:extLst>
                </a:gridCol>
                <a:gridCol w="86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3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2982">
                  <a:extLst>
                    <a:ext uri="{9D8B030D-6E8A-4147-A177-3AD203B41FA5}">
                      <a16:colId xmlns:a16="http://schemas.microsoft.com/office/drawing/2014/main" val="2507785383"/>
                    </a:ext>
                  </a:extLst>
                </a:gridCol>
                <a:gridCol w="1162253">
                  <a:extLst>
                    <a:ext uri="{9D8B030D-6E8A-4147-A177-3AD203B41FA5}">
                      <a16:colId xmlns:a16="http://schemas.microsoft.com/office/drawing/2014/main" val="2254191458"/>
                    </a:ext>
                  </a:extLst>
                </a:gridCol>
                <a:gridCol w="801712">
                  <a:extLst>
                    <a:ext uri="{9D8B030D-6E8A-4147-A177-3AD203B41FA5}">
                      <a16:colId xmlns:a16="http://schemas.microsoft.com/office/drawing/2014/main" val="401060558"/>
                    </a:ext>
                  </a:extLst>
                </a:gridCol>
                <a:gridCol w="80171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447081">
                <a:tc grid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ALU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T/F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2*4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BEQ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 == -1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BNE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0 != -1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</a:t>
                      </a:r>
                      <a:r>
                        <a:rPr lang="en-US" altLang="ko-KR" sz="2800" baseline="0" dirty="0"/>
                        <a:t> &lt; 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BGE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0 &gt;= -1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&gt;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-1 &gt;= -1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-2*4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0 &lt; |-1|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BGEU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|-1| &gt;=</a:t>
                      </a:r>
                      <a:r>
                        <a:rPr lang="en-US" altLang="ko-KR" sz="2800" baseline="0" dirty="0"/>
                        <a:t>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&gt;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9841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8*4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|-1| &gt;=</a:t>
                      </a:r>
                      <a:r>
                        <a:rPr lang="en-US" altLang="ko-KR" sz="2800" baseline="0" dirty="0"/>
                        <a:t> -1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99079"/>
              </p:ext>
            </p:extLst>
          </p:nvPr>
        </p:nvGraphicFramePr>
        <p:xfrm>
          <a:off x="16611600" y="3963406"/>
          <a:ext cx="7467599" cy="7272237"/>
        </p:xfrm>
        <a:graphic>
          <a:graphicData uri="http://schemas.openxmlformats.org/drawingml/2006/table">
            <a:tbl>
              <a:tblPr/>
              <a:tblGrid>
                <a:gridCol w="537427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962805">
                  <a:extLst>
                    <a:ext uri="{9D8B030D-6E8A-4147-A177-3AD203B41FA5}">
                      <a16:colId xmlns:a16="http://schemas.microsoft.com/office/drawing/2014/main" val="4048661089"/>
                    </a:ext>
                  </a:extLst>
                </a:gridCol>
                <a:gridCol w="96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66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1609466">
                  <a:extLst>
                    <a:ext uri="{9D8B030D-6E8A-4147-A177-3AD203B41FA5}">
                      <a16:colId xmlns:a16="http://schemas.microsoft.com/office/drawing/2014/main" val="1666516649"/>
                    </a:ext>
                  </a:extLst>
                </a:gridCol>
                <a:gridCol w="892815">
                  <a:extLst>
                    <a:ext uri="{9D8B030D-6E8A-4147-A177-3AD203B41FA5}">
                      <a16:colId xmlns:a16="http://schemas.microsoft.com/office/drawing/2014/main" val="3141909627"/>
                    </a:ext>
                  </a:extLst>
                </a:gridCol>
                <a:gridCol w="892815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371556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ALU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T/F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30*4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BEQ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 == 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F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BNE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0 != 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0 &lt; -1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&lt;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0 &lt;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BGE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-1 &gt;=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|-1| &lt;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&lt;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0</a:t>
                      </a:r>
                      <a:r>
                        <a:rPr lang="en-US" altLang="ko-KR" sz="2800" baseline="0" dirty="0"/>
                        <a:t> </a:t>
                      </a:r>
                      <a:r>
                        <a:rPr lang="en-US" altLang="ko-KR" sz="2800" dirty="0"/>
                        <a:t>&lt;</a:t>
                      </a:r>
                      <a:r>
                        <a:rPr lang="en-US" altLang="ko-KR" sz="2800" baseline="0" dirty="0"/>
                        <a:t>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BGEU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 &gt;=</a:t>
                      </a:r>
                      <a:r>
                        <a:rPr lang="en-US" altLang="ko-KR" sz="2800" baseline="0" dirty="0"/>
                        <a:t> |-1|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x2 = (-1) – (-1)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8385"/>
                  </a:ext>
                </a:extLst>
              </a:tr>
            </a:tbl>
          </a:graphicData>
        </a:graphic>
      </p:graphicFrame>
      <p:sp>
        <p:nvSpPr>
          <p:cNvPr id="9" name="왼쪽 대괄호 8"/>
          <p:cNvSpPr/>
          <p:nvPr/>
        </p:nvSpPr>
        <p:spPr>
          <a:xfrm>
            <a:off x="7998761" y="5550112"/>
            <a:ext cx="457200" cy="2238709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/>
          <p:cNvSpPr/>
          <p:nvPr/>
        </p:nvSpPr>
        <p:spPr>
          <a:xfrm>
            <a:off x="7998761" y="8692848"/>
            <a:ext cx="457200" cy="1143000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527230" y="8879627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PC += -2</a:t>
            </a:r>
            <a:endParaRPr lang="ko-KR" altLang="en-US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14325600" y="11582400"/>
            <a:ext cx="274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PC += 30*4</a:t>
            </a:r>
            <a:endParaRPr lang="ko-KR" altLang="en-US" sz="4400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7642475" y="8296124"/>
            <a:ext cx="805248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15878" y="7900592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PC  += 6</a:t>
            </a:r>
            <a:endParaRPr lang="ko-KR" altLang="en-US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5669603" y="6379041"/>
            <a:ext cx="213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PC += 2</a:t>
            </a:r>
            <a:endParaRPr lang="ko-KR" altLang="en-US" sz="4400" dirty="0"/>
          </a:p>
        </p:txBody>
      </p:sp>
      <p:sp>
        <p:nvSpPr>
          <p:cNvPr id="19" name="왼쪽 대괄호 18"/>
          <p:cNvSpPr/>
          <p:nvPr/>
        </p:nvSpPr>
        <p:spPr>
          <a:xfrm>
            <a:off x="16136046" y="5546786"/>
            <a:ext cx="457200" cy="4742605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7596137" y="10445116"/>
            <a:ext cx="805248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6838" y="10068256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PC  += 8</a:t>
            </a:r>
            <a:endParaRPr lang="ko-KR" altLang="en-US" sz="4400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5468600" y="7783105"/>
            <a:ext cx="660999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5518027" y="7717190"/>
            <a:ext cx="26773" cy="386521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52489"/>
              </p:ext>
            </p:extLst>
          </p:nvPr>
        </p:nvGraphicFramePr>
        <p:xfrm>
          <a:off x="530446" y="7089566"/>
          <a:ext cx="4714461" cy="2616405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50683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-1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55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SUB</a:t>
                      </a:r>
                      <a:r>
                        <a:rPr lang="en-US" sz="2800" baseline="0" dirty="0"/>
                        <a:t> </a:t>
                      </a:r>
                      <a:r>
                        <a:rPr lang="ko-KR" altLang="en-US" sz="2800" baseline="0" dirty="0"/>
                        <a:t>값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0834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045570" y="3610318"/>
            <a:ext cx="630670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if(rs1 </a:t>
            </a:r>
            <a:r>
              <a:rPr lang="ko-KR" altLang="en-US" sz="4400" dirty="0"/>
              <a:t>비교 </a:t>
            </a:r>
            <a:r>
              <a:rPr lang="en-US" altLang="ko-KR" sz="4400" dirty="0"/>
              <a:t>rs2) PC += </a:t>
            </a:r>
            <a:r>
              <a:rPr lang="en-US" altLang="ko-KR" sz="4400" dirty="0" err="1"/>
              <a:t>imm</a:t>
            </a:r>
            <a:endParaRPr lang="ko-KR" altLang="en-US" sz="4400" dirty="0"/>
          </a:p>
        </p:txBody>
      </p:sp>
      <p:sp>
        <p:nvSpPr>
          <p:cNvPr id="30" name="TextBox 29"/>
          <p:cNvSpPr txBox="1"/>
          <p:nvPr/>
        </p:nvSpPr>
        <p:spPr>
          <a:xfrm>
            <a:off x="10756557" y="3056406"/>
            <a:ext cx="26014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True case </a:t>
            </a:r>
            <a:endParaRPr lang="ko-KR" altLang="en-US" sz="4400" dirty="0"/>
          </a:p>
        </p:txBody>
      </p:sp>
      <p:sp>
        <p:nvSpPr>
          <p:cNvPr id="31" name="TextBox 30"/>
          <p:cNvSpPr txBox="1"/>
          <p:nvPr/>
        </p:nvSpPr>
        <p:spPr>
          <a:xfrm>
            <a:off x="19126200" y="3038863"/>
            <a:ext cx="26014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false case 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1196373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5715"/>
            <a:ext cx="19202400" cy="966552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9E9E69-5CAE-889A-86E6-92514C09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110839"/>
              </p:ext>
            </p:extLst>
          </p:nvPr>
        </p:nvGraphicFramePr>
        <p:xfrm>
          <a:off x="19354801" y="3258002"/>
          <a:ext cx="4876800" cy="8488678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39793437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7030382"/>
                    </a:ext>
                  </a:extLst>
                </a:gridCol>
              </a:tblGrid>
              <a:tr h="77169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95235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60802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7220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58412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99413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8017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0869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9775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1930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90034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77522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200400" y="8763000"/>
            <a:ext cx="14859000" cy="914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8173700" y="8763000"/>
            <a:ext cx="1066800" cy="9144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640080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798429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62897" y="7251022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62897" y="956300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25827" y="1031979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11139653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11999507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02608"/>
              </p:ext>
            </p:extLst>
          </p:nvPr>
        </p:nvGraphicFramePr>
        <p:xfrm>
          <a:off x="15163800" y="9302"/>
          <a:ext cx="9220200" cy="2083044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1275849659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282483658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986841044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39563092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30296373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148120770"/>
                    </a:ext>
                  </a:extLst>
                </a:gridCol>
              </a:tblGrid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033566"/>
                  </a:ext>
                </a:extLst>
              </a:tr>
              <a:tr h="52076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275995"/>
                  </a:ext>
                </a:extLst>
              </a:tr>
              <a:tr h="52076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71359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86799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429000" y="4766168"/>
            <a:ext cx="14859000" cy="914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23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8" y="3657600"/>
            <a:ext cx="24361301" cy="75438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3868400" y="3657600"/>
            <a:ext cx="0" cy="73914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467600" y="10058400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b_taken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86200" y="4038600"/>
            <a:ext cx="9753600" cy="52722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True Case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020800" y="4038600"/>
            <a:ext cx="8915400" cy="47573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err="1">
                <a:solidFill>
                  <a:schemeClr val="tx1"/>
                </a:solidFill>
              </a:rPr>
              <a:t>Falue</a:t>
            </a:r>
            <a:r>
              <a:rPr lang="en-US" altLang="ko-KR" sz="4000" dirty="0">
                <a:solidFill>
                  <a:schemeClr val="tx1"/>
                </a:solidFill>
              </a:rPr>
              <a:t> Case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23317200" y="3657600"/>
            <a:ext cx="0" cy="7543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23393399" y="7466570"/>
            <a:ext cx="952499" cy="9144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8942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8" y="3196266"/>
            <a:ext cx="21313302" cy="1013873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simulation(PC)</a:t>
            </a:r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73646"/>
              </p:ext>
            </p:extLst>
          </p:nvPr>
        </p:nvGraphicFramePr>
        <p:xfrm>
          <a:off x="21427654" y="4191000"/>
          <a:ext cx="2836901" cy="6704261"/>
        </p:xfrm>
        <a:graphic>
          <a:graphicData uri="http://schemas.openxmlformats.org/drawingml/2006/table">
            <a:tbl>
              <a:tblPr/>
              <a:tblGrid>
                <a:gridCol w="61900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08949">
                  <a:extLst>
                    <a:ext uri="{9D8B030D-6E8A-4147-A177-3AD203B41FA5}">
                      <a16:colId xmlns:a16="http://schemas.microsoft.com/office/drawing/2014/main" val="2346852202"/>
                    </a:ext>
                  </a:extLst>
                </a:gridCol>
                <a:gridCol w="110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81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2*4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BEQ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BNE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BGE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6*4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-2*4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BGEU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9841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8*4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505556" y="9910403"/>
            <a:ext cx="4343044" cy="60519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312928" y="8232025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b_taken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144986" y="7369314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branch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4842639" y="12627114"/>
            <a:ext cx="4988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b_taken</a:t>
            </a:r>
            <a:r>
              <a:rPr lang="en-US" altLang="ko-KR" sz="4000" dirty="0">
                <a:highlight>
                  <a:srgbClr val="FFFF00"/>
                </a:highlight>
              </a:rPr>
              <a:t> &amp;&amp; branch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H="1">
            <a:off x="12154931" y="3656378"/>
            <a:ext cx="32951" cy="9324679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>
            <a:off x="20345400" y="3923628"/>
            <a:ext cx="32951" cy="9324679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334657" y="9947134"/>
            <a:ext cx="2520754" cy="64466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4192986" y="9071214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8++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9448726" y="9071214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8--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4053753" y="7320443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branch = 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182600" y="11353800"/>
            <a:ext cx="7974214" cy="51944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279534" y="10640385"/>
            <a:ext cx="7974214" cy="51944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322709" y="11280634"/>
            <a:ext cx="7559059" cy="53378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로 구부러진 화살표 39"/>
          <p:cNvSpPr/>
          <p:nvPr/>
        </p:nvSpPr>
        <p:spPr>
          <a:xfrm>
            <a:off x="7315199" y="9021825"/>
            <a:ext cx="1425129" cy="685800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아래로 구부러진 화살표 40"/>
          <p:cNvSpPr/>
          <p:nvPr/>
        </p:nvSpPr>
        <p:spPr>
          <a:xfrm>
            <a:off x="10606199" y="9043365"/>
            <a:ext cx="1182166" cy="685800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295659" y="8258798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24++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517582" y="8265633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32++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3517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B316-6150-CB5E-9BAA-21FD4546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DDB6F6C-71A7-23A2-1598-4D249999A3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14B466E-EC66-F945-674A-CDEAC23516E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67B5315-04A0-1502-3D68-20679B7AA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031764"/>
              </p:ext>
            </p:extLst>
          </p:nvPr>
        </p:nvGraphicFramePr>
        <p:xfrm>
          <a:off x="1524000" y="108966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U-type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Imm[31:12]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OPCODE(U-type)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19E83D0-6E60-14E0-40AF-6CC1738C619A}"/>
              </a:ext>
            </a:extLst>
          </p:cNvPr>
          <p:cNvSpPr txBox="1"/>
          <p:nvPr/>
        </p:nvSpPr>
        <p:spPr>
          <a:xfrm>
            <a:off x="4419600" y="8382000"/>
            <a:ext cx="17678400" cy="9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 OPCODE</a:t>
            </a:r>
            <a:r>
              <a:rPr lang="ko-KR" altLang="en-US" sz="4400" dirty="0"/>
              <a:t>의 차이로 </a:t>
            </a:r>
            <a:r>
              <a:rPr lang="en-US" altLang="ko-KR" sz="4400" dirty="0"/>
              <a:t>LUI,AUIPC </a:t>
            </a:r>
            <a:r>
              <a:rPr lang="ko-KR" altLang="en-US" sz="4400" dirty="0"/>
              <a:t>구별</a:t>
            </a:r>
            <a:endParaRPr lang="en-US" altLang="ko-KR" sz="44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A29D9E7-2569-5A11-6116-29A3BE76E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44773"/>
              </p:ext>
            </p:extLst>
          </p:nvPr>
        </p:nvGraphicFramePr>
        <p:xfrm>
          <a:off x="4419600" y="5140903"/>
          <a:ext cx="14097000" cy="2091285"/>
        </p:xfrm>
        <a:graphic>
          <a:graphicData uri="http://schemas.openxmlformats.org/drawingml/2006/table">
            <a:tbl>
              <a:tblPr/>
              <a:tblGrid>
                <a:gridCol w="4699000">
                  <a:extLst>
                    <a:ext uri="{9D8B030D-6E8A-4147-A177-3AD203B41FA5}">
                      <a16:colId xmlns:a16="http://schemas.microsoft.com/office/drawing/2014/main" val="4172905567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946807508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3425473210"/>
                    </a:ext>
                  </a:extLst>
                </a:gridCol>
              </a:tblGrid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OPCODE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6566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7’b011_0111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Rd = </a:t>
                      </a: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imm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380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7’b001_0111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AUIPC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Rd = PC + </a:t>
                      </a: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imm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630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960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ABD7-9C5C-D946-352B-4917A6BC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AE41AFD9-4D75-F123-3C7C-ACFB98D6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50" y="2675119"/>
            <a:ext cx="11430649" cy="990812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5B4746C-84EA-F66C-DE9B-AE3081D327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8977815-3C96-D78B-A856-1087AA5D7D8B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35D931-FAAF-B3CE-D7AC-DACB5A3B63F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5F4E95A-7825-6ED0-40CD-24187BCE8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032650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U-type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Imm[31:12]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OPCODE(U-type)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DD0B2BB-50C5-A227-2B66-77BFEA3C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6579"/>
              </p:ext>
            </p:extLst>
          </p:nvPr>
        </p:nvGraphicFramePr>
        <p:xfrm>
          <a:off x="15316200" y="3197656"/>
          <a:ext cx="7848600" cy="7894263"/>
        </p:xfrm>
        <a:graphic>
          <a:graphicData uri="http://schemas.openxmlformats.org/drawingml/2006/table">
            <a:tbl>
              <a:tblPr/>
              <a:tblGrid>
                <a:gridCol w="3924300">
                  <a:extLst>
                    <a:ext uri="{9D8B030D-6E8A-4147-A177-3AD203B41FA5}">
                      <a16:colId xmlns:a16="http://schemas.microsoft.com/office/drawing/2014/main" val="3028895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14938813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581514038"/>
                    </a:ext>
                  </a:extLst>
                </a:gridCol>
              </a:tblGrid>
              <a:tr h="685784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9627"/>
                  </a:ext>
                </a:extLst>
              </a:tr>
              <a:tr h="934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AUIPC_type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0396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14742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07086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1513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9586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7435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1558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376960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08961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45915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DD532A4-C100-8167-9769-93A1F9B3A0DE}"/>
              </a:ext>
            </a:extLst>
          </p:cNvPr>
          <p:cNvSpPr txBox="1"/>
          <p:nvPr/>
        </p:nvSpPr>
        <p:spPr>
          <a:xfrm>
            <a:off x="3283640" y="9525000"/>
            <a:ext cx="2174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E7EAA-3DB3-F6FC-003C-79E109B72CEA}"/>
              </a:ext>
            </a:extLst>
          </p:cNvPr>
          <p:cNvSpPr txBox="1"/>
          <p:nvPr/>
        </p:nvSpPr>
        <p:spPr>
          <a:xfrm>
            <a:off x="5638800" y="4185901"/>
            <a:ext cx="106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6FB91-0942-1503-39A7-5BF2A64CF0A0}"/>
              </a:ext>
            </a:extLst>
          </p:cNvPr>
          <p:cNvSpPr txBox="1"/>
          <p:nvPr/>
        </p:nvSpPr>
        <p:spPr>
          <a:xfrm>
            <a:off x="10439400" y="4419600"/>
            <a:ext cx="213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2 or 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2AFA2B-9B6E-EA38-B036-44DB529BA6AE}"/>
              </a:ext>
            </a:extLst>
          </p:cNvPr>
          <p:cNvSpPr txBox="1"/>
          <p:nvPr/>
        </p:nvSpPr>
        <p:spPr>
          <a:xfrm>
            <a:off x="6172200" y="8510035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en-US" altLang="ko-KR" sz="3200" b="1" dirty="0">
                <a:highlight>
                  <a:srgbClr val="FFFF00"/>
                </a:highlight>
              </a:rPr>
              <a:t> or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ko-KR" altLang="en-US" sz="3200" b="1" dirty="0">
                <a:highlight>
                  <a:srgbClr val="FFFF00"/>
                </a:highlight>
              </a:rPr>
              <a:t> </a:t>
            </a:r>
            <a:endParaRPr lang="en-US" altLang="ko-KR" sz="3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38857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ED1D-41B2-5D87-5C05-811E945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F324235F-CFB3-9E39-362E-07CD31A992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AD5FE83-9DFB-C8B9-277E-D282DF1FC64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4BB57-C751-669A-2505-0C1C4E3ED717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852119" y="3554150"/>
            <a:ext cx="630670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LUI      : </a:t>
            </a:r>
            <a:r>
              <a:rPr lang="en-US" altLang="ko-KR" sz="4400" dirty="0" err="1"/>
              <a:t>rd</a:t>
            </a:r>
            <a:r>
              <a:rPr lang="en-US" altLang="ko-KR" sz="4400" dirty="0"/>
              <a:t> = </a:t>
            </a:r>
            <a:r>
              <a:rPr lang="en-US" altLang="ko-KR" sz="4400" dirty="0" err="1"/>
              <a:t>imm</a:t>
            </a:r>
            <a:endParaRPr lang="en-US" altLang="ko-KR" sz="4400" dirty="0"/>
          </a:p>
          <a:p>
            <a:r>
              <a:rPr lang="en-US" altLang="ko-KR" sz="4400" dirty="0"/>
              <a:t>AUIPC : </a:t>
            </a:r>
            <a:r>
              <a:rPr lang="en-US" altLang="ko-KR" sz="4400" dirty="0" err="1"/>
              <a:t>rd</a:t>
            </a:r>
            <a:r>
              <a:rPr lang="en-US" altLang="ko-KR" sz="4400" dirty="0"/>
              <a:t> = PC + </a:t>
            </a:r>
            <a:r>
              <a:rPr lang="en-US" altLang="ko-KR" sz="4400" dirty="0" err="1"/>
              <a:t>imm</a:t>
            </a:r>
            <a:endParaRPr lang="ko-KR" altLang="en-US" sz="4400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29132"/>
              </p:ext>
            </p:extLst>
          </p:nvPr>
        </p:nvGraphicFramePr>
        <p:xfrm>
          <a:off x="13716000" y="6189054"/>
          <a:ext cx="7315201" cy="3399097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BEQ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if(0 == 0)?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PC += 2*4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7085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AUIPC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x1 = 3*4 + 10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409917"/>
              </p:ext>
            </p:extLst>
          </p:nvPr>
        </p:nvGraphicFramePr>
        <p:xfrm>
          <a:off x="3200400" y="6713276"/>
          <a:ext cx="5467865" cy="1604006"/>
        </p:xfrm>
        <a:graphic>
          <a:graphicData uri="http://schemas.openxmlformats.org/drawingml/2006/table">
            <a:tbl>
              <a:tblPr/>
              <a:tblGrid>
                <a:gridCol w="1558466">
                  <a:extLst>
                    <a:ext uri="{9D8B030D-6E8A-4147-A177-3AD203B41FA5}">
                      <a16:colId xmlns:a16="http://schemas.microsoft.com/office/drawing/2014/main" val="1874453295"/>
                    </a:ext>
                  </a:extLst>
                </a:gridCol>
                <a:gridCol w="3909399">
                  <a:extLst>
                    <a:ext uri="{9D8B030D-6E8A-4147-A177-3AD203B41FA5}">
                      <a16:colId xmlns:a16="http://schemas.microsoft.com/office/drawing/2014/main" val="20865125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1443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addr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용도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3858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/>
                        <a:t>x1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rd</a:t>
                      </a:r>
                      <a:r>
                        <a:rPr lang="en-US" sz="2800" dirty="0"/>
                        <a:t> (LUI, AUIPC </a:t>
                      </a:r>
                      <a:r>
                        <a:rPr lang="ko-KR" altLang="en-US" sz="2800" dirty="0"/>
                        <a:t>저장소</a:t>
                      </a:r>
                      <a:r>
                        <a:rPr lang="en-US" sz="2800" dirty="0"/>
                        <a:t>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87086"/>
                  </a:ext>
                </a:extLst>
              </a:tr>
            </a:tbl>
          </a:graphicData>
        </a:graphic>
      </p:graphicFrame>
      <p:sp>
        <p:nvSpPr>
          <p:cNvPr id="8" name="오른쪽 화살표 7"/>
          <p:cNvSpPr/>
          <p:nvPr/>
        </p:nvSpPr>
        <p:spPr>
          <a:xfrm rot="10800000">
            <a:off x="9632091" y="7016312"/>
            <a:ext cx="3124200" cy="1143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715999" y="8292189"/>
            <a:ext cx="7315201" cy="12959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259800" y="8647782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검증할 부분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1190216"/>
            <a:ext cx="1127760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U-type</a:t>
            </a:r>
            <a:r>
              <a:rPr lang="ko-KR" altLang="en-US" sz="3200" dirty="0"/>
              <a:t>는 </a:t>
            </a:r>
            <a:r>
              <a:rPr lang="en-US" altLang="ko-KR" sz="3200" dirty="0"/>
              <a:t>0</a:t>
            </a:r>
            <a:r>
              <a:rPr lang="ko-KR" altLang="en-US" sz="3200" dirty="0"/>
              <a:t>번 </a:t>
            </a:r>
            <a:r>
              <a:rPr lang="en-US" altLang="ko-KR" sz="3200" dirty="0"/>
              <a:t>PC</a:t>
            </a:r>
            <a:r>
              <a:rPr lang="ko-KR" altLang="en-US" sz="3200" dirty="0"/>
              <a:t>에서 </a:t>
            </a:r>
            <a:r>
              <a:rPr lang="en-US" altLang="ko-KR" sz="3200" dirty="0"/>
              <a:t>simulation</a:t>
            </a:r>
            <a:r>
              <a:rPr lang="ko-KR" altLang="en-US" sz="3200" dirty="0"/>
              <a:t>을 진행할 시</a:t>
            </a:r>
            <a:r>
              <a:rPr lang="en-US" altLang="ko-KR" sz="3200" dirty="0"/>
              <a:t>,  </a:t>
            </a:r>
          </a:p>
          <a:p>
            <a:r>
              <a:rPr lang="en-US" altLang="ko-KR" sz="3200" dirty="0" err="1"/>
              <a:t>imm</a:t>
            </a:r>
            <a:r>
              <a:rPr lang="ko-KR" altLang="en-US" sz="3200" dirty="0"/>
              <a:t>과 </a:t>
            </a:r>
            <a:r>
              <a:rPr lang="en-US" altLang="ko-KR" sz="3200" dirty="0" err="1"/>
              <a:t>imm+PC</a:t>
            </a:r>
            <a:r>
              <a:rPr lang="ko-KR" altLang="en-US" sz="3200" dirty="0"/>
              <a:t>의 값이 동일하여 </a:t>
            </a:r>
            <a:r>
              <a:rPr lang="en-US" altLang="ko-KR" sz="3200" dirty="0"/>
              <a:t>DATAFLOW </a:t>
            </a:r>
            <a:r>
              <a:rPr lang="ko-KR" altLang="en-US" sz="3200" dirty="0"/>
              <a:t>명확하게 확인 불가</a:t>
            </a:r>
            <a:endParaRPr lang="en-US" altLang="ko-KR" sz="3200" dirty="0"/>
          </a:p>
        </p:txBody>
      </p:sp>
      <p:cxnSp>
        <p:nvCxnSpPr>
          <p:cNvPr id="13" name="직선 화살표 연결선 12"/>
          <p:cNvCxnSpPr>
            <a:stCxn id="6" idx="1"/>
            <a:endCxn id="11" idx="0"/>
          </p:cNvCxnSpPr>
          <p:nvPr/>
        </p:nvCxnSpPr>
        <p:spPr>
          <a:xfrm flipH="1">
            <a:off x="11353800" y="7888602"/>
            <a:ext cx="2362200" cy="3301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32090" y="987690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추가한 이유</a:t>
            </a:r>
          </a:p>
        </p:txBody>
      </p:sp>
    </p:spTree>
    <p:extLst>
      <p:ext uri="{BB962C8B-B14F-4D97-AF65-F5344CB8AC3E}">
        <p14:creationId xmlns:p14="http://schemas.microsoft.com/office/powerpoint/2010/main" val="3418938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CDAE-49E8-D07D-64B4-439A9F34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93" y="9132022"/>
            <a:ext cx="16208461" cy="4507777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94" y="3290885"/>
            <a:ext cx="16208461" cy="563015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5BFB16-77EA-E9AB-4B17-A8243E32E7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76057DB-8186-1DC6-EDA9-104CBB1ACB7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34105-4A6D-6FC5-02D6-222AC7B9CF82}"/>
              </a:ext>
            </a:extLst>
          </p:cNvPr>
          <p:cNvSpPr txBox="1"/>
          <p:nvPr/>
        </p:nvSpPr>
        <p:spPr>
          <a:xfrm>
            <a:off x="1305339" y="2426274"/>
            <a:ext cx="10277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 &amp; RF </a:t>
            </a:r>
            <a:r>
              <a:rPr lang="en-US" altLang="ko-KR" sz="4400" dirty="0" err="1"/>
              <a:t>Wdata</a:t>
            </a:r>
            <a:r>
              <a:rPr lang="en-US" altLang="ko-KR" sz="4400" dirty="0"/>
              <a:t> MUX)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DD0B2BB-50C5-A227-2B66-77BFEA3C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41934"/>
              </p:ext>
            </p:extLst>
          </p:nvPr>
        </p:nvGraphicFramePr>
        <p:xfrm>
          <a:off x="17290192" y="2602596"/>
          <a:ext cx="6705600" cy="7894263"/>
        </p:xfrm>
        <a:graphic>
          <a:graphicData uri="http://schemas.openxmlformats.org/drawingml/2006/table">
            <a:tbl>
              <a:tblPr/>
              <a:tblGrid>
                <a:gridCol w="2980267">
                  <a:extLst>
                    <a:ext uri="{9D8B030D-6E8A-4147-A177-3AD203B41FA5}">
                      <a16:colId xmlns:a16="http://schemas.microsoft.com/office/drawing/2014/main" val="30288951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414938813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025372252"/>
                    </a:ext>
                  </a:extLst>
                </a:gridCol>
              </a:tblGrid>
              <a:tr h="685784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9627"/>
                  </a:ext>
                </a:extLst>
              </a:tr>
              <a:tr h="934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AUIPC_type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0396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614742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107086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1513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9586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57435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1558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76960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8961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5915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46497" y="5987690"/>
            <a:ext cx="1600200" cy="81646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68379" y="7111226"/>
            <a:ext cx="1600200" cy="177197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7146838" y="7784840"/>
            <a:ext cx="10128938" cy="60165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7290192" y="4304089"/>
            <a:ext cx="6705600" cy="12730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7275776" y="6276129"/>
            <a:ext cx="6705600" cy="42207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12420600" y="6629400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915646" y="12967097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4550080" y="12983572"/>
            <a:ext cx="1600200" cy="44215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811000" y="10845729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4541842" y="11367221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64760" y="9607747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alu_result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35411" y="1019042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Drdata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76600" y="1075122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64760" y="11298999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PC + </a:t>
            </a:r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graphicFrame>
        <p:nvGraphicFramePr>
          <p:cNvPr id="3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41913"/>
              </p:ext>
            </p:extLst>
          </p:nvPr>
        </p:nvGraphicFramePr>
        <p:xfrm>
          <a:off x="16869032" y="10839756"/>
          <a:ext cx="7315201" cy="2483259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AUIPC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x1 = </a:t>
                      </a:r>
                      <a:r>
                        <a:rPr lang="en-US" altLang="ko-KR" sz="2800" baseline="0" dirty="0" smtClean="0"/>
                        <a:t>22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26660" y="11835825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PC + 4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15099184" y="6640232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꺾인 연결선 56"/>
          <p:cNvCxnSpPr/>
          <p:nvPr/>
        </p:nvCxnSpPr>
        <p:spPr>
          <a:xfrm rot="10800000" flipV="1">
            <a:off x="7068579" y="4876800"/>
            <a:ext cx="10207198" cy="1524001"/>
          </a:xfrm>
          <a:prstGeom prst="bentConnector3">
            <a:avLst>
              <a:gd name="adj1" fmla="val 86681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1563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CDAE-49E8-D07D-64B4-439A9F34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4" y="3195715"/>
            <a:ext cx="15678626" cy="1023608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5BFB16-77EA-E9AB-4B17-A8243E32E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76057DB-8186-1DC6-EDA9-104CBB1ACB7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34105-4A6D-6FC5-02D6-222AC7B9CF82}"/>
              </a:ext>
            </a:extLst>
          </p:cNvPr>
          <p:cNvSpPr txBox="1"/>
          <p:nvPr/>
        </p:nvSpPr>
        <p:spPr>
          <a:xfrm>
            <a:off x="1305339" y="2426274"/>
            <a:ext cx="6238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simulation(Register File)</a:t>
            </a:r>
          </a:p>
        </p:txBody>
      </p:sp>
      <p:graphicFrame>
        <p:nvGraphicFramePr>
          <p:cNvPr id="3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308604"/>
              </p:ext>
            </p:extLst>
          </p:nvPr>
        </p:nvGraphicFramePr>
        <p:xfrm>
          <a:off x="16840200" y="6324600"/>
          <a:ext cx="7315201" cy="2483259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-10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AUIPC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x1 = 3*4 + 10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581400" y="12746389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x1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3049507" y="12725400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5183107" y="12739393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352585" y="3200400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49046" y="3200400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1554210" y="8219511"/>
            <a:ext cx="1790444" cy="450588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13249146" y="8155180"/>
            <a:ext cx="2128774" cy="453421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210800" y="7633844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49046" y="7582639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680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47E1-72DB-D61D-F642-9B4BFA9B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8E14FEC-83CE-ADC9-FE80-D2A531153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979ABB00-31EC-E677-DE0F-62290CBC5D6C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F2F97A-659C-9518-2E0B-78C57C120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06800"/>
              </p:ext>
            </p:extLst>
          </p:nvPr>
        </p:nvGraphicFramePr>
        <p:xfrm>
          <a:off x="1676400" y="106680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JAL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Imm[20,10:1,11,19:12]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43700CA-E651-5F11-8B4A-D7F99DEC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59531"/>
              </p:ext>
            </p:extLst>
          </p:nvPr>
        </p:nvGraphicFramePr>
        <p:xfrm>
          <a:off x="1676400" y="1129939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614417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48263901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JALR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OPCODE(JALR)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1AB765-84BF-47BF-3D3C-13E1F222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80920"/>
              </p:ext>
            </p:extLst>
          </p:nvPr>
        </p:nvGraphicFramePr>
        <p:xfrm>
          <a:off x="4267200" y="4191000"/>
          <a:ext cx="17145000" cy="209128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4172905567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946807508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342547321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4139532656"/>
                    </a:ext>
                  </a:extLst>
                </a:gridCol>
              </a:tblGrid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OPCODE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6566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7’b110_1111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Rd = PC + 4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+= </a:t>
                      </a: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imm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380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7’b110_0111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= Rs1 + </a:t>
                      </a:r>
                      <a:r>
                        <a:rPr lang="en-US" altLang="ko-KR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imm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6306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06A33A-5383-1E4D-C5E8-743A4C22E3B0}"/>
              </a:ext>
            </a:extLst>
          </p:cNvPr>
          <p:cNvSpPr txBox="1"/>
          <p:nvPr/>
        </p:nvSpPr>
        <p:spPr>
          <a:xfrm>
            <a:off x="4800600" y="7620000"/>
            <a:ext cx="16916400" cy="20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/>
              <a:t>• J-type</a:t>
            </a:r>
            <a:r>
              <a:rPr lang="ko-KR" altLang="en-US" sz="4400" dirty="0"/>
              <a:t>은 </a:t>
            </a:r>
            <a:r>
              <a:rPr lang="en-US" altLang="ko-KR" sz="4400" dirty="0"/>
              <a:t>OPCODE</a:t>
            </a:r>
            <a:r>
              <a:rPr lang="ko-KR" altLang="en-US" sz="4400" dirty="0"/>
              <a:t>로 구별</a:t>
            </a: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sz="4400" dirty="0"/>
              <a:t>• PC</a:t>
            </a:r>
            <a:r>
              <a:rPr lang="ko-KR" altLang="en-US" sz="4400" dirty="0"/>
              <a:t>는 무조건 </a:t>
            </a:r>
            <a:r>
              <a:rPr lang="en-US" altLang="ko-KR" sz="4400" dirty="0"/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1894365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FC12-34ED-6A52-E3FD-53209EF2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3B863A5-84FA-292A-58F3-F01646F2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877" y="2673280"/>
            <a:ext cx="10821022" cy="9340733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D72B9CF-63A3-C8B0-CC88-05B68DF380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D361088-0522-81C0-9627-CBDF0460503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DA6B7-E5E3-AAD9-2242-18D9BC05E14C}"/>
              </a:ext>
            </a:extLst>
          </p:cNvPr>
          <p:cNvSpPr txBox="1"/>
          <p:nvPr/>
        </p:nvSpPr>
        <p:spPr>
          <a:xfrm>
            <a:off x="8238" y="2382676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DataFlow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35F539-5C79-6438-5C74-9185B833DE44}"/>
              </a:ext>
            </a:extLst>
          </p:cNvPr>
          <p:cNvGraphicFramePr>
            <a:graphicFrameLocks noGrp="1"/>
          </p:cNvGraphicFramePr>
          <p:nvPr/>
        </p:nvGraphicFramePr>
        <p:xfrm>
          <a:off x="1437185" y="1218545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JAL 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Imm[20,10:1,11,19:12]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A36255B-207A-07B6-A799-DDE2A50200A2}"/>
              </a:ext>
            </a:extLst>
          </p:cNvPr>
          <p:cNvGraphicFramePr>
            <a:graphicFrameLocks noGrp="1"/>
          </p:cNvGraphicFramePr>
          <p:nvPr/>
        </p:nvGraphicFramePr>
        <p:xfrm>
          <a:off x="1437185" y="1281684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614417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48263901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JALR</a:t>
                      </a:r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OPCODE(JALR)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F12A2B6-89F6-B0A5-D095-F914538368C7}"/>
              </a:ext>
            </a:extLst>
          </p:cNvPr>
          <p:cNvSpPr txBox="1"/>
          <p:nvPr/>
        </p:nvSpPr>
        <p:spPr>
          <a:xfrm>
            <a:off x="1765236" y="9019777"/>
            <a:ext cx="30892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Rs1 +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en-US" altLang="ko-KR" sz="3200" b="1" dirty="0">
                <a:highlight>
                  <a:srgbClr val="FFFF00"/>
                </a:highlight>
              </a:rPr>
              <a:t>,</a:t>
            </a:r>
          </a:p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9601E2-D915-901D-397D-37E5290AF4D2}"/>
              </a:ext>
            </a:extLst>
          </p:cNvPr>
          <p:cNvSpPr txBox="1"/>
          <p:nvPr/>
        </p:nvSpPr>
        <p:spPr>
          <a:xfrm>
            <a:off x="2622537" y="6835967"/>
            <a:ext cx="1374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+ 4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20103C-0C04-249E-28AD-6DDB71E546DB}"/>
              </a:ext>
            </a:extLst>
          </p:cNvPr>
          <p:cNvSpPr txBox="1"/>
          <p:nvPr/>
        </p:nvSpPr>
        <p:spPr>
          <a:xfrm>
            <a:off x="4186286" y="4347705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38A1A-9FA3-9B77-5044-FFEEC4C5E462}"/>
              </a:ext>
            </a:extLst>
          </p:cNvPr>
          <p:cNvSpPr txBox="1"/>
          <p:nvPr/>
        </p:nvSpPr>
        <p:spPr>
          <a:xfrm>
            <a:off x="5036757" y="4316301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ADD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C786AE-2CEE-F12E-A51D-88224A283814}"/>
              </a:ext>
            </a:extLst>
          </p:cNvPr>
          <p:cNvSpPr txBox="1"/>
          <p:nvPr/>
        </p:nvSpPr>
        <p:spPr>
          <a:xfrm>
            <a:off x="9175991" y="4314783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4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89F0BD-99C9-96D5-5D64-EA0050109BF7}"/>
              </a:ext>
            </a:extLst>
          </p:cNvPr>
          <p:cNvSpPr txBox="1"/>
          <p:nvPr/>
        </p:nvSpPr>
        <p:spPr>
          <a:xfrm>
            <a:off x="6785849" y="4322375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C59FA6-B9ED-1F28-0EEC-43A4CA39B52A}"/>
              </a:ext>
            </a:extLst>
          </p:cNvPr>
          <p:cNvSpPr txBox="1"/>
          <p:nvPr/>
        </p:nvSpPr>
        <p:spPr>
          <a:xfrm>
            <a:off x="7968562" y="4535271"/>
            <a:ext cx="1335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0 or 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D7324E-637D-65E9-478A-F44CA9EA2216}"/>
              </a:ext>
            </a:extLst>
          </p:cNvPr>
          <p:cNvSpPr txBox="1"/>
          <p:nvPr/>
        </p:nvSpPr>
        <p:spPr>
          <a:xfrm>
            <a:off x="5523375" y="8727389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j-event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BB8B892-18AE-C6D6-08AC-4DD7F76B9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754492"/>
              </p:ext>
            </p:extLst>
          </p:nvPr>
        </p:nvGraphicFramePr>
        <p:xfrm>
          <a:off x="19202400" y="3092884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 rowSpan="2"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5604CB9-3F15-225F-FD11-8EF137A9DF1D}"/>
              </a:ext>
            </a:extLst>
          </p:cNvPr>
          <p:cNvGraphicFramePr>
            <a:graphicFrameLocks noGrp="1"/>
          </p:cNvGraphicFramePr>
          <p:nvPr/>
        </p:nvGraphicFramePr>
        <p:xfrm>
          <a:off x="12469662" y="3092884"/>
          <a:ext cx="6553200" cy="8104591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302069641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640973055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698214118"/>
                    </a:ext>
                  </a:extLst>
                </a:gridCol>
              </a:tblGrid>
              <a:tr h="736781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61761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70897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1375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22379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0316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JUMP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B_taken:1          ALU:ADD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130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7091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17626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5320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96044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99670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9BB0F9-DFE7-D740-8064-F710DE318D2D}"/>
              </a:ext>
            </a:extLst>
          </p:cNvPr>
          <p:cNvSpPr/>
          <p:nvPr/>
        </p:nvSpPr>
        <p:spPr>
          <a:xfrm>
            <a:off x="19202400" y="5849216"/>
            <a:ext cx="4876800" cy="18422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251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6164-EAE0-B19B-9F8A-5784DEF4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6A110CC-095F-3A48-112C-03E6B47FA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73859FD-4EBB-97DC-77E4-E99DFAC751B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00C3E-F6B2-7644-508C-C210774C97D1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852118" y="3554150"/>
            <a:ext cx="7987081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JAL   : </a:t>
            </a:r>
            <a:r>
              <a:rPr lang="en-US" altLang="ko-KR" sz="4400" dirty="0" err="1"/>
              <a:t>rd</a:t>
            </a:r>
            <a:r>
              <a:rPr lang="en-US" altLang="ko-KR" sz="4400" dirty="0"/>
              <a:t> = PC + 4; PC += </a:t>
            </a:r>
            <a:r>
              <a:rPr lang="en-US" altLang="ko-KR" sz="4400" dirty="0" err="1"/>
              <a:t>imm</a:t>
            </a:r>
            <a:endParaRPr lang="en-US" altLang="ko-KR" sz="4400" dirty="0"/>
          </a:p>
          <a:p>
            <a:r>
              <a:rPr lang="en-US" altLang="ko-KR" sz="4400" dirty="0"/>
              <a:t>JALR : </a:t>
            </a:r>
            <a:r>
              <a:rPr lang="en-US" altLang="ko-KR" sz="4400" dirty="0" err="1"/>
              <a:t>rd</a:t>
            </a:r>
            <a:r>
              <a:rPr lang="en-US" altLang="ko-KR" sz="4400" dirty="0"/>
              <a:t> = PC + 4; PC = rs1 + </a:t>
            </a:r>
            <a:r>
              <a:rPr lang="en-US" altLang="ko-KR" sz="4400" dirty="0" err="1"/>
              <a:t>imm</a:t>
            </a:r>
            <a:endParaRPr lang="ko-KR" altLang="en-US" sz="4400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10562"/>
              </p:ext>
            </p:extLst>
          </p:nvPr>
        </p:nvGraphicFramePr>
        <p:xfrm>
          <a:off x="11952785" y="6172200"/>
          <a:ext cx="11430000" cy="3136585"/>
        </p:xfrm>
        <a:graphic>
          <a:graphicData uri="http://schemas.openxmlformats.org/drawingml/2006/table">
            <a:tbl>
              <a:tblPr/>
              <a:tblGrid>
                <a:gridCol w="80232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85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647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4044695">
                  <a:extLst>
                    <a:ext uri="{9D8B030D-6E8A-4147-A177-3AD203B41FA5}">
                      <a16:colId xmlns:a16="http://schemas.microsoft.com/office/drawing/2014/main" val="2658312311"/>
                    </a:ext>
                  </a:extLst>
                </a:gridCol>
                <a:gridCol w="188843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0 + 4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0 + 3*4 = 3*4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3*4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7085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x2</a:t>
                      </a:r>
                      <a:r>
                        <a:rPr lang="en-US" altLang="ko-KR" sz="2800" baseline="0" dirty="0"/>
                        <a:t> = 3*4 + 4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x5(4*4) + 3*4 = 7*4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x3 = x2 – x1 = 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55624"/>
              </p:ext>
            </p:extLst>
          </p:nvPr>
        </p:nvGraphicFramePr>
        <p:xfrm>
          <a:off x="2094113" y="6248400"/>
          <a:ext cx="4714461" cy="3173849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874453295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0865125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1443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addr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용도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3858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/>
                        <a:t>x1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</a:t>
                      </a:r>
                      <a:r>
                        <a:rPr lang="en-US" sz="2800" baseline="0" dirty="0"/>
                        <a:t> </a:t>
                      </a:r>
                      <a:r>
                        <a:rPr lang="ko-KR" altLang="en-US" sz="2800" baseline="0" dirty="0"/>
                        <a:t>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87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/>
                        <a:t>x2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JALR </a:t>
                      </a:r>
                      <a:r>
                        <a:rPr lang="ko-KR" altLang="en-US" sz="2800" dirty="0"/>
                        <a:t>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91377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/>
                        <a:t>x3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SUB </a:t>
                      </a:r>
                      <a:r>
                        <a:rPr lang="ko-KR" altLang="en-US" sz="2800" dirty="0"/>
                        <a:t>값 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23498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/>
                        <a:t>x5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JALR</a:t>
                      </a:r>
                      <a:r>
                        <a:rPr lang="en-US" sz="2800" baseline="0" dirty="0"/>
                        <a:t> rs1 </a:t>
                      </a:r>
                      <a:r>
                        <a:rPr lang="ko-KR" altLang="en-US" sz="2800" baseline="0" dirty="0"/>
                        <a:t>값 </a:t>
                      </a:r>
                      <a:r>
                        <a:rPr lang="en-US" sz="2800" dirty="0"/>
                        <a:t>4*4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641106"/>
                  </a:ext>
                </a:extLst>
              </a:tr>
            </a:tbl>
          </a:graphicData>
        </a:graphic>
      </p:graphicFrame>
      <p:sp>
        <p:nvSpPr>
          <p:cNvPr id="8" name="오른쪽 화살표 7"/>
          <p:cNvSpPr/>
          <p:nvPr/>
        </p:nvSpPr>
        <p:spPr>
          <a:xfrm rot="10800000">
            <a:off x="7772400" y="6998702"/>
            <a:ext cx="3124200" cy="1143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8"/>
              <p14:cNvContentPartPr/>
              <p14:nvPr/>
            </p14:nvContentPartPr>
            <p14:xfrm>
              <a:off x="20709788" y="8315582"/>
              <a:ext cx="173520" cy="720"/>
            </p14:xfrm>
          </p:contentPart>
        </mc:Choice>
        <mc:Fallback xmlns="">
          <p:pic>
            <p:nvPicPr>
              <p:cNvPr id="9" name="잉크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61908" y="8219822"/>
                <a:ext cx="2692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9"/>
              <p14:cNvContentPartPr/>
              <p14:nvPr/>
            </p14:nvContentPartPr>
            <p14:xfrm>
              <a:off x="20246828" y="7609622"/>
              <a:ext cx="179280" cy="178920"/>
            </p14:xfrm>
          </p:contentPart>
        </mc:Choice>
        <mc:Fallback xmlns="">
          <p:pic>
            <p:nvPicPr>
              <p:cNvPr id="10" name="잉크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98948" y="7513502"/>
                <a:ext cx="2750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/>
              <p14:cNvContentPartPr/>
              <p14:nvPr/>
            </p14:nvContentPartPr>
            <p14:xfrm>
              <a:off x="20681348" y="8116502"/>
              <a:ext cx="282240" cy="291240"/>
            </p14:xfrm>
          </p:contentPart>
        </mc:Choice>
        <mc:Fallback xmlns="">
          <p:pic>
            <p:nvPicPr>
              <p:cNvPr id="11" name="잉크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33108" y="8020742"/>
                <a:ext cx="3783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잉크 11"/>
              <p14:cNvContentPartPr/>
              <p14:nvPr/>
            </p14:nvContentPartPr>
            <p14:xfrm>
              <a:off x="16088468" y="7638422"/>
              <a:ext cx="593640" cy="23040"/>
            </p14:xfrm>
          </p:contentPart>
        </mc:Choice>
        <mc:Fallback xmlns="">
          <p:pic>
            <p:nvPicPr>
              <p:cNvPr id="12" name="잉크 1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40588" y="7542302"/>
                <a:ext cx="689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잉크 12"/>
              <p14:cNvContentPartPr/>
              <p14:nvPr/>
            </p14:nvContentPartPr>
            <p14:xfrm>
              <a:off x="15890828" y="8340782"/>
              <a:ext cx="1013040" cy="360"/>
            </p14:xfrm>
          </p:contentPart>
        </mc:Choice>
        <mc:Fallback xmlns="">
          <p:pic>
            <p:nvPicPr>
              <p:cNvPr id="13" name="잉크 1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42948" y="8244662"/>
                <a:ext cx="110916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39755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6600"/>
            <a:ext cx="17145000" cy="94488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7F5A15A-9171-3C01-C3C2-9CF2C82F1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13112"/>
              </p:ext>
            </p:extLst>
          </p:nvPr>
        </p:nvGraphicFramePr>
        <p:xfrm>
          <a:off x="17602200" y="3191030"/>
          <a:ext cx="6553200" cy="8104591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302069641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640973055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698214118"/>
                    </a:ext>
                  </a:extLst>
                </a:gridCol>
              </a:tblGrid>
              <a:tr h="736781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61761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70897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1375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22379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0316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JUMP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B_taken:1          ALU:ADD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130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7091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17626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5320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96044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9967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57800" y="7922162"/>
            <a:ext cx="1600200" cy="145043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57800" y="6342240"/>
            <a:ext cx="1600200" cy="81646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86632" y="10224340"/>
            <a:ext cx="1600200" cy="227245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8991600" y="7158701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382500" y="7204185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8975124" y="9542623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366024" y="9588107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4478000" y="3276600"/>
            <a:ext cx="0" cy="9448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1658600" y="3197762"/>
            <a:ext cx="0" cy="9448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024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 &amp; PC)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76600"/>
            <a:ext cx="16306800" cy="10058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363200" y="67056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b_taken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39478"/>
              </p:ext>
            </p:extLst>
          </p:nvPr>
        </p:nvGraphicFramePr>
        <p:xfrm>
          <a:off x="18364200" y="4038600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8364200" y="6794932"/>
            <a:ext cx="4876800" cy="18422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1495585" y="12707999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725400" y="9347425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9677400" y="9353142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145000" y="12627114"/>
            <a:ext cx="7350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/>
              <a:t>j_event</a:t>
            </a:r>
            <a:r>
              <a:rPr lang="en-US" altLang="ko-KR" sz="4000" dirty="0"/>
              <a:t>= branch &amp;&amp; </a:t>
            </a:r>
            <a:r>
              <a:rPr lang="en-US" altLang="ko-KR" sz="4000" dirty="0" err="1"/>
              <a:t>b_taken</a:t>
            </a:r>
            <a:endParaRPr lang="ko-KR" altLang="en-US" sz="40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 flipH="1" flipV="1">
            <a:off x="14782800" y="12981057"/>
            <a:ext cx="2362200" cy="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2133600" y="950131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991600" y="1057578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115800" y="1004238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09984" y="11642194"/>
            <a:ext cx="4277815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896600" y="11109186"/>
            <a:ext cx="1513384" cy="54211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4012242" y="10613373"/>
            <a:ext cx="999158" cy="102882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9945603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Rs1 + </a:t>
            </a:r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0528276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PC + </a:t>
            </a:r>
            <a:r>
              <a:rPr lang="en-US" altLang="ko-KR" sz="32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1089076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PC +4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1636855"/>
            <a:ext cx="1468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현재</a:t>
            </a:r>
            <a:r>
              <a:rPr lang="en-US" altLang="ko-KR" sz="3200" b="1" dirty="0">
                <a:solidFill>
                  <a:schemeClr val="bg1"/>
                </a:solidFill>
                <a:highlight>
                  <a:srgbClr val="808080"/>
                </a:highlight>
              </a:rPr>
              <a:t>PC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15408618" y="5257800"/>
            <a:ext cx="821982" cy="1143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69189"/>
              </p:ext>
            </p:extLst>
          </p:nvPr>
        </p:nvGraphicFramePr>
        <p:xfrm>
          <a:off x="17830801" y="9103580"/>
          <a:ext cx="6025748" cy="3136585"/>
        </p:xfrm>
        <a:graphic>
          <a:graphicData uri="http://schemas.openxmlformats.org/drawingml/2006/table">
            <a:tbl>
              <a:tblPr/>
              <a:tblGrid>
                <a:gridCol w="506686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173421">
                  <a:extLst>
                    <a:ext uri="{9D8B030D-6E8A-4147-A177-3AD203B41FA5}">
                      <a16:colId xmlns:a16="http://schemas.microsoft.com/office/drawing/2014/main" val="1979513971"/>
                    </a:ext>
                  </a:extLst>
                </a:gridCol>
                <a:gridCol w="1791310">
                  <a:extLst>
                    <a:ext uri="{9D8B030D-6E8A-4147-A177-3AD203B41FA5}">
                      <a16:colId xmlns:a16="http://schemas.microsoft.com/office/drawing/2014/main" val="1520305601"/>
                    </a:ext>
                  </a:extLst>
                </a:gridCol>
                <a:gridCol w="2554331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3*4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x2</a:t>
                      </a:r>
                      <a:r>
                        <a:rPr lang="en-US" altLang="ko-KR" sz="2800" baseline="0" dirty="0"/>
                        <a:t> = 16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7*4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956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x3 = 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0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9768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8" y="3263137"/>
            <a:ext cx="16281652" cy="1025224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J-type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simulation(Register File)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676120" y="6019800"/>
            <a:ext cx="800100" cy="1143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591800" y="6019800"/>
            <a:ext cx="781050" cy="1143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801600" y="10668000"/>
            <a:ext cx="8001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868400" y="11201400"/>
            <a:ext cx="8001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476220" y="7162800"/>
            <a:ext cx="1429780" cy="35052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1319163" y="7162800"/>
            <a:ext cx="805647" cy="40386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20088"/>
              </p:ext>
            </p:extLst>
          </p:nvPr>
        </p:nvGraphicFramePr>
        <p:xfrm>
          <a:off x="17337559" y="6005384"/>
          <a:ext cx="6025748" cy="3136585"/>
        </p:xfrm>
        <a:graphic>
          <a:graphicData uri="http://schemas.openxmlformats.org/drawingml/2006/table">
            <a:tbl>
              <a:tblPr/>
              <a:tblGrid>
                <a:gridCol w="506686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173421">
                  <a:extLst>
                    <a:ext uri="{9D8B030D-6E8A-4147-A177-3AD203B41FA5}">
                      <a16:colId xmlns:a16="http://schemas.microsoft.com/office/drawing/2014/main" val="1979513971"/>
                    </a:ext>
                  </a:extLst>
                </a:gridCol>
                <a:gridCol w="1791310">
                  <a:extLst>
                    <a:ext uri="{9D8B030D-6E8A-4147-A177-3AD203B41FA5}">
                      <a16:colId xmlns:a16="http://schemas.microsoft.com/office/drawing/2014/main" val="1520305601"/>
                    </a:ext>
                  </a:extLst>
                </a:gridCol>
                <a:gridCol w="2554331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x1</a:t>
                      </a:r>
                      <a:r>
                        <a:rPr lang="en-US" altLang="ko-KR" sz="2800" baseline="0" dirty="0"/>
                        <a:t> =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3*4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JALR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x2</a:t>
                      </a:r>
                      <a:r>
                        <a:rPr lang="en-US" altLang="ko-KR" sz="2800" baseline="0" dirty="0"/>
                        <a:t> = 16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PC = 7*4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956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/>
                        <a:t>x3 = 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05374"/>
                  </a:ext>
                </a:extLst>
              </a:tr>
            </a:tbl>
          </a:graphicData>
        </a:graphic>
      </p:graphicFrame>
      <p:sp>
        <p:nvSpPr>
          <p:cNvPr id="48" name="타원 47"/>
          <p:cNvSpPr/>
          <p:nvPr/>
        </p:nvSpPr>
        <p:spPr>
          <a:xfrm>
            <a:off x="12790659" y="6019800"/>
            <a:ext cx="821982" cy="1143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467600" y="3808585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JAL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334625" y="3804466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JALR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550346" y="3804466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SUB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3396443" y="7129089"/>
            <a:ext cx="2072157" cy="467313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61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7000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ko-KR" altLang="en-US" sz="4400" dirty="0"/>
              <a:t>누적</a:t>
            </a:r>
            <a:r>
              <a:rPr lang="en-US" altLang="ko-KR" sz="4400" dirty="0"/>
              <a:t> sum </a:t>
            </a:r>
            <a:r>
              <a:rPr lang="en-US" altLang="ko-KR" sz="4400" dirty="0" smtClean="0"/>
              <a:t>program</a:t>
            </a:r>
            <a:endParaRPr lang="en-US" altLang="ko-KR" sz="4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D65EA0-9706-063F-F5DE-E702AFA1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517080"/>
            <a:ext cx="7239000" cy="97206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710DBEF-3424-C612-5D50-EC322A469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0" y="3526559"/>
            <a:ext cx="8991600" cy="905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589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8F26-D053-5A2B-6C4C-F43BF6F5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A52BAC4-E4DD-6FA4-7E52-3DCB19208B8A}"/>
              </a:ext>
            </a:extLst>
          </p:cNvPr>
          <p:cNvSpPr/>
          <p:nvPr/>
        </p:nvSpPr>
        <p:spPr>
          <a:xfrm>
            <a:off x="13586791" y="4373870"/>
            <a:ext cx="6629400" cy="59521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369C33A-AF0B-95BD-A60D-4A5B90A55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0C2C524-7023-9D7C-A60B-18826372FC9B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80CAD-0DD3-78A5-433D-805D851AC9C3}"/>
              </a:ext>
            </a:extLst>
          </p:cNvPr>
          <p:cNvSpPr txBox="1"/>
          <p:nvPr/>
        </p:nvSpPr>
        <p:spPr>
          <a:xfrm>
            <a:off x="1305339" y="2426274"/>
            <a:ext cx="7000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ko-KR" altLang="en-US" sz="4400" dirty="0"/>
              <a:t>누적</a:t>
            </a:r>
            <a:r>
              <a:rPr lang="en-US" altLang="ko-KR" sz="4400" dirty="0"/>
              <a:t> sum </a:t>
            </a:r>
            <a:r>
              <a:rPr lang="en-US" altLang="ko-KR" sz="4400" dirty="0" smtClean="0"/>
              <a:t>program</a:t>
            </a:r>
            <a:endParaRPr lang="en-US" altLang="ko-KR" sz="4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8D2E98-FFAC-FAD7-929E-2549B9A2F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192" y="4495799"/>
            <a:ext cx="5438616" cy="83481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85A80F-48D2-D3EA-FCA6-2FCD5E674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6977" y="4495799"/>
            <a:ext cx="6096504" cy="55678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71DF424-B2B5-1ECF-4FEC-9E1513EC6F55}"/>
              </a:ext>
            </a:extLst>
          </p:cNvPr>
          <p:cNvSpPr/>
          <p:nvPr/>
        </p:nvSpPr>
        <p:spPr>
          <a:xfrm>
            <a:off x="6781800" y="4373870"/>
            <a:ext cx="6629400" cy="8808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7FD6C4EA-DCDE-27F3-7DE1-ACE76480A7ED}"/>
              </a:ext>
            </a:extLst>
          </p:cNvPr>
          <p:cNvSpPr/>
          <p:nvPr/>
        </p:nvSpPr>
        <p:spPr>
          <a:xfrm rot="10800000">
            <a:off x="6272548" y="10957557"/>
            <a:ext cx="442992" cy="1886404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00EF1-AA31-2942-25A3-A744C0C4BE54}"/>
              </a:ext>
            </a:extLst>
          </p:cNvPr>
          <p:cNvSpPr txBox="1"/>
          <p:nvPr/>
        </p:nvSpPr>
        <p:spPr>
          <a:xfrm>
            <a:off x="5334000" y="11571876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End</a:t>
            </a:r>
            <a:endParaRPr lang="ko-KR" altLang="en-US" sz="3200" dirty="0"/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0C2A596E-7A4B-8DE6-8606-C0D48077CF03}"/>
              </a:ext>
            </a:extLst>
          </p:cNvPr>
          <p:cNvSpPr/>
          <p:nvPr/>
        </p:nvSpPr>
        <p:spPr>
          <a:xfrm rot="10800000">
            <a:off x="6262608" y="4724400"/>
            <a:ext cx="442992" cy="3236298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0E83CA-A727-435D-39F7-4DB8021827C4}"/>
              </a:ext>
            </a:extLst>
          </p:cNvPr>
          <p:cNvSpPr txBox="1"/>
          <p:nvPr/>
        </p:nvSpPr>
        <p:spPr>
          <a:xfrm>
            <a:off x="5096593" y="5957828"/>
            <a:ext cx="1162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start</a:t>
            </a:r>
            <a:r>
              <a:rPr lang="ko-KR" altLang="en-US" sz="4400" dirty="0"/>
              <a:t> </a:t>
            </a: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63A6C25E-8A44-862A-6EE8-E68A3A1FFEA7}"/>
              </a:ext>
            </a:extLst>
          </p:cNvPr>
          <p:cNvSpPr/>
          <p:nvPr/>
        </p:nvSpPr>
        <p:spPr>
          <a:xfrm rot="10800000">
            <a:off x="6354670" y="10265288"/>
            <a:ext cx="357303" cy="631312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D0303-7B5C-1FC4-B7FF-4C6383F3F67C}"/>
              </a:ext>
            </a:extLst>
          </p:cNvPr>
          <p:cNvSpPr txBox="1"/>
          <p:nvPr/>
        </p:nvSpPr>
        <p:spPr>
          <a:xfrm>
            <a:off x="4622992" y="10326048"/>
            <a:ext cx="210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While</a:t>
            </a:r>
            <a:r>
              <a:rPr lang="ko-KR" altLang="en-US" sz="3200" dirty="0"/>
              <a:t>문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4B8B72C4-884A-FD8F-2FF7-81543F817924}"/>
              </a:ext>
            </a:extLst>
          </p:cNvPr>
          <p:cNvSpPr/>
          <p:nvPr/>
        </p:nvSpPr>
        <p:spPr>
          <a:xfrm rot="10800000">
            <a:off x="6296824" y="8259502"/>
            <a:ext cx="374557" cy="747488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5AEC48-81C1-47A1-891D-1947A20FCB72}"/>
              </a:ext>
            </a:extLst>
          </p:cNvPr>
          <p:cNvSpPr txBox="1"/>
          <p:nvPr/>
        </p:nvSpPr>
        <p:spPr>
          <a:xfrm>
            <a:off x="3026416" y="8377492"/>
            <a:ext cx="3291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함수 호출 전처리</a:t>
            </a: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F1D0987E-3E30-4EA1-7645-473B133A6561}"/>
              </a:ext>
            </a:extLst>
          </p:cNvPr>
          <p:cNvSpPr/>
          <p:nvPr/>
        </p:nvSpPr>
        <p:spPr>
          <a:xfrm>
            <a:off x="20365581" y="4333296"/>
            <a:ext cx="357303" cy="5872609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D28AEF-629C-7CCA-E833-2CBC779102DD}"/>
              </a:ext>
            </a:extLst>
          </p:cNvPr>
          <p:cNvSpPr txBox="1"/>
          <p:nvPr/>
        </p:nvSpPr>
        <p:spPr>
          <a:xfrm>
            <a:off x="20872274" y="7048870"/>
            <a:ext cx="210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Adder</a:t>
            </a:r>
            <a:r>
              <a:rPr lang="ko-KR" altLang="en-US" sz="3200" dirty="0"/>
              <a:t> 함수</a:t>
            </a:r>
          </a:p>
        </p:txBody>
      </p: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7E78D7AA-C366-8543-EE70-90F853EC84ED}"/>
              </a:ext>
            </a:extLst>
          </p:cNvPr>
          <p:cNvSpPr/>
          <p:nvPr/>
        </p:nvSpPr>
        <p:spPr>
          <a:xfrm rot="10800000">
            <a:off x="6349801" y="9137820"/>
            <a:ext cx="357303" cy="919782"/>
          </a:xfrm>
          <a:prstGeom prst="rightBrac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1176A4-D985-23C3-14D6-43481E25DD21}"/>
              </a:ext>
            </a:extLst>
          </p:cNvPr>
          <p:cNvSpPr txBox="1"/>
          <p:nvPr/>
        </p:nvSpPr>
        <p:spPr>
          <a:xfrm>
            <a:off x="2831143" y="9266060"/>
            <a:ext cx="3950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함수 </a:t>
            </a:r>
            <a:r>
              <a:rPr lang="en-US" altLang="ko-KR" sz="3200" dirty="0" smtClean="0"/>
              <a:t>return</a:t>
            </a:r>
            <a:r>
              <a:rPr lang="ko-KR" altLang="en-US" sz="3200" dirty="0" smtClean="0"/>
              <a:t> </a:t>
            </a:r>
            <a:r>
              <a:rPr lang="ko-KR" altLang="en-US" sz="3200" dirty="0"/>
              <a:t>후처리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B115D9-6CB1-3520-D2D0-026A6A0DC3DE}"/>
              </a:ext>
            </a:extLst>
          </p:cNvPr>
          <p:cNvSpPr txBox="1"/>
          <p:nvPr/>
        </p:nvSpPr>
        <p:spPr>
          <a:xfrm>
            <a:off x="16063290" y="2327824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ym typeface="Wingdings" panose="05000000000000000000" pitchFamily="2" charset="2"/>
              </a:rPr>
              <a:t></a:t>
            </a:r>
            <a:endParaRPr lang="ko-KR" altLang="en-US" sz="4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F6974F-F7CD-F361-F553-D6581DBC3B58}"/>
              </a:ext>
            </a:extLst>
          </p:cNvPr>
          <p:cNvSpPr txBox="1"/>
          <p:nvPr/>
        </p:nvSpPr>
        <p:spPr>
          <a:xfrm>
            <a:off x="11826293" y="2297045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ym typeface="Wingdings" panose="05000000000000000000" pitchFamily="2" charset="2"/>
              </a:rPr>
              <a:t></a:t>
            </a:r>
            <a:endParaRPr lang="ko-KR" altLang="en-US" sz="4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97CAC8-AC4D-57A9-C159-7F4399A02AF5}"/>
              </a:ext>
            </a:extLst>
          </p:cNvPr>
          <p:cNvSpPr txBox="1"/>
          <p:nvPr/>
        </p:nvSpPr>
        <p:spPr>
          <a:xfrm>
            <a:off x="14237900" y="2281011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ym typeface="Wingdings" panose="05000000000000000000" pitchFamily="2" charset="2"/>
              </a:rPr>
              <a:t></a:t>
            </a:r>
            <a:endParaRPr lang="ko-KR" altLang="en-US" sz="4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47FBC2-B647-A7F9-4354-7420637FDD58}"/>
              </a:ext>
            </a:extLst>
          </p:cNvPr>
          <p:cNvSpPr txBox="1"/>
          <p:nvPr/>
        </p:nvSpPr>
        <p:spPr>
          <a:xfrm>
            <a:off x="18230940" y="2297045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ym typeface="Wingdings" panose="05000000000000000000" pitchFamily="2" charset="2"/>
              </a:rPr>
              <a:t></a:t>
            </a:r>
            <a:endParaRPr lang="ko-KR" altLang="en-US" sz="4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057AB2-2F41-7628-A9EF-53417F4BE689}"/>
              </a:ext>
            </a:extLst>
          </p:cNvPr>
          <p:cNvSpPr txBox="1"/>
          <p:nvPr/>
        </p:nvSpPr>
        <p:spPr>
          <a:xfrm>
            <a:off x="20240652" y="2317639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ym typeface="Wingdings" panose="05000000000000000000" pitchFamily="2" charset="2"/>
              </a:rPr>
              <a:t></a:t>
            </a:r>
            <a:endParaRPr lang="ko-KR" altLang="en-US" sz="4800" dirty="0"/>
          </a:p>
        </p:txBody>
      </p:sp>
      <p:sp>
        <p:nvSpPr>
          <p:cNvPr id="57" name="화살표: 오른쪽으로 구부러짐 56">
            <a:extLst>
              <a:ext uri="{FF2B5EF4-FFF2-40B4-BE49-F238E27FC236}">
                <a16:creationId xmlns:a16="http://schemas.microsoft.com/office/drawing/2014/main" id="{8983ED0A-9B90-8046-0685-AF18B2F13473}"/>
              </a:ext>
            </a:extLst>
          </p:cNvPr>
          <p:cNvSpPr/>
          <p:nvPr/>
        </p:nvSpPr>
        <p:spPr>
          <a:xfrm rot="16200000" flipH="1">
            <a:off x="14817848" y="-2576502"/>
            <a:ext cx="1181100" cy="8534535"/>
          </a:xfrm>
          <a:prstGeom prst="curv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4BF4BA-FAC6-0555-3500-5FBE62B4CF11}"/>
              </a:ext>
            </a:extLst>
          </p:cNvPr>
          <p:cNvSpPr txBox="1"/>
          <p:nvPr/>
        </p:nvSpPr>
        <p:spPr>
          <a:xfrm>
            <a:off x="10312718" y="2229965"/>
            <a:ext cx="1730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/>
              <a:t>start</a:t>
            </a:r>
            <a:endParaRPr lang="ko-KR" altLang="en-US" sz="4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D82779-2B8F-3F24-E63A-6807DE9F54B4}"/>
              </a:ext>
            </a:extLst>
          </p:cNvPr>
          <p:cNvSpPr txBox="1"/>
          <p:nvPr/>
        </p:nvSpPr>
        <p:spPr>
          <a:xfrm>
            <a:off x="20564504" y="2342567"/>
            <a:ext cx="1730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/>
              <a:t>END</a:t>
            </a:r>
            <a:endParaRPr lang="ko-KR" altLang="en-US" sz="4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4CA08E-DAA1-F24D-41AF-D1C409CBFB30}"/>
              </a:ext>
            </a:extLst>
          </p:cNvPr>
          <p:cNvSpPr txBox="1"/>
          <p:nvPr/>
        </p:nvSpPr>
        <p:spPr>
          <a:xfrm>
            <a:off x="14782763" y="2366806"/>
            <a:ext cx="1452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/>
              <a:t>함수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7EDC24-E05D-40B9-BE4D-39FECD396EDB}"/>
              </a:ext>
            </a:extLst>
          </p:cNvPr>
          <p:cNvSpPr txBox="1"/>
          <p:nvPr/>
        </p:nvSpPr>
        <p:spPr>
          <a:xfrm>
            <a:off x="12709395" y="2358866"/>
            <a:ext cx="1730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/>
              <a:t>전처리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9FD571-E0EE-74CE-20A1-407304A37166}"/>
              </a:ext>
            </a:extLst>
          </p:cNvPr>
          <p:cNvSpPr txBox="1"/>
          <p:nvPr/>
        </p:nvSpPr>
        <p:spPr>
          <a:xfrm>
            <a:off x="16649507" y="2405995"/>
            <a:ext cx="1730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/>
              <a:t>후처리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064215-725B-79E1-018D-AD50CC4CB58B}"/>
              </a:ext>
            </a:extLst>
          </p:cNvPr>
          <p:cNvSpPr txBox="1"/>
          <p:nvPr/>
        </p:nvSpPr>
        <p:spPr>
          <a:xfrm>
            <a:off x="18912864" y="2340114"/>
            <a:ext cx="1452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/>
              <a:t>while</a:t>
            </a:r>
            <a:endParaRPr lang="ko-KR" altLang="en-US" sz="4000" dirty="0"/>
          </a:p>
        </p:txBody>
      </p:sp>
      <p:sp>
        <p:nvSpPr>
          <p:cNvPr id="64" name="화살표: 오른쪽으로 구부러짐 63">
            <a:extLst>
              <a:ext uri="{FF2B5EF4-FFF2-40B4-BE49-F238E27FC236}">
                <a16:creationId xmlns:a16="http://schemas.microsoft.com/office/drawing/2014/main" id="{DB8F105D-2A8B-68C4-7ACD-915C429162EF}"/>
              </a:ext>
            </a:extLst>
          </p:cNvPr>
          <p:cNvSpPr/>
          <p:nvPr/>
        </p:nvSpPr>
        <p:spPr>
          <a:xfrm rot="5400000" flipH="1">
            <a:off x="15953635" y="365955"/>
            <a:ext cx="981310" cy="6516379"/>
          </a:xfrm>
          <a:prstGeom prst="curv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55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B5C8-1029-757A-E586-62193B16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1F29D-67B4-2630-DA8F-FB0F19FDF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A8B4527-792E-E1FF-D599-533751BF0B01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475F2-9255-5CD5-BE40-E800B0593671}"/>
              </a:ext>
            </a:extLst>
          </p:cNvPr>
          <p:cNvSpPr txBox="1"/>
          <p:nvPr/>
        </p:nvSpPr>
        <p:spPr>
          <a:xfrm>
            <a:off x="1170680" y="2250789"/>
            <a:ext cx="7000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ko-KR" altLang="en-US" sz="4400" dirty="0"/>
              <a:t>누적</a:t>
            </a:r>
            <a:r>
              <a:rPr lang="en-US" altLang="ko-KR" sz="4400" dirty="0"/>
              <a:t> sum </a:t>
            </a:r>
            <a:r>
              <a:rPr lang="en-US" altLang="ko-KR" sz="4400" dirty="0" smtClean="0"/>
              <a:t>program</a:t>
            </a:r>
            <a:endParaRPr lang="en-US" altLang="ko-KR" sz="4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23B5C3B-DFED-6AB6-3777-241D5AFA3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366"/>
          <a:stretch>
            <a:fillRect/>
          </a:stretch>
        </p:blipFill>
        <p:spPr>
          <a:xfrm>
            <a:off x="16346557" y="2296877"/>
            <a:ext cx="4267200" cy="3923307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55A37CE-B838-4294-2D17-BF8DB2790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700880"/>
              </p:ext>
            </p:extLst>
          </p:nvPr>
        </p:nvGraphicFramePr>
        <p:xfrm>
          <a:off x="20231100" y="9189137"/>
          <a:ext cx="3581400" cy="1829933"/>
        </p:xfrm>
        <a:graphic>
          <a:graphicData uri="http://schemas.openxmlformats.org/drawingml/2006/table">
            <a:tbl>
              <a:tblPr/>
              <a:tblGrid>
                <a:gridCol w="1142999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57C17BF-9247-E33E-72DE-4EE4032D4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99362"/>
              </p:ext>
            </p:extLst>
          </p:nvPr>
        </p:nvGraphicFramePr>
        <p:xfrm>
          <a:off x="16383000" y="9189137"/>
          <a:ext cx="3505200" cy="199656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400 -&gt; 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F01F228-BA34-0A0F-E4C6-34A97B71266C}"/>
              </a:ext>
            </a:extLst>
          </p:cNvPr>
          <p:cNvSpPr txBox="1"/>
          <p:nvPr/>
        </p:nvSpPr>
        <p:spPr>
          <a:xfrm>
            <a:off x="19127857" y="3433106"/>
            <a:ext cx="46482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스택 포인터 </a:t>
            </a:r>
            <a:r>
              <a:rPr lang="en-US" altLang="ko-KR" sz="2400" b="1" dirty="0" err="1"/>
              <a:t>Sp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400</a:t>
            </a:r>
            <a:r>
              <a:rPr lang="ko-KR" altLang="en-US" sz="2400" b="1" dirty="0"/>
              <a:t>주소로 지정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B94CF9-16EE-ED38-781A-3CED6AB3C2D8}"/>
              </a:ext>
            </a:extLst>
          </p:cNvPr>
          <p:cNvSpPr txBox="1"/>
          <p:nvPr/>
        </p:nvSpPr>
        <p:spPr>
          <a:xfrm>
            <a:off x="21300885" y="4745880"/>
            <a:ext cx="26262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Sp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-32</a:t>
            </a:r>
            <a:r>
              <a:rPr lang="ko-KR" altLang="en-US" sz="2400" b="1" dirty="0"/>
              <a:t>까지 확보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840E443-9308-3627-B256-EBF74B4DE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20" y="2961197"/>
            <a:ext cx="15880382" cy="105262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119F797-9D17-2D64-C2B1-46437AE9B25C}"/>
              </a:ext>
            </a:extLst>
          </p:cNvPr>
          <p:cNvSpPr txBox="1"/>
          <p:nvPr/>
        </p:nvSpPr>
        <p:spPr>
          <a:xfrm>
            <a:off x="5105400" y="11302867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X2 = 400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E22DD-2553-7939-3103-B8033199A2EF}"/>
              </a:ext>
            </a:extLst>
          </p:cNvPr>
          <p:cNvSpPr txBox="1"/>
          <p:nvPr/>
        </p:nvSpPr>
        <p:spPr>
          <a:xfrm>
            <a:off x="9182100" y="11302867"/>
            <a:ext cx="4452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X2 = 400 -  32 = 368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3310D30-165B-5A58-D1F4-D4BA78BA0F69}"/>
              </a:ext>
            </a:extLst>
          </p:cNvPr>
          <p:cNvCxnSpPr>
            <a:cxnSpLocks/>
          </p:cNvCxnSpPr>
          <p:nvPr/>
        </p:nvCxnSpPr>
        <p:spPr>
          <a:xfrm flipH="1">
            <a:off x="6324600" y="12010753"/>
            <a:ext cx="116633" cy="12480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EA40AED-7DD9-335C-7E53-1D301414FC27}"/>
              </a:ext>
            </a:extLst>
          </p:cNvPr>
          <p:cNvCxnSpPr>
            <a:cxnSpLocks/>
          </p:cNvCxnSpPr>
          <p:nvPr/>
        </p:nvCxnSpPr>
        <p:spPr>
          <a:xfrm>
            <a:off x="10899084" y="11858353"/>
            <a:ext cx="4569516" cy="14004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539D7FF-87F7-5553-6168-DA90681A868D}"/>
              </a:ext>
            </a:extLst>
          </p:cNvPr>
          <p:cNvSpPr txBox="1"/>
          <p:nvPr/>
        </p:nvSpPr>
        <p:spPr>
          <a:xfrm>
            <a:off x="5766354" y="3522575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84481-FE73-C2C0-70CA-A2EA890FAF27}"/>
              </a:ext>
            </a:extLst>
          </p:cNvPr>
          <p:cNvSpPr txBox="1"/>
          <p:nvPr/>
        </p:nvSpPr>
        <p:spPr>
          <a:xfrm>
            <a:off x="4361622" y="3486132"/>
            <a:ext cx="826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B619C9-79A7-B3F2-1213-2A8EAD70465A}"/>
              </a:ext>
            </a:extLst>
          </p:cNvPr>
          <p:cNvSpPr txBox="1"/>
          <p:nvPr/>
        </p:nvSpPr>
        <p:spPr>
          <a:xfrm>
            <a:off x="7239000" y="3522575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E45421-E198-BB75-A6A1-EC57E3EA194D}"/>
              </a:ext>
            </a:extLst>
          </p:cNvPr>
          <p:cNvSpPr txBox="1"/>
          <p:nvPr/>
        </p:nvSpPr>
        <p:spPr>
          <a:xfrm>
            <a:off x="8547654" y="3509323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097C99-130C-910C-968C-8C2EC5C8D50E}"/>
              </a:ext>
            </a:extLst>
          </p:cNvPr>
          <p:cNvSpPr txBox="1"/>
          <p:nvPr/>
        </p:nvSpPr>
        <p:spPr>
          <a:xfrm>
            <a:off x="21287633" y="5484792"/>
            <a:ext cx="262624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함수가 끝난 뒤 </a:t>
            </a:r>
            <a:r>
              <a:rPr lang="en-US" altLang="ko-KR" sz="2400" b="1" dirty="0"/>
              <a:t>return</a:t>
            </a:r>
            <a:r>
              <a:rPr lang="ko-KR" altLang="en-US" sz="2400" b="1" dirty="0"/>
              <a:t> 주소 저장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92D549-37AC-A7FB-6ED6-8CA11BFDD87E}"/>
              </a:ext>
            </a:extLst>
          </p:cNvPr>
          <p:cNvSpPr txBox="1"/>
          <p:nvPr/>
        </p:nvSpPr>
        <p:spPr>
          <a:xfrm>
            <a:off x="21281007" y="6427693"/>
            <a:ext cx="262624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현 함수를 호출하기 전 단계의 기준 </a:t>
            </a:r>
            <a:r>
              <a:rPr lang="en-US" altLang="ko-KR" sz="2400" b="1" dirty="0" smtClean="0"/>
              <a:t>S0</a:t>
            </a:r>
            <a:r>
              <a:rPr lang="ko-KR" altLang="en-US" sz="2400" b="1" dirty="0" smtClean="0"/>
              <a:t>주소 </a:t>
            </a:r>
            <a:r>
              <a:rPr lang="ko-KR" altLang="en-US" sz="2400" b="1" dirty="0"/>
              <a:t>저장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2D918C6-26C5-B861-F18D-EAEFDAEBA8C1}"/>
              </a:ext>
            </a:extLst>
          </p:cNvPr>
          <p:cNvCxnSpPr/>
          <p:nvPr/>
        </p:nvCxnSpPr>
        <p:spPr>
          <a:xfrm flipH="1" flipV="1">
            <a:off x="20194657" y="3069480"/>
            <a:ext cx="1092976" cy="3636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387276F-FE10-01D6-C3BE-19558F70CDEB}"/>
              </a:ext>
            </a:extLst>
          </p:cNvPr>
          <p:cNvCxnSpPr>
            <a:cxnSpLocks/>
          </p:cNvCxnSpPr>
          <p:nvPr/>
        </p:nvCxnSpPr>
        <p:spPr>
          <a:xfrm flipH="1">
            <a:off x="20404207" y="4929925"/>
            <a:ext cx="896678" cy="1010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AED4ABF-1C6B-E10B-B703-E50BC32A1D8B}"/>
              </a:ext>
            </a:extLst>
          </p:cNvPr>
          <p:cNvCxnSpPr>
            <a:cxnSpLocks/>
          </p:cNvCxnSpPr>
          <p:nvPr/>
        </p:nvCxnSpPr>
        <p:spPr>
          <a:xfrm flipH="1" flipV="1">
            <a:off x="20308957" y="5391590"/>
            <a:ext cx="998554" cy="4076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426B8DE-C116-D828-F457-835EE02DE2AD}"/>
              </a:ext>
            </a:extLst>
          </p:cNvPr>
          <p:cNvCxnSpPr>
            <a:cxnSpLocks/>
          </p:cNvCxnSpPr>
          <p:nvPr/>
        </p:nvCxnSpPr>
        <p:spPr>
          <a:xfrm flipH="1" flipV="1">
            <a:off x="20308957" y="5982208"/>
            <a:ext cx="972050" cy="123031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7722F9C6-3F31-81C1-AA8F-238C71C31908}"/>
              </a:ext>
            </a:extLst>
          </p:cNvPr>
          <p:cNvSpPr/>
          <p:nvPr/>
        </p:nvSpPr>
        <p:spPr>
          <a:xfrm>
            <a:off x="6806648" y="8023921"/>
            <a:ext cx="3200400" cy="190053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F20E99-D1F9-B606-300B-0160D44056F9}"/>
              </a:ext>
            </a:extLst>
          </p:cNvPr>
          <p:cNvSpPr txBox="1"/>
          <p:nvPr/>
        </p:nvSpPr>
        <p:spPr>
          <a:xfrm>
            <a:off x="16253463" y="7423756"/>
            <a:ext cx="445338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8,C:</a:t>
            </a:r>
          </a:p>
          <a:p>
            <a:r>
              <a:rPr lang="ko-KR" altLang="en-US" sz="2400" b="1" dirty="0"/>
              <a:t>함수를 호출하지 않았기 때문에 </a:t>
            </a:r>
            <a:endParaRPr lang="en-US" altLang="ko-KR" sz="2400" b="1" dirty="0"/>
          </a:p>
          <a:p>
            <a:r>
              <a:rPr lang="en-US" altLang="ko-KR" sz="2400" b="1" dirty="0"/>
              <a:t>SW </a:t>
            </a:r>
            <a:r>
              <a:rPr lang="ko-KR" altLang="en-US" sz="2400" b="1" dirty="0"/>
              <a:t>동작 의미 </a:t>
            </a:r>
            <a:r>
              <a:rPr lang="en-US" altLang="ko-KR" sz="2400" b="1" dirty="0"/>
              <a:t>X</a:t>
            </a:r>
            <a:r>
              <a:rPr lang="ko-KR" altLang="en-US" sz="24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36039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811E-5EDA-9EFB-4D7D-B43EC73A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6EF6311-5894-78C2-CF37-96E322E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208" y="252826"/>
            <a:ext cx="8787545" cy="11745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DE77389-237A-5FB2-1E2B-C4659D1BD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54" y="2300595"/>
            <a:ext cx="15430840" cy="113268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4F6FB9-D9B3-5B8F-D0EA-1CE8FF880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0028" y="2611749"/>
            <a:ext cx="4453388" cy="2735235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51DB597A-F28B-CB3E-8C4D-563681E6CC4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9F1AE4A1-CB43-ADE9-2572-FDF025B25DF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6976DC0-AF10-6419-9A7E-A4D779E3AACD}"/>
              </a:ext>
            </a:extLst>
          </p:cNvPr>
          <p:cNvGraphicFramePr>
            <a:graphicFrameLocks noGrp="1"/>
          </p:cNvGraphicFramePr>
          <p:nvPr/>
        </p:nvGraphicFramePr>
        <p:xfrm>
          <a:off x="20231100" y="9189137"/>
          <a:ext cx="3581400" cy="2483259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6D08E98-7015-7830-E935-05125C991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1521"/>
              </p:ext>
            </p:extLst>
          </p:nvPr>
        </p:nvGraphicFramePr>
        <p:xfrm>
          <a:off x="16383000" y="9189137"/>
          <a:ext cx="3505200" cy="219561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5E6EC2D-7DE0-8A10-2689-0644A3E300F4}"/>
              </a:ext>
            </a:extLst>
          </p:cNvPr>
          <p:cNvSpPr txBox="1"/>
          <p:nvPr/>
        </p:nvSpPr>
        <p:spPr>
          <a:xfrm>
            <a:off x="20497800" y="1033163"/>
            <a:ext cx="3048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S0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400</a:t>
            </a:r>
            <a:r>
              <a:rPr lang="ko-KR" altLang="en-US" sz="2400" b="1" dirty="0"/>
              <a:t>주소로 저장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F8491A-1CC5-359A-EAC4-4E27286FB4E3}"/>
              </a:ext>
            </a:extLst>
          </p:cNvPr>
          <p:cNvSpPr txBox="1"/>
          <p:nvPr/>
        </p:nvSpPr>
        <p:spPr>
          <a:xfrm>
            <a:off x="6641824" y="121158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X8 = S0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434F605-8AC9-CE28-9EC0-4723A2EF09A2}"/>
              </a:ext>
            </a:extLst>
          </p:cNvPr>
          <p:cNvCxnSpPr>
            <a:cxnSpLocks/>
          </p:cNvCxnSpPr>
          <p:nvPr/>
        </p:nvCxnSpPr>
        <p:spPr>
          <a:xfrm>
            <a:off x="8915400" y="12469743"/>
            <a:ext cx="2656397" cy="74989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D973178-EC9F-28C7-C97C-25E679352CA7}"/>
              </a:ext>
            </a:extLst>
          </p:cNvPr>
          <p:cNvSpPr txBox="1"/>
          <p:nvPr/>
        </p:nvSpPr>
        <p:spPr>
          <a:xfrm>
            <a:off x="7467600" y="2625601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2716FA-85E8-A069-EE5D-B1C032E721D7}"/>
              </a:ext>
            </a:extLst>
          </p:cNvPr>
          <p:cNvSpPr txBox="1"/>
          <p:nvPr/>
        </p:nvSpPr>
        <p:spPr>
          <a:xfrm>
            <a:off x="9172161" y="2603248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12042B-D910-4A8A-6DEF-2AE29A6C54CE}"/>
              </a:ext>
            </a:extLst>
          </p:cNvPr>
          <p:cNvSpPr txBox="1"/>
          <p:nvPr/>
        </p:nvSpPr>
        <p:spPr>
          <a:xfrm>
            <a:off x="10705095" y="2611749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05EE6D-781E-8AF1-11B5-C80A7ADFA3E7}"/>
              </a:ext>
            </a:extLst>
          </p:cNvPr>
          <p:cNvSpPr txBox="1"/>
          <p:nvPr/>
        </p:nvSpPr>
        <p:spPr>
          <a:xfrm>
            <a:off x="22433945" y="3469622"/>
            <a:ext cx="85210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 = 0;</a:t>
            </a:r>
            <a:endParaRPr lang="ko-KR" altLang="en-US" sz="2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CDAB6A-DC13-2110-A69D-C91610B944F3}"/>
              </a:ext>
            </a:extLst>
          </p:cNvPr>
          <p:cNvSpPr txBox="1"/>
          <p:nvPr/>
        </p:nvSpPr>
        <p:spPr>
          <a:xfrm>
            <a:off x="22433945" y="4546752"/>
            <a:ext cx="137855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Sum = 0;</a:t>
            </a:r>
            <a:endParaRPr lang="ko-KR" altLang="en-US" sz="2400" b="1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AED1C5B-8694-C7B2-ADE3-63261395DFED}"/>
              </a:ext>
            </a:extLst>
          </p:cNvPr>
          <p:cNvCxnSpPr>
            <a:cxnSpLocks/>
          </p:cNvCxnSpPr>
          <p:nvPr/>
        </p:nvCxnSpPr>
        <p:spPr>
          <a:xfrm flipH="1">
            <a:off x="20574000" y="1506106"/>
            <a:ext cx="914400" cy="12984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E838F5D-B3D1-E565-0C4F-A589B22895B6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20818173" y="3589079"/>
            <a:ext cx="1615772" cy="1113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954A72D-C857-FB36-F5CC-CA4857D2D2E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20831425" y="4288755"/>
            <a:ext cx="1602520" cy="4888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55ADA7F-53E8-7C70-A8A2-3DDFA5366AAC}"/>
              </a:ext>
            </a:extLst>
          </p:cNvPr>
          <p:cNvSpPr txBox="1"/>
          <p:nvPr/>
        </p:nvSpPr>
        <p:spPr>
          <a:xfrm>
            <a:off x="19405991" y="6154034"/>
            <a:ext cx="44533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3C(while</a:t>
            </a:r>
            <a:r>
              <a:rPr lang="ko-KR" altLang="en-US" sz="2400" b="1" dirty="0"/>
              <a:t>문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로 </a:t>
            </a:r>
            <a:r>
              <a:rPr lang="en-US" altLang="ko-KR" sz="2400" b="1" dirty="0"/>
              <a:t>JUMP </a:t>
            </a:r>
            <a:endParaRPr lang="ko-KR" altLang="en-US" sz="2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BA20145-92A9-511D-7EE4-172D9E6F521A}"/>
              </a:ext>
            </a:extLst>
          </p:cNvPr>
          <p:cNvCxnSpPr>
            <a:cxnSpLocks/>
          </p:cNvCxnSpPr>
          <p:nvPr/>
        </p:nvCxnSpPr>
        <p:spPr>
          <a:xfrm flipH="1" flipV="1">
            <a:off x="20264230" y="5060096"/>
            <a:ext cx="1757570" cy="10713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4C53F94-A619-4B8B-0BE1-8A61DDC3C3BC}"/>
              </a:ext>
            </a:extLst>
          </p:cNvPr>
          <p:cNvCxnSpPr>
            <a:cxnSpLocks/>
          </p:cNvCxnSpPr>
          <p:nvPr/>
        </p:nvCxnSpPr>
        <p:spPr>
          <a:xfrm>
            <a:off x="10243598" y="1427399"/>
            <a:ext cx="2099449" cy="229591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F0074B8-39CC-F72F-5FDE-603AB2BC0445}"/>
              </a:ext>
            </a:extLst>
          </p:cNvPr>
          <p:cNvCxnSpPr>
            <a:cxnSpLocks/>
          </p:cNvCxnSpPr>
          <p:nvPr/>
        </p:nvCxnSpPr>
        <p:spPr>
          <a:xfrm flipH="1">
            <a:off x="15675994" y="1427399"/>
            <a:ext cx="3361759" cy="227305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268DC3-675A-FB4F-7F5E-858B940A9246}"/>
              </a:ext>
            </a:extLst>
          </p:cNvPr>
          <p:cNvSpPr txBox="1"/>
          <p:nvPr/>
        </p:nvSpPr>
        <p:spPr>
          <a:xfrm>
            <a:off x="12688255" y="2548739"/>
            <a:ext cx="1167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JAL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866516E-CADB-0194-F516-FC8498F5820C}"/>
              </a:ext>
            </a:extLst>
          </p:cNvPr>
          <p:cNvCxnSpPr>
            <a:cxnSpLocks/>
          </p:cNvCxnSpPr>
          <p:nvPr/>
        </p:nvCxnSpPr>
        <p:spPr>
          <a:xfrm>
            <a:off x="9259945" y="9911996"/>
            <a:ext cx="2656397" cy="74989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9C66464-C9BA-926B-16E9-FE8B0D7D2B41}"/>
              </a:ext>
            </a:extLst>
          </p:cNvPr>
          <p:cNvSpPr txBox="1"/>
          <p:nvPr/>
        </p:nvSpPr>
        <p:spPr>
          <a:xfrm>
            <a:off x="6936685" y="9433706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[95] = SUM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0FAD98-CFB9-6505-DCD5-AABEC12B3455}"/>
              </a:ext>
            </a:extLst>
          </p:cNvPr>
          <p:cNvSpPr txBox="1"/>
          <p:nvPr/>
        </p:nvSpPr>
        <p:spPr>
          <a:xfrm>
            <a:off x="12527023" y="8835194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[94] = 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B63F3D9-B602-A4DE-AC31-C6755A65573B}"/>
              </a:ext>
            </a:extLst>
          </p:cNvPr>
          <p:cNvCxnSpPr>
            <a:cxnSpLocks/>
          </p:cNvCxnSpPr>
          <p:nvPr/>
        </p:nvCxnSpPr>
        <p:spPr>
          <a:xfrm>
            <a:off x="13936723" y="9543080"/>
            <a:ext cx="0" cy="88768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5097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9097-47E9-451C-C1D7-4AE2D07C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A55DC134-D233-18C0-5230-8D4B752E97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6EA5890-487E-8EFA-23B6-2E28820AE47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B390FF1-D685-5F40-6D91-FDFDD7316BED}"/>
              </a:ext>
            </a:extLst>
          </p:cNvPr>
          <p:cNvGraphicFramePr>
            <a:graphicFrameLocks noGrp="1"/>
          </p:cNvGraphicFramePr>
          <p:nvPr/>
        </p:nvGraphicFramePr>
        <p:xfrm>
          <a:off x="20231100" y="9189137"/>
          <a:ext cx="3581400" cy="2483259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23A3471-93C5-9B60-2E3D-D33E3991F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74494"/>
              </p:ext>
            </p:extLst>
          </p:nvPr>
        </p:nvGraphicFramePr>
        <p:xfrm>
          <a:off x="16383000" y="9189137"/>
          <a:ext cx="3505200" cy="331050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err="1"/>
                        <a:t>비교값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F6CD3C6-2DA8-A9C0-C8C2-6FEC4A8522F4}"/>
              </a:ext>
            </a:extLst>
          </p:cNvPr>
          <p:cNvSpPr txBox="1"/>
          <p:nvPr/>
        </p:nvSpPr>
        <p:spPr>
          <a:xfrm>
            <a:off x="20876815" y="980643"/>
            <a:ext cx="1524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Load  I </a:t>
            </a:r>
            <a:r>
              <a:rPr lang="ko-KR" altLang="en-US" sz="2400" b="1" dirty="0"/>
              <a:t>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48B78F-F152-EF7D-1388-748542EB1FB5}"/>
              </a:ext>
            </a:extLst>
          </p:cNvPr>
          <p:cNvSpPr txBox="1"/>
          <p:nvPr/>
        </p:nvSpPr>
        <p:spPr>
          <a:xfrm>
            <a:off x="22433945" y="3732344"/>
            <a:ext cx="137855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비교값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10 </a:t>
            </a:r>
            <a:r>
              <a:rPr lang="ko-KR" altLang="en-US" sz="2400" b="1" dirty="0"/>
              <a:t>저장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43A8A2D-F353-1D1C-EC35-C1B1A89EC5A4}"/>
              </a:ext>
            </a:extLst>
          </p:cNvPr>
          <p:cNvCxnSpPr>
            <a:cxnSpLocks/>
          </p:cNvCxnSpPr>
          <p:nvPr/>
        </p:nvCxnSpPr>
        <p:spPr>
          <a:xfrm flipH="1">
            <a:off x="20231100" y="1506106"/>
            <a:ext cx="1257300" cy="13894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15D9648-F93A-7C0E-8602-E11343001949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20081765" y="3891810"/>
            <a:ext cx="2352180" cy="2560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A2607EC-E465-17BE-DE27-3C83C5599C8E}"/>
              </a:ext>
            </a:extLst>
          </p:cNvPr>
          <p:cNvSpPr txBox="1"/>
          <p:nvPr/>
        </p:nvSpPr>
        <p:spPr>
          <a:xfrm>
            <a:off x="20441645" y="6149594"/>
            <a:ext cx="284440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If(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&lt;= 10),  JUMP 20 </a:t>
            </a:r>
            <a:endParaRPr lang="ko-KR" altLang="en-US" sz="2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220E30F-1C84-AE05-2453-E8BF775D5AEC}"/>
              </a:ext>
            </a:extLst>
          </p:cNvPr>
          <p:cNvCxnSpPr>
            <a:cxnSpLocks/>
          </p:cNvCxnSpPr>
          <p:nvPr/>
        </p:nvCxnSpPr>
        <p:spPr>
          <a:xfrm flipH="1" flipV="1">
            <a:off x="20264230" y="5060096"/>
            <a:ext cx="1757570" cy="10713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D3071A5-B504-E83E-6F62-D7B7A0F75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789" y="2630372"/>
            <a:ext cx="5382376" cy="21956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30BDC22-2AFF-CC92-820B-C1575000D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2323906"/>
            <a:ext cx="14571589" cy="1123969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74DCA1-89EC-1EC4-618A-172B5157F0D5}"/>
              </a:ext>
            </a:extLst>
          </p:cNvPr>
          <p:cNvSpPr txBox="1"/>
          <p:nvPr/>
        </p:nvSpPr>
        <p:spPr>
          <a:xfrm>
            <a:off x="7620000" y="2476486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1706B6-D0DA-ADB1-0C1F-5D10B6666053}"/>
              </a:ext>
            </a:extLst>
          </p:cNvPr>
          <p:cNvSpPr txBox="1"/>
          <p:nvPr/>
        </p:nvSpPr>
        <p:spPr>
          <a:xfrm>
            <a:off x="9393638" y="2493051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9C249D-0C5C-64D5-6852-931F135C0D01}"/>
              </a:ext>
            </a:extLst>
          </p:cNvPr>
          <p:cNvSpPr txBox="1"/>
          <p:nvPr/>
        </p:nvSpPr>
        <p:spPr>
          <a:xfrm>
            <a:off x="11269828" y="2433322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BGE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442962-DF2F-D4C0-7604-F30F02F5A987}"/>
              </a:ext>
            </a:extLst>
          </p:cNvPr>
          <p:cNvSpPr txBox="1"/>
          <p:nvPr/>
        </p:nvSpPr>
        <p:spPr>
          <a:xfrm>
            <a:off x="6574238" y="10169351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X14 = 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0B549DC-9B88-A257-CDE4-9BB23483347A}"/>
              </a:ext>
            </a:extLst>
          </p:cNvPr>
          <p:cNvCxnSpPr>
            <a:cxnSpLocks/>
          </p:cNvCxnSpPr>
          <p:nvPr/>
        </p:nvCxnSpPr>
        <p:spPr>
          <a:xfrm>
            <a:off x="8839200" y="10877237"/>
            <a:ext cx="554438" cy="20005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72D7CF5-E890-25EC-31B6-D1D5F7058446}"/>
              </a:ext>
            </a:extLst>
          </p:cNvPr>
          <p:cNvSpPr txBox="1"/>
          <p:nvPr/>
        </p:nvSpPr>
        <p:spPr>
          <a:xfrm>
            <a:off x="11128850" y="10169351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X15 = 10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CB3510D-C0B7-CA79-96EA-3DBB02E0A80A}"/>
              </a:ext>
            </a:extLst>
          </p:cNvPr>
          <p:cNvCxnSpPr>
            <a:cxnSpLocks/>
          </p:cNvCxnSpPr>
          <p:nvPr/>
        </p:nvCxnSpPr>
        <p:spPr>
          <a:xfrm>
            <a:off x="12801600" y="10744200"/>
            <a:ext cx="551205" cy="23622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5327D96-559A-E4F6-181E-6FB9F610686E}"/>
              </a:ext>
            </a:extLst>
          </p:cNvPr>
          <p:cNvSpPr txBox="1"/>
          <p:nvPr/>
        </p:nvSpPr>
        <p:spPr>
          <a:xfrm>
            <a:off x="10761934" y="4574183"/>
            <a:ext cx="1806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0&lt;=10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C549800B-DFCD-767B-B753-7FF278BA6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21734"/>
            <a:ext cx="9870965" cy="986450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A28448B-CF50-5C4E-D4E9-8FE2A0F8E927}"/>
              </a:ext>
            </a:extLst>
          </p:cNvPr>
          <p:cNvCxnSpPr>
            <a:cxnSpLocks/>
          </p:cNvCxnSpPr>
          <p:nvPr/>
        </p:nvCxnSpPr>
        <p:spPr>
          <a:xfrm>
            <a:off x="10172700" y="1143000"/>
            <a:ext cx="571395" cy="243113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47FE65B-2F7F-82C2-9B93-063F20128C4C}"/>
              </a:ext>
            </a:extLst>
          </p:cNvPr>
          <p:cNvCxnSpPr>
            <a:cxnSpLocks/>
          </p:cNvCxnSpPr>
          <p:nvPr/>
        </p:nvCxnSpPr>
        <p:spPr>
          <a:xfrm flipH="1">
            <a:off x="14405886" y="1344164"/>
            <a:ext cx="5482314" cy="222997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737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714A-9E33-C3AD-33BF-B1CD4086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>
            <a:extLst>
              <a:ext uri="{FF2B5EF4-FFF2-40B4-BE49-F238E27FC236}">
                <a16:creationId xmlns:a16="http://schemas.microsoft.com/office/drawing/2014/main" id="{02B9D390-8B21-55C5-3191-AFBC7692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14" y="2366772"/>
            <a:ext cx="14937785" cy="1125778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5F432CE8-5E86-A203-55FA-907F0BEC1A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276CA09-EDF5-6D4F-6722-E2B8CE0F691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CFB122E-0A1D-ABE1-DACC-2705169DC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908063"/>
              </p:ext>
            </p:extLst>
          </p:nvPr>
        </p:nvGraphicFramePr>
        <p:xfrm>
          <a:off x="20195585" y="8166820"/>
          <a:ext cx="3581400" cy="2483259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1ECCD2E-ADBC-7B5A-A7C1-55D91765F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41124"/>
              </p:ext>
            </p:extLst>
          </p:nvPr>
        </p:nvGraphicFramePr>
        <p:xfrm>
          <a:off x="15697200" y="8084356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err="1"/>
                        <a:t>비교값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FED5320-7272-47C6-EE85-7B0CA38071BA}"/>
              </a:ext>
            </a:extLst>
          </p:cNvPr>
          <p:cNvSpPr txBox="1"/>
          <p:nvPr/>
        </p:nvSpPr>
        <p:spPr>
          <a:xfrm>
            <a:off x="21632685" y="885511"/>
            <a:ext cx="16533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Load  SUM</a:t>
            </a:r>
            <a:endParaRPr lang="ko-KR" altLang="en-US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E4B4F0-F603-2A97-9D76-1998AEB2B7A0}"/>
              </a:ext>
            </a:extLst>
          </p:cNvPr>
          <p:cNvSpPr txBox="1"/>
          <p:nvPr/>
        </p:nvSpPr>
        <p:spPr>
          <a:xfrm>
            <a:off x="22433945" y="3469622"/>
            <a:ext cx="16533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Load  I</a:t>
            </a:r>
            <a:endParaRPr lang="ko-KR" altLang="en-US" sz="2400" b="1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DDDB08E-9E74-4FA0-6BCC-76CA593CEC9A}"/>
              </a:ext>
            </a:extLst>
          </p:cNvPr>
          <p:cNvCxnSpPr>
            <a:cxnSpLocks/>
          </p:cNvCxnSpPr>
          <p:nvPr/>
        </p:nvCxnSpPr>
        <p:spPr>
          <a:xfrm flipH="1">
            <a:off x="21087109" y="1387302"/>
            <a:ext cx="1257300" cy="138949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8D936E6-3D49-758A-5FB2-D2C8C0F73396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1087109" y="3700455"/>
            <a:ext cx="134683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3B31712-C9F7-21E3-D21B-8AEDE3248F14}"/>
              </a:ext>
            </a:extLst>
          </p:cNvPr>
          <p:cNvSpPr txBox="1"/>
          <p:nvPr/>
        </p:nvSpPr>
        <p:spPr>
          <a:xfrm>
            <a:off x="21225095" y="6103106"/>
            <a:ext cx="286221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JUMP 60</a:t>
            </a:r>
          </a:p>
          <a:p>
            <a:r>
              <a:rPr lang="en-US" altLang="ko-KR" sz="2400" b="1" dirty="0"/>
              <a:t>Adder </a:t>
            </a:r>
            <a:r>
              <a:rPr lang="ko-KR" altLang="en-US" sz="2400" b="1" dirty="0"/>
              <a:t>함수 호출 및</a:t>
            </a:r>
            <a:endParaRPr lang="en-US" altLang="ko-KR" sz="2400" b="1" dirty="0"/>
          </a:p>
          <a:p>
            <a:r>
              <a:rPr lang="en-US" altLang="ko-KR" sz="2400" b="1" dirty="0" err="1"/>
              <a:t>Retrun</a:t>
            </a:r>
            <a:r>
              <a:rPr lang="ko-KR" altLang="en-US" sz="2400" b="1" dirty="0"/>
              <a:t> 주소 저장</a:t>
            </a:r>
            <a:endParaRPr lang="en-US" altLang="ko-KR" sz="2400" b="1" dirty="0"/>
          </a:p>
          <a:p>
            <a:r>
              <a:rPr lang="en-US" altLang="ko-KR" sz="2400" b="1" dirty="0"/>
              <a:t>44 = while </a:t>
            </a:r>
            <a:r>
              <a:rPr lang="ko-KR" altLang="en-US" sz="2400" b="1" dirty="0"/>
              <a:t>조건문</a:t>
            </a:r>
            <a:r>
              <a:rPr lang="en-US" altLang="ko-KR" sz="2400" b="1" dirty="0"/>
              <a:t>  </a:t>
            </a:r>
            <a:endParaRPr lang="ko-KR" altLang="en-US" sz="2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85D2A5F-5355-3CA1-8810-0F2423A6A6B9}"/>
              </a:ext>
            </a:extLst>
          </p:cNvPr>
          <p:cNvCxnSpPr>
            <a:cxnSpLocks/>
          </p:cNvCxnSpPr>
          <p:nvPr/>
        </p:nvCxnSpPr>
        <p:spPr>
          <a:xfrm flipH="1" flipV="1">
            <a:off x="20441645" y="5162568"/>
            <a:ext cx="1580155" cy="968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4AB98E3-6C74-4C0F-764E-BC99BEFB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200" y="2529085"/>
            <a:ext cx="5334744" cy="263348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20FC52-21E6-1532-375A-2C8B91440192}"/>
              </a:ext>
            </a:extLst>
          </p:cNvPr>
          <p:cNvSpPr txBox="1"/>
          <p:nvPr/>
        </p:nvSpPr>
        <p:spPr>
          <a:xfrm>
            <a:off x="7391400" y="2492514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EC1A40-6F16-A38C-242D-A0F129F70CE9}"/>
              </a:ext>
            </a:extLst>
          </p:cNvPr>
          <p:cNvSpPr txBox="1"/>
          <p:nvPr/>
        </p:nvSpPr>
        <p:spPr>
          <a:xfrm>
            <a:off x="9220200" y="2476486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C91777-FEC3-B359-C20F-0344A9C8FF34}"/>
              </a:ext>
            </a:extLst>
          </p:cNvPr>
          <p:cNvSpPr txBox="1"/>
          <p:nvPr/>
        </p:nvSpPr>
        <p:spPr>
          <a:xfrm>
            <a:off x="11277600" y="2506675"/>
            <a:ext cx="105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JAL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DAC365-7813-B883-CC20-62139CD8CD8E}"/>
              </a:ext>
            </a:extLst>
          </p:cNvPr>
          <p:cNvSpPr txBox="1"/>
          <p:nvPr/>
        </p:nvSpPr>
        <p:spPr>
          <a:xfrm>
            <a:off x="6934200" y="10047084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X11 = SUM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992CD1B-B686-4D71-421E-52D84BF162DB}"/>
              </a:ext>
            </a:extLst>
          </p:cNvPr>
          <p:cNvCxnSpPr>
            <a:cxnSpLocks/>
          </p:cNvCxnSpPr>
          <p:nvPr/>
        </p:nvCxnSpPr>
        <p:spPr>
          <a:xfrm>
            <a:off x="8839200" y="10668000"/>
            <a:ext cx="1066800" cy="16002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96A56C8-31F6-9A2A-313B-5B2153260469}"/>
              </a:ext>
            </a:extLst>
          </p:cNvPr>
          <p:cNvCxnSpPr>
            <a:cxnSpLocks/>
          </p:cNvCxnSpPr>
          <p:nvPr/>
        </p:nvCxnSpPr>
        <p:spPr>
          <a:xfrm>
            <a:off x="11658600" y="10453196"/>
            <a:ext cx="1066800" cy="151020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E89695D-0FFB-9149-27F6-8A8823FA505A}"/>
              </a:ext>
            </a:extLst>
          </p:cNvPr>
          <p:cNvSpPr txBox="1"/>
          <p:nvPr/>
        </p:nvSpPr>
        <p:spPr>
          <a:xfrm>
            <a:off x="9545292" y="9942193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X10 = 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DB516E1-B1A6-5A63-F26E-4DA009BA7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821" y="372572"/>
            <a:ext cx="8581264" cy="717707"/>
          </a:xfrm>
          <a:prstGeom prst="rect">
            <a:avLst/>
          </a:prstGeom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B4466C5-0E50-7211-DE60-38DB8FA79B79}"/>
              </a:ext>
            </a:extLst>
          </p:cNvPr>
          <p:cNvCxnSpPr>
            <a:cxnSpLocks/>
          </p:cNvCxnSpPr>
          <p:nvPr/>
        </p:nvCxnSpPr>
        <p:spPr>
          <a:xfrm flipH="1">
            <a:off x="10810754" y="987704"/>
            <a:ext cx="144238" cy="26316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D920CEE-A500-FF2B-4150-56CA9E7A9156}"/>
              </a:ext>
            </a:extLst>
          </p:cNvPr>
          <p:cNvCxnSpPr>
            <a:cxnSpLocks/>
          </p:cNvCxnSpPr>
          <p:nvPr/>
        </p:nvCxnSpPr>
        <p:spPr>
          <a:xfrm flipH="1">
            <a:off x="15011400" y="1090279"/>
            <a:ext cx="4569387" cy="252907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97916B5-17ED-CF96-2973-394D6DF90295}"/>
              </a:ext>
            </a:extLst>
          </p:cNvPr>
          <p:cNvSpPr txBox="1"/>
          <p:nvPr/>
        </p:nvSpPr>
        <p:spPr>
          <a:xfrm>
            <a:off x="8686800" y="7059175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 = return </a:t>
            </a:r>
            <a:r>
              <a:rPr lang="ko-KR" altLang="en-US" sz="4000" dirty="0">
                <a:highlight>
                  <a:srgbClr val="FFFF00"/>
                </a:highlight>
              </a:rPr>
              <a:t>주소 저장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0769C56-F2A4-BCD4-BB3B-9C9E150E01F3}"/>
              </a:ext>
            </a:extLst>
          </p:cNvPr>
          <p:cNvCxnSpPr>
            <a:cxnSpLocks/>
          </p:cNvCxnSpPr>
          <p:nvPr/>
        </p:nvCxnSpPr>
        <p:spPr>
          <a:xfrm>
            <a:off x="12725400" y="7696200"/>
            <a:ext cx="1981200" cy="17526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그림 63">
            <a:extLst>
              <a:ext uri="{FF2B5EF4-FFF2-40B4-BE49-F238E27FC236}">
                <a16:creationId xmlns:a16="http://schemas.microsoft.com/office/drawing/2014/main" id="{D8FC9B67-DC89-E49F-3080-22C796DE8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94768" y="7144772"/>
            <a:ext cx="5163791" cy="8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757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4EB6-544D-15CD-AE17-20CD591B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DC0DAD7-11ED-0FAA-9D9C-42DFF074F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6826" y="2414894"/>
            <a:ext cx="5515745" cy="2701955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540963F-C70B-B402-A8A8-7F6968383B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47F0046-BDB8-4D54-DE84-10CC33F93F24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9302F4A-9108-9E7C-76B5-98A40C05C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95710"/>
              </p:ext>
            </p:extLst>
          </p:nvPr>
        </p:nvGraphicFramePr>
        <p:xfrm>
          <a:off x="20506362" y="8019607"/>
          <a:ext cx="3581400" cy="431493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3913AC7-75C6-458C-4A87-60BA1BFC9D46}"/>
              </a:ext>
            </a:extLst>
          </p:cNvPr>
          <p:cNvSpPr txBox="1"/>
          <p:nvPr/>
        </p:nvSpPr>
        <p:spPr>
          <a:xfrm>
            <a:off x="20837368" y="899769"/>
            <a:ext cx="29193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스택 공간 추가 확보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ABD0FF-116D-ABD6-3959-1EBFBC9A0E43}"/>
              </a:ext>
            </a:extLst>
          </p:cNvPr>
          <p:cNvSpPr txBox="1"/>
          <p:nvPr/>
        </p:nvSpPr>
        <p:spPr>
          <a:xfrm>
            <a:off x="21225096" y="5465560"/>
            <a:ext cx="262392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함수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끝나면 돌아갈 주소 저장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C2A6484-F016-FBEA-26C4-E6635CC29E9D}"/>
              </a:ext>
            </a:extLst>
          </p:cNvPr>
          <p:cNvCxnSpPr>
            <a:cxnSpLocks/>
          </p:cNvCxnSpPr>
          <p:nvPr/>
        </p:nvCxnSpPr>
        <p:spPr>
          <a:xfrm flipH="1" flipV="1">
            <a:off x="22192570" y="4114800"/>
            <a:ext cx="667430" cy="1295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DB174B5-6C28-07CF-D8AD-EAD88D88FDDC}"/>
              </a:ext>
            </a:extLst>
          </p:cNvPr>
          <p:cNvSpPr txBox="1"/>
          <p:nvPr/>
        </p:nvSpPr>
        <p:spPr>
          <a:xfrm>
            <a:off x="18568206" y="6465584"/>
            <a:ext cx="23867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mine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S0 </a:t>
            </a:r>
            <a:r>
              <a:rPr lang="ko-KR" altLang="en-US" sz="2400" b="1" dirty="0"/>
              <a:t>값 저장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0DCB317-1D4D-7D2B-46E7-42181962E3A1}"/>
              </a:ext>
            </a:extLst>
          </p:cNvPr>
          <p:cNvCxnSpPr>
            <a:cxnSpLocks/>
          </p:cNvCxnSpPr>
          <p:nvPr/>
        </p:nvCxnSpPr>
        <p:spPr>
          <a:xfrm flipV="1">
            <a:off x="19397877" y="5162568"/>
            <a:ext cx="1043768" cy="11339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BB0F6C17-35D5-87D2-FDAD-DF9C4413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81" y="2370086"/>
            <a:ext cx="15332427" cy="112990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E791CE-7826-5B83-73BA-E96B35077B8C}"/>
              </a:ext>
            </a:extLst>
          </p:cNvPr>
          <p:cNvSpPr txBox="1"/>
          <p:nvPr/>
        </p:nvSpPr>
        <p:spPr>
          <a:xfrm>
            <a:off x="7142829" y="2548739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65847-A1E5-2331-4E34-4AC842B54051}"/>
              </a:ext>
            </a:extLst>
          </p:cNvPr>
          <p:cNvSpPr txBox="1"/>
          <p:nvPr/>
        </p:nvSpPr>
        <p:spPr>
          <a:xfrm>
            <a:off x="9067800" y="2548739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A842C-710E-2FA5-A342-F69B40EC43A2}"/>
              </a:ext>
            </a:extLst>
          </p:cNvPr>
          <p:cNvSpPr txBox="1"/>
          <p:nvPr/>
        </p:nvSpPr>
        <p:spPr>
          <a:xfrm>
            <a:off x="11249645" y="2496553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AFCCBD1-73BB-4B00-6A35-D61BF9B153B3}"/>
              </a:ext>
            </a:extLst>
          </p:cNvPr>
          <p:cNvCxnSpPr>
            <a:cxnSpLocks/>
          </p:cNvCxnSpPr>
          <p:nvPr/>
        </p:nvCxnSpPr>
        <p:spPr>
          <a:xfrm flipH="1">
            <a:off x="21135674" y="1387302"/>
            <a:ext cx="1208735" cy="164126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DEDAF2-40FB-D02B-5EA7-A953C452A19F}"/>
              </a:ext>
            </a:extLst>
          </p:cNvPr>
          <p:cNvSpPr txBox="1"/>
          <p:nvPr/>
        </p:nvSpPr>
        <p:spPr>
          <a:xfrm>
            <a:off x="6858000" y="7574014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X2 = SP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E453459-C7CC-7246-E623-B703298FF9EC}"/>
              </a:ext>
            </a:extLst>
          </p:cNvPr>
          <p:cNvCxnSpPr>
            <a:cxnSpLocks/>
          </p:cNvCxnSpPr>
          <p:nvPr/>
        </p:nvCxnSpPr>
        <p:spPr>
          <a:xfrm>
            <a:off x="8135164" y="8153400"/>
            <a:ext cx="3176651" cy="17526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D9AE6E66-CEAA-D564-28AC-D841E8F48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011614"/>
              </p:ext>
            </p:extLst>
          </p:nvPr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err="1"/>
                        <a:t>비교값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968FFC5-6A80-E7BC-699C-1490E2FC1569}"/>
              </a:ext>
            </a:extLst>
          </p:cNvPr>
          <p:cNvSpPr txBox="1"/>
          <p:nvPr/>
        </p:nvSpPr>
        <p:spPr>
          <a:xfrm>
            <a:off x="7142829" y="6141624"/>
            <a:ext cx="4028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[91] = </a:t>
            </a:r>
            <a:r>
              <a:rPr lang="en-US" altLang="ko-KR" sz="4000">
                <a:highlight>
                  <a:srgbClr val="FFFF00"/>
                </a:highlight>
              </a:rPr>
              <a:t>while </a:t>
            </a:r>
            <a:r>
              <a:rPr lang="ko-KR" altLang="en-US" sz="4000" dirty="0">
                <a:highlight>
                  <a:srgbClr val="FFFF00"/>
                </a:highlight>
              </a:rPr>
              <a:t>주소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5DBA751-3551-F5D9-99A1-984DCCCA03D6}"/>
              </a:ext>
            </a:extLst>
          </p:cNvPr>
          <p:cNvCxnSpPr>
            <a:cxnSpLocks/>
          </p:cNvCxnSpPr>
          <p:nvPr/>
        </p:nvCxnSpPr>
        <p:spPr>
          <a:xfrm>
            <a:off x="10541031" y="6866491"/>
            <a:ext cx="2336769" cy="62226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3B01155-FAE3-AD8C-CA97-C5FA7352BF5C}"/>
              </a:ext>
            </a:extLst>
          </p:cNvPr>
          <p:cNvSpPr txBox="1"/>
          <p:nvPr/>
        </p:nvSpPr>
        <p:spPr>
          <a:xfrm>
            <a:off x="11653092" y="6026017"/>
            <a:ext cx="4214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[90]= MainS0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58763A9-4E9C-86CF-8511-7A4095B499BC}"/>
              </a:ext>
            </a:extLst>
          </p:cNvPr>
          <p:cNvCxnSpPr>
            <a:cxnSpLocks/>
          </p:cNvCxnSpPr>
          <p:nvPr/>
        </p:nvCxnSpPr>
        <p:spPr>
          <a:xfrm>
            <a:off x="13023018" y="6670963"/>
            <a:ext cx="1531182" cy="50666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0086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9FC4-344D-7BE4-F7DD-225C7077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FFC5DB7-1295-6763-7CE1-2131A09D5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782"/>
          <a:stretch>
            <a:fillRect/>
          </a:stretch>
        </p:blipFill>
        <p:spPr>
          <a:xfrm>
            <a:off x="16069126" y="2531432"/>
            <a:ext cx="6123444" cy="47447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4F0C8B10-A850-ABDC-BD50-376BE67FF1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F4E402C-4FD3-2D9C-28C8-A0FE83DD6C4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FEC8F1-C435-2BD7-C051-124808422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33144"/>
              </p:ext>
            </p:extLst>
          </p:nvPr>
        </p:nvGraphicFramePr>
        <p:xfrm>
          <a:off x="20506362" y="8019607"/>
          <a:ext cx="3581400" cy="562158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026304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3071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A29F771-C263-FA6E-F22A-B0BE216289D5}"/>
              </a:ext>
            </a:extLst>
          </p:cNvPr>
          <p:cNvSpPr txBox="1"/>
          <p:nvPr/>
        </p:nvSpPr>
        <p:spPr>
          <a:xfrm>
            <a:off x="22248954" y="3504689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 </a:t>
            </a:r>
            <a:r>
              <a:rPr lang="ko-KR" altLang="en-US" sz="2400" b="1" dirty="0"/>
              <a:t>인자 저장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B559CB10-5F37-EB59-4B76-62C8FEA04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74757"/>
              </p:ext>
            </p:extLst>
          </p:nvPr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60E1E442-09CA-B479-72DC-452719EDC2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911"/>
          <a:stretch>
            <a:fillRect/>
          </a:stretch>
        </p:blipFill>
        <p:spPr>
          <a:xfrm>
            <a:off x="108261" y="2389964"/>
            <a:ext cx="15483885" cy="11173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285256-38FE-966B-85D7-36870D9BA53E}"/>
              </a:ext>
            </a:extLst>
          </p:cNvPr>
          <p:cNvSpPr txBox="1"/>
          <p:nvPr/>
        </p:nvSpPr>
        <p:spPr>
          <a:xfrm>
            <a:off x="5408304" y="3735522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A7F7F-4AF6-C080-0FD1-805762767705}"/>
              </a:ext>
            </a:extLst>
          </p:cNvPr>
          <p:cNvSpPr txBox="1"/>
          <p:nvPr/>
        </p:nvSpPr>
        <p:spPr>
          <a:xfrm>
            <a:off x="4002275" y="3735522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4261E-6EAE-D9F9-BB72-8133B3BFBB2C}"/>
              </a:ext>
            </a:extLst>
          </p:cNvPr>
          <p:cNvSpPr txBox="1"/>
          <p:nvPr/>
        </p:nvSpPr>
        <p:spPr>
          <a:xfrm>
            <a:off x="6647475" y="3737375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711D83-9F99-A91F-A054-4786D9900665}"/>
              </a:ext>
            </a:extLst>
          </p:cNvPr>
          <p:cNvSpPr txBox="1"/>
          <p:nvPr/>
        </p:nvSpPr>
        <p:spPr>
          <a:xfrm>
            <a:off x="22255580" y="4212575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 </a:t>
            </a:r>
            <a:r>
              <a:rPr lang="ko-KR" altLang="en-US" sz="2400" b="1" dirty="0"/>
              <a:t>인자 저장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7B4489-A89F-6E15-8FA0-AC8923C43D57}"/>
              </a:ext>
            </a:extLst>
          </p:cNvPr>
          <p:cNvSpPr txBox="1"/>
          <p:nvPr/>
        </p:nvSpPr>
        <p:spPr>
          <a:xfrm>
            <a:off x="4777156" y="7064514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[87] = A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4FDB7C0-44B0-248C-825F-4750E8829EA7}"/>
              </a:ext>
            </a:extLst>
          </p:cNvPr>
          <p:cNvCxnSpPr>
            <a:cxnSpLocks/>
          </p:cNvCxnSpPr>
          <p:nvPr/>
        </p:nvCxnSpPr>
        <p:spPr>
          <a:xfrm flipV="1">
            <a:off x="6324600" y="6172200"/>
            <a:ext cx="824646" cy="97543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793EB75-9750-6C2C-69CB-8DC670BAF64C}"/>
              </a:ext>
            </a:extLst>
          </p:cNvPr>
          <p:cNvSpPr txBox="1"/>
          <p:nvPr/>
        </p:nvSpPr>
        <p:spPr>
          <a:xfrm>
            <a:off x="6990331" y="7305095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[86] = 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AD2B506-E983-D240-02B6-38B852A49F58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057131" y="5885258"/>
            <a:ext cx="401069" cy="141983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781E45-E89D-B5C9-17A9-72986C447BA8}"/>
              </a:ext>
            </a:extLst>
          </p:cNvPr>
          <p:cNvSpPr txBox="1"/>
          <p:nvPr/>
        </p:nvSpPr>
        <p:spPr>
          <a:xfrm>
            <a:off x="7744040" y="376603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0BEDFC-6912-AFE0-612B-F85CB89DADB4}"/>
              </a:ext>
            </a:extLst>
          </p:cNvPr>
          <p:cNvSpPr txBox="1"/>
          <p:nvPr/>
        </p:nvSpPr>
        <p:spPr>
          <a:xfrm>
            <a:off x="9094196" y="376603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C4E31C-93A5-43A8-5C74-EF1DF37DCFEB}"/>
              </a:ext>
            </a:extLst>
          </p:cNvPr>
          <p:cNvSpPr txBox="1"/>
          <p:nvPr/>
        </p:nvSpPr>
        <p:spPr>
          <a:xfrm>
            <a:off x="10414328" y="9943271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x15 = 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18E04C-59AA-CECD-15F5-A781B5982DEE}"/>
              </a:ext>
            </a:extLst>
          </p:cNvPr>
          <p:cNvSpPr txBox="1"/>
          <p:nvPr/>
        </p:nvSpPr>
        <p:spPr>
          <a:xfrm>
            <a:off x="22297062" y="5135301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 </a:t>
            </a:r>
            <a:r>
              <a:rPr lang="ko-KR" altLang="en-US" sz="2400" b="1" dirty="0"/>
              <a:t>인자 </a:t>
            </a:r>
            <a:r>
              <a:rPr lang="en-US" altLang="ko-KR" sz="2400" b="1" dirty="0"/>
              <a:t>Load</a:t>
            </a:r>
            <a:endParaRPr lang="ko-KR" alt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348DB5-62DD-22AF-14F3-5CAF5AFEB670}"/>
              </a:ext>
            </a:extLst>
          </p:cNvPr>
          <p:cNvSpPr txBox="1"/>
          <p:nvPr/>
        </p:nvSpPr>
        <p:spPr>
          <a:xfrm>
            <a:off x="22272145" y="5885258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 </a:t>
            </a:r>
            <a:r>
              <a:rPr lang="ko-KR" altLang="en-US" sz="2400" b="1" dirty="0"/>
              <a:t>인자 </a:t>
            </a:r>
            <a:r>
              <a:rPr lang="en-US" altLang="ko-KR" sz="2400" b="1" dirty="0"/>
              <a:t>Load</a:t>
            </a:r>
            <a:endParaRPr lang="ko-KR" altLang="en-US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7BD2B3-C1BB-5654-11E2-03CA3AFC4D97}"/>
              </a:ext>
            </a:extLst>
          </p:cNvPr>
          <p:cNvSpPr txBox="1"/>
          <p:nvPr/>
        </p:nvSpPr>
        <p:spPr>
          <a:xfrm>
            <a:off x="7601247" y="10169125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x14 = A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45980E4-EC0E-5C4C-04BC-6117DD6EACDE}"/>
              </a:ext>
            </a:extLst>
          </p:cNvPr>
          <p:cNvCxnSpPr>
            <a:cxnSpLocks/>
          </p:cNvCxnSpPr>
          <p:nvPr/>
        </p:nvCxnSpPr>
        <p:spPr>
          <a:xfrm>
            <a:off x="8893703" y="6226343"/>
            <a:ext cx="1621897" cy="670176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8EFF1C0-D72C-92C0-3AAE-463C63B60E1E}"/>
              </a:ext>
            </a:extLst>
          </p:cNvPr>
          <p:cNvCxnSpPr>
            <a:cxnSpLocks/>
          </p:cNvCxnSpPr>
          <p:nvPr/>
        </p:nvCxnSpPr>
        <p:spPr>
          <a:xfrm>
            <a:off x="9703457" y="5941288"/>
            <a:ext cx="1421743" cy="737021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59CB0A0-22BA-F454-20F9-9E0AC2D640CE}"/>
              </a:ext>
            </a:extLst>
          </p:cNvPr>
          <p:cNvSpPr txBox="1"/>
          <p:nvPr/>
        </p:nvSpPr>
        <p:spPr>
          <a:xfrm>
            <a:off x="10058400" y="368622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6B9A09-4C00-99A0-B414-93C0E0D5DF63}"/>
              </a:ext>
            </a:extLst>
          </p:cNvPr>
          <p:cNvSpPr txBox="1"/>
          <p:nvPr/>
        </p:nvSpPr>
        <p:spPr>
          <a:xfrm>
            <a:off x="13015977" y="7772400"/>
            <a:ext cx="2307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 + 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A186179-11C2-E738-5FD9-F07C304F553E}"/>
              </a:ext>
            </a:extLst>
          </p:cNvPr>
          <p:cNvCxnSpPr>
            <a:cxnSpLocks/>
          </p:cNvCxnSpPr>
          <p:nvPr/>
        </p:nvCxnSpPr>
        <p:spPr>
          <a:xfrm>
            <a:off x="11325354" y="4394106"/>
            <a:ext cx="3381246" cy="891740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F13F07-2054-583A-BF00-94CEF6202DA2}"/>
              </a:ext>
            </a:extLst>
          </p:cNvPr>
          <p:cNvSpPr txBox="1"/>
          <p:nvPr/>
        </p:nvSpPr>
        <p:spPr>
          <a:xfrm>
            <a:off x="22297062" y="6685967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A + B</a:t>
            </a:r>
            <a:endParaRPr lang="ko-KR" altLang="en-US" sz="24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6DF603-B124-0B00-23FF-E20638029142}"/>
              </a:ext>
            </a:extLst>
          </p:cNvPr>
          <p:cNvSpPr txBox="1"/>
          <p:nvPr/>
        </p:nvSpPr>
        <p:spPr>
          <a:xfrm>
            <a:off x="22242328" y="2647009"/>
            <a:ext cx="18321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S0 </a:t>
            </a:r>
            <a:r>
              <a:rPr lang="ko-KR" altLang="en-US" sz="2400" b="1" dirty="0"/>
              <a:t>이동</a:t>
            </a:r>
          </a:p>
        </p:txBody>
      </p:sp>
    </p:spTree>
    <p:extLst>
      <p:ext uri="{BB962C8B-B14F-4D97-AF65-F5344CB8AC3E}">
        <p14:creationId xmlns:p14="http://schemas.microsoft.com/office/powerpoint/2010/main" val="16947137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4C8F-24E1-37F3-C6CF-57B430F6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AD95A26C-3F71-1675-583D-2773C4AFA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22" y="2350208"/>
            <a:ext cx="14967677" cy="1101062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3CB6AA83-C614-0EE6-F88A-9E37DB29D6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266DAFE-084E-88D0-9A68-8B80FF30065A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565F67C-E410-0C6C-94AF-BF5FA7BB1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472314"/>
              </p:ext>
            </p:extLst>
          </p:nvPr>
        </p:nvGraphicFramePr>
        <p:xfrm>
          <a:off x="20506362" y="8019607"/>
          <a:ext cx="3581400" cy="562158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026304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B9AD433-24E4-A178-184F-C80311986912}"/>
              </a:ext>
            </a:extLst>
          </p:cNvPr>
          <p:cNvSpPr txBox="1"/>
          <p:nvPr/>
        </p:nvSpPr>
        <p:spPr>
          <a:xfrm>
            <a:off x="22172648" y="2943754"/>
            <a:ext cx="208100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 + B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x10</a:t>
            </a:r>
            <a:r>
              <a:rPr lang="ko-KR" altLang="en-US" sz="2400" b="1" dirty="0" err="1"/>
              <a:t>으로이동</a:t>
            </a:r>
            <a:endParaRPr lang="ko-KR" altLang="en-US" sz="2400" b="1" dirty="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AE651D4-130C-9B60-E8D3-84CD9E0A1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498453"/>
              </p:ext>
            </p:extLst>
          </p:nvPr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53BFEA-8308-FF85-C51F-7A2F8F1B34EC}"/>
              </a:ext>
            </a:extLst>
          </p:cNvPr>
          <p:cNvSpPr txBox="1"/>
          <p:nvPr/>
        </p:nvSpPr>
        <p:spPr>
          <a:xfrm>
            <a:off x="22255580" y="4212575"/>
            <a:ext cx="183218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Return </a:t>
            </a:r>
            <a:r>
              <a:rPr lang="ko-KR" altLang="en-US" sz="2400" b="1" dirty="0"/>
              <a:t>주소 </a:t>
            </a:r>
            <a:r>
              <a:rPr lang="en-US" altLang="ko-KR" sz="2400" b="1" dirty="0"/>
              <a:t>Load</a:t>
            </a:r>
            <a:endParaRPr lang="ko-KR" altLang="en-US" sz="24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163954-CCD6-69C5-943C-5A8480F741E9}"/>
              </a:ext>
            </a:extLst>
          </p:cNvPr>
          <p:cNvSpPr txBox="1"/>
          <p:nvPr/>
        </p:nvSpPr>
        <p:spPr>
          <a:xfrm>
            <a:off x="22182587" y="5255301"/>
            <a:ext cx="183218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함수 </a:t>
            </a:r>
            <a:r>
              <a:rPr lang="en-US" altLang="ko-KR" sz="2400" b="1" dirty="0"/>
              <a:t>S0,SP </a:t>
            </a:r>
          </a:p>
          <a:p>
            <a:endParaRPr lang="en-US" altLang="ko-KR" sz="2400" b="1" dirty="0"/>
          </a:p>
          <a:p>
            <a:r>
              <a:rPr lang="ko-KR" altLang="en-US" sz="2400" b="1" dirty="0"/>
              <a:t>반납</a:t>
            </a:r>
            <a:endParaRPr lang="en-US" altLang="ko-KR" sz="24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730AE0-7966-FD7E-FCF0-7B0081B7B6B2}"/>
              </a:ext>
            </a:extLst>
          </p:cNvPr>
          <p:cNvSpPr txBox="1"/>
          <p:nvPr/>
        </p:nvSpPr>
        <p:spPr>
          <a:xfrm>
            <a:off x="21945600" y="6929649"/>
            <a:ext cx="21836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Return </a:t>
            </a:r>
          </a:p>
          <a:p>
            <a:pPr algn="ctr"/>
            <a:r>
              <a:rPr lang="en-US" altLang="ko-KR" sz="2400" b="1" dirty="0"/>
              <a:t>(adder </a:t>
            </a:r>
            <a:r>
              <a:rPr lang="ko-KR" altLang="en-US" sz="2400" b="1" dirty="0"/>
              <a:t>함수 끝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9EC235-090F-801F-C629-23CF23702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1166" y="3179092"/>
            <a:ext cx="5694434" cy="4364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F213BE-C4A7-6512-E289-F52B8A344AF2}"/>
              </a:ext>
            </a:extLst>
          </p:cNvPr>
          <p:cNvSpPr txBox="1"/>
          <p:nvPr/>
        </p:nvSpPr>
        <p:spPr>
          <a:xfrm>
            <a:off x="5386528" y="3847786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CCE2A-6C0E-EDBE-66A8-8D53219B4231}"/>
              </a:ext>
            </a:extLst>
          </p:cNvPr>
          <p:cNvSpPr txBox="1"/>
          <p:nvPr/>
        </p:nvSpPr>
        <p:spPr>
          <a:xfrm>
            <a:off x="4215574" y="10602508"/>
            <a:ext cx="2410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 x10=A + 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7D79AB4-D0C8-F353-F399-140F6117CBDC}"/>
              </a:ext>
            </a:extLst>
          </p:cNvPr>
          <p:cNvCxnSpPr>
            <a:cxnSpLocks/>
          </p:cNvCxnSpPr>
          <p:nvPr/>
        </p:nvCxnSpPr>
        <p:spPr>
          <a:xfrm>
            <a:off x="6062915" y="9968877"/>
            <a:ext cx="1328485" cy="16853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139E26-F6A6-AA43-30AC-CC7A1D238CCA}"/>
              </a:ext>
            </a:extLst>
          </p:cNvPr>
          <p:cNvSpPr txBox="1"/>
          <p:nvPr/>
        </p:nvSpPr>
        <p:spPr>
          <a:xfrm>
            <a:off x="7038515" y="3921595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82D3A-AF40-C925-80FB-93029D4B38A5}"/>
              </a:ext>
            </a:extLst>
          </p:cNvPr>
          <p:cNvSpPr txBox="1"/>
          <p:nvPr/>
        </p:nvSpPr>
        <p:spPr>
          <a:xfrm>
            <a:off x="4668171" y="7877312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  <a:sym typeface="Wingdings" panose="05000000000000000000" pitchFamily="2" charset="2"/>
              </a:rPr>
              <a:t>X1 = return </a:t>
            </a:r>
            <a:r>
              <a:rPr lang="ko-KR" altLang="en-US" sz="4000" dirty="0">
                <a:highlight>
                  <a:srgbClr val="FFFF00"/>
                </a:highlight>
                <a:sym typeface="Wingdings" panose="05000000000000000000" pitchFamily="2" charset="2"/>
              </a:rPr>
              <a:t>주소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8CE7BE2-DFD4-2834-D55F-AB4D577BCAEA}"/>
              </a:ext>
            </a:extLst>
          </p:cNvPr>
          <p:cNvCxnSpPr>
            <a:cxnSpLocks/>
          </p:cNvCxnSpPr>
          <p:nvPr/>
        </p:nvCxnSpPr>
        <p:spPr>
          <a:xfrm>
            <a:off x="8214108" y="7283592"/>
            <a:ext cx="1387092" cy="193660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2AE64A-6EC5-9EF3-CBDC-F65C08F82BE5}"/>
              </a:ext>
            </a:extLst>
          </p:cNvPr>
          <p:cNvSpPr txBox="1"/>
          <p:nvPr/>
        </p:nvSpPr>
        <p:spPr>
          <a:xfrm>
            <a:off x="8841421" y="3921595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8164E4-8322-09A4-948D-241923C45276}"/>
              </a:ext>
            </a:extLst>
          </p:cNvPr>
          <p:cNvSpPr txBox="1"/>
          <p:nvPr/>
        </p:nvSpPr>
        <p:spPr>
          <a:xfrm>
            <a:off x="10548157" y="3921595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AC33A-9318-BAE0-5BE8-487EBD3C8135}"/>
              </a:ext>
            </a:extLst>
          </p:cNvPr>
          <p:cNvSpPr txBox="1"/>
          <p:nvPr/>
        </p:nvSpPr>
        <p:spPr>
          <a:xfrm>
            <a:off x="12248229" y="4016514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JALR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3F2B7DB-09D8-C811-1741-8FD7B520D384}"/>
              </a:ext>
            </a:extLst>
          </p:cNvPr>
          <p:cNvCxnSpPr>
            <a:cxnSpLocks/>
          </p:cNvCxnSpPr>
          <p:nvPr/>
        </p:nvCxnSpPr>
        <p:spPr>
          <a:xfrm>
            <a:off x="10363923" y="7002236"/>
            <a:ext cx="2313391" cy="40660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ACD34B9-CEE0-6AF8-3704-171733764041}"/>
              </a:ext>
            </a:extLst>
          </p:cNvPr>
          <p:cNvSpPr txBox="1"/>
          <p:nvPr/>
        </p:nvSpPr>
        <p:spPr>
          <a:xfrm>
            <a:off x="8721466" y="9887198"/>
            <a:ext cx="3470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  <a:sym typeface="Wingdings" panose="05000000000000000000" pitchFamily="2" charset="2"/>
              </a:rPr>
              <a:t>S0 368 400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8F787B-3098-A271-2DEF-2C45C47F18FC}"/>
              </a:ext>
            </a:extLst>
          </p:cNvPr>
          <p:cNvSpPr txBox="1"/>
          <p:nvPr/>
        </p:nvSpPr>
        <p:spPr>
          <a:xfrm>
            <a:off x="12460713" y="6455630"/>
            <a:ext cx="3470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  <a:sym typeface="Wingdings" panose="05000000000000000000" pitchFamily="2" charset="2"/>
              </a:rPr>
              <a:t>SP 336 368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17CE81A-CCAB-94BB-B598-2C6814BA975E}"/>
              </a:ext>
            </a:extLst>
          </p:cNvPr>
          <p:cNvCxnSpPr>
            <a:cxnSpLocks/>
          </p:cNvCxnSpPr>
          <p:nvPr/>
        </p:nvCxnSpPr>
        <p:spPr>
          <a:xfrm>
            <a:off x="11353800" y="4555672"/>
            <a:ext cx="2334252" cy="48931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3549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A8BA-B939-EF27-5E8C-EFC2DC9E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B10B46A3-4ABA-86CF-08E8-02EE5DDF05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01A192B-5B21-4E94-D079-6E660BB9AA7A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0D3076E-50B2-4C00-04E9-A157415BEA41}"/>
              </a:ext>
            </a:extLst>
          </p:cNvPr>
          <p:cNvGraphicFramePr>
            <a:graphicFrameLocks noGrp="1"/>
          </p:cNvGraphicFramePr>
          <p:nvPr/>
        </p:nvGraphicFramePr>
        <p:xfrm>
          <a:off x="20506362" y="8019607"/>
          <a:ext cx="3581400" cy="562158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026304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5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D56B90A-8837-D6F7-044E-2DB10854899C}"/>
              </a:ext>
            </a:extLst>
          </p:cNvPr>
          <p:cNvGraphicFramePr>
            <a:graphicFrameLocks noGrp="1"/>
          </p:cNvGraphicFramePr>
          <p:nvPr/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err="1"/>
                        <a:t>i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368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76297761-402A-F76A-45C8-8E8A3929B3FD}"/>
              </a:ext>
            </a:extLst>
          </p:cNvPr>
          <p:cNvSpPr txBox="1"/>
          <p:nvPr/>
        </p:nvSpPr>
        <p:spPr>
          <a:xfrm>
            <a:off x="21531254" y="2616749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A +B </a:t>
            </a:r>
            <a:r>
              <a:rPr lang="ko-KR" altLang="en-US" sz="2400" b="1" dirty="0"/>
              <a:t>저장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BB59C2-4320-0CF4-5265-E438057B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16" y="2346220"/>
            <a:ext cx="14935200" cy="110883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F47437-4931-0A5F-DEB9-3A81DE5C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0606" y="2661622"/>
            <a:ext cx="5820587" cy="4653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993A04-7381-5F66-BC99-38C9FE6A7775}"/>
              </a:ext>
            </a:extLst>
          </p:cNvPr>
          <p:cNvSpPr txBox="1"/>
          <p:nvPr/>
        </p:nvSpPr>
        <p:spPr>
          <a:xfrm>
            <a:off x="21531253" y="3288026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/>
              <a:t>i</a:t>
            </a:r>
            <a:r>
              <a:rPr lang="ko-KR" altLang="en-US" sz="2400" b="1" dirty="0"/>
              <a:t>을</a:t>
            </a:r>
            <a:r>
              <a:rPr lang="en-US" altLang="ko-KR" sz="2400" b="1" dirty="0"/>
              <a:t> Load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043BD-8E01-E16A-D47A-5773A244C3D4}"/>
              </a:ext>
            </a:extLst>
          </p:cNvPr>
          <p:cNvSpPr txBox="1"/>
          <p:nvPr/>
        </p:nvSpPr>
        <p:spPr>
          <a:xfrm>
            <a:off x="21531252" y="3969553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err="1"/>
              <a:t>i</a:t>
            </a:r>
            <a:r>
              <a:rPr lang="en-US" altLang="ko-KR" sz="2400" b="1" dirty="0"/>
              <a:t>++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6EBEC-8689-0399-A0D1-3B5E138DC807}"/>
              </a:ext>
            </a:extLst>
          </p:cNvPr>
          <p:cNvSpPr txBox="1"/>
          <p:nvPr/>
        </p:nvSpPr>
        <p:spPr>
          <a:xfrm>
            <a:off x="21541193" y="4640830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err="1"/>
              <a:t>i</a:t>
            </a:r>
            <a:r>
              <a:rPr lang="ko-KR" altLang="en-US" sz="2400" b="1" dirty="0"/>
              <a:t>을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BA1161-EF0D-787F-91ED-691666E2BB66}"/>
              </a:ext>
            </a:extLst>
          </p:cNvPr>
          <p:cNvSpPr txBox="1"/>
          <p:nvPr/>
        </p:nvSpPr>
        <p:spPr>
          <a:xfrm>
            <a:off x="21531252" y="5306738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Load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E3C197-38E6-6EEF-7086-F477F75AAF10}"/>
              </a:ext>
            </a:extLst>
          </p:cNvPr>
          <p:cNvSpPr txBox="1"/>
          <p:nvPr/>
        </p:nvSpPr>
        <p:spPr>
          <a:xfrm>
            <a:off x="21541192" y="6094283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</a:t>
            </a:r>
            <a:r>
              <a:rPr lang="ko-KR" altLang="en-US" sz="2400" b="1" dirty="0"/>
              <a:t>을 </a:t>
            </a:r>
            <a:r>
              <a:rPr lang="en-US" altLang="ko-KR" sz="2400" b="1" dirty="0"/>
              <a:t>Load</a:t>
            </a:r>
            <a:endParaRPr lang="ko-KR" altLang="en-US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45348F-9FCF-BABC-CA6B-36C070671C84}"/>
              </a:ext>
            </a:extLst>
          </p:cNvPr>
          <p:cNvSpPr txBox="1"/>
          <p:nvPr/>
        </p:nvSpPr>
        <p:spPr>
          <a:xfrm>
            <a:off x="21554444" y="6760191"/>
            <a:ext cx="21836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If(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&lt;= 10), 20</a:t>
            </a:r>
            <a:r>
              <a:rPr lang="ko-KR" altLang="en-US" sz="2400" b="1" dirty="0"/>
              <a:t>이동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B2B036-9825-4CD1-B72F-83BB759728D6}"/>
              </a:ext>
            </a:extLst>
          </p:cNvPr>
          <p:cNvSpPr txBox="1"/>
          <p:nvPr/>
        </p:nvSpPr>
        <p:spPr>
          <a:xfrm>
            <a:off x="4495800" y="357458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846AEB-19DF-7B69-AE76-A96ED64EB421}"/>
              </a:ext>
            </a:extLst>
          </p:cNvPr>
          <p:cNvSpPr txBox="1"/>
          <p:nvPr/>
        </p:nvSpPr>
        <p:spPr>
          <a:xfrm>
            <a:off x="5784759" y="3613663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75B0CF-A76C-AABD-1522-FABF86A3385E}"/>
              </a:ext>
            </a:extLst>
          </p:cNvPr>
          <p:cNvSpPr txBox="1"/>
          <p:nvPr/>
        </p:nvSpPr>
        <p:spPr>
          <a:xfrm>
            <a:off x="7229014" y="362624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CEF87E-F858-17BF-D062-D751204DD7FF}"/>
              </a:ext>
            </a:extLst>
          </p:cNvPr>
          <p:cNvSpPr txBox="1"/>
          <p:nvPr/>
        </p:nvSpPr>
        <p:spPr>
          <a:xfrm>
            <a:off x="8507987" y="362624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13EE1B-DD47-18D9-A46E-7317FBD04C25}"/>
              </a:ext>
            </a:extLst>
          </p:cNvPr>
          <p:cNvSpPr txBox="1"/>
          <p:nvPr/>
        </p:nvSpPr>
        <p:spPr>
          <a:xfrm>
            <a:off x="9820275" y="362624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CA67F5-0FC1-4D92-6F6D-31CEE66F27CC}"/>
              </a:ext>
            </a:extLst>
          </p:cNvPr>
          <p:cNvSpPr txBox="1"/>
          <p:nvPr/>
        </p:nvSpPr>
        <p:spPr>
          <a:xfrm>
            <a:off x="12487599" y="374969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BGE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8642A7-2183-4FDA-1F20-07BBC8A76E6B}"/>
              </a:ext>
            </a:extLst>
          </p:cNvPr>
          <p:cNvSpPr txBox="1"/>
          <p:nvPr/>
        </p:nvSpPr>
        <p:spPr>
          <a:xfrm>
            <a:off x="11135509" y="3705080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Li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2DF6BD-3897-EB74-CD19-314FAEF08590}"/>
              </a:ext>
            </a:extLst>
          </p:cNvPr>
          <p:cNvSpPr txBox="1"/>
          <p:nvPr/>
        </p:nvSpPr>
        <p:spPr>
          <a:xfrm>
            <a:off x="2971800" y="5148120"/>
            <a:ext cx="254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X10 =A + 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56DF013-FDEF-740E-DD38-5CCF2DC5FE18}"/>
              </a:ext>
            </a:extLst>
          </p:cNvPr>
          <p:cNvCxnSpPr>
            <a:cxnSpLocks/>
          </p:cNvCxnSpPr>
          <p:nvPr/>
        </p:nvCxnSpPr>
        <p:spPr>
          <a:xfrm>
            <a:off x="5140487" y="5825265"/>
            <a:ext cx="1203505" cy="583154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FC90888-6150-02EC-CBCD-00D1902D9B1A}"/>
              </a:ext>
            </a:extLst>
          </p:cNvPr>
          <p:cNvCxnSpPr>
            <a:cxnSpLocks/>
          </p:cNvCxnSpPr>
          <p:nvPr/>
        </p:nvCxnSpPr>
        <p:spPr>
          <a:xfrm>
            <a:off x="6705600" y="5889709"/>
            <a:ext cx="963991" cy="706429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2E44B95-0FCA-8871-8B2E-057CB9CED7CC}"/>
              </a:ext>
            </a:extLst>
          </p:cNvPr>
          <p:cNvSpPr txBox="1"/>
          <p:nvPr/>
        </p:nvSpPr>
        <p:spPr>
          <a:xfrm>
            <a:off x="5328073" y="5218266"/>
            <a:ext cx="254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X15 = </a:t>
            </a:r>
            <a:r>
              <a:rPr lang="en-US" altLang="ko-KR" sz="4000" dirty="0" err="1">
                <a:highlight>
                  <a:srgbClr val="FFFF00"/>
                </a:highlight>
              </a:rPr>
              <a:t>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1BCADC-E3AE-C1CB-C612-C814B03834FD}"/>
              </a:ext>
            </a:extLst>
          </p:cNvPr>
          <p:cNvSpPr txBox="1"/>
          <p:nvPr/>
        </p:nvSpPr>
        <p:spPr>
          <a:xfrm>
            <a:off x="7708202" y="12225886"/>
            <a:ext cx="1519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i</a:t>
            </a:r>
            <a:r>
              <a:rPr lang="en-US" altLang="ko-KR" sz="4000" dirty="0">
                <a:highlight>
                  <a:srgbClr val="FFFF00"/>
                </a:highlight>
              </a:rPr>
              <a:t>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6DBDB1E-936B-ECA3-D8D3-B8B601664598}"/>
              </a:ext>
            </a:extLst>
          </p:cNvPr>
          <p:cNvCxnSpPr>
            <a:cxnSpLocks/>
          </p:cNvCxnSpPr>
          <p:nvPr/>
        </p:nvCxnSpPr>
        <p:spPr>
          <a:xfrm>
            <a:off x="7872768" y="13106400"/>
            <a:ext cx="143938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88A2A59-A24C-6D34-798C-11E1B1E6D910}"/>
              </a:ext>
            </a:extLst>
          </p:cNvPr>
          <p:cNvCxnSpPr>
            <a:cxnSpLocks/>
          </p:cNvCxnSpPr>
          <p:nvPr/>
        </p:nvCxnSpPr>
        <p:spPr>
          <a:xfrm flipV="1">
            <a:off x="9696121" y="8229600"/>
            <a:ext cx="1048079" cy="48768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E498920-598C-724F-743C-361C7B1D8FFD}"/>
              </a:ext>
            </a:extLst>
          </p:cNvPr>
          <p:cNvSpPr txBox="1"/>
          <p:nvPr/>
        </p:nvSpPr>
        <p:spPr>
          <a:xfrm>
            <a:off x="8468185" y="9963538"/>
            <a:ext cx="1798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[95] = </a:t>
            </a:r>
            <a:r>
              <a:rPr lang="en-US" altLang="ko-KR" sz="4000" dirty="0" err="1">
                <a:highlight>
                  <a:srgbClr val="FFFF00"/>
                </a:highlight>
              </a:rPr>
              <a:t>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5D64DC1-25DD-03B8-8D0B-8E7126848DD5}"/>
              </a:ext>
            </a:extLst>
          </p:cNvPr>
          <p:cNvCxnSpPr>
            <a:cxnSpLocks/>
          </p:cNvCxnSpPr>
          <p:nvPr/>
        </p:nvCxnSpPr>
        <p:spPr>
          <a:xfrm>
            <a:off x="10880092" y="8263665"/>
            <a:ext cx="417587" cy="446173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31C03FE-2821-D7BD-B537-BF04E63A9590}"/>
              </a:ext>
            </a:extLst>
          </p:cNvPr>
          <p:cNvSpPr txBox="1"/>
          <p:nvPr/>
        </p:nvSpPr>
        <p:spPr>
          <a:xfrm>
            <a:off x="11088885" y="10140589"/>
            <a:ext cx="1798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x14 = </a:t>
            </a:r>
            <a:r>
              <a:rPr lang="en-US" altLang="ko-KR" sz="4000" dirty="0" err="1">
                <a:highlight>
                  <a:srgbClr val="FFFF00"/>
                </a:highlight>
              </a:rPr>
              <a:t>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BCDCB3B-38E9-1268-928D-84AD25342982}"/>
              </a:ext>
            </a:extLst>
          </p:cNvPr>
          <p:cNvCxnSpPr>
            <a:cxnSpLocks/>
          </p:cNvCxnSpPr>
          <p:nvPr/>
        </p:nvCxnSpPr>
        <p:spPr>
          <a:xfrm flipH="1" flipV="1">
            <a:off x="13243099" y="5768403"/>
            <a:ext cx="215892" cy="681142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865BD06-8407-FD99-9DDB-8BF977F511B5}"/>
              </a:ext>
            </a:extLst>
          </p:cNvPr>
          <p:cNvSpPr txBox="1"/>
          <p:nvPr/>
        </p:nvSpPr>
        <p:spPr>
          <a:xfrm>
            <a:off x="11043747" y="10122514"/>
            <a:ext cx="1798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x14 = </a:t>
            </a:r>
            <a:r>
              <a:rPr lang="en-US" altLang="ko-KR" sz="4000" dirty="0" err="1">
                <a:highlight>
                  <a:srgbClr val="FFFF00"/>
                </a:highlight>
              </a:rPr>
              <a:t>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E3725F-4822-6979-1E14-133571025F47}"/>
              </a:ext>
            </a:extLst>
          </p:cNvPr>
          <p:cNvSpPr txBox="1"/>
          <p:nvPr/>
        </p:nvSpPr>
        <p:spPr>
          <a:xfrm>
            <a:off x="13351045" y="7591188"/>
            <a:ext cx="214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(1 &lt;= 10)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5206795-9664-9FB5-22BE-37E50786A34C}"/>
              </a:ext>
            </a:extLst>
          </p:cNvPr>
          <p:cNvSpPr/>
          <p:nvPr/>
        </p:nvSpPr>
        <p:spPr>
          <a:xfrm>
            <a:off x="13125101" y="12652948"/>
            <a:ext cx="1239171" cy="70788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0E8CB34C-1490-0BE8-876E-E758005B7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6534" y="388246"/>
            <a:ext cx="6580724" cy="1159104"/>
          </a:xfrm>
          <a:prstGeom prst="rect">
            <a:avLst/>
          </a:prstGeom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7528FE5-572E-F908-6FA3-873F4139BF01}"/>
              </a:ext>
            </a:extLst>
          </p:cNvPr>
          <p:cNvCxnSpPr>
            <a:cxnSpLocks/>
          </p:cNvCxnSpPr>
          <p:nvPr/>
        </p:nvCxnSpPr>
        <p:spPr>
          <a:xfrm flipH="1">
            <a:off x="12387989" y="1504442"/>
            <a:ext cx="78545" cy="13431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BBE420E-1CFA-69B8-CBA5-A29064D46A64}"/>
              </a:ext>
            </a:extLst>
          </p:cNvPr>
          <p:cNvCxnSpPr>
            <a:cxnSpLocks/>
          </p:cNvCxnSpPr>
          <p:nvPr/>
        </p:nvCxnSpPr>
        <p:spPr>
          <a:xfrm flipH="1">
            <a:off x="15140124" y="1553995"/>
            <a:ext cx="3833676" cy="135968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6239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AEF2-0B0E-5469-C6DA-52E52B04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BDDB5F5-129A-4C23-4264-FE5831880D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12F9F63-35C6-3323-3308-644CAE32639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2BA1349-F223-4D37-AEC0-FD595CCC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22048"/>
              </p:ext>
            </p:extLst>
          </p:nvPr>
        </p:nvGraphicFramePr>
        <p:xfrm>
          <a:off x="20506362" y="8019607"/>
          <a:ext cx="3581400" cy="562158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55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026304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5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1C50800-69CE-2270-3309-AD6FE7BEE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40744"/>
              </p:ext>
            </p:extLst>
          </p:nvPr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err="1"/>
                        <a:t>i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Xx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AAAAA4DA-10A8-2893-DA1D-A31E300D659A}"/>
              </a:ext>
            </a:extLst>
          </p:cNvPr>
          <p:cNvSpPr txBox="1"/>
          <p:nvPr/>
        </p:nvSpPr>
        <p:spPr>
          <a:xfrm>
            <a:off x="21531251" y="2559612"/>
            <a:ext cx="21836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2400" b="1" dirty="0"/>
          </a:p>
          <a:p>
            <a:pPr algn="ctr"/>
            <a:r>
              <a:rPr lang="en-US" altLang="ko-KR" sz="2400" b="1" dirty="0"/>
              <a:t>SKIP</a:t>
            </a:r>
          </a:p>
          <a:p>
            <a:pPr algn="ctr"/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97B9E-7B2B-1156-C2DE-E57C9642B9ED}"/>
              </a:ext>
            </a:extLst>
          </p:cNvPr>
          <p:cNvSpPr txBox="1"/>
          <p:nvPr/>
        </p:nvSpPr>
        <p:spPr>
          <a:xfrm>
            <a:off x="21554444" y="4038600"/>
            <a:ext cx="253331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복귀할 주소 </a:t>
            </a:r>
            <a:r>
              <a:rPr lang="en-US" altLang="ko-KR" sz="2400" b="1" dirty="0"/>
              <a:t>Load</a:t>
            </a:r>
          </a:p>
          <a:p>
            <a:pPr algn="ctr"/>
            <a:r>
              <a:rPr lang="en-US" altLang="ko-KR" sz="2400" b="1" dirty="0"/>
              <a:t>Main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없음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D8F26D-93CE-14B4-2A86-2CD69A4F6D6B}"/>
              </a:ext>
            </a:extLst>
          </p:cNvPr>
          <p:cNvSpPr txBox="1"/>
          <p:nvPr/>
        </p:nvSpPr>
        <p:spPr>
          <a:xfrm>
            <a:off x="21554444" y="4934476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S0 </a:t>
            </a:r>
            <a:r>
              <a:rPr lang="ko-KR" altLang="en-US" sz="2400" b="1" dirty="0"/>
              <a:t>반납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2DB9FD-00E6-3B96-3F3A-E5685CAA9931}"/>
              </a:ext>
            </a:extLst>
          </p:cNvPr>
          <p:cNvSpPr txBox="1"/>
          <p:nvPr/>
        </p:nvSpPr>
        <p:spPr>
          <a:xfrm>
            <a:off x="21541190" y="5793515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err="1"/>
              <a:t>Sp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반납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49C663-168B-F3C6-4B14-F423C608C25B}"/>
              </a:ext>
            </a:extLst>
          </p:cNvPr>
          <p:cNvSpPr txBox="1"/>
          <p:nvPr/>
        </p:nvSpPr>
        <p:spPr>
          <a:xfrm>
            <a:off x="21554444" y="6760191"/>
            <a:ext cx="2183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end</a:t>
            </a:r>
            <a:endParaRPr lang="ko-KR" altLang="en-US" sz="2400" b="1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EC8D3621-8B03-DC80-376D-5E206046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2346895"/>
            <a:ext cx="15515946" cy="11013939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314D1053-2870-6FF1-08C0-CA329800F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0" y="2559262"/>
            <a:ext cx="5265143" cy="4832138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6689286D-C60E-2B0B-1BB2-F93E4E9AE8CB}"/>
              </a:ext>
            </a:extLst>
          </p:cNvPr>
          <p:cNvSpPr txBox="1"/>
          <p:nvPr/>
        </p:nvSpPr>
        <p:spPr>
          <a:xfrm>
            <a:off x="6096000" y="3775521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NOP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47DFD4-9604-5C29-18C6-E3030803F96A}"/>
              </a:ext>
            </a:extLst>
          </p:cNvPr>
          <p:cNvSpPr txBox="1"/>
          <p:nvPr/>
        </p:nvSpPr>
        <p:spPr>
          <a:xfrm>
            <a:off x="9172693" y="3813350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15DB76-F427-47E5-C868-2A6B61ADC09E}"/>
              </a:ext>
            </a:extLst>
          </p:cNvPr>
          <p:cNvSpPr txBox="1"/>
          <p:nvPr/>
        </p:nvSpPr>
        <p:spPr>
          <a:xfrm>
            <a:off x="8135006" y="3809178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lw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1BB915-CB82-290B-03D5-A8149DF52E40}"/>
              </a:ext>
            </a:extLst>
          </p:cNvPr>
          <p:cNvSpPr txBox="1"/>
          <p:nvPr/>
        </p:nvSpPr>
        <p:spPr>
          <a:xfrm>
            <a:off x="10284987" y="3846442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addi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B0CE88-EF5A-C952-561C-0E51F05F9D2B}"/>
              </a:ext>
            </a:extLst>
          </p:cNvPr>
          <p:cNvSpPr txBox="1"/>
          <p:nvPr/>
        </p:nvSpPr>
        <p:spPr>
          <a:xfrm>
            <a:off x="11699396" y="3954573"/>
            <a:ext cx="123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end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50695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3024-E8BF-5DEB-FBB2-C5D91878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0032047-C026-F340-326D-5077A111B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A1C5F10F-A145-86FF-D079-1014268DD1F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4. C to Assembler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F4B85BA-7F44-D94D-F9A9-B889030D6A41}"/>
              </a:ext>
            </a:extLst>
          </p:cNvPr>
          <p:cNvGraphicFramePr>
            <a:graphicFrameLocks noGrp="1"/>
          </p:cNvGraphicFramePr>
          <p:nvPr/>
        </p:nvGraphicFramePr>
        <p:xfrm>
          <a:off x="20506362" y="8019607"/>
          <a:ext cx="3581400" cy="562158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9676638"/>
                    </a:ext>
                  </a:extLst>
                </a:gridCol>
                <a:gridCol w="1450694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0" dirty="0"/>
                        <a:t>목적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/>
                        <a:t>value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55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4921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Return</a:t>
                      </a:r>
                      <a:r>
                        <a:rPr lang="ko-KR" altLang="en-US" sz="2800" dirty="0"/>
                        <a:t>주소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916465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1711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A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026304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B</a:t>
                      </a:r>
                      <a:r>
                        <a:rPr lang="ko-KR" altLang="en-US" sz="2800" dirty="0"/>
                        <a:t>인자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/>
                        <a:t>45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5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7B9C19EF-BB3F-0CCA-7401-19C86D430283}"/>
              </a:ext>
            </a:extLst>
          </p:cNvPr>
          <p:cNvGraphicFramePr>
            <a:graphicFrameLocks noGrp="1"/>
          </p:cNvGraphicFramePr>
          <p:nvPr/>
        </p:nvGraphicFramePr>
        <p:xfrm>
          <a:off x="15953754" y="8019607"/>
          <a:ext cx="4191000" cy="5341227"/>
        </p:xfrm>
        <a:graphic>
          <a:graphicData uri="http://schemas.openxmlformats.org/drawingml/2006/table">
            <a:tbl>
              <a:tblPr/>
              <a:tblGrid>
                <a:gridCol w="1184413">
                  <a:extLst>
                    <a:ext uri="{9D8B030D-6E8A-4147-A177-3AD203B41FA5}">
                      <a16:colId xmlns:a16="http://schemas.microsoft.com/office/drawing/2014/main" val="2445856762"/>
                    </a:ext>
                  </a:extLst>
                </a:gridCol>
                <a:gridCol w="1330187">
                  <a:extLst>
                    <a:ext uri="{9D8B030D-6E8A-4147-A177-3AD203B41FA5}">
                      <a16:colId xmlns:a16="http://schemas.microsoft.com/office/drawing/2014/main" val="919269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612017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42294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b="0" dirty="0" err="1"/>
                        <a:t>addr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/>
                        <a:t>목적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7873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x15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err="1"/>
                        <a:t>i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1451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32989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SUM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78653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A+B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06237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x8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4662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x2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SP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Xx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55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/>
                        <a:t>X1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While</a:t>
                      </a:r>
                      <a:r>
                        <a:rPr lang="ko-KR" altLang="en-US" sz="2800" dirty="0" err="1"/>
                        <a:t>문주소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xx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7506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F94E49E-AC50-EB35-98E9-DC1BDC308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6" y="2350208"/>
            <a:ext cx="15548344" cy="10897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A9BF85-F6B4-A590-360F-D9FFFD5B03C0}"/>
              </a:ext>
            </a:extLst>
          </p:cNvPr>
          <p:cNvSpPr txBox="1"/>
          <p:nvPr/>
        </p:nvSpPr>
        <p:spPr>
          <a:xfrm>
            <a:off x="16230600" y="4973118"/>
            <a:ext cx="281940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/>
              <a:t>SUM = 55</a:t>
            </a:r>
          </a:p>
          <a:p>
            <a:pPr algn="ctr"/>
            <a:r>
              <a:rPr lang="en-US" altLang="ko-KR" sz="4400" b="1" dirty="0"/>
              <a:t>I = 11</a:t>
            </a:r>
            <a:endParaRPr lang="ko-KR" altLang="en-US" sz="4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C41806-7E75-458A-1A62-901EAE4CEF00}"/>
              </a:ext>
            </a:extLst>
          </p:cNvPr>
          <p:cNvSpPr/>
          <p:nvPr/>
        </p:nvSpPr>
        <p:spPr>
          <a:xfrm>
            <a:off x="13716000" y="5562600"/>
            <a:ext cx="1239171" cy="70788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04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1318-073A-06A9-5B9C-532371ED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23974B0D-7197-EC11-6EBA-019CBFEF80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9F6DCE0-75DD-B048-7514-92F4CBFC1F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5.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Trouble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shooting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74C7B-31B8-ED33-ADA8-75C6F66B8225}"/>
              </a:ext>
            </a:extLst>
          </p:cNvPr>
          <p:cNvSpPr txBox="1"/>
          <p:nvPr/>
        </p:nvSpPr>
        <p:spPr>
          <a:xfrm>
            <a:off x="1524000" y="3124200"/>
            <a:ext cx="22402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/>
              <a:t>• </a:t>
            </a:r>
            <a:r>
              <a:rPr lang="ko-KR" altLang="en-US" sz="4400" b="1" dirty="0"/>
              <a:t>힘든 점</a:t>
            </a:r>
            <a:r>
              <a:rPr lang="en-US" altLang="ko-KR" sz="4400" b="1" dirty="0"/>
              <a:t>: </a:t>
            </a:r>
          </a:p>
          <a:p>
            <a:r>
              <a:rPr lang="ko-KR" altLang="en-US" sz="4400" dirty="0"/>
              <a:t>누적</a:t>
            </a:r>
            <a:r>
              <a:rPr lang="en-US" altLang="ko-KR" sz="4400" dirty="0"/>
              <a:t> sum </a:t>
            </a:r>
            <a:r>
              <a:rPr lang="en-US" altLang="ko-KR" sz="4400" dirty="0" smtClean="0"/>
              <a:t>program</a:t>
            </a:r>
            <a:r>
              <a:rPr lang="ko-KR" altLang="en-US" sz="4400" dirty="0"/>
              <a:t>을 분석하는 과정에서 전체적인 </a:t>
            </a:r>
            <a:r>
              <a:rPr lang="en-US" altLang="ko-KR" sz="4400" dirty="0"/>
              <a:t>Assembler Code</a:t>
            </a:r>
            <a:r>
              <a:rPr lang="ko-KR" altLang="en-US" sz="4400" dirty="0"/>
              <a:t>구조에 이해가 </a:t>
            </a:r>
            <a:r>
              <a:rPr lang="ko-KR" altLang="en-US" sz="4400" dirty="0" smtClean="0"/>
              <a:t>힘</a:t>
            </a:r>
            <a:r>
              <a:rPr lang="ko-KR" altLang="en-US" sz="4400" dirty="0"/>
              <a:t>듦</a:t>
            </a:r>
            <a:r>
              <a:rPr lang="ko-KR" altLang="en-US" sz="4400" dirty="0" smtClean="0"/>
              <a:t>을 </a:t>
            </a:r>
            <a:r>
              <a:rPr lang="ko-KR" altLang="en-US" sz="4400" dirty="0"/>
              <a:t>느낌</a:t>
            </a:r>
            <a:endParaRPr lang="en-US" altLang="ko-KR" sz="4400" dirty="0"/>
          </a:p>
          <a:p>
            <a:r>
              <a:rPr lang="en-US" altLang="ko-KR" sz="4400" dirty="0"/>
              <a:t>(Register</a:t>
            </a:r>
            <a:r>
              <a:rPr lang="ko-KR" altLang="en-US" sz="4400" dirty="0"/>
              <a:t>와 </a:t>
            </a:r>
            <a:r>
              <a:rPr lang="en-US" altLang="ko-KR" sz="4400" dirty="0"/>
              <a:t>data memory</a:t>
            </a:r>
            <a:r>
              <a:rPr lang="ko-KR" altLang="en-US" sz="4400" dirty="0"/>
              <a:t>을 쓰임새</a:t>
            </a:r>
            <a:r>
              <a:rPr lang="en-US" altLang="ko-KR" sz="4400" dirty="0"/>
              <a:t>, </a:t>
            </a:r>
            <a:r>
              <a:rPr lang="ko-KR" altLang="en-US" sz="4400" dirty="0"/>
              <a:t>함수 호출 시</a:t>
            </a:r>
            <a:r>
              <a:rPr lang="en-US" altLang="ko-KR" sz="4400" dirty="0"/>
              <a:t> </a:t>
            </a:r>
            <a:r>
              <a:rPr lang="ko-KR" altLang="en-US" sz="4400" dirty="0"/>
              <a:t>새로운 스택을 사용</a:t>
            </a:r>
            <a:r>
              <a:rPr lang="en-US" altLang="ko-KR" sz="4400" dirty="0"/>
              <a:t>)</a:t>
            </a:r>
          </a:p>
          <a:p>
            <a:endParaRPr lang="en-US" altLang="ko-KR" sz="4400" dirty="0"/>
          </a:p>
          <a:p>
            <a:r>
              <a:rPr lang="en-US" altLang="ko-KR" sz="4400" b="1" dirty="0"/>
              <a:t>• </a:t>
            </a:r>
            <a:r>
              <a:rPr lang="ko-KR" altLang="en-US" sz="4400" b="1" dirty="0"/>
              <a:t>해결방안</a:t>
            </a:r>
            <a:r>
              <a:rPr lang="en-US" altLang="ko-KR" sz="4400" b="1" dirty="0"/>
              <a:t>:</a:t>
            </a:r>
          </a:p>
          <a:p>
            <a:r>
              <a:rPr lang="en-US" altLang="ko-KR" sz="4400" dirty="0"/>
              <a:t>Data</a:t>
            </a:r>
            <a:r>
              <a:rPr lang="ko-KR" altLang="en-US" sz="4400" dirty="0"/>
              <a:t> </a:t>
            </a:r>
            <a:r>
              <a:rPr lang="en-US" altLang="ko-KR" sz="4400" dirty="0"/>
              <a:t>Flow</a:t>
            </a:r>
            <a:r>
              <a:rPr lang="ko-KR" altLang="en-US" sz="4400" dirty="0"/>
              <a:t>을 분석을 여러 차례 분석을 진행한 결과 규칙적인 쓰임새가 보이기 시작함</a:t>
            </a:r>
            <a:endParaRPr lang="en-US" altLang="ko-KR" sz="4400" dirty="0"/>
          </a:p>
          <a:p>
            <a:r>
              <a:rPr lang="ko-KR" altLang="en-US" sz="4400" dirty="0"/>
              <a:t>규칙성을 바탕으로 위의 문제점을 해결함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252346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4400</Words>
  <Application>Microsoft Office PowerPoint</Application>
  <PresentationFormat>사용자 지정</PresentationFormat>
  <Paragraphs>2617</Paragraphs>
  <Slides>74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2" baseType="lpstr">
      <vt:lpstr>Pretendard Bold</vt:lpstr>
      <vt:lpstr>Pretendard Regular</vt:lpstr>
      <vt:lpstr>Pretendard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248</cp:revision>
  <dcterms:created xsi:type="dcterms:W3CDTF">2006-08-16T00:00:00Z</dcterms:created>
  <dcterms:modified xsi:type="dcterms:W3CDTF">2026-03-17T05:52:10Z</dcterms:modified>
  <cp:version/>
</cp:coreProperties>
</file>