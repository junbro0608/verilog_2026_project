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9" r:id="rId5"/>
    <p:sldId id="273" r:id="rId6"/>
    <p:sldId id="274" r:id="rId7"/>
    <p:sldId id="268" r:id="rId8"/>
    <p:sldId id="272" r:id="rId9"/>
    <p:sldId id="275" r:id="rId10"/>
    <p:sldId id="277" r:id="rId11"/>
    <p:sldId id="278" r:id="rId12"/>
    <p:sldId id="279" r:id="rId13"/>
    <p:sldId id="280" r:id="rId14"/>
    <p:sldId id="270" r:id="rId15"/>
    <p:sldId id="27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0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D625D-AD7D-1BC5-2A69-13CC1DEF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4BCF-4423-C01E-43CC-927C8605C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73901-D311-1034-1B53-224A56CA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85CFC-FE81-A3DF-84B7-8FC26C6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C575A-A5FA-1B52-D3C7-7D37BBB6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DD188-A1D3-E70C-22B9-09FF7132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711EC-CCB0-1CBA-EF05-1C54DF55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A47C8-9A28-047E-8B3D-B59E943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1BDFF-CAD6-144F-7445-5D8FFC5D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5DF67-AC0B-421F-9B29-69F7401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77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286FA-A14C-6278-DD06-06315E10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32F12B-44CF-FDAC-4E75-8AFCF667F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9AED3-8A19-3E05-616D-23D27DF2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F7E7B-504B-20F4-C595-A799435D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B0879-E7F5-F11B-FCDB-25578A4F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19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8759C-C818-1D60-AECE-4083104E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39E4-4BA9-6593-06BA-373919979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3B497-0D86-8201-00A2-C2CDEEE42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725E4-B597-2B6E-7318-6A97A84C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08D474-0CC4-8969-459C-CF4E2A5B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56E44-57EB-F06D-1A08-A5E165F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7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5D6C1-D29B-DF40-AC79-E28180E2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3BB4AF-887C-C71F-76AB-EA81A790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055C49-CB2C-5433-6E78-AAB574A5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DEA60-1B44-6367-5130-AC0F66167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3C98C5-28AC-03FF-16E8-203E9D2EB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D2BF17-4709-B93C-B786-9690FFA7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227546-A2A7-DCBC-5FE3-5E1560FF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DCD8A5-3055-25FB-28FB-95577ADC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9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947C6-C388-427C-9E39-E27E37E6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C1770B-8457-41AF-1FD7-F4F434E8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8818EA-8BA4-842F-DFB6-184A5C9B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860835-AC6E-0CAE-32E4-A11C7DCB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4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5E195A-CE31-BB3C-19E2-0FAF05CD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12F7B3-6A30-C2FB-5AF0-DA3317ED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B28CF-1D5F-5314-0AB4-EEE0014C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97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E0C1-216F-46F5-BBC4-341DDE97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67120-965A-C061-B2FB-3006FC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902373-B50F-0F9F-E943-9E018CE89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2FBB63-1153-79F0-61D2-345EFB14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F1CA20-2C04-1E9F-313A-D220D88B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0BCC77-C806-1FFC-7E04-8A8FBEB5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E1F7E-ACF1-46F4-EF7D-228438D9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C6EB86-01A2-5F64-9D56-ED32CA62A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F2039-52D5-26C5-0DB2-6C1B5D879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0B443-0A01-AC04-BC8E-6139A976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535884-9BEA-A066-AA64-09493750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E3E69-E9C3-D110-AB7A-074E342F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8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6B324-39B5-3D43-2661-F6D163A6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D787C8-BDBA-07EF-4134-299ABD9A8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89616-7BB9-E89D-365F-5EDACF2E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E7605-2B6C-BA97-46FF-38CA1E2C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AC9E4-5159-62B7-3AEB-81C09E31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83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686F7F-0796-DD3A-8B75-F58F05934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3CD355-979B-0C03-A3FD-6D319F72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FDD13-A5E6-E74B-6369-2EE88D88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D8E4A-18C4-B829-32D1-572D837F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65E4B-0D18-E84E-449A-556E0F8B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2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75CB89-6AA0-7C00-4A7B-3702971D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49B4-0B15-6782-62E5-3363B73D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0240F-5677-675A-834E-62A407E27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D3930-65C8-43FA-8080-9609EAB9FD3E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87500-6A3E-50AF-EEA7-CEFB8E89D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7973C-DDC6-E097-806A-5A47F46B5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9B9DB-B8BF-1D23-1CB8-0CE52228F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Rv32i</a:t>
            </a:r>
            <a:br>
              <a:rPr lang="en-US" altLang="ko-KR" dirty="0"/>
            </a:br>
            <a:r>
              <a:rPr lang="en-US" altLang="ko-KR" dirty="0" smtClean="0"/>
              <a:t>S-type &amp; I-type &amp; IL-type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CF16FA-592B-D41B-A891-49ED5BBC2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04629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B/D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289" y="1276126"/>
            <a:ext cx="5673012" cy="523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S-type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6269989" y="3380000"/>
            <a:ext cx="527508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Consolas" panose="020B0609020204030204" pitchFamily="49" charset="0"/>
              </a:rPr>
              <a:t>dmem</a:t>
            </a:r>
            <a:r>
              <a:rPr lang="en-US" altLang="ko-KR" sz="1400" dirty="0">
                <a:latin typeface="Consolas" panose="020B0609020204030204" pitchFamily="49" charset="0"/>
              </a:rPr>
              <a:t>[rs1+imm] &lt;= rs2[</a:t>
            </a:r>
            <a:r>
              <a:rPr lang="en-US" altLang="ko-KR" sz="1400" dirty="0" err="1">
                <a:latin typeface="Consolas" panose="020B0609020204030204" pitchFamily="49" charset="0"/>
              </a:rPr>
              <a:t>Byte,half,word</a:t>
            </a:r>
            <a:r>
              <a:rPr lang="en-US" altLang="ko-KR" sz="1400" dirty="0" smtClean="0">
                <a:latin typeface="Consolas" panose="020B0609020204030204" pitchFamily="49" charset="0"/>
              </a:rPr>
              <a:t>]</a:t>
            </a:r>
          </a:p>
          <a:p>
            <a:endParaRPr lang="en-US" altLang="ko-KR" sz="1400" dirty="0">
              <a:latin typeface="Consolas" panose="020B0609020204030204" pitchFamily="49" charset="0"/>
            </a:endParaRPr>
          </a:p>
          <a:p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1.Daddr</a:t>
            </a:r>
            <a:r>
              <a:rPr lang="ko-KR" altLang="en-US" sz="1400" dirty="0" smtClean="0">
                <a:latin typeface="Consolas" panose="020B0609020204030204" pitchFamily="49" charset="0"/>
              </a:rPr>
              <a:t>는 </a:t>
            </a:r>
            <a:r>
              <a:rPr lang="ko-KR" altLang="en-US" sz="1400" dirty="0" err="1" smtClean="0">
                <a:latin typeface="Consolas" panose="020B0609020204030204" pitchFamily="49" charset="0"/>
              </a:rPr>
              <a:t>합연산으로</a:t>
            </a:r>
            <a:r>
              <a:rPr lang="ko-KR" altLang="en-US" sz="1400" dirty="0" smtClean="0">
                <a:latin typeface="Consolas" panose="020B0609020204030204" pitchFamily="49" charset="0"/>
              </a:rPr>
              <a:t> </a:t>
            </a:r>
            <a:r>
              <a:rPr lang="en-US" altLang="ko-KR" sz="1400" dirty="0" smtClean="0">
                <a:latin typeface="Consolas" panose="020B0609020204030204" pitchFamily="49" charset="0"/>
              </a:rPr>
              <a:t>rs1 +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imm</a:t>
            </a:r>
            <a:r>
              <a:rPr lang="en-US" altLang="ko-KR" sz="1400" dirty="0" smtClean="0">
                <a:latin typeface="Consolas" panose="020B0609020204030204" pitchFamily="49" charset="0"/>
              </a:rPr>
              <a:t> </a:t>
            </a:r>
            <a:r>
              <a:rPr lang="ko-KR" altLang="en-US" sz="1400" dirty="0" smtClean="0">
                <a:latin typeface="Consolas" panose="020B0609020204030204" pitchFamily="49" charset="0"/>
              </a:rPr>
              <a:t>값으로 지정</a:t>
            </a:r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2.Dwdata</a:t>
            </a:r>
            <a:r>
              <a:rPr lang="ko-KR" altLang="en-US" sz="1400" dirty="0" smtClean="0">
                <a:latin typeface="Consolas" panose="020B0609020204030204" pitchFamily="49" charset="0"/>
              </a:rPr>
              <a:t>는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registerfile</a:t>
            </a:r>
            <a:r>
              <a:rPr lang="ko-KR" altLang="en-US" sz="1400" dirty="0" smtClean="0">
                <a:latin typeface="Consolas" panose="020B0609020204030204" pitchFamily="49" charset="0"/>
              </a:rPr>
              <a:t>의 </a:t>
            </a:r>
            <a:r>
              <a:rPr lang="en-US" altLang="ko-KR" sz="1400" dirty="0" smtClean="0">
                <a:latin typeface="Consolas" panose="020B0609020204030204" pitchFamily="49" charset="0"/>
              </a:rPr>
              <a:t>rd2</a:t>
            </a:r>
            <a:r>
              <a:rPr lang="ko-KR" altLang="en-US" sz="1400" dirty="0" smtClean="0">
                <a:latin typeface="Consolas" panose="020B0609020204030204" pitchFamily="49" charset="0"/>
              </a:rPr>
              <a:t>주소 값으로 지정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3.wr_en=1,o_funct3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의해 </a:t>
            </a:r>
            <a:r>
              <a:rPr lang="en-US" altLang="ko-KR" sz="1400" dirty="0" smtClean="0">
                <a:latin typeface="Consolas" panose="020B0609020204030204" pitchFamily="49" charset="0"/>
              </a:rPr>
              <a:t>Data memory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</a:t>
            </a:r>
            <a:r>
              <a:rPr lang="en-US" altLang="ko-KR" sz="1400" dirty="0" smtClean="0">
                <a:latin typeface="Consolas" panose="020B0609020204030204" pitchFamily="49" charset="0"/>
              </a:rPr>
              <a:t>write</a:t>
            </a:r>
            <a:r>
              <a:rPr lang="ko-KR" altLang="en-US" sz="1400" dirty="0" smtClean="0">
                <a:latin typeface="Consolas" panose="020B0609020204030204" pitchFamily="49" charset="0"/>
              </a:rPr>
              <a:t>함</a:t>
            </a:r>
            <a:endParaRPr lang="en-US" altLang="ko-KR" sz="1400" dirty="0" smtClean="0">
              <a:latin typeface="Consolas" panose="020B0609020204030204" pitchFamily="49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559560" y="6137486"/>
          <a:ext cx="942085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143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1584708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[6:0]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rs2[4:0]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06" y="1747443"/>
            <a:ext cx="4195263" cy="3720637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987335"/>
              </p:ext>
            </p:extLst>
          </p:nvPr>
        </p:nvGraphicFramePr>
        <p:xfrm>
          <a:off x="6608904" y="126124"/>
          <a:ext cx="5466256" cy="257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565">
                  <a:extLst>
                    <a:ext uri="{9D8B030D-6E8A-4147-A177-3AD203B41FA5}">
                      <a16:colId xmlns:a16="http://schemas.microsoft.com/office/drawing/2014/main" val="1435910155"/>
                    </a:ext>
                  </a:extLst>
                </a:gridCol>
                <a:gridCol w="977799">
                  <a:extLst>
                    <a:ext uri="{9D8B030D-6E8A-4147-A177-3AD203B41FA5}">
                      <a16:colId xmlns:a16="http://schemas.microsoft.com/office/drawing/2014/main" val="1717399779"/>
                    </a:ext>
                  </a:extLst>
                </a:gridCol>
                <a:gridCol w="388764">
                  <a:extLst>
                    <a:ext uri="{9D8B030D-6E8A-4147-A177-3AD203B41FA5}">
                      <a16:colId xmlns:a16="http://schemas.microsoft.com/office/drawing/2014/main" val="2655426877"/>
                    </a:ext>
                  </a:extLst>
                </a:gridCol>
                <a:gridCol w="653828">
                  <a:extLst>
                    <a:ext uri="{9D8B030D-6E8A-4147-A177-3AD203B41FA5}">
                      <a16:colId xmlns:a16="http://schemas.microsoft.com/office/drawing/2014/main" val="3928887188"/>
                    </a:ext>
                  </a:extLst>
                </a:gridCol>
                <a:gridCol w="712735">
                  <a:extLst>
                    <a:ext uri="{9D8B030D-6E8A-4147-A177-3AD203B41FA5}">
                      <a16:colId xmlns:a16="http://schemas.microsoft.com/office/drawing/2014/main" val="3781211957"/>
                    </a:ext>
                  </a:extLst>
                </a:gridCol>
                <a:gridCol w="1366565">
                  <a:extLst>
                    <a:ext uri="{9D8B030D-6E8A-4147-A177-3AD203B41FA5}">
                      <a16:colId xmlns:a16="http://schemas.microsoft.com/office/drawing/2014/main" val="2988210066"/>
                    </a:ext>
                  </a:extLst>
                </a:gridCol>
              </a:tblGrid>
              <a:tr h="3794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9684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44207"/>
                  </a:ext>
                </a:extLst>
              </a:tr>
              <a:tr h="337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alu_src_sel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20563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rf_wd_sel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86889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alu_ctrl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funct7[5],funct3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428756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o_fun</a:t>
                      </a:r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2982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dwe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7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808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S-type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8103561" y="1260358"/>
            <a:ext cx="39686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>
                <a:latin typeface="Consolas" panose="020B0609020204030204" pitchFamily="49" charset="0"/>
              </a:rPr>
              <a:t>동작 과정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altLang="ko-KR" sz="1200" dirty="0" err="1" smtClean="0">
                <a:latin typeface="Consolas" panose="020B0609020204030204" pitchFamily="49" charset="0"/>
              </a:rPr>
              <a:t>dwe</a:t>
            </a:r>
            <a:r>
              <a:rPr lang="en-US" altLang="ko-KR" sz="1200" dirty="0" smtClean="0">
                <a:latin typeface="Consolas" panose="020B0609020204030204" pitchFamily="49" charset="0"/>
              </a:rPr>
              <a:t> = 1 </a:t>
            </a:r>
            <a:r>
              <a:rPr lang="ko-KR" altLang="en-US" sz="1200" dirty="0" err="1" smtClean="0">
                <a:latin typeface="Consolas" panose="020B0609020204030204" pitchFamily="49" charset="0"/>
              </a:rPr>
              <a:t>일때</a:t>
            </a:r>
            <a:r>
              <a:rPr lang="ko-KR" altLang="en-US" sz="1200" dirty="0" smtClean="0"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latin typeface="Consolas" panose="020B0609020204030204" pitchFamily="49" charset="0"/>
              </a:rPr>
              <a:t>write </a:t>
            </a:r>
            <a:r>
              <a:rPr lang="ko-KR" altLang="en-US" sz="1200" dirty="0" smtClean="0">
                <a:latin typeface="Consolas" panose="020B0609020204030204" pitchFamily="49" charset="0"/>
              </a:rPr>
              <a:t>선택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altLang="ko-KR" sz="1200" dirty="0" smtClean="0">
                <a:latin typeface="Consolas" panose="020B0609020204030204" pitchFamily="49" charset="0"/>
              </a:rPr>
              <a:t>i_funct3</a:t>
            </a:r>
            <a:r>
              <a:rPr lang="ko-KR" altLang="en-US" sz="1200" dirty="0" smtClean="0">
                <a:latin typeface="Consolas" panose="020B0609020204030204" pitchFamily="49" charset="0"/>
              </a:rPr>
              <a:t>로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byte,halt-word,word</a:t>
            </a:r>
            <a:r>
              <a:rPr lang="ko-KR" altLang="en-US" sz="1200" dirty="0" smtClean="0">
                <a:latin typeface="Consolas" panose="020B0609020204030204" pitchFamily="49" charset="0"/>
              </a:rPr>
              <a:t>구분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3.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ko-KR" altLang="en-US" sz="1200" dirty="0" smtClean="0">
                <a:latin typeface="Consolas" panose="020B0609020204030204" pitchFamily="49" charset="0"/>
              </a:rPr>
              <a:t>를 활용하여 </a:t>
            </a:r>
            <a:r>
              <a:rPr lang="en-US" altLang="ko-KR" sz="1200" dirty="0" smtClean="0">
                <a:latin typeface="Consolas" panose="020B0609020204030204" pitchFamily="49" charset="0"/>
              </a:rPr>
              <a:t>byte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주소 선택 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------------------------------------------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FNC3_SB :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en-US" altLang="ko-KR" sz="1200" dirty="0" smtClean="0">
                <a:latin typeface="Consolas" panose="020B0609020204030204" pitchFamily="49" charset="0"/>
              </a:rPr>
              <a:t>[1:0]</a:t>
            </a:r>
            <a:r>
              <a:rPr lang="ko-KR" altLang="en-US" sz="12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200" dirty="0" smtClean="0">
                <a:latin typeface="Consolas" panose="020B0609020204030204" pitchFamily="49" charset="0"/>
              </a:rPr>
              <a:t>byte 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지정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</a:t>
            </a:r>
            <a:r>
              <a:rPr lang="en-US" altLang="ko-KR" sz="1200" dirty="0">
                <a:latin typeface="Consolas" panose="020B0609020204030204" pitchFamily="49" charset="0"/>
              </a:rPr>
              <a:t>C</a:t>
            </a:r>
            <a:r>
              <a:rPr lang="en-US" altLang="ko-KR" sz="1200" dirty="0" smtClean="0">
                <a:latin typeface="Consolas" panose="020B0609020204030204" pitchFamily="49" charset="0"/>
              </a:rPr>
              <a:t>3_SH :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en-US" altLang="ko-KR" sz="1200" dirty="0" smtClean="0">
                <a:latin typeface="Consolas" panose="020B0609020204030204" pitchFamily="49" charset="0"/>
              </a:rPr>
              <a:t>[1] </a:t>
            </a:r>
            <a:r>
              <a:rPr lang="ko-KR" altLang="en-US" sz="12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200" dirty="0" smtClean="0">
                <a:latin typeface="Consolas" panose="020B0609020204030204" pitchFamily="49" charset="0"/>
              </a:rPr>
              <a:t>half-word 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지정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FNC3_SW : </a:t>
            </a:r>
            <a:r>
              <a:rPr lang="ko-KR" altLang="en-US" sz="1200" dirty="0" smtClean="0">
                <a:latin typeface="Consolas" panose="020B0609020204030204" pitchFamily="49" charset="0"/>
              </a:rPr>
              <a:t>전체 </a:t>
            </a:r>
            <a:r>
              <a:rPr lang="en-US" altLang="ko-KR" sz="1200" dirty="0" smtClean="0">
                <a:latin typeface="Consolas" panose="020B0609020204030204" pitchFamily="49" charset="0"/>
              </a:rPr>
              <a:t>data</a:t>
            </a:r>
            <a:r>
              <a:rPr lang="ko-KR" altLang="en-US" sz="1200" dirty="0" smtClean="0">
                <a:latin typeface="Consolas" panose="020B0609020204030204" pitchFamily="49" charset="0"/>
              </a:rPr>
              <a:t>를 지정</a:t>
            </a:r>
            <a:endParaRPr lang="en-US" altLang="ko-KR" sz="1200" dirty="0" smtClean="0">
              <a:latin typeface="Consolas" panose="020B0609020204030204" pitchFamily="49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829423"/>
              </p:ext>
            </p:extLst>
          </p:nvPr>
        </p:nvGraphicFramePr>
        <p:xfrm>
          <a:off x="1559560" y="6137486"/>
          <a:ext cx="942085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143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  <a:gridCol w="1570143">
                  <a:extLst>
                    <a:ext uri="{9D8B030D-6E8A-4147-A177-3AD203B41FA5}">
                      <a16:colId xmlns:a16="http://schemas.microsoft.com/office/drawing/2014/main" val="1584708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[6:0]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rs2[4:0]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18" y="1690688"/>
            <a:ext cx="4195263" cy="37206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051" y="734456"/>
            <a:ext cx="2875876" cy="4991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26199" y="193028"/>
            <a:ext cx="2339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Data_mem</a:t>
            </a:r>
            <a:r>
              <a:rPr lang="en-US" altLang="ko-KR" dirty="0" smtClean="0"/>
              <a:t> module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7739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S-type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30" y="1577792"/>
            <a:ext cx="2298849" cy="168487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320777" y="1579745"/>
            <a:ext cx="83922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초기화</a:t>
            </a:r>
            <a:endParaRPr lang="en-US" altLang="ko-KR" dirty="0" smtClean="0"/>
          </a:p>
          <a:p>
            <a:r>
              <a:rPr lang="en-US" altLang="ko-KR" dirty="0" err="1" smtClean="0"/>
              <a:t>reg_file</a:t>
            </a:r>
            <a:r>
              <a:rPr lang="en-US" altLang="ko-KR" dirty="0" smtClean="0"/>
              <a:t> : </a:t>
            </a:r>
            <a:r>
              <a:rPr lang="en-US" altLang="ko-KR" dirty="0" err="1" smtClean="0"/>
              <a:t>register_file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주소값과</a:t>
            </a:r>
            <a:r>
              <a:rPr lang="ko-KR" altLang="en-US" dirty="0" smtClean="0"/>
              <a:t> 동일한 값을 입력</a:t>
            </a:r>
            <a:endParaRPr lang="en-US" altLang="ko-KR" dirty="0" smtClean="0"/>
          </a:p>
          <a:p>
            <a:r>
              <a:rPr lang="en-US" altLang="ko-KR" dirty="0" err="1" smtClean="0"/>
              <a:t>dmem</a:t>
            </a:r>
            <a:r>
              <a:rPr lang="en-US" altLang="ko-KR" dirty="0" smtClean="0"/>
              <a:t>  : </a:t>
            </a:r>
            <a:r>
              <a:rPr lang="en-US" altLang="ko-KR" dirty="0" err="1" smtClean="0"/>
              <a:t>data_memor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32’ffff_ffff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채워넣어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byte 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write</a:t>
            </a:r>
            <a:r>
              <a:rPr lang="ko-KR" altLang="en-US" dirty="0" smtClean="0"/>
              <a:t>가 되는지 확인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096000" y="3336386"/>
            <a:ext cx="561702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시나리오</a:t>
            </a:r>
            <a:endParaRPr lang="en-US" altLang="ko-KR" dirty="0" smtClean="0"/>
          </a:p>
          <a:p>
            <a:r>
              <a:rPr lang="en-US" altLang="ko-KR" dirty="0" err="1" smtClean="0"/>
              <a:t>reg_file</a:t>
            </a:r>
            <a:r>
              <a:rPr lang="en-US" altLang="ko-KR" dirty="0" smtClean="0"/>
              <a:t>[28~31]</a:t>
            </a:r>
            <a:r>
              <a:rPr lang="ko-KR" altLang="en-US" dirty="0" smtClean="0"/>
              <a:t>에 값을 활용해 </a:t>
            </a:r>
            <a:r>
              <a:rPr lang="en-US" altLang="ko-KR" dirty="0" err="1" smtClean="0"/>
              <a:t>wirte</a:t>
            </a:r>
            <a:r>
              <a:rPr lang="en-US" altLang="ko-KR" dirty="0" smtClean="0"/>
              <a:t> </a:t>
            </a:r>
            <a:r>
              <a:rPr lang="ko-KR" altLang="en-US" dirty="0" smtClean="0"/>
              <a:t>진행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아래 </a:t>
            </a:r>
            <a:r>
              <a:rPr lang="en-US" altLang="ko-KR" dirty="0" smtClean="0"/>
              <a:t>part</a:t>
            </a:r>
            <a:r>
              <a:rPr lang="ko-KR" altLang="en-US" dirty="0" smtClean="0"/>
              <a:t>마다 </a:t>
            </a:r>
            <a:r>
              <a:rPr lang="en-US" altLang="ko-KR" dirty="0" err="1" smtClean="0"/>
              <a:t>reg_file</a:t>
            </a:r>
            <a:r>
              <a:rPr lang="en-US" altLang="ko-KR" dirty="0" smtClean="0"/>
              <a:t>[31</a:t>
            </a:r>
            <a:r>
              <a:rPr lang="en-US" altLang="ko-KR" dirty="0" smtClean="0">
                <a:sym typeface="Wingdings" panose="05000000000000000000" pitchFamily="2" charset="2"/>
              </a:rPr>
              <a:t></a:t>
            </a:r>
            <a:r>
              <a:rPr lang="en-US" altLang="ko-KR" dirty="0" smtClean="0"/>
              <a:t>30</a:t>
            </a:r>
            <a:r>
              <a:rPr lang="en-US" altLang="ko-KR" dirty="0" smtClean="0">
                <a:sym typeface="Wingdings" panose="05000000000000000000" pitchFamily="2" charset="2"/>
              </a:rPr>
              <a:t>2928</a:t>
            </a:r>
            <a:r>
              <a:rPr lang="en-US" altLang="ko-KR" dirty="0" smtClean="0"/>
              <a:t>]</a:t>
            </a:r>
            <a:r>
              <a:rPr lang="ko-KR" altLang="en-US" dirty="0" smtClean="0"/>
              <a:t>순으로 입력</a:t>
            </a:r>
            <a:endParaRPr lang="en-US" altLang="ko-KR" dirty="0" smtClean="0"/>
          </a:p>
          <a:p>
            <a:r>
              <a:rPr lang="ko-KR" altLang="en-US" dirty="0" smtClean="0"/>
              <a:t>아래 </a:t>
            </a:r>
            <a:r>
              <a:rPr lang="en-US" altLang="ko-KR" dirty="0" smtClean="0"/>
              <a:t>part</a:t>
            </a:r>
            <a:r>
              <a:rPr lang="ko-KR" altLang="en-US" dirty="0" smtClean="0"/>
              <a:t>마다 </a:t>
            </a:r>
            <a:r>
              <a:rPr lang="en-US" altLang="ko-KR" dirty="0" err="1" smtClean="0"/>
              <a:t>Low_byte</a:t>
            </a:r>
            <a:r>
              <a:rPr lang="ko-KR" altLang="en-US" dirty="0" smtClean="0"/>
              <a:t>부터 순차 </a:t>
            </a:r>
            <a:r>
              <a:rPr lang="en-US" altLang="ko-KR" dirty="0" smtClean="0"/>
              <a:t>write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1.instr[0~3] : byte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write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2.instr[4~7] : half-word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write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3.instr[8~11] : word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write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87" y="3336386"/>
            <a:ext cx="5761014" cy="309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4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S-type simulation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027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IL-type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6702954" y="3406107"/>
            <a:ext cx="455510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Consolas" panose="020B0609020204030204" pitchFamily="49" charset="0"/>
              </a:rPr>
              <a:t>rd</a:t>
            </a:r>
            <a:r>
              <a:rPr lang="en-US" altLang="ko-KR" sz="1400" dirty="0">
                <a:latin typeface="Consolas" panose="020B0609020204030204" pitchFamily="49" charset="0"/>
              </a:rPr>
              <a:t> &lt;=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Dmem</a:t>
            </a:r>
            <a:r>
              <a:rPr lang="en-US" altLang="ko-KR" sz="1400" dirty="0" smtClean="0">
                <a:latin typeface="Consolas" panose="020B0609020204030204" pitchFamily="49" charset="0"/>
              </a:rPr>
              <a:t>[rs1+imm]</a:t>
            </a:r>
          </a:p>
          <a:p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1.Daddr</a:t>
            </a:r>
            <a:r>
              <a:rPr lang="ko-KR" altLang="en-US" sz="1400" dirty="0">
                <a:latin typeface="Consolas" panose="020B0609020204030204" pitchFamily="49" charset="0"/>
              </a:rPr>
              <a:t>는 </a:t>
            </a:r>
            <a:r>
              <a:rPr lang="ko-KR" altLang="en-US" sz="1400" dirty="0" err="1">
                <a:latin typeface="Consolas" panose="020B0609020204030204" pitchFamily="49" charset="0"/>
              </a:rPr>
              <a:t>합연산으로</a:t>
            </a:r>
            <a:r>
              <a:rPr lang="ko-KR" altLang="en-US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rs1 + </a:t>
            </a:r>
            <a:r>
              <a:rPr lang="en-US" altLang="ko-KR" sz="1400" dirty="0" err="1">
                <a:latin typeface="Consolas" panose="020B0609020204030204" pitchFamily="49" charset="0"/>
              </a:rPr>
              <a:t>imm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latin typeface="Consolas" panose="020B0609020204030204" pitchFamily="49" charset="0"/>
              </a:rPr>
              <a:t>값으로 </a:t>
            </a:r>
            <a:r>
              <a:rPr lang="ko-KR" altLang="en-US" sz="1400" dirty="0" smtClean="0">
                <a:latin typeface="Consolas" panose="020B0609020204030204" pitchFamily="49" charset="0"/>
              </a:rPr>
              <a:t>지정</a:t>
            </a:r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2.Drdata</a:t>
            </a:r>
            <a:r>
              <a:rPr lang="ko-KR" altLang="en-US" sz="1400" dirty="0">
                <a:latin typeface="Consolas" panose="020B0609020204030204" pitchFamily="49" charset="0"/>
              </a:rPr>
              <a:t>는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wr_en</a:t>
            </a:r>
            <a:r>
              <a:rPr lang="en-US" altLang="ko-KR" sz="1400" dirty="0" smtClean="0">
                <a:latin typeface="Consolas" panose="020B0609020204030204" pitchFamily="49" charset="0"/>
              </a:rPr>
              <a:t>=1,o_funct3</a:t>
            </a:r>
            <a:r>
              <a:rPr lang="ko-KR" altLang="en-US" sz="1400" dirty="0">
                <a:latin typeface="Consolas" panose="020B0609020204030204" pitchFamily="49" charset="0"/>
              </a:rPr>
              <a:t>에 의해 </a:t>
            </a:r>
            <a:r>
              <a:rPr lang="en-US" altLang="ko-KR" sz="1400" dirty="0" smtClean="0">
                <a:latin typeface="Consolas" panose="020B0609020204030204" pitchFamily="49" charset="0"/>
              </a:rPr>
              <a:t>read</a:t>
            </a: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3.registerfile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</a:t>
            </a:r>
            <a:r>
              <a:rPr lang="en-US" altLang="ko-KR" sz="1400" dirty="0" smtClean="0">
                <a:latin typeface="Consolas" panose="020B0609020204030204" pitchFamily="49" charset="0"/>
              </a:rPr>
              <a:t>write</a:t>
            </a:r>
            <a:r>
              <a:rPr lang="ko-KR" altLang="en-US" sz="1400" dirty="0" smtClean="0">
                <a:latin typeface="Consolas" panose="020B0609020204030204" pitchFamily="49" charset="0"/>
              </a:rPr>
              <a:t>함</a:t>
            </a:r>
            <a:endParaRPr lang="en-US" altLang="ko-KR" sz="1400" dirty="0">
              <a:latin typeface="Consolas" panose="020B0609020204030204" pitchFamily="49" charset="0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308440"/>
              </p:ext>
            </p:extLst>
          </p:nvPr>
        </p:nvGraphicFramePr>
        <p:xfrm>
          <a:off x="2153920" y="61679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[11:0]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rd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812570"/>
              </p:ext>
            </p:extLst>
          </p:nvPr>
        </p:nvGraphicFramePr>
        <p:xfrm>
          <a:off x="6483010" y="126124"/>
          <a:ext cx="5592150" cy="257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038">
                  <a:extLst>
                    <a:ext uri="{9D8B030D-6E8A-4147-A177-3AD203B41FA5}">
                      <a16:colId xmlns:a16="http://schemas.microsoft.com/office/drawing/2014/main" val="1435910155"/>
                    </a:ext>
                  </a:extLst>
                </a:gridCol>
                <a:gridCol w="1000319">
                  <a:extLst>
                    <a:ext uri="{9D8B030D-6E8A-4147-A177-3AD203B41FA5}">
                      <a16:colId xmlns:a16="http://schemas.microsoft.com/office/drawing/2014/main" val="1717399779"/>
                    </a:ext>
                  </a:extLst>
                </a:gridCol>
                <a:gridCol w="397718">
                  <a:extLst>
                    <a:ext uri="{9D8B030D-6E8A-4147-A177-3AD203B41FA5}">
                      <a16:colId xmlns:a16="http://schemas.microsoft.com/office/drawing/2014/main" val="2655426877"/>
                    </a:ext>
                  </a:extLst>
                </a:gridCol>
                <a:gridCol w="668887">
                  <a:extLst>
                    <a:ext uri="{9D8B030D-6E8A-4147-A177-3AD203B41FA5}">
                      <a16:colId xmlns:a16="http://schemas.microsoft.com/office/drawing/2014/main" val="3928887188"/>
                    </a:ext>
                  </a:extLst>
                </a:gridCol>
                <a:gridCol w="729150">
                  <a:extLst>
                    <a:ext uri="{9D8B030D-6E8A-4147-A177-3AD203B41FA5}">
                      <a16:colId xmlns:a16="http://schemas.microsoft.com/office/drawing/2014/main" val="3781211957"/>
                    </a:ext>
                  </a:extLst>
                </a:gridCol>
                <a:gridCol w="1398038">
                  <a:extLst>
                    <a:ext uri="{9D8B030D-6E8A-4147-A177-3AD203B41FA5}">
                      <a16:colId xmlns:a16="http://schemas.microsoft.com/office/drawing/2014/main" val="2988210066"/>
                    </a:ext>
                  </a:extLst>
                </a:gridCol>
              </a:tblGrid>
              <a:tr h="3794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9684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44207"/>
                  </a:ext>
                </a:extLst>
              </a:tr>
              <a:tr h="337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alu_src_sel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20563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rf_wd_sel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86889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alu_ctrl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funct7[5],funct3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428756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o_fun</a:t>
                      </a:r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2982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dwe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7147"/>
                  </a:ext>
                </a:extLst>
              </a:tr>
            </a:tbl>
          </a:graphicData>
        </a:graphic>
      </p:graphicFrame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7" y="1520903"/>
            <a:ext cx="4629141" cy="415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1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IL-type</a:t>
            </a:r>
            <a:endParaRPr lang="ko-KR" altLang="en-US" dirty="0"/>
          </a:p>
        </p:txBody>
      </p:sp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2153920" y="61679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[11:0]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rd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094" y="1542661"/>
            <a:ext cx="2882868" cy="45460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66" y="0"/>
            <a:ext cx="2809924" cy="80021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96298" y="764380"/>
            <a:ext cx="39940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.</a:t>
            </a:r>
            <a:endParaRPr lang="en-US" altLang="ko-KR" sz="1400" dirty="0" smtClean="0"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103561" y="1260358"/>
            <a:ext cx="396862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>
                <a:latin typeface="Consolas" panose="020B0609020204030204" pitchFamily="49" charset="0"/>
              </a:rPr>
              <a:t>동작 과정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altLang="ko-KR" sz="1200" dirty="0" err="1" smtClean="0">
                <a:latin typeface="Consolas" panose="020B0609020204030204" pitchFamily="49" charset="0"/>
              </a:rPr>
              <a:t>dwe</a:t>
            </a:r>
            <a:r>
              <a:rPr lang="en-US" altLang="ko-KR" sz="1200" dirty="0" smtClean="0">
                <a:latin typeface="Consolas" panose="020B0609020204030204" pitchFamily="49" charset="0"/>
              </a:rPr>
              <a:t> = 0 </a:t>
            </a:r>
            <a:r>
              <a:rPr lang="ko-KR" altLang="en-US" sz="1200" dirty="0" err="1" smtClean="0">
                <a:latin typeface="Consolas" panose="020B0609020204030204" pitchFamily="49" charset="0"/>
              </a:rPr>
              <a:t>일때</a:t>
            </a:r>
            <a:r>
              <a:rPr lang="ko-KR" altLang="en-US" sz="1200" dirty="0" smtClean="0"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latin typeface="Consolas" panose="020B0609020204030204" pitchFamily="49" charset="0"/>
              </a:rPr>
              <a:t>read </a:t>
            </a:r>
            <a:r>
              <a:rPr lang="ko-KR" altLang="en-US" sz="1200" dirty="0" smtClean="0">
                <a:latin typeface="Consolas" panose="020B0609020204030204" pitchFamily="49" charset="0"/>
              </a:rPr>
              <a:t>선택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altLang="ko-KR" sz="1200" dirty="0" smtClean="0">
                <a:latin typeface="Consolas" panose="020B0609020204030204" pitchFamily="49" charset="0"/>
              </a:rPr>
              <a:t>i_funct3</a:t>
            </a:r>
            <a:r>
              <a:rPr lang="ko-KR" altLang="en-US" sz="1200" dirty="0" smtClean="0">
                <a:latin typeface="Consolas" panose="020B0609020204030204" pitchFamily="49" charset="0"/>
              </a:rPr>
              <a:t>로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byte,halt-word,word</a:t>
            </a:r>
            <a:r>
              <a:rPr lang="ko-KR" altLang="en-US" sz="1200" dirty="0" smtClean="0">
                <a:latin typeface="Consolas" panose="020B0609020204030204" pitchFamily="49" charset="0"/>
              </a:rPr>
              <a:t>구분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3.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ko-KR" altLang="en-US" sz="1200" dirty="0" smtClean="0">
                <a:latin typeface="Consolas" panose="020B0609020204030204" pitchFamily="49" charset="0"/>
              </a:rPr>
              <a:t>를 활용하여 </a:t>
            </a:r>
            <a:r>
              <a:rPr lang="en-US" altLang="ko-KR" sz="1200" dirty="0" smtClean="0">
                <a:latin typeface="Consolas" panose="020B0609020204030204" pitchFamily="49" charset="0"/>
              </a:rPr>
              <a:t>read</a:t>
            </a:r>
            <a:r>
              <a:rPr lang="ko-KR" altLang="en-US" sz="1200" dirty="0" smtClean="0">
                <a:latin typeface="Consolas" panose="020B0609020204030204" pitchFamily="49" charset="0"/>
              </a:rPr>
              <a:t>할 부분 선택 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------------------------------------------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FNC3_LB :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en-US" altLang="ko-KR" sz="1200" dirty="0" smtClean="0">
                <a:latin typeface="Consolas" panose="020B0609020204030204" pitchFamily="49" charset="0"/>
              </a:rPr>
              <a:t>[1:0]</a:t>
            </a:r>
            <a:r>
              <a:rPr lang="ko-KR" altLang="en-US" sz="12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200" dirty="0" smtClean="0">
                <a:latin typeface="Consolas" panose="020B0609020204030204" pitchFamily="49" charset="0"/>
              </a:rPr>
              <a:t>byte 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지정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latin typeface="Consolas" panose="020B0609020204030204" pitchFamily="49" charset="0"/>
              </a:rPr>
              <a:t>         signed</a:t>
            </a:r>
            <a:r>
              <a:rPr lang="ko-KR" altLang="en-US" sz="1200" dirty="0">
                <a:latin typeface="Consolas" panose="020B0609020204030204" pitchFamily="49" charset="0"/>
              </a:rPr>
              <a:t>형 </a:t>
            </a:r>
            <a:r>
              <a:rPr lang="ko-KR" altLang="en-US" sz="1200" dirty="0" smtClean="0">
                <a:latin typeface="Consolas" panose="020B0609020204030204" pitchFamily="49" charset="0"/>
              </a:rPr>
              <a:t>출력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FNC3_LH :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daddr</a:t>
            </a:r>
            <a:r>
              <a:rPr lang="en-US" altLang="ko-KR" sz="1200" dirty="0" smtClean="0">
                <a:latin typeface="Consolas" panose="020B0609020204030204" pitchFamily="49" charset="0"/>
              </a:rPr>
              <a:t>[1] </a:t>
            </a:r>
            <a:r>
              <a:rPr lang="ko-KR" altLang="en-US" sz="12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200" dirty="0" smtClean="0">
                <a:latin typeface="Consolas" panose="020B0609020204030204" pitchFamily="49" charset="0"/>
              </a:rPr>
              <a:t>half-word </a:t>
            </a:r>
            <a:r>
              <a:rPr lang="ko-KR" altLang="en-US" sz="1200" dirty="0" smtClean="0">
                <a:latin typeface="Consolas" panose="020B0609020204030204" pitchFamily="49" charset="0"/>
              </a:rPr>
              <a:t>단위 지정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latin typeface="Consolas" panose="020B0609020204030204" pitchFamily="49" charset="0"/>
              </a:rPr>
              <a:t>         signed</a:t>
            </a:r>
            <a:r>
              <a:rPr lang="ko-KR" altLang="en-US" sz="1200" dirty="0">
                <a:latin typeface="Consolas" panose="020B0609020204030204" pitchFamily="49" charset="0"/>
              </a:rPr>
              <a:t>형 </a:t>
            </a:r>
            <a:r>
              <a:rPr lang="ko-KR" altLang="en-US" sz="1200" dirty="0" smtClean="0">
                <a:latin typeface="Consolas" panose="020B0609020204030204" pitchFamily="49" charset="0"/>
              </a:rPr>
              <a:t>출력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FNC3_LW : </a:t>
            </a:r>
            <a:r>
              <a:rPr lang="ko-KR" altLang="en-US" sz="1200" dirty="0" smtClean="0">
                <a:latin typeface="Consolas" panose="020B0609020204030204" pitchFamily="49" charset="0"/>
              </a:rPr>
              <a:t>전체 </a:t>
            </a:r>
            <a:r>
              <a:rPr lang="en-US" altLang="ko-KR" sz="1200" dirty="0" smtClean="0">
                <a:latin typeface="Consolas" panose="020B0609020204030204" pitchFamily="49" charset="0"/>
              </a:rPr>
              <a:t>data</a:t>
            </a:r>
            <a:r>
              <a:rPr lang="ko-KR" altLang="en-US" sz="1200" dirty="0" smtClean="0">
                <a:latin typeface="Consolas" panose="020B0609020204030204" pitchFamily="49" charset="0"/>
              </a:rPr>
              <a:t>를 지정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          signed</a:t>
            </a:r>
            <a:r>
              <a:rPr lang="ko-KR" altLang="en-US" sz="1200" dirty="0">
                <a:latin typeface="Consolas" panose="020B0609020204030204" pitchFamily="49" charset="0"/>
              </a:rPr>
              <a:t>형 </a:t>
            </a:r>
            <a:r>
              <a:rPr lang="ko-KR" altLang="en-US" sz="1200" dirty="0" smtClean="0">
                <a:latin typeface="Consolas" panose="020B0609020204030204" pitchFamily="49" charset="0"/>
              </a:rPr>
              <a:t>출력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FNC3_LBU: </a:t>
            </a:r>
            <a:r>
              <a:rPr lang="en-US" altLang="ko-KR" sz="1200" dirty="0" err="1">
                <a:latin typeface="Consolas" panose="020B0609020204030204" pitchFamily="49" charset="0"/>
              </a:rPr>
              <a:t>daddr</a:t>
            </a:r>
            <a:r>
              <a:rPr lang="en-US" altLang="ko-KR" sz="1200" dirty="0">
                <a:latin typeface="Consolas" panose="020B0609020204030204" pitchFamily="49" charset="0"/>
              </a:rPr>
              <a:t>[1:0]</a:t>
            </a:r>
            <a:r>
              <a:rPr lang="ko-KR" altLang="en-US" sz="1200" dirty="0">
                <a:latin typeface="Consolas" panose="020B0609020204030204" pitchFamily="49" charset="0"/>
              </a:rPr>
              <a:t>의해 </a:t>
            </a:r>
            <a:r>
              <a:rPr lang="en-US" altLang="ko-KR" sz="1200" dirty="0">
                <a:latin typeface="Consolas" panose="020B0609020204030204" pitchFamily="49" charset="0"/>
              </a:rPr>
              <a:t>byte </a:t>
            </a:r>
            <a:r>
              <a:rPr lang="ko-KR" altLang="en-US" sz="1200" dirty="0">
                <a:latin typeface="Consolas" panose="020B0609020204030204" pitchFamily="49" charset="0"/>
              </a:rPr>
              <a:t>단위 지정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          unsigned</a:t>
            </a:r>
            <a:r>
              <a:rPr lang="ko-KR" altLang="en-US" sz="1200" dirty="0" smtClean="0">
                <a:latin typeface="Consolas" panose="020B0609020204030204" pitchFamily="49" charset="0"/>
              </a:rPr>
              <a:t>형 출력</a:t>
            </a:r>
            <a:endParaRPr lang="en-US" altLang="ko-KR" sz="1200" dirty="0" smtClean="0">
              <a:latin typeface="Consolas" panose="020B0609020204030204" pitchFamily="49" charset="0"/>
            </a:endParaRP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FNC3_LHU: </a:t>
            </a:r>
            <a:r>
              <a:rPr lang="en-US" altLang="ko-KR" sz="1200" dirty="0" err="1">
                <a:latin typeface="Consolas" panose="020B0609020204030204" pitchFamily="49" charset="0"/>
              </a:rPr>
              <a:t>daddr</a:t>
            </a:r>
            <a:r>
              <a:rPr lang="en-US" altLang="ko-KR" sz="1200" dirty="0">
                <a:latin typeface="Consolas" panose="020B0609020204030204" pitchFamily="49" charset="0"/>
              </a:rPr>
              <a:t>[1] </a:t>
            </a:r>
            <a:r>
              <a:rPr lang="ko-KR" altLang="en-US" sz="1200" dirty="0">
                <a:latin typeface="Consolas" panose="020B0609020204030204" pitchFamily="49" charset="0"/>
              </a:rPr>
              <a:t>의해 </a:t>
            </a:r>
            <a:r>
              <a:rPr lang="en-US" altLang="ko-KR" sz="1200" dirty="0">
                <a:latin typeface="Consolas" panose="020B0609020204030204" pitchFamily="49" charset="0"/>
              </a:rPr>
              <a:t>half-word </a:t>
            </a:r>
            <a:r>
              <a:rPr lang="ko-KR" altLang="en-US" sz="1200" dirty="0">
                <a:latin typeface="Consolas" panose="020B0609020204030204" pitchFamily="49" charset="0"/>
              </a:rPr>
              <a:t>단위 지정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          unsigned</a:t>
            </a:r>
            <a:r>
              <a:rPr lang="ko-KR" altLang="en-US" sz="1200" dirty="0">
                <a:latin typeface="Consolas" panose="020B0609020204030204" pitchFamily="49" charset="0"/>
              </a:rPr>
              <a:t>형 </a:t>
            </a:r>
            <a:r>
              <a:rPr lang="ko-KR" altLang="en-US" sz="1200" dirty="0" smtClean="0">
                <a:latin typeface="Consolas" panose="020B0609020204030204" pitchFamily="49" charset="0"/>
              </a:rPr>
              <a:t>출력</a:t>
            </a:r>
            <a:endParaRPr lang="en-US" altLang="ko-KR" sz="1200" dirty="0">
              <a:latin typeface="Consolas" panose="020B0609020204030204" pitchFamily="49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" y="1996751"/>
            <a:ext cx="4175419" cy="374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2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75" y="1501290"/>
            <a:ext cx="6091880" cy="50870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IL-type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066" y="0"/>
            <a:ext cx="2675934" cy="160235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621079" y="1787036"/>
            <a:ext cx="533163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시나리오</a:t>
            </a:r>
            <a:r>
              <a:rPr lang="en-US" altLang="ko-KR" dirty="0" smtClean="0"/>
              <a:t>]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[0]</a:t>
            </a:r>
            <a:r>
              <a:rPr lang="ko-KR" altLang="en-US" dirty="0" smtClean="0"/>
              <a:t>에 값을 활용해 </a:t>
            </a:r>
            <a:r>
              <a:rPr lang="en-US" altLang="ko-KR" dirty="0"/>
              <a:t> </a:t>
            </a:r>
            <a:r>
              <a:rPr lang="en-US" altLang="ko-KR" dirty="0" smtClean="0"/>
              <a:t>byte </a:t>
            </a:r>
            <a:r>
              <a:rPr lang="ko-KR" altLang="en-US" dirty="0" smtClean="0"/>
              <a:t>단위 </a:t>
            </a:r>
            <a:r>
              <a:rPr lang="en-US" altLang="ko-KR" dirty="0" err="1" smtClean="0"/>
              <a:t>wirte</a:t>
            </a:r>
            <a:r>
              <a:rPr lang="en-US" altLang="ko-KR" dirty="0" smtClean="0"/>
              <a:t> </a:t>
            </a:r>
            <a:r>
              <a:rPr lang="ko-KR" altLang="en-US" dirty="0" smtClean="0"/>
              <a:t>진행 및 </a:t>
            </a:r>
            <a:r>
              <a:rPr lang="en-US" altLang="ko-KR" dirty="0" err="1" smtClean="0"/>
              <a:t>signed,unsigned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동작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imm</a:t>
            </a:r>
            <a:r>
              <a:rPr lang="ko-KR" altLang="en-US" dirty="0"/>
              <a:t> 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byte</a:t>
            </a:r>
            <a:r>
              <a:rPr lang="ko-KR" altLang="en-US" dirty="0" smtClean="0"/>
              <a:t>단위 동작</a:t>
            </a:r>
            <a:r>
              <a:rPr lang="en-US" altLang="ko-KR" dirty="0" smtClean="0"/>
              <a:t>,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rs1   : word address</a:t>
            </a:r>
            <a:r>
              <a:rPr lang="ko-KR" altLang="en-US" dirty="0" smtClean="0"/>
              <a:t>단위 동작 사용</a:t>
            </a:r>
            <a:endParaRPr lang="en-US" altLang="ko-KR" dirty="0" smtClean="0"/>
          </a:p>
          <a:p>
            <a:r>
              <a:rPr lang="en-US" altLang="ko-KR" dirty="0"/>
              <a:t>3</a:t>
            </a:r>
            <a:r>
              <a:rPr lang="en-US" altLang="ko-KR" dirty="0" smtClean="0"/>
              <a:t>.  register[5</a:t>
            </a:r>
            <a:r>
              <a:rPr lang="en-US" altLang="ko-KR" dirty="0" smtClean="0"/>
              <a:t>]</a:t>
            </a:r>
            <a:r>
              <a:rPr lang="ko-KR" altLang="en-US" dirty="0" smtClean="0"/>
              <a:t>에 잘 들어갔는지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r>
              <a:rPr lang="en-US" altLang="ko-KR" dirty="0" smtClean="0"/>
              <a:t>------------------------------------------------------</a:t>
            </a:r>
            <a:endParaRPr lang="en-US" altLang="ko-KR" dirty="0"/>
          </a:p>
          <a:p>
            <a:r>
              <a:rPr lang="en-US" altLang="ko-KR" dirty="0" smtClean="0"/>
              <a:t>1.instr[0~3] : </a:t>
            </a:r>
          </a:p>
          <a:p>
            <a:r>
              <a:rPr lang="en-US" altLang="ko-KR" dirty="0" smtClean="0"/>
              <a:t>	LB (byte 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low-byte</a:t>
            </a:r>
            <a:r>
              <a:rPr lang="ko-KR" altLang="en-US" dirty="0" smtClean="0"/>
              <a:t>부터 순차 </a:t>
            </a:r>
            <a:r>
              <a:rPr lang="en-US" altLang="ko-KR" dirty="0" smtClean="0"/>
              <a:t>read)</a:t>
            </a:r>
            <a:endParaRPr lang="en-US" altLang="ko-KR" dirty="0"/>
          </a:p>
          <a:p>
            <a:r>
              <a:rPr lang="en-US" altLang="ko-KR" dirty="0" smtClean="0"/>
              <a:t>2.instr[4~7] : 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LH(half </a:t>
            </a:r>
            <a:r>
              <a:rPr lang="ko-KR" altLang="en-US" dirty="0"/>
              <a:t>단위 </a:t>
            </a:r>
            <a:r>
              <a:rPr lang="en-US" altLang="ko-KR" dirty="0"/>
              <a:t>low-byte</a:t>
            </a:r>
            <a:r>
              <a:rPr lang="ko-KR" altLang="en-US" dirty="0"/>
              <a:t>부터 순차 </a:t>
            </a:r>
            <a:r>
              <a:rPr lang="en-US" altLang="ko-KR" dirty="0"/>
              <a:t>read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en-US" altLang="ko-KR" dirty="0" smtClean="0"/>
              <a:t>3.instr[8~11] : 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LW(word </a:t>
            </a:r>
            <a:r>
              <a:rPr lang="ko-KR" altLang="en-US" dirty="0"/>
              <a:t>단위 </a:t>
            </a:r>
            <a:r>
              <a:rPr lang="en-US" altLang="ko-KR" dirty="0"/>
              <a:t>low-byte</a:t>
            </a:r>
            <a:r>
              <a:rPr lang="ko-KR" altLang="en-US" dirty="0"/>
              <a:t>부터 순차 </a:t>
            </a:r>
            <a:r>
              <a:rPr lang="en-US" altLang="ko-KR" dirty="0" smtClean="0"/>
              <a:t>read)</a:t>
            </a:r>
          </a:p>
          <a:p>
            <a:r>
              <a:rPr lang="en-US" altLang="ko-KR" dirty="0" smtClean="0"/>
              <a:t>4.instr[12~15]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LBU(</a:t>
            </a:r>
            <a:r>
              <a:rPr lang="en-US" altLang="ko-KR" dirty="0"/>
              <a:t>byte</a:t>
            </a:r>
            <a:r>
              <a:rPr lang="en-US" altLang="ko-KR" dirty="0" smtClean="0"/>
              <a:t> </a:t>
            </a:r>
            <a:r>
              <a:rPr lang="ko-KR" altLang="en-US" dirty="0"/>
              <a:t>단위 </a:t>
            </a:r>
            <a:r>
              <a:rPr lang="en-US" altLang="ko-KR" dirty="0"/>
              <a:t>low-byte</a:t>
            </a:r>
            <a:r>
              <a:rPr lang="ko-KR" altLang="en-US" dirty="0"/>
              <a:t>부터 순차 </a:t>
            </a:r>
            <a:r>
              <a:rPr lang="en-US" altLang="ko-KR" dirty="0"/>
              <a:t>read)</a:t>
            </a:r>
            <a:endParaRPr lang="ko-KR" altLang="en-US" dirty="0"/>
          </a:p>
          <a:p>
            <a:r>
              <a:rPr lang="en-US" altLang="ko-KR" dirty="0" smtClean="0"/>
              <a:t>5.instr[16~19]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LHU(</a:t>
            </a:r>
            <a:r>
              <a:rPr lang="en-US" altLang="ko-KR" dirty="0"/>
              <a:t>half</a:t>
            </a:r>
            <a:r>
              <a:rPr lang="en-US" altLang="ko-KR" dirty="0" smtClean="0"/>
              <a:t> </a:t>
            </a:r>
            <a:r>
              <a:rPr lang="ko-KR" altLang="en-US" dirty="0"/>
              <a:t>단위 </a:t>
            </a:r>
            <a:r>
              <a:rPr lang="en-US" altLang="ko-KR" dirty="0"/>
              <a:t>low-byte</a:t>
            </a:r>
            <a:r>
              <a:rPr lang="ko-KR" altLang="en-US" dirty="0"/>
              <a:t>부터 순차 </a:t>
            </a:r>
            <a:r>
              <a:rPr lang="en-US" altLang="ko-KR" dirty="0"/>
              <a:t>read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811624" y="2183363"/>
            <a:ext cx="3897924" cy="51007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680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IL-type simulation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4006"/>
            <a:ext cx="12192000" cy="2372056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933336"/>
              </p:ext>
            </p:extLst>
          </p:nvPr>
        </p:nvGraphicFramePr>
        <p:xfrm>
          <a:off x="6599850" y="0"/>
          <a:ext cx="5592150" cy="257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038">
                  <a:extLst>
                    <a:ext uri="{9D8B030D-6E8A-4147-A177-3AD203B41FA5}">
                      <a16:colId xmlns:a16="http://schemas.microsoft.com/office/drawing/2014/main" val="1435910155"/>
                    </a:ext>
                  </a:extLst>
                </a:gridCol>
                <a:gridCol w="1000319">
                  <a:extLst>
                    <a:ext uri="{9D8B030D-6E8A-4147-A177-3AD203B41FA5}">
                      <a16:colId xmlns:a16="http://schemas.microsoft.com/office/drawing/2014/main" val="1717399779"/>
                    </a:ext>
                  </a:extLst>
                </a:gridCol>
                <a:gridCol w="397718">
                  <a:extLst>
                    <a:ext uri="{9D8B030D-6E8A-4147-A177-3AD203B41FA5}">
                      <a16:colId xmlns:a16="http://schemas.microsoft.com/office/drawing/2014/main" val="2655426877"/>
                    </a:ext>
                  </a:extLst>
                </a:gridCol>
                <a:gridCol w="668887">
                  <a:extLst>
                    <a:ext uri="{9D8B030D-6E8A-4147-A177-3AD203B41FA5}">
                      <a16:colId xmlns:a16="http://schemas.microsoft.com/office/drawing/2014/main" val="3928887188"/>
                    </a:ext>
                  </a:extLst>
                </a:gridCol>
                <a:gridCol w="729150">
                  <a:extLst>
                    <a:ext uri="{9D8B030D-6E8A-4147-A177-3AD203B41FA5}">
                      <a16:colId xmlns:a16="http://schemas.microsoft.com/office/drawing/2014/main" val="3781211957"/>
                    </a:ext>
                  </a:extLst>
                </a:gridCol>
                <a:gridCol w="1398038">
                  <a:extLst>
                    <a:ext uri="{9D8B030D-6E8A-4147-A177-3AD203B41FA5}">
                      <a16:colId xmlns:a16="http://schemas.microsoft.com/office/drawing/2014/main" val="2988210066"/>
                    </a:ext>
                  </a:extLst>
                </a:gridCol>
              </a:tblGrid>
              <a:tr h="3794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9684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44207"/>
                  </a:ext>
                </a:extLst>
              </a:tr>
              <a:tr h="337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alu_src_sel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20563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rf_wd_sel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86889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alu_ctrl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funct7[5],funct3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428756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o_fun</a:t>
                      </a:r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2982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dwe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71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167" y="5279057"/>
            <a:ext cx="6351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[</a:t>
            </a:r>
            <a:r>
              <a:rPr lang="en-US" altLang="ko-KR" dirty="0" err="1" smtClean="0"/>
              <a:t>control_unit</a:t>
            </a:r>
            <a:r>
              <a:rPr lang="en-US" altLang="ko-KR" dirty="0" smtClean="0"/>
              <a:t>]</a:t>
            </a:r>
          </a:p>
          <a:p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ctrl_unit</a:t>
            </a:r>
            <a:r>
              <a:rPr lang="ko-KR" altLang="en-US" dirty="0" smtClean="0"/>
              <a:t>의 제어 신호가 </a:t>
            </a:r>
            <a:r>
              <a:rPr lang="ko-KR" altLang="en-US" dirty="0" err="1" smtClean="0"/>
              <a:t>정상정을로</a:t>
            </a:r>
            <a:r>
              <a:rPr lang="ko-KR" altLang="en-US" dirty="0" smtClean="0"/>
              <a:t> 출력되는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o_funct3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i_funct3</a:t>
            </a:r>
            <a:r>
              <a:rPr lang="ko-KR" altLang="en-US" dirty="0" smtClean="0"/>
              <a:t>를 출력하는 것을 확인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21160" y="3284376"/>
            <a:ext cx="93928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/>
              <a:t>IL_type</a:t>
            </a:r>
            <a:endParaRPr lang="ko-KR" alt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2121159" y="3519482"/>
            <a:ext cx="93928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2121158" y="3760034"/>
            <a:ext cx="93928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2121158" y="3994746"/>
            <a:ext cx="93928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2121160" y="4240967"/>
            <a:ext cx="9392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ADD</a:t>
            </a:r>
            <a:endParaRPr lang="ko-KR" alt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2121159" y="4475679"/>
            <a:ext cx="9392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input funct3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2121159" y="4727188"/>
            <a:ext cx="9392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cxnSp>
        <p:nvCxnSpPr>
          <p:cNvPr id="22" name="직선 화살표 연결선 21"/>
          <p:cNvCxnSpPr/>
          <p:nvPr/>
        </p:nvCxnSpPr>
        <p:spPr>
          <a:xfrm flipV="1">
            <a:off x="3060439" y="167951"/>
            <a:ext cx="5984034" cy="392507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795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IL-type simulation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40555" y="4640424"/>
            <a:ext cx="59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322" y="797116"/>
            <a:ext cx="2276793" cy="556337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3281"/>
            <a:ext cx="9522372" cy="18862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541" y="4359494"/>
            <a:ext cx="115176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LB sim</a:t>
            </a:r>
            <a:endParaRPr lang="ko-KR" alt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4269302" y="4359493"/>
            <a:ext cx="131169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LH sim</a:t>
            </a:r>
            <a:endParaRPr lang="ko-KR" alt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5584146" y="4359492"/>
            <a:ext cx="131169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LW sim</a:t>
            </a:r>
            <a:endParaRPr lang="ko-KR" alt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6898990" y="4359491"/>
            <a:ext cx="131169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LBU sim</a:t>
            </a:r>
            <a:endParaRPr lang="ko-KR" alt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212257" y="4358546"/>
            <a:ext cx="131169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LHU sim</a:t>
            </a:r>
            <a:endParaRPr lang="ko-KR" alt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1233036" y="3244346"/>
            <a:ext cx="115176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 smtClean="0"/>
              <a:t>register_src</a:t>
            </a:r>
            <a:endParaRPr lang="ko-KR" alt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1233036" y="3490093"/>
            <a:ext cx="115176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 smtClean="0"/>
              <a:t>imm_src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1331166" y="5279057"/>
            <a:ext cx="8254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[</a:t>
            </a:r>
            <a:r>
              <a:rPr lang="en-US" altLang="ko-KR" dirty="0" smtClean="0"/>
              <a:t>ALU</a:t>
            </a:r>
            <a:r>
              <a:rPr lang="en-US" altLang="ko-KR" dirty="0" smtClean="0"/>
              <a:t>]</a:t>
            </a:r>
          </a:p>
          <a:p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각 </a:t>
            </a:r>
            <a:r>
              <a:rPr lang="en-US" altLang="ko-KR" dirty="0" smtClean="0"/>
              <a:t>part simulation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b(</a:t>
            </a:r>
            <a:r>
              <a:rPr lang="en-US" altLang="ko-KR" dirty="0" err="1" smtClean="0"/>
              <a:t>imm_src</a:t>
            </a:r>
            <a:r>
              <a:rPr lang="en-US" altLang="ko-KR" dirty="0" smtClean="0"/>
              <a:t>)</a:t>
            </a:r>
            <a:r>
              <a:rPr lang="ko-KR" altLang="en-US" dirty="0" smtClean="0"/>
              <a:t>값</a:t>
            </a:r>
            <a:r>
              <a:rPr lang="ko-KR" altLang="en-US" dirty="0"/>
              <a:t>이</a:t>
            </a:r>
            <a:r>
              <a:rPr lang="ko-KR" altLang="en-US" dirty="0" smtClean="0"/>
              <a:t> </a:t>
            </a:r>
            <a:r>
              <a:rPr lang="en-US" altLang="ko-KR" dirty="0" smtClean="0"/>
              <a:t>0~3</a:t>
            </a:r>
            <a:r>
              <a:rPr lang="ko-KR" altLang="en-US" dirty="0" smtClean="0"/>
              <a:t>으로 순차 입력되는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각 </a:t>
            </a:r>
            <a:r>
              <a:rPr lang="en-US" altLang="ko-KR" dirty="0" smtClean="0"/>
              <a:t>part </a:t>
            </a:r>
            <a:r>
              <a:rPr lang="en-US" altLang="ko-KR" dirty="0" err="1" smtClean="0"/>
              <a:t>simulatio</a:t>
            </a:r>
            <a:r>
              <a:rPr lang="ko-KR" altLang="en-US" dirty="0" smtClean="0"/>
              <a:t>마다 </a:t>
            </a:r>
            <a:r>
              <a:rPr lang="en-US" altLang="ko-KR" dirty="0" err="1" smtClean="0"/>
              <a:t>alu_resul</a:t>
            </a:r>
            <a:r>
              <a:rPr lang="ko-KR" altLang="en-US" dirty="0" smtClean="0"/>
              <a:t>값이 </a:t>
            </a:r>
            <a:r>
              <a:rPr lang="en-US" altLang="ko-KR" dirty="0" smtClean="0"/>
              <a:t>0~3</a:t>
            </a:r>
            <a:r>
              <a:rPr lang="ko-KR" altLang="en-US" dirty="0" smtClean="0"/>
              <a:t>으로 순차 출력되는 것을 확인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245792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IL-type simulation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40555" y="4640424"/>
            <a:ext cx="59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8395"/>
            <a:ext cx="12192000" cy="2374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7471" y="4218286"/>
            <a:ext cx="84812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[</a:t>
            </a:r>
            <a:r>
              <a:rPr lang="en-US" altLang="ko-KR" dirty="0" err="1" smtClean="0"/>
              <a:t>Dmem</a:t>
            </a:r>
            <a:r>
              <a:rPr lang="en-US" altLang="ko-KR" dirty="0" smtClean="0"/>
              <a:t>] (LB byte 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signed read </a:t>
            </a:r>
            <a:r>
              <a:rPr lang="ko-KR" altLang="en-US" dirty="0" smtClean="0"/>
              <a:t>동작 확인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[0+0] = 8’h01	</a:t>
            </a:r>
            <a:r>
              <a:rPr lang="en-US" altLang="ko-KR" dirty="0" smtClean="0">
                <a:sym typeface="Wingdings" panose="05000000000000000000" pitchFamily="2" charset="2"/>
              </a:rPr>
              <a:t>  32’b00_00_00_01</a:t>
            </a:r>
            <a:endParaRPr lang="en-US" altLang="ko-KR" dirty="0" smtClean="0"/>
          </a:p>
          <a:p>
            <a:pPr marL="342900" indent="-342900">
              <a:buFontTx/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[0+1] </a:t>
            </a:r>
            <a:r>
              <a:rPr lang="en-US" altLang="ko-KR" dirty="0"/>
              <a:t>= </a:t>
            </a:r>
            <a:r>
              <a:rPr lang="en-US" altLang="ko-KR" dirty="0" smtClean="0"/>
              <a:t>8’hf2</a:t>
            </a: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  </a:t>
            </a:r>
            <a:r>
              <a:rPr lang="en-US" altLang="ko-KR" dirty="0" smtClean="0">
                <a:sym typeface="Wingdings" panose="05000000000000000000" pitchFamily="2" charset="2"/>
              </a:rPr>
              <a:t>32’bff_ff_ff_f2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[0+2] </a:t>
            </a:r>
            <a:r>
              <a:rPr lang="en-US" altLang="ko-KR" dirty="0"/>
              <a:t>= </a:t>
            </a:r>
            <a:r>
              <a:rPr lang="en-US" altLang="ko-KR" dirty="0" smtClean="0"/>
              <a:t>8’hf3</a:t>
            </a: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  </a:t>
            </a:r>
            <a:r>
              <a:rPr lang="en-US" altLang="ko-KR" dirty="0" smtClean="0">
                <a:sym typeface="Wingdings" panose="05000000000000000000" pitchFamily="2" charset="2"/>
              </a:rPr>
              <a:t>32’bff_ff_ff_f3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[0+3] </a:t>
            </a:r>
            <a:r>
              <a:rPr lang="en-US" altLang="ko-KR" dirty="0"/>
              <a:t>= </a:t>
            </a:r>
            <a:r>
              <a:rPr lang="en-US" altLang="ko-KR" dirty="0" smtClean="0"/>
              <a:t>8’h04</a:t>
            </a: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  </a:t>
            </a:r>
            <a:r>
              <a:rPr lang="en-US" altLang="ko-KR" dirty="0" smtClean="0">
                <a:sym typeface="Wingdings" panose="05000000000000000000" pitchFamily="2" charset="2"/>
              </a:rPr>
              <a:t>32’b00_00_00_04</a:t>
            </a:r>
          </a:p>
          <a:p>
            <a:pPr marL="342900" indent="-342900">
              <a:buFontTx/>
              <a:buAutoNum type="arabicPeriod"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smtClean="0"/>
              <a:t>LB</a:t>
            </a:r>
            <a:r>
              <a:rPr lang="ko-KR" altLang="en-US" dirty="0" smtClean="0"/>
              <a:t>동작에서 </a:t>
            </a:r>
            <a:r>
              <a:rPr lang="en-US" altLang="ko-KR" dirty="0" smtClean="0"/>
              <a:t>byte</a:t>
            </a:r>
            <a:r>
              <a:rPr lang="ko-KR" altLang="en-US" dirty="0" smtClean="0"/>
              <a:t>단위 동작 확인</a:t>
            </a:r>
            <a:endParaRPr lang="en-US" altLang="ko-KR" dirty="0"/>
          </a:p>
          <a:p>
            <a:r>
              <a:rPr lang="ko-KR" altLang="en-US" dirty="0" smtClean="0"/>
              <a:t>지정 </a:t>
            </a:r>
            <a:r>
              <a:rPr lang="en-US" altLang="ko-KR" dirty="0" err="1" smtClean="0"/>
              <a:t>byte_datad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MSB</a:t>
            </a:r>
            <a:r>
              <a:rPr lang="ko-KR" altLang="en-US" dirty="0" smtClean="0"/>
              <a:t>에 맞추어 상위 비트</a:t>
            </a:r>
            <a:r>
              <a:rPr lang="en-US" altLang="ko-KR" dirty="0" smtClean="0"/>
              <a:t>[31:8]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채워 </a:t>
            </a:r>
            <a:r>
              <a:rPr lang="en-US" altLang="ko-KR" dirty="0" smtClean="0"/>
              <a:t>singed </a:t>
            </a:r>
            <a:r>
              <a:rPr lang="ko-KR" altLang="en-US" dirty="0" smtClean="0"/>
              <a:t>동작 확인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1954924" y="2665296"/>
            <a:ext cx="1282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0 = read</a:t>
            </a:r>
            <a:endParaRPr lang="ko-KR" alt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1954925" y="3896957"/>
            <a:ext cx="1282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[0] = 04_f3_f2_01</a:t>
            </a:r>
            <a:endParaRPr lang="ko-KR" alt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1954925" y="2407535"/>
            <a:ext cx="12820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LB </a:t>
            </a:r>
            <a:r>
              <a:rPr lang="ko-KR" altLang="en-US" sz="1000" dirty="0" smtClean="0"/>
              <a:t>동작</a:t>
            </a:r>
            <a:endParaRPr lang="ko-KR" alt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1954924" y="2923057"/>
            <a:ext cx="1282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0~3 </a:t>
            </a:r>
            <a:r>
              <a:rPr lang="ko-KR" altLang="en-US" sz="1000" dirty="0" smtClean="0"/>
              <a:t>순차 </a:t>
            </a:r>
            <a:r>
              <a:rPr lang="en-US" altLang="ko-KR" sz="1000" dirty="0" smtClean="0"/>
              <a:t>address</a:t>
            </a:r>
            <a:endParaRPr lang="ko-KR" alt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1954924" y="3558992"/>
            <a:ext cx="1282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read data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9299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9432"/>
            <a:ext cx="12192000" cy="25037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IL-type simulation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40555" y="4640424"/>
            <a:ext cx="59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7471" y="4218286"/>
            <a:ext cx="84812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[</a:t>
            </a:r>
            <a:r>
              <a:rPr lang="en-US" altLang="ko-KR" dirty="0" err="1" smtClean="0"/>
              <a:t>Dmem</a:t>
            </a:r>
            <a:r>
              <a:rPr lang="en-US" altLang="ko-KR" dirty="0" smtClean="0"/>
              <a:t>] (LH byte 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signed read </a:t>
            </a:r>
            <a:r>
              <a:rPr lang="ko-KR" altLang="en-US" dirty="0" smtClean="0"/>
              <a:t>동작 확인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[0+0] = 16’hf2_01	</a:t>
            </a:r>
            <a:r>
              <a:rPr lang="en-US" altLang="ko-KR" dirty="0" smtClean="0">
                <a:sym typeface="Wingdings" panose="05000000000000000000" pitchFamily="2" charset="2"/>
              </a:rPr>
              <a:t>  32’bff_ff_f2_01</a:t>
            </a:r>
            <a:endParaRPr lang="en-US" altLang="ko-KR" dirty="0" smtClean="0"/>
          </a:p>
          <a:p>
            <a:pPr marL="342900" indent="-342900">
              <a:buFontTx/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[0+1] </a:t>
            </a:r>
            <a:r>
              <a:rPr lang="en-US" altLang="ko-KR" dirty="0"/>
              <a:t>= </a:t>
            </a:r>
            <a:r>
              <a:rPr lang="en-US" altLang="ko-KR" dirty="0" smtClean="0"/>
              <a:t>16’hf2_01</a:t>
            </a: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  </a:t>
            </a:r>
            <a:r>
              <a:rPr lang="en-US" altLang="ko-KR" dirty="0" smtClean="0">
                <a:sym typeface="Wingdings" panose="05000000000000000000" pitchFamily="2" charset="2"/>
              </a:rPr>
              <a:t>32’bff_ff_f2_01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[0+2] </a:t>
            </a:r>
            <a:r>
              <a:rPr lang="en-US" altLang="ko-KR" dirty="0"/>
              <a:t>= </a:t>
            </a:r>
            <a:r>
              <a:rPr lang="en-US" altLang="ko-KR" dirty="0" smtClean="0"/>
              <a:t>16’h04_f3</a:t>
            </a: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  </a:t>
            </a:r>
            <a:r>
              <a:rPr lang="en-US" altLang="ko-KR" dirty="0" smtClean="0">
                <a:sym typeface="Wingdings" panose="05000000000000000000" pitchFamily="2" charset="2"/>
              </a:rPr>
              <a:t>32’b00_00_04_f3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 err="1" smtClean="0"/>
              <a:t>dmem</a:t>
            </a:r>
            <a:r>
              <a:rPr lang="en-US" altLang="ko-KR" dirty="0" smtClean="0"/>
              <a:t>[0+3] </a:t>
            </a:r>
            <a:r>
              <a:rPr lang="en-US" altLang="ko-KR" dirty="0"/>
              <a:t>= </a:t>
            </a:r>
            <a:r>
              <a:rPr lang="en-US" altLang="ko-KR" dirty="0" smtClean="0"/>
              <a:t>16’h04_f3</a:t>
            </a:r>
            <a:r>
              <a:rPr lang="en-US" altLang="ko-KR" dirty="0"/>
              <a:t>	</a:t>
            </a:r>
            <a:r>
              <a:rPr lang="en-US" altLang="ko-KR">
                <a:sym typeface="Wingdings" panose="05000000000000000000" pitchFamily="2" charset="2"/>
              </a:rPr>
              <a:t>  </a:t>
            </a:r>
            <a:r>
              <a:rPr lang="en-US" altLang="ko-KR" smtClean="0">
                <a:sym typeface="Wingdings" panose="05000000000000000000" pitchFamily="2" charset="2"/>
              </a:rPr>
              <a:t>32’b00_00_04_f3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342900" indent="-342900">
              <a:buFontTx/>
              <a:buAutoNum type="arabicPeriod"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smtClean="0"/>
              <a:t>LB</a:t>
            </a:r>
            <a:r>
              <a:rPr lang="ko-KR" altLang="en-US" dirty="0" smtClean="0"/>
              <a:t>동작에서 </a:t>
            </a:r>
            <a:r>
              <a:rPr lang="en-US" altLang="ko-KR" dirty="0" smtClean="0"/>
              <a:t>byte</a:t>
            </a:r>
            <a:r>
              <a:rPr lang="ko-KR" altLang="en-US" dirty="0" smtClean="0"/>
              <a:t>단위 동작 확인</a:t>
            </a:r>
            <a:endParaRPr lang="en-US" altLang="ko-KR" dirty="0"/>
          </a:p>
          <a:p>
            <a:r>
              <a:rPr lang="ko-KR" altLang="en-US" dirty="0" smtClean="0"/>
              <a:t>지정 </a:t>
            </a:r>
            <a:r>
              <a:rPr lang="en-US" altLang="ko-KR" dirty="0" err="1" smtClean="0"/>
              <a:t>byte_datad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MSB</a:t>
            </a:r>
            <a:r>
              <a:rPr lang="ko-KR" altLang="en-US" dirty="0" smtClean="0"/>
              <a:t>에 맞추어 상위 비트</a:t>
            </a:r>
            <a:r>
              <a:rPr lang="en-US" altLang="ko-KR" dirty="0" smtClean="0"/>
              <a:t>[31:8]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채워 </a:t>
            </a:r>
            <a:r>
              <a:rPr lang="en-US" altLang="ko-KR" dirty="0" smtClean="0"/>
              <a:t>singed </a:t>
            </a:r>
            <a:r>
              <a:rPr lang="ko-KR" altLang="en-US" dirty="0" smtClean="0"/>
              <a:t>동작 확인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1954924" y="2601728"/>
            <a:ext cx="1282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0 = read</a:t>
            </a:r>
            <a:endParaRPr lang="ko-KR" alt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1954925" y="3896957"/>
            <a:ext cx="1282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[0] = 04_f3_f2_01</a:t>
            </a:r>
            <a:endParaRPr lang="ko-KR" alt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1954924" y="2258411"/>
            <a:ext cx="12820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LH </a:t>
            </a:r>
            <a:r>
              <a:rPr lang="ko-KR" altLang="en-US" sz="1000" dirty="0" smtClean="0"/>
              <a:t>동작</a:t>
            </a:r>
            <a:endParaRPr lang="ko-KR" alt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1954924" y="2900773"/>
            <a:ext cx="1282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0~3 </a:t>
            </a:r>
            <a:r>
              <a:rPr lang="ko-KR" altLang="en-US" sz="1000" dirty="0" smtClean="0"/>
              <a:t>순차 </a:t>
            </a:r>
            <a:r>
              <a:rPr lang="en-US" altLang="ko-KR" sz="1000" dirty="0" smtClean="0"/>
              <a:t>address</a:t>
            </a:r>
            <a:endParaRPr lang="ko-KR" alt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1954924" y="3558992"/>
            <a:ext cx="1282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read data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131646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I-type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24589"/>
              </p:ext>
            </p:extLst>
          </p:nvPr>
        </p:nvGraphicFramePr>
        <p:xfrm>
          <a:off x="2186940" y="5962226"/>
          <a:ext cx="85750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imm</a:t>
                      </a:r>
                      <a:r>
                        <a:rPr lang="en-US" altLang="ko-KR" dirty="0" smtClean="0"/>
                        <a:t>[11:0]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rd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085334"/>
              </p:ext>
            </p:extLst>
          </p:nvPr>
        </p:nvGraphicFramePr>
        <p:xfrm>
          <a:off x="2186939" y="6333066"/>
          <a:ext cx="857504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174">
                  <a:extLst>
                    <a:ext uri="{9D8B030D-6E8A-4147-A177-3AD203B41FA5}">
                      <a16:colId xmlns:a16="http://schemas.microsoft.com/office/drawing/2014/main" val="1836436819"/>
                    </a:ext>
                  </a:extLst>
                </a:gridCol>
                <a:gridCol w="1429174">
                  <a:extLst>
                    <a:ext uri="{9D8B030D-6E8A-4147-A177-3AD203B41FA5}">
                      <a16:colId xmlns:a16="http://schemas.microsoft.com/office/drawing/2014/main" val="253002379"/>
                    </a:ext>
                  </a:extLst>
                </a:gridCol>
                <a:gridCol w="1429174">
                  <a:extLst>
                    <a:ext uri="{9D8B030D-6E8A-4147-A177-3AD203B41FA5}">
                      <a16:colId xmlns:a16="http://schemas.microsoft.com/office/drawing/2014/main" val="3073215761"/>
                    </a:ext>
                  </a:extLst>
                </a:gridCol>
                <a:gridCol w="1429174">
                  <a:extLst>
                    <a:ext uri="{9D8B030D-6E8A-4147-A177-3AD203B41FA5}">
                      <a16:colId xmlns:a16="http://schemas.microsoft.com/office/drawing/2014/main" val="2180053850"/>
                    </a:ext>
                  </a:extLst>
                </a:gridCol>
                <a:gridCol w="1442572">
                  <a:extLst>
                    <a:ext uri="{9D8B030D-6E8A-4147-A177-3AD203B41FA5}">
                      <a16:colId xmlns:a16="http://schemas.microsoft.com/office/drawing/2014/main" val="2877206322"/>
                    </a:ext>
                  </a:extLst>
                </a:gridCol>
                <a:gridCol w="1415775">
                  <a:extLst>
                    <a:ext uri="{9D8B030D-6E8A-4147-A177-3AD203B41FA5}">
                      <a16:colId xmlns:a16="http://schemas.microsoft.com/office/drawing/2014/main" val="856522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funct7[6:0]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shamt</a:t>
                      </a:r>
                      <a:r>
                        <a:rPr lang="en-US" altLang="ko-KR" dirty="0" smtClean="0"/>
                        <a:t>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rs1[4:0]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funct3[2:0]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rd</a:t>
                      </a:r>
                      <a:r>
                        <a:rPr lang="en-US" altLang="ko-KR" dirty="0" smtClean="0"/>
                        <a:t>[4:0]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I-type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6842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812570"/>
              </p:ext>
            </p:extLst>
          </p:nvPr>
        </p:nvGraphicFramePr>
        <p:xfrm>
          <a:off x="6483010" y="126124"/>
          <a:ext cx="5592150" cy="257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038">
                  <a:extLst>
                    <a:ext uri="{9D8B030D-6E8A-4147-A177-3AD203B41FA5}">
                      <a16:colId xmlns:a16="http://schemas.microsoft.com/office/drawing/2014/main" val="1435910155"/>
                    </a:ext>
                  </a:extLst>
                </a:gridCol>
                <a:gridCol w="1000319">
                  <a:extLst>
                    <a:ext uri="{9D8B030D-6E8A-4147-A177-3AD203B41FA5}">
                      <a16:colId xmlns:a16="http://schemas.microsoft.com/office/drawing/2014/main" val="1717399779"/>
                    </a:ext>
                  </a:extLst>
                </a:gridCol>
                <a:gridCol w="397718">
                  <a:extLst>
                    <a:ext uri="{9D8B030D-6E8A-4147-A177-3AD203B41FA5}">
                      <a16:colId xmlns:a16="http://schemas.microsoft.com/office/drawing/2014/main" val="2655426877"/>
                    </a:ext>
                  </a:extLst>
                </a:gridCol>
                <a:gridCol w="668887">
                  <a:extLst>
                    <a:ext uri="{9D8B030D-6E8A-4147-A177-3AD203B41FA5}">
                      <a16:colId xmlns:a16="http://schemas.microsoft.com/office/drawing/2014/main" val="3928887188"/>
                    </a:ext>
                  </a:extLst>
                </a:gridCol>
                <a:gridCol w="729150">
                  <a:extLst>
                    <a:ext uri="{9D8B030D-6E8A-4147-A177-3AD203B41FA5}">
                      <a16:colId xmlns:a16="http://schemas.microsoft.com/office/drawing/2014/main" val="3781211957"/>
                    </a:ext>
                  </a:extLst>
                </a:gridCol>
                <a:gridCol w="1398038">
                  <a:extLst>
                    <a:ext uri="{9D8B030D-6E8A-4147-A177-3AD203B41FA5}">
                      <a16:colId xmlns:a16="http://schemas.microsoft.com/office/drawing/2014/main" val="2988210066"/>
                    </a:ext>
                  </a:extLst>
                </a:gridCol>
              </a:tblGrid>
              <a:tr h="3794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S-type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l-type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9684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44207"/>
                  </a:ext>
                </a:extLst>
              </a:tr>
              <a:tr h="337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alu_src_sel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820563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rf_wd_sel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86889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alu_ctrl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funct7[5],funct3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428756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o_fun</a:t>
                      </a:r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funct3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12982"/>
                  </a:ext>
                </a:extLst>
              </a:tr>
              <a:tr h="290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dwe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7147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52" y="1537089"/>
            <a:ext cx="4817098" cy="420789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702954" y="3406107"/>
            <a:ext cx="455510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Consolas" panose="020B0609020204030204" pitchFamily="49" charset="0"/>
              </a:rPr>
              <a:t>rd</a:t>
            </a:r>
            <a:r>
              <a:rPr lang="en-US" altLang="ko-KR" sz="1400" dirty="0">
                <a:latin typeface="Consolas" panose="020B0609020204030204" pitchFamily="49" charset="0"/>
              </a:rPr>
              <a:t> &lt;= </a:t>
            </a:r>
            <a:r>
              <a:rPr lang="en-US" altLang="ko-KR" sz="1400" dirty="0" smtClean="0">
                <a:latin typeface="Consolas" panose="020B0609020204030204" pitchFamily="49" charset="0"/>
              </a:rPr>
              <a:t>ALU(rs1,imm)</a:t>
            </a:r>
          </a:p>
          <a:p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--------------shift</a:t>
            </a:r>
            <a:r>
              <a:rPr lang="ko-KR" altLang="en-US" sz="1400" dirty="0" smtClean="0">
                <a:latin typeface="Consolas" panose="020B0609020204030204" pitchFamily="49" charset="0"/>
              </a:rPr>
              <a:t>연산 제외</a:t>
            </a:r>
            <a:r>
              <a:rPr lang="en-US" altLang="ko-KR" sz="1400" dirty="0" smtClean="0">
                <a:latin typeface="Consolas" panose="020B0609020204030204" pitchFamily="49" charset="0"/>
              </a:rPr>
              <a:t>------------</a:t>
            </a: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1.  rs1</a:t>
            </a:r>
            <a:r>
              <a:rPr lang="ko-KR" altLang="en-US" sz="1400" dirty="0" smtClean="0">
                <a:latin typeface="Consolas" panose="020B0609020204030204" pitchFamily="49" charset="0"/>
              </a:rPr>
              <a:t>과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imm</a:t>
            </a:r>
            <a:r>
              <a:rPr lang="ko-KR" altLang="en-US" sz="1400" dirty="0" smtClean="0">
                <a:latin typeface="Consolas" panose="020B0609020204030204" pitchFamily="49" charset="0"/>
              </a:rPr>
              <a:t>은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alu_ctrl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의해 연산 동작 결정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2.  </a:t>
            </a:r>
            <a:r>
              <a:rPr lang="ko-KR" altLang="en-US" sz="1400" dirty="0" smtClean="0">
                <a:latin typeface="Consolas" panose="020B0609020204030204" pitchFamily="49" charset="0"/>
              </a:rPr>
              <a:t>연산 결과는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registerfile</a:t>
            </a:r>
            <a:r>
              <a:rPr lang="ko-KR" altLang="en-US" sz="1400" dirty="0" smtClean="0">
                <a:latin typeface="Consolas" panose="020B0609020204030204" pitchFamily="49" charset="0"/>
              </a:rPr>
              <a:t>에 </a:t>
            </a:r>
            <a:r>
              <a:rPr lang="en-US" altLang="ko-KR" sz="1400" dirty="0" smtClean="0">
                <a:latin typeface="Consolas" panose="020B0609020204030204" pitchFamily="49" charset="0"/>
              </a:rPr>
              <a:t>write</a:t>
            </a:r>
          </a:p>
          <a:p>
            <a:pPr marL="342900" indent="-342900">
              <a:buAutoNum type="arabicPeriod"/>
            </a:pPr>
            <a:endParaRPr lang="en-US" altLang="ko-KR" sz="1400" dirty="0" smtClean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endParaRPr lang="en-US" altLang="ko-KR" sz="1400" dirty="0" smtClean="0">
              <a:latin typeface="Consolas" panose="020B0609020204030204" pitchFamily="49" charset="0"/>
            </a:endParaRPr>
          </a:p>
          <a:p>
            <a:r>
              <a:rPr lang="en-US" altLang="ko-KR" sz="1400" dirty="0" smtClean="0">
                <a:latin typeface="Consolas" panose="020B0609020204030204" pitchFamily="49" charset="0"/>
              </a:rPr>
              <a:t>--------------shift</a:t>
            </a:r>
            <a:r>
              <a:rPr lang="ko-KR" altLang="en-US" sz="1400" dirty="0" smtClean="0">
                <a:latin typeface="Consolas" panose="020B0609020204030204" pitchFamily="49" charset="0"/>
              </a:rPr>
              <a:t>연산</a:t>
            </a:r>
            <a:r>
              <a:rPr lang="en-US" altLang="ko-KR" sz="1400" dirty="0" smtClean="0">
                <a:latin typeface="Consolas" panose="020B0609020204030204" pitchFamily="49" charset="0"/>
              </a:rPr>
              <a:t>------------------</a:t>
            </a:r>
          </a:p>
          <a:p>
            <a:pPr marL="342900" indent="-342900">
              <a:buAutoNum type="arabicPeriod"/>
            </a:pPr>
            <a:r>
              <a:rPr lang="en-US" altLang="ko-KR" sz="1400" dirty="0" smtClean="0">
                <a:latin typeface="Consolas" panose="020B0609020204030204" pitchFamily="49" charset="0"/>
              </a:rPr>
              <a:t>r1</a:t>
            </a:r>
            <a:r>
              <a:rPr lang="ko-KR" altLang="en-US" sz="1400" dirty="0" smtClean="0">
                <a:latin typeface="Consolas" panose="020B0609020204030204" pitchFamily="49" charset="0"/>
              </a:rPr>
              <a:t>과 </a:t>
            </a:r>
            <a:r>
              <a:rPr lang="en-US" altLang="ko-KR" sz="1400" dirty="0" err="1" smtClean="0">
                <a:latin typeface="Consolas" panose="020B0609020204030204" pitchFamily="49" charset="0"/>
              </a:rPr>
              <a:t>shamt</a:t>
            </a:r>
            <a:r>
              <a:rPr lang="ko-KR" altLang="en-US" sz="1400" dirty="0" smtClean="0">
                <a:latin typeface="Consolas" panose="020B0609020204030204" pitchFamily="49" charset="0"/>
              </a:rPr>
              <a:t>의해 </a:t>
            </a:r>
            <a:r>
              <a:rPr lang="en-US" altLang="ko-KR" sz="1400" dirty="0" smtClean="0">
                <a:latin typeface="Consolas" panose="020B0609020204030204" pitchFamily="49" charset="0"/>
              </a:rPr>
              <a:t>shift</a:t>
            </a:r>
            <a:r>
              <a:rPr lang="ko-KR" altLang="en-US" sz="1400" dirty="0" smtClean="0">
                <a:latin typeface="Consolas" panose="020B0609020204030204" pitchFamily="49" charset="0"/>
              </a:rPr>
              <a:t>연산 수행</a:t>
            </a:r>
            <a:endParaRPr lang="en-US" altLang="ko-KR" sz="1400" dirty="0" smtClean="0">
              <a:latin typeface="Consolas" panose="020B0609020204030204" pitchFamily="49" charset="0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sz="1400" dirty="0">
                <a:latin typeface="Consolas" panose="020B0609020204030204" pitchFamily="49" charset="0"/>
              </a:rPr>
              <a:t>연산 결과는 </a:t>
            </a:r>
            <a:r>
              <a:rPr lang="en-US" altLang="ko-KR" sz="1400" dirty="0" err="1">
                <a:latin typeface="Consolas" panose="020B0609020204030204" pitchFamily="49" charset="0"/>
              </a:rPr>
              <a:t>registerfile</a:t>
            </a:r>
            <a:r>
              <a:rPr lang="ko-KR" altLang="en-US" sz="1400" dirty="0">
                <a:latin typeface="Consolas" panose="020B0609020204030204" pitchFamily="49" charset="0"/>
              </a:rPr>
              <a:t>에 </a:t>
            </a:r>
            <a:r>
              <a:rPr lang="en-US" altLang="ko-KR" sz="1400" dirty="0" smtClean="0">
                <a:latin typeface="Consolas" panose="020B0609020204030204" pitchFamily="49" charset="0"/>
              </a:rPr>
              <a:t>write</a:t>
            </a:r>
            <a:endParaRPr lang="en-US" altLang="ko-KR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975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IL-type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380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684</Words>
  <Application>Microsoft Office PowerPoint</Application>
  <PresentationFormat>와이드스크린</PresentationFormat>
  <Paragraphs>286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Consolas</vt:lpstr>
      <vt:lpstr>Wingdings</vt:lpstr>
      <vt:lpstr>Office 테마</vt:lpstr>
      <vt:lpstr>Rv32i S-type &amp; I-type &amp; IL-type</vt:lpstr>
      <vt:lpstr>1. B/D</vt:lpstr>
      <vt:lpstr>3. S-type</vt:lpstr>
      <vt:lpstr>3. S-type</vt:lpstr>
      <vt:lpstr>3. S-type 시나리오</vt:lpstr>
      <vt:lpstr>3. S-type simulation</vt:lpstr>
      <vt:lpstr>4. IL-type</vt:lpstr>
      <vt:lpstr>4. IL-type</vt:lpstr>
      <vt:lpstr>4. IL-type 시나리오</vt:lpstr>
      <vt:lpstr>4. IL-type simulation</vt:lpstr>
      <vt:lpstr>4. IL-type simulation</vt:lpstr>
      <vt:lpstr>4. IL-type simulation</vt:lpstr>
      <vt:lpstr>4. IL-type simulation</vt:lpstr>
      <vt:lpstr>5. I-type</vt:lpstr>
      <vt:lpstr>5. IL-type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 Factorial</dc:title>
  <dc:creator>준형 이</dc:creator>
  <cp:lastModifiedBy>kccistc</cp:lastModifiedBy>
  <cp:revision>42</cp:revision>
  <dcterms:created xsi:type="dcterms:W3CDTF">2026-03-05T13:56:16Z</dcterms:created>
  <dcterms:modified xsi:type="dcterms:W3CDTF">2026-03-11T00:14:23Z</dcterms:modified>
</cp:coreProperties>
</file>