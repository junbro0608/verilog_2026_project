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9" r:id="rId7"/>
    <p:sldId id="270" r:id="rId8"/>
    <p:sldId id="268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0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ALU Factorial</a:t>
            </a:r>
            <a:br>
              <a:rPr lang="en-US" altLang="ko-KR" dirty="0"/>
            </a:b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 </a:t>
            </a:r>
            <a:r>
              <a:rPr lang="en-US" altLang="ko-KR" dirty="0"/>
              <a:t>File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ECC5A-8AD8-1C02-6B25-87A0196E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</a:t>
            </a:r>
            <a:r>
              <a:rPr lang="ko-KR" altLang="en-US" dirty="0"/>
              <a:t>언어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3DCC3-EB75-23DC-2388-EF6BDA2680C0}"/>
              </a:ext>
            </a:extLst>
          </p:cNvPr>
          <p:cNvSpPr txBox="1"/>
          <p:nvPr/>
        </p:nvSpPr>
        <p:spPr>
          <a:xfrm>
            <a:off x="7199083" y="2862249"/>
            <a:ext cx="133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20" y="1643021"/>
            <a:ext cx="4229699" cy="44170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6" y="3332892"/>
            <a:ext cx="151468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1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5B51-D7E5-4FFC-AE5A-3B3E6B15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5D6C0-353F-EDF3-9F1F-20AB4B0B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DATAPATH </a:t>
            </a:r>
            <a:r>
              <a:rPr lang="ko-KR" altLang="en-US" dirty="0"/>
              <a:t>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8FF26-B455-7EA7-D666-7D17D2C4D9B4}"/>
              </a:ext>
            </a:extLst>
          </p:cNvPr>
          <p:cNvSpPr txBox="1"/>
          <p:nvPr/>
        </p:nvSpPr>
        <p:spPr>
          <a:xfrm>
            <a:off x="7438029" y="2040340"/>
            <a:ext cx="43399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Register_file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 err="1"/>
              <a:t>data_path</a:t>
            </a:r>
            <a:r>
              <a:rPr lang="en-US" altLang="ko-KR" dirty="0"/>
              <a:t> </a:t>
            </a:r>
            <a:r>
              <a:rPr lang="ko-KR" altLang="en-US" dirty="0"/>
              <a:t>설계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Control unit </a:t>
            </a:r>
            <a:r>
              <a:rPr lang="ko-KR" altLang="en-US" dirty="0" err="1"/>
              <a:t>통제하에</a:t>
            </a:r>
            <a:r>
              <a:rPr lang="ko-KR" altLang="en-US" dirty="0"/>
              <a:t> </a:t>
            </a:r>
            <a:r>
              <a:rPr lang="en-US" altLang="ko-KR" dirty="0" err="1"/>
              <a:t>write,read</a:t>
            </a:r>
            <a:r>
              <a:rPr lang="en-US" altLang="ko-KR" dirty="0"/>
              <a:t> </a:t>
            </a:r>
            <a:r>
              <a:rPr lang="ko-KR" altLang="en-US" dirty="0"/>
              <a:t>동작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Rd0,rd1</a:t>
            </a:r>
            <a:r>
              <a:rPr lang="ko-KR" altLang="en-US" dirty="0"/>
              <a:t>은 </a:t>
            </a:r>
            <a:r>
              <a:rPr lang="en-US" altLang="ko-KR" dirty="0"/>
              <a:t>ALU </a:t>
            </a:r>
            <a:r>
              <a:rPr lang="ko-KR" altLang="en-US" dirty="0"/>
              <a:t>연산을 거쳐 </a:t>
            </a:r>
            <a:r>
              <a:rPr lang="en-US" altLang="ko-KR" dirty="0"/>
              <a:t>MUX</a:t>
            </a:r>
            <a:r>
              <a:rPr lang="ko-KR" altLang="en-US" dirty="0"/>
              <a:t>로 신호 전달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MUX</a:t>
            </a:r>
            <a:r>
              <a:rPr lang="ko-KR" altLang="en-US" dirty="0"/>
              <a:t>는 상수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ALU</a:t>
            </a:r>
            <a:r>
              <a:rPr lang="ko-KR" altLang="en-US" dirty="0"/>
              <a:t>연산 중 </a:t>
            </a:r>
            <a:r>
              <a:rPr lang="ko-KR" altLang="en-US" dirty="0" err="1"/>
              <a:t>하나을</a:t>
            </a:r>
            <a:r>
              <a:rPr lang="ko-KR" altLang="en-US" dirty="0"/>
              <a:t> </a:t>
            </a:r>
            <a:r>
              <a:rPr lang="en-US" altLang="ko-KR" dirty="0"/>
              <a:t>register file</a:t>
            </a:r>
            <a:r>
              <a:rPr lang="ko-KR" altLang="en-US" dirty="0"/>
              <a:t>에 </a:t>
            </a:r>
            <a:r>
              <a:rPr lang="en-US" altLang="ko-KR" dirty="0"/>
              <a:t>write</a:t>
            </a:r>
            <a:r>
              <a:rPr lang="ko-KR" altLang="en-US" dirty="0"/>
              <a:t>할 수 있게 동작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Equle11</a:t>
            </a:r>
            <a:r>
              <a:rPr lang="ko-KR" altLang="en-US" dirty="0"/>
              <a:t>은 </a:t>
            </a:r>
            <a:r>
              <a:rPr lang="en-US" altLang="ko-KR" dirty="0"/>
              <a:t>while</a:t>
            </a:r>
            <a:r>
              <a:rPr lang="ko-KR" altLang="en-US" dirty="0"/>
              <a:t>문의 조건과 같이   </a:t>
            </a:r>
            <a:r>
              <a:rPr lang="en-US" altLang="ko-KR" dirty="0"/>
              <a:t>(a == 11)</a:t>
            </a:r>
            <a:r>
              <a:rPr lang="ko-KR" altLang="en-US" dirty="0"/>
              <a:t>시 신호 발생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Out</a:t>
            </a:r>
            <a:r>
              <a:rPr lang="ko-KR" altLang="en-US" dirty="0"/>
              <a:t>은 </a:t>
            </a:r>
            <a:r>
              <a:rPr lang="en-US" altLang="ko-KR" dirty="0"/>
              <a:t>rd0</a:t>
            </a:r>
            <a:r>
              <a:rPr lang="ko-KR" altLang="en-US" dirty="0"/>
              <a:t>로 출력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62C3613-22FF-E4A1-6252-982DF422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32" y="1601618"/>
            <a:ext cx="4893426" cy="472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9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9C25-C43D-CE29-5BE4-3052A199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ABB22-BC5C-8A9F-4970-FFDB00CD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ASM </a:t>
            </a:r>
            <a:r>
              <a:rPr lang="ko-KR" altLang="en-US" dirty="0"/>
              <a:t>차트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C5962-69E1-F9E0-44ED-BE47C3F298FC}"/>
              </a:ext>
            </a:extLst>
          </p:cNvPr>
          <p:cNvSpPr txBox="1"/>
          <p:nvPr/>
        </p:nvSpPr>
        <p:spPr>
          <a:xfrm>
            <a:off x="6203409" y="3727170"/>
            <a:ext cx="262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S0 : </a:t>
            </a:r>
            <a:r>
              <a:rPr lang="ko-KR" altLang="en-US" dirty="0"/>
              <a:t>상수 </a:t>
            </a:r>
            <a:r>
              <a:rPr lang="en-US" altLang="ko-KR" dirty="0"/>
              <a:t>1 </a:t>
            </a:r>
            <a:r>
              <a:rPr lang="ko-KR" altLang="en-US" dirty="0"/>
              <a:t>저장</a:t>
            </a:r>
            <a:endParaRPr lang="en-US" altLang="ko-KR" dirty="0"/>
          </a:p>
          <a:p>
            <a:r>
              <a:rPr lang="en-US" altLang="ko-KR" dirty="0"/>
              <a:t>S1 : a = 0;</a:t>
            </a:r>
          </a:p>
          <a:p>
            <a:r>
              <a:rPr lang="en-US" altLang="ko-KR" dirty="0"/>
              <a:t>S2 : sum = 0;</a:t>
            </a:r>
          </a:p>
          <a:p>
            <a:r>
              <a:rPr lang="en-US" altLang="ko-KR" dirty="0"/>
              <a:t>S3 : while(a&lt;11)</a:t>
            </a:r>
          </a:p>
          <a:p>
            <a:r>
              <a:rPr lang="en-US" altLang="ko-KR" dirty="0"/>
              <a:t>S4 : sum = sum + a;</a:t>
            </a:r>
          </a:p>
          <a:p>
            <a:r>
              <a:rPr lang="en-US" altLang="ko-KR" dirty="0"/>
              <a:t>S5 : a = a + 1;</a:t>
            </a:r>
          </a:p>
          <a:p>
            <a:r>
              <a:rPr lang="en-US" altLang="ko-KR" dirty="0"/>
              <a:t>S6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printf</a:t>
            </a:r>
            <a:r>
              <a:rPr lang="en-US" altLang="ko-KR" dirty="0"/>
              <a:t>(sum);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DDEF5A-A3D3-24B6-D38C-AA57C750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54" y="3218086"/>
            <a:ext cx="2920119" cy="304949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938A4B-6DC8-F371-A9B1-00B9DE97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7" y="1446663"/>
            <a:ext cx="5242550" cy="48820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8DAA98-6F8D-F7D2-2185-2B1B053BA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735" y="-14617"/>
            <a:ext cx="5838263" cy="166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9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9C25-C43D-CE29-5BE4-3052A199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ABB22-BC5C-8A9F-4970-FFDB00CD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 - </a:t>
            </a:r>
            <a:r>
              <a:rPr lang="ko-KR" altLang="en-US" dirty="0"/>
              <a:t>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1754" y="2892490"/>
            <a:ext cx="6102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이 존재하지 않기 때문에 </a:t>
            </a:r>
            <a:r>
              <a:rPr lang="en-US" altLang="ko-KR" dirty="0"/>
              <a:t>dataflow</a:t>
            </a:r>
            <a:r>
              <a:rPr lang="ko-KR" altLang="en-US" dirty="0"/>
              <a:t>를 보며 분석 예정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모듈이 동작하는 시간을 고려하여 충분한 </a:t>
            </a:r>
            <a:r>
              <a:rPr lang="en-US" altLang="ko-KR" dirty="0"/>
              <a:t>delay </a:t>
            </a:r>
            <a:r>
              <a:rPr lang="ko-KR" altLang="en-US" dirty="0"/>
              <a:t>후 </a:t>
            </a:r>
            <a:r>
              <a:rPr lang="en-US" altLang="ko-KR" dirty="0"/>
              <a:t>stop</a:t>
            </a:r>
            <a:r>
              <a:rPr lang="ko-KR" altLang="en-US" dirty="0"/>
              <a:t>발생함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3state * 10 + (11cycle * 3 state)*10 + </a:t>
            </a:r>
            <a:r>
              <a:rPr lang="ko-KR" altLang="en-US" dirty="0"/>
              <a:t>여유시간 </a:t>
            </a:r>
            <a:endParaRPr lang="en-US" altLang="ko-KR" dirty="0"/>
          </a:p>
          <a:p>
            <a:r>
              <a:rPr lang="en-US" altLang="ko-KR" dirty="0"/>
              <a:t>= 400 delay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75" y="1558839"/>
            <a:ext cx="2267266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3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15E2-AAD8-F13E-361F-6C750BF4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EC06B-9B70-C361-958E-D1058645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C170C2-59F5-EBBA-3DF3-96E7F3297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64010"/>
            <a:ext cx="12191999" cy="24101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7C06CB-3E47-69C4-5407-10D02DA17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2430"/>
            <a:ext cx="12192000" cy="1514686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5B6141A8-1883-E92E-2945-29569A1B18BD}"/>
              </a:ext>
            </a:extLst>
          </p:cNvPr>
          <p:cNvSpPr/>
          <p:nvPr/>
        </p:nvSpPr>
        <p:spPr>
          <a:xfrm>
            <a:off x="5970493" y="3623982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57E2C1C-A658-01A3-94D5-D5C513FDA809}"/>
              </a:ext>
            </a:extLst>
          </p:cNvPr>
          <p:cNvSpPr/>
          <p:nvPr/>
        </p:nvSpPr>
        <p:spPr>
          <a:xfrm>
            <a:off x="11098305" y="4783596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B7C98C3-1F50-6F70-AAC5-FD7F546E367B}"/>
              </a:ext>
            </a:extLst>
          </p:cNvPr>
          <p:cNvSpPr/>
          <p:nvPr/>
        </p:nvSpPr>
        <p:spPr>
          <a:xfrm>
            <a:off x="7217291" y="3623982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50B9094-0D45-4879-35C4-B54488A10676}"/>
              </a:ext>
            </a:extLst>
          </p:cNvPr>
          <p:cNvSpPr/>
          <p:nvPr/>
        </p:nvSpPr>
        <p:spPr>
          <a:xfrm>
            <a:off x="7838797" y="3623981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D3BA20C-9162-9121-8AEA-E93E4028D308}"/>
              </a:ext>
            </a:extLst>
          </p:cNvPr>
          <p:cNvSpPr/>
          <p:nvPr/>
        </p:nvSpPr>
        <p:spPr>
          <a:xfrm>
            <a:off x="9078871" y="3623981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33CCF07-B71B-AFB5-E848-1ED08D20F26F}"/>
              </a:ext>
            </a:extLst>
          </p:cNvPr>
          <p:cNvSpPr/>
          <p:nvPr/>
        </p:nvSpPr>
        <p:spPr>
          <a:xfrm>
            <a:off x="9688475" y="3628460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ED3235-CA06-3DE0-3F70-E78D72A1BF43}"/>
              </a:ext>
            </a:extLst>
          </p:cNvPr>
          <p:cNvSpPr/>
          <p:nvPr/>
        </p:nvSpPr>
        <p:spPr>
          <a:xfrm>
            <a:off x="9668299" y="3359519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00F8C96-820D-9378-F912-00E7BF6AF0A3}"/>
              </a:ext>
            </a:extLst>
          </p:cNvPr>
          <p:cNvSpPr/>
          <p:nvPr/>
        </p:nvSpPr>
        <p:spPr>
          <a:xfrm>
            <a:off x="9081107" y="3377447"/>
            <a:ext cx="47653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8BE96E4-3B5C-57E8-5953-B339D3EFB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735" y="-14617"/>
            <a:ext cx="5838263" cy="1666936"/>
          </a:xfrm>
          <a:prstGeom prst="rect">
            <a:avLst/>
          </a:prstGeom>
        </p:spPr>
      </p:pic>
      <p:sp>
        <p:nvSpPr>
          <p:cNvPr id="28" name="타원 27">
            <a:extLst>
              <a:ext uri="{FF2B5EF4-FFF2-40B4-BE49-F238E27FC236}">
                <a16:creationId xmlns:a16="http://schemas.microsoft.com/office/drawing/2014/main" id="{2D747AFB-C29C-41DC-18BA-E1A8D086DBC6}"/>
              </a:ext>
            </a:extLst>
          </p:cNvPr>
          <p:cNvSpPr/>
          <p:nvPr/>
        </p:nvSpPr>
        <p:spPr>
          <a:xfrm>
            <a:off x="8426451" y="3115097"/>
            <a:ext cx="1718380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921FC5-7EFD-0A7C-B6F0-52679AE75631}"/>
              </a:ext>
            </a:extLst>
          </p:cNvPr>
          <p:cNvSpPr txBox="1"/>
          <p:nvPr/>
        </p:nvSpPr>
        <p:spPr>
          <a:xfrm>
            <a:off x="9132822" y="3112985"/>
            <a:ext cx="39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FA7AA-3BB5-D6F3-2BED-9DBFFE355101}"/>
              </a:ext>
            </a:extLst>
          </p:cNvPr>
          <p:cNvSpPr txBox="1"/>
          <p:nvPr/>
        </p:nvSpPr>
        <p:spPr>
          <a:xfrm>
            <a:off x="6790764" y="2193027"/>
            <a:ext cx="113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0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 1</a:t>
            </a:r>
            <a:endParaRPr lang="ko-KR" altLang="en-US" dirty="0">
              <a:highlight>
                <a:srgbClr val="FFFF00"/>
              </a:highligh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517D288-7635-6976-B862-2E1B8352ABCF}"/>
              </a:ext>
            </a:extLst>
          </p:cNvPr>
          <p:cNvCxnSpPr>
            <a:cxnSpLocks/>
          </p:cNvCxnSpPr>
          <p:nvPr/>
        </p:nvCxnSpPr>
        <p:spPr>
          <a:xfrm flipH="1">
            <a:off x="7131050" y="2616200"/>
            <a:ext cx="86241" cy="37517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37FF2DA-3ED3-6C9E-FC5F-CF1C993927E4}"/>
              </a:ext>
            </a:extLst>
          </p:cNvPr>
          <p:cNvSpPr txBox="1"/>
          <p:nvPr/>
        </p:nvSpPr>
        <p:spPr>
          <a:xfrm>
            <a:off x="6605845" y="4817019"/>
            <a:ext cx="77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Write</a:t>
            </a:r>
            <a:endParaRPr lang="ko-KR" altLang="en-US" dirty="0">
              <a:highlight>
                <a:srgbClr val="FFFF00"/>
              </a:highlight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D8C95EC-F52D-2C3E-6893-275AFAF98CF3}"/>
              </a:ext>
            </a:extLst>
          </p:cNvPr>
          <p:cNvCxnSpPr>
            <a:cxnSpLocks/>
          </p:cNvCxnSpPr>
          <p:nvPr/>
        </p:nvCxnSpPr>
        <p:spPr>
          <a:xfrm flipV="1">
            <a:off x="7032078" y="4105355"/>
            <a:ext cx="109515" cy="77023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425B72C-9AA5-6007-E6FF-5B18CA4B7C85}"/>
              </a:ext>
            </a:extLst>
          </p:cNvPr>
          <p:cNvCxnSpPr>
            <a:cxnSpLocks/>
          </p:cNvCxnSpPr>
          <p:nvPr/>
        </p:nvCxnSpPr>
        <p:spPr>
          <a:xfrm flipV="1">
            <a:off x="7249574" y="4057650"/>
            <a:ext cx="2135726" cy="84933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8300C66-0325-A8C9-BC8C-C760CC606D99}"/>
              </a:ext>
            </a:extLst>
          </p:cNvPr>
          <p:cNvSpPr txBox="1"/>
          <p:nvPr/>
        </p:nvSpPr>
        <p:spPr>
          <a:xfrm>
            <a:off x="1447800" y="6147039"/>
            <a:ext cx="546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</a:t>
            </a:r>
            <a:r>
              <a:rPr lang="en-US" altLang="ko-KR" dirty="0"/>
              <a:t>state</a:t>
            </a:r>
            <a:r>
              <a:rPr lang="ko-KR" altLang="en-US" dirty="0"/>
              <a:t>의 </a:t>
            </a:r>
            <a:r>
              <a:rPr lang="en-US" altLang="ko-KR" dirty="0"/>
              <a:t>control </a:t>
            </a:r>
            <a:r>
              <a:rPr lang="ko-KR" altLang="en-US" dirty="0"/>
              <a:t>신호가 정확히 출력되는 지 확인</a:t>
            </a:r>
          </a:p>
        </p:txBody>
      </p:sp>
    </p:spTree>
    <p:extLst>
      <p:ext uri="{BB962C8B-B14F-4D97-AF65-F5344CB8AC3E}">
        <p14:creationId xmlns:p14="http://schemas.microsoft.com/office/powerpoint/2010/main" val="342642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03F5-F6B7-FC81-A63A-873AF2F2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9359E-19B2-26F9-6B52-E0EA9173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5E7EF6D-12BE-0A99-5EBF-412A15F1F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35" y="-14617"/>
            <a:ext cx="5838263" cy="15222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18A6F10-8314-A2FF-0D4C-ECE818A9C3A7}"/>
              </a:ext>
            </a:extLst>
          </p:cNvPr>
          <p:cNvSpPr txBox="1"/>
          <p:nvPr/>
        </p:nvSpPr>
        <p:spPr>
          <a:xfrm>
            <a:off x="1612900" y="5606050"/>
            <a:ext cx="546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 </a:t>
            </a:r>
            <a:r>
              <a:rPr lang="ko-KR" altLang="en-US" dirty="0"/>
              <a:t>기준</a:t>
            </a:r>
            <a:r>
              <a:rPr lang="en-US" altLang="ko-KR" dirty="0"/>
              <a:t>(mem[0]</a:t>
            </a:r>
            <a:r>
              <a:rPr lang="ko-KR" altLang="en-US" dirty="0"/>
              <a:t>는 초기값 </a:t>
            </a:r>
            <a:r>
              <a:rPr lang="en-US" altLang="ko-KR" dirty="0"/>
              <a:t>0</a:t>
            </a:r>
            <a:r>
              <a:rPr lang="ko-KR" altLang="en-US" dirty="0"/>
              <a:t>으로 설정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S0 : (write) mem[3] = 1</a:t>
            </a:r>
          </a:p>
          <a:p>
            <a:r>
              <a:rPr lang="en-US" altLang="ko-KR" dirty="0"/>
              <a:t>S1 : (write) mem[1] = 0</a:t>
            </a:r>
          </a:p>
          <a:p>
            <a:r>
              <a:rPr lang="en-US" altLang="ko-KR" dirty="0"/>
              <a:t>S2 : (write) mem[2] = 0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F906CD-4BB1-6146-1110-4ED17E77A036}"/>
              </a:ext>
            </a:extLst>
          </p:cNvPr>
          <p:cNvSpPr/>
          <p:nvPr/>
        </p:nvSpPr>
        <p:spPr>
          <a:xfrm>
            <a:off x="95250" y="1565819"/>
            <a:ext cx="939800" cy="3532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 path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E269D7-1280-E199-7971-C67F5682AA86}"/>
              </a:ext>
            </a:extLst>
          </p:cNvPr>
          <p:cNvSpPr/>
          <p:nvPr/>
        </p:nvSpPr>
        <p:spPr>
          <a:xfrm>
            <a:off x="109782" y="5098050"/>
            <a:ext cx="94615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Ctrlunit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522C2CA-58A7-C455-B2B8-88310B6394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859"/>
          <a:stretch>
            <a:fillRect/>
          </a:stretch>
        </p:blipFill>
        <p:spPr>
          <a:xfrm>
            <a:off x="8695837" y="5606050"/>
            <a:ext cx="3496163" cy="71107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A1645F9-33FA-6619-C323-650341F5D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50" y="1572169"/>
            <a:ext cx="11156948" cy="3943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B2EA309-FF91-018D-67E4-983343590565}"/>
              </a:ext>
            </a:extLst>
          </p:cNvPr>
          <p:cNvSpPr txBox="1"/>
          <p:nvPr/>
        </p:nvSpPr>
        <p:spPr>
          <a:xfrm>
            <a:off x="11304830" y="4779518"/>
            <a:ext cx="1084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0,0,0,1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5FE602D-EE04-0FD8-77C2-652DEE66C602}"/>
              </a:ext>
            </a:extLst>
          </p:cNvPr>
          <p:cNvCxnSpPr>
            <a:cxnSpLocks/>
          </p:cNvCxnSpPr>
          <p:nvPr/>
        </p:nvCxnSpPr>
        <p:spPr>
          <a:xfrm>
            <a:off x="6515100" y="2627369"/>
            <a:ext cx="1638300" cy="215214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5864E55-BF63-E21E-1D62-ECEDA482623E}"/>
              </a:ext>
            </a:extLst>
          </p:cNvPr>
          <p:cNvCxnSpPr>
            <a:cxnSpLocks/>
          </p:cNvCxnSpPr>
          <p:nvPr/>
        </p:nvCxnSpPr>
        <p:spPr>
          <a:xfrm flipH="1">
            <a:off x="9575800" y="2714663"/>
            <a:ext cx="1197889" cy="211768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AB67FFF-D624-A594-F252-714DD87447C6}"/>
              </a:ext>
            </a:extLst>
          </p:cNvPr>
          <p:cNvCxnSpPr>
            <a:cxnSpLocks/>
          </p:cNvCxnSpPr>
          <p:nvPr/>
        </p:nvCxnSpPr>
        <p:spPr>
          <a:xfrm>
            <a:off x="10826750" y="2714663"/>
            <a:ext cx="106818" cy="217483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30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3920-1D19-E405-6C2C-83DD5118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98E38-B320-D937-7435-212BEF41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1A2E8FF-6EFE-EC0C-8301-19ECF4123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35" y="-14617"/>
            <a:ext cx="5838263" cy="15233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5D6A587-5308-FA97-B3A8-44851A69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06" y="1588082"/>
            <a:ext cx="11190194" cy="36818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4C00156-3A6E-9EC0-622C-CD83BBE2B8A7}"/>
              </a:ext>
            </a:extLst>
          </p:cNvPr>
          <p:cNvSpPr txBox="1"/>
          <p:nvPr/>
        </p:nvSpPr>
        <p:spPr>
          <a:xfrm>
            <a:off x="1559110" y="5351609"/>
            <a:ext cx="77137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번째 </a:t>
            </a:r>
            <a:r>
              <a:rPr lang="en-US" altLang="ko-KR" dirty="0"/>
              <a:t>loop </a:t>
            </a:r>
            <a:r>
              <a:rPr lang="ko-KR" altLang="en-US" dirty="0"/>
              <a:t>도는 상황</a:t>
            </a:r>
            <a:endParaRPr lang="en-US" altLang="ko-KR" dirty="0"/>
          </a:p>
          <a:p>
            <a:r>
              <a:rPr lang="en-US" altLang="ko-KR" dirty="0"/>
              <a:t>Dataflow : mem(R1,R2) </a:t>
            </a:r>
            <a:r>
              <a:rPr lang="en-US" altLang="ko-KR" dirty="0">
                <a:sym typeface="Wingdings" panose="05000000000000000000" pitchFamily="2" charset="2"/>
              </a:rPr>
              <a:t> ALU(</a:t>
            </a:r>
            <a:r>
              <a:rPr lang="en-US" altLang="ko-KR" dirty="0" err="1">
                <a:sym typeface="Wingdings" panose="05000000000000000000" pitchFamily="2" charset="2"/>
              </a:rPr>
              <a:t>w_alu_out</a:t>
            </a:r>
            <a:r>
              <a:rPr lang="en-US" altLang="ko-KR" dirty="0">
                <a:sym typeface="Wingdings" panose="05000000000000000000" pitchFamily="2" charset="2"/>
              </a:rPr>
              <a:t>)  MUX(</a:t>
            </a:r>
            <a:r>
              <a:rPr lang="en-US" altLang="ko-KR" dirty="0" err="1">
                <a:sym typeface="Wingdings" panose="05000000000000000000" pitchFamily="2" charset="2"/>
              </a:rPr>
              <a:t>w_reg_mux_out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r>
              <a:rPr lang="en-US" altLang="ko-KR" dirty="0"/>
              <a:t>S3 : (read) out </a:t>
            </a:r>
            <a:r>
              <a:rPr lang="en-US" altLang="ko-KR" dirty="0">
                <a:sym typeface="Wingdings" panose="05000000000000000000" pitchFamily="2" charset="2"/>
              </a:rPr>
              <a:t></a:t>
            </a:r>
            <a:r>
              <a:rPr lang="en-US" altLang="ko-KR" dirty="0"/>
              <a:t> rd0 </a:t>
            </a:r>
            <a:r>
              <a:rPr lang="en-US" altLang="ko-KR" dirty="0">
                <a:sym typeface="Wingdings" panose="05000000000000000000" pitchFamily="2" charset="2"/>
              </a:rPr>
              <a:t></a:t>
            </a:r>
            <a:r>
              <a:rPr lang="en-US" altLang="ko-KR" dirty="0"/>
              <a:t> mem[1](2)</a:t>
            </a:r>
          </a:p>
          <a:p>
            <a:r>
              <a:rPr lang="en-US" altLang="ko-KR" dirty="0"/>
              <a:t>S4 : (read &amp; write) mem[2] = mem[1](2) + mem[2](1)</a:t>
            </a:r>
          </a:p>
          <a:p>
            <a:r>
              <a:rPr lang="en-US" altLang="ko-KR" dirty="0"/>
              <a:t>S5 : (read &amp; write) mem[1] = mem[1](2) + mem[3](1)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8D3FE0-5EEE-2EE9-ACD4-79FF22C3F746}"/>
              </a:ext>
            </a:extLst>
          </p:cNvPr>
          <p:cNvSpPr/>
          <p:nvPr/>
        </p:nvSpPr>
        <p:spPr>
          <a:xfrm>
            <a:off x="95250" y="1565819"/>
            <a:ext cx="939800" cy="3261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 path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8CD8AA-814D-F6F9-86C2-5A1CC8A8606C}"/>
              </a:ext>
            </a:extLst>
          </p:cNvPr>
          <p:cNvSpPr/>
          <p:nvPr/>
        </p:nvSpPr>
        <p:spPr>
          <a:xfrm>
            <a:off x="86659" y="4849757"/>
            <a:ext cx="946150" cy="5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Ctrlunit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7022B9-F28F-B014-3D54-EB6E1DC72F65}"/>
              </a:ext>
            </a:extLst>
          </p:cNvPr>
          <p:cNvSpPr/>
          <p:nvPr/>
        </p:nvSpPr>
        <p:spPr>
          <a:xfrm>
            <a:off x="4995583" y="1712951"/>
            <a:ext cx="1702250" cy="3470889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535A2E8-9953-B4F0-821B-71D5BED03BA8}"/>
              </a:ext>
            </a:extLst>
          </p:cNvPr>
          <p:cNvSpPr/>
          <p:nvPr/>
        </p:nvSpPr>
        <p:spPr>
          <a:xfrm>
            <a:off x="5459505" y="3901612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155AB-E735-89F1-507B-BF8DF10A3D66}"/>
              </a:ext>
            </a:extLst>
          </p:cNvPr>
          <p:cNvSpPr txBox="1"/>
          <p:nvPr/>
        </p:nvSpPr>
        <p:spPr>
          <a:xfrm>
            <a:off x="5737767" y="3923875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A6F227-AF38-3372-BE1A-9552FCB5BAF7}"/>
              </a:ext>
            </a:extLst>
          </p:cNvPr>
          <p:cNvCxnSpPr>
            <a:cxnSpLocks/>
          </p:cNvCxnSpPr>
          <p:nvPr/>
        </p:nvCxnSpPr>
        <p:spPr>
          <a:xfrm flipV="1">
            <a:off x="6096000" y="2292724"/>
            <a:ext cx="0" cy="160888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C5DF403C-31E5-54DD-1CAD-E95CF2FDA11A}"/>
              </a:ext>
            </a:extLst>
          </p:cNvPr>
          <p:cNvSpPr/>
          <p:nvPr/>
        </p:nvSpPr>
        <p:spPr>
          <a:xfrm>
            <a:off x="7166161" y="3863236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3746EA3-7CF3-AF3F-C3F4-E168CCF12D9D}"/>
              </a:ext>
            </a:extLst>
          </p:cNvPr>
          <p:cNvSpPr/>
          <p:nvPr/>
        </p:nvSpPr>
        <p:spPr>
          <a:xfrm>
            <a:off x="7166161" y="4355449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4E72A2-CD14-9EFF-C721-BE7FB4D60A84}"/>
              </a:ext>
            </a:extLst>
          </p:cNvPr>
          <p:cNvSpPr txBox="1"/>
          <p:nvPr/>
        </p:nvSpPr>
        <p:spPr>
          <a:xfrm>
            <a:off x="7397179" y="4389593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85870D4-126F-1684-69BA-15B63A48A440}"/>
              </a:ext>
            </a:extLst>
          </p:cNvPr>
          <p:cNvCxnSpPr>
            <a:cxnSpLocks/>
          </p:cNvCxnSpPr>
          <p:nvPr/>
        </p:nvCxnSpPr>
        <p:spPr>
          <a:xfrm flipH="1" flipV="1">
            <a:off x="7243336" y="2731717"/>
            <a:ext cx="139273" cy="113057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5004AD7B-42AE-D013-5DF1-F7A8FAA1D769}"/>
              </a:ext>
            </a:extLst>
          </p:cNvPr>
          <p:cNvSpPr/>
          <p:nvPr/>
        </p:nvSpPr>
        <p:spPr>
          <a:xfrm>
            <a:off x="8960400" y="4375619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FA81BC-EDCF-979C-4EBB-F36553D6BA16}"/>
              </a:ext>
            </a:extLst>
          </p:cNvPr>
          <p:cNvSpPr txBox="1"/>
          <p:nvPr/>
        </p:nvSpPr>
        <p:spPr>
          <a:xfrm>
            <a:off x="9189177" y="4359041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230568B-8AC2-3773-1E5B-56075C810F49}"/>
              </a:ext>
            </a:extLst>
          </p:cNvPr>
          <p:cNvCxnSpPr>
            <a:cxnSpLocks/>
          </p:cNvCxnSpPr>
          <p:nvPr/>
        </p:nvCxnSpPr>
        <p:spPr>
          <a:xfrm flipH="1" flipV="1">
            <a:off x="7058584" y="2772471"/>
            <a:ext cx="108224" cy="173523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ABF0882-8BF5-905C-67A9-C6FCC7708125}"/>
              </a:ext>
            </a:extLst>
          </p:cNvPr>
          <p:cNvCxnSpPr>
            <a:cxnSpLocks/>
          </p:cNvCxnSpPr>
          <p:nvPr/>
        </p:nvCxnSpPr>
        <p:spPr>
          <a:xfrm>
            <a:off x="7524996" y="2505782"/>
            <a:ext cx="1073355" cy="2253143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5B284102-6A26-AA3F-B155-1DE1487D2FEC}"/>
              </a:ext>
            </a:extLst>
          </p:cNvPr>
          <p:cNvCxnSpPr>
            <a:cxnSpLocks/>
          </p:cNvCxnSpPr>
          <p:nvPr/>
        </p:nvCxnSpPr>
        <p:spPr>
          <a:xfrm flipV="1">
            <a:off x="7019966" y="2431255"/>
            <a:ext cx="223370" cy="15269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E44A35A-D039-F199-88C9-9A092200D384}"/>
              </a:ext>
            </a:extLst>
          </p:cNvPr>
          <p:cNvSpPr txBox="1"/>
          <p:nvPr/>
        </p:nvSpPr>
        <p:spPr>
          <a:xfrm>
            <a:off x="6807928" y="2519095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171B1A-1A5B-BB94-4E4F-4202E69DEE35}"/>
              </a:ext>
            </a:extLst>
          </p:cNvPr>
          <p:cNvSpPr txBox="1"/>
          <p:nvPr/>
        </p:nvSpPr>
        <p:spPr>
          <a:xfrm>
            <a:off x="5937085" y="1979047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AE7E4D-C91C-F244-CFE9-D4C48CD356FC}"/>
              </a:ext>
            </a:extLst>
          </p:cNvPr>
          <p:cNvSpPr txBox="1"/>
          <p:nvPr/>
        </p:nvSpPr>
        <p:spPr>
          <a:xfrm>
            <a:off x="7276257" y="2246589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A4F1037-20E2-3FC3-325A-5FED74003D93}"/>
              </a:ext>
            </a:extLst>
          </p:cNvPr>
          <p:cNvSpPr/>
          <p:nvPr/>
        </p:nvSpPr>
        <p:spPr>
          <a:xfrm>
            <a:off x="6732495" y="1712951"/>
            <a:ext cx="1702250" cy="3470889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32575AF-3343-727D-C54A-2C71317D6DDC}"/>
              </a:ext>
            </a:extLst>
          </p:cNvPr>
          <p:cNvSpPr/>
          <p:nvPr/>
        </p:nvSpPr>
        <p:spPr>
          <a:xfrm>
            <a:off x="8434745" y="1717584"/>
            <a:ext cx="1702250" cy="3470889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D397DE2-0F87-BF01-57A1-9D801356580D}"/>
              </a:ext>
            </a:extLst>
          </p:cNvPr>
          <p:cNvSpPr/>
          <p:nvPr/>
        </p:nvSpPr>
        <p:spPr>
          <a:xfrm>
            <a:off x="8875734" y="3901612"/>
            <a:ext cx="820271" cy="33617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461C99-1756-08A7-A76E-2F37E2FD4CC9}"/>
              </a:ext>
            </a:extLst>
          </p:cNvPr>
          <p:cNvSpPr txBox="1"/>
          <p:nvPr/>
        </p:nvSpPr>
        <p:spPr>
          <a:xfrm>
            <a:off x="9114078" y="3890819"/>
            <a:ext cx="3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EE26389-543F-DD43-A6FC-C60E0B826732}"/>
              </a:ext>
            </a:extLst>
          </p:cNvPr>
          <p:cNvCxnSpPr>
            <a:cxnSpLocks/>
          </p:cNvCxnSpPr>
          <p:nvPr/>
        </p:nvCxnSpPr>
        <p:spPr>
          <a:xfrm flipH="1" flipV="1">
            <a:off x="9359682" y="2744082"/>
            <a:ext cx="93297" cy="1118212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B5F95A1-0DAF-C8F3-9F0C-7D29408B7E25}"/>
              </a:ext>
            </a:extLst>
          </p:cNvPr>
          <p:cNvCxnSpPr>
            <a:cxnSpLocks/>
          </p:cNvCxnSpPr>
          <p:nvPr/>
        </p:nvCxnSpPr>
        <p:spPr>
          <a:xfrm flipV="1">
            <a:off x="8965021" y="2744082"/>
            <a:ext cx="231055" cy="173305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EF4D498-D43D-A770-58BC-8C3650AAD525}"/>
              </a:ext>
            </a:extLst>
          </p:cNvPr>
          <p:cNvCxnSpPr>
            <a:cxnSpLocks/>
          </p:cNvCxnSpPr>
          <p:nvPr/>
        </p:nvCxnSpPr>
        <p:spPr>
          <a:xfrm flipV="1">
            <a:off x="9114078" y="2419416"/>
            <a:ext cx="0" cy="223901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AB48566-2556-65F6-8E26-C6EC659A920B}"/>
              </a:ext>
            </a:extLst>
          </p:cNvPr>
          <p:cNvCxnSpPr>
            <a:cxnSpLocks/>
          </p:cNvCxnSpPr>
          <p:nvPr/>
        </p:nvCxnSpPr>
        <p:spPr>
          <a:xfrm>
            <a:off x="9378787" y="2453648"/>
            <a:ext cx="2219301" cy="225814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69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1A09-1012-C926-5D46-314B45AA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CFEFE-ECBF-389F-9C48-98DA082B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3DC189-0D0A-F256-669D-38E2307F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35" y="-14617"/>
            <a:ext cx="5838263" cy="15233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0D9935-F097-CE6C-29D7-AD16A8C7E9B8}"/>
              </a:ext>
            </a:extLst>
          </p:cNvPr>
          <p:cNvSpPr txBox="1"/>
          <p:nvPr/>
        </p:nvSpPr>
        <p:spPr>
          <a:xfrm>
            <a:off x="105624" y="5382677"/>
            <a:ext cx="9243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Top </a:t>
            </a:r>
            <a:r>
              <a:rPr lang="en-US" altLang="ko-KR" dirty="0" err="1"/>
              <a:t>modul</a:t>
            </a:r>
            <a:r>
              <a:rPr lang="ko-KR" altLang="en-US" dirty="0"/>
              <a:t>의 출력 </a:t>
            </a:r>
            <a:r>
              <a:rPr lang="en-US" altLang="ko-KR" dirty="0"/>
              <a:t>out</a:t>
            </a:r>
            <a:r>
              <a:rPr lang="ko-KR" altLang="en-US" dirty="0"/>
              <a:t>은 </a:t>
            </a:r>
            <a:r>
              <a:rPr lang="en-US" altLang="ko-KR" dirty="0"/>
              <a:t>C code</a:t>
            </a:r>
            <a:r>
              <a:rPr lang="ko-KR" altLang="en-US" dirty="0"/>
              <a:t>의 변수 </a:t>
            </a:r>
            <a:r>
              <a:rPr lang="en-US" altLang="ko-KR" dirty="0"/>
              <a:t>a</a:t>
            </a:r>
            <a:r>
              <a:rPr lang="ko-KR" altLang="en-US" dirty="0"/>
              <a:t>값이 </a:t>
            </a:r>
            <a:r>
              <a:rPr lang="en-US" altLang="ko-KR" dirty="0"/>
              <a:t>0 ~11</a:t>
            </a:r>
            <a:r>
              <a:rPr lang="ko-KR" altLang="en-US" dirty="0"/>
              <a:t>까지 순차 출력 되는 것을 확인</a:t>
            </a:r>
            <a:endParaRPr lang="en-US" altLang="ko-KR" dirty="0"/>
          </a:p>
          <a:p>
            <a:r>
              <a:rPr lang="en-US" altLang="ko-KR" dirty="0"/>
              <a:t>2. S3 : (rd0</a:t>
            </a:r>
            <a:r>
              <a:rPr lang="ko-KR" altLang="en-US" dirty="0"/>
              <a:t> </a:t>
            </a:r>
            <a:r>
              <a:rPr lang="en-US" altLang="ko-KR" dirty="0"/>
              <a:t>==</a:t>
            </a:r>
            <a:r>
              <a:rPr lang="ko-KR" altLang="en-US" dirty="0"/>
              <a:t> </a:t>
            </a:r>
            <a:r>
              <a:rPr lang="en-US" altLang="ko-KR" dirty="0"/>
              <a:t>11)</a:t>
            </a:r>
            <a:r>
              <a:rPr lang="ko-KR" altLang="en-US" dirty="0"/>
              <a:t>이기 때문에 </a:t>
            </a:r>
            <a:r>
              <a:rPr lang="en-US" altLang="ko-KR" dirty="0"/>
              <a:t>S3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S6 </a:t>
            </a:r>
            <a:r>
              <a:rPr lang="ko-KR" altLang="en-US" dirty="0"/>
              <a:t>이동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최종 출력 </a:t>
            </a:r>
            <a:r>
              <a:rPr lang="en-US" altLang="ko-KR" dirty="0"/>
              <a:t>55 </a:t>
            </a:r>
            <a:r>
              <a:rPr lang="ko-KR" altLang="en-US" dirty="0"/>
              <a:t>확인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179234-23F5-0E15-C8CA-7A5BDC4DA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508760"/>
            <a:ext cx="12192000" cy="37233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F34AFF8-8C13-446F-438A-A531B419A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063" y="5232063"/>
            <a:ext cx="1816436" cy="164824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87B7908-1DF4-078B-DFE4-0729991519CF}"/>
              </a:ext>
            </a:extLst>
          </p:cNvPr>
          <p:cNvSpPr/>
          <p:nvPr/>
        </p:nvSpPr>
        <p:spPr>
          <a:xfrm>
            <a:off x="11073501" y="4128448"/>
            <a:ext cx="1080495" cy="1103615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DDEDBD7-5D20-2A27-C7C1-927DC3BF8412}"/>
              </a:ext>
            </a:extLst>
          </p:cNvPr>
          <p:cNvCxnSpPr>
            <a:cxnSpLocks/>
          </p:cNvCxnSpPr>
          <p:nvPr/>
        </p:nvCxnSpPr>
        <p:spPr>
          <a:xfrm flipH="1">
            <a:off x="10802203" y="5232063"/>
            <a:ext cx="594815" cy="711537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62B69C-2B4D-E506-61D7-AAAD05C4ED9A}"/>
              </a:ext>
            </a:extLst>
          </p:cNvPr>
          <p:cNvSpPr/>
          <p:nvPr/>
        </p:nvSpPr>
        <p:spPr>
          <a:xfrm>
            <a:off x="3282904" y="1564532"/>
            <a:ext cx="8871092" cy="1103615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792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399</Words>
  <Application>Microsoft Office PowerPoint</Application>
  <PresentationFormat>와이드스크린</PresentationFormat>
  <Paragraphs>63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ALU Factorial + Register File</vt:lpstr>
      <vt:lpstr>1. C언어 설계</vt:lpstr>
      <vt:lpstr>2. DATAPATH 설계</vt:lpstr>
      <vt:lpstr>3. ASM 차트</vt:lpstr>
      <vt:lpstr>4. simulation - 시나리오</vt:lpstr>
      <vt:lpstr>4. simulation</vt:lpstr>
      <vt:lpstr>4. simulation</vt:lpstr>
      <vt:lpstr>4. simulation</vt:lpstr>
      <vt:lpstr>4.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준형 이</cp:lastModifiedBy>
  <cp:revision>16</cp:revision>
  <dcterms:created xsi:type="dcterms:W3CDTF">2026-03-05T13:56:16Z</dcterms:created>
  <dcterms:modified xsi:type="dcterms:W3CDTF">2026-03-07T14:51:30Z</dcterms:modified>
</cp:coreProperties>
</file>