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50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D625D-AD7D-1BC5-2A69-13CC1DEF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4BCF-4423-C01E-43CC-927C8605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73901-D311-1034-1B53-224A56CA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85CFC-FE81-A3DF-84B7-8FC26C69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C575A-A5FA-1B52-D3C7-7D37BBB6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DD188-A1D3-E70C-22B9-09FF7132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711EC-CCB0-1CBA-EF05-1C54DF55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A47C8-9A28-047E-8B3D-B59E943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1BDFF-CAD6-144F-7445-5D8FFC5D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5DF67-AC0B-421F-9B29-69F7401C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77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286FA-A14C-6278-DD06-06315E1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2F12B-44CF-FDAC-4E75-8AFCF667F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9AED3-8A19-3E05-616D-23D27DF2A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F7E7B-504B-20F4-C595-A799435D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B0879-E7F5-F11B-FCDB-25578A4F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1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8759C-C818-1D60-AECE-4083104E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339E4-4BA9-6593-06BA-373919979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3B497-0D86-8201-00A2-C2CDEEE42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725E4-B597-2B6E-7318-6A97A84C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08D474-0CC4-8969-459C-CF4E2A5B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256E44-57EB-F06D-1A08-A5E165F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7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5D6C1-D29B-DF40-AC79-E28180E23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3BB4AF-887C-C71F-76AB-EA81A790C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55C49-CB2C-5433-6E78-AAB574A5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0DEA60-1B44-6367-5130-AC0F6616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3C98C5-28AC-03FF-16E8-203E9D2EB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D2BF17-4709-B93C-B786-9690FFA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227546-A2A7-DCBC-5FE3-5E1560F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DCD8A5-3055-25FB-28FB-95577ADC6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59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947C6-C388-427C-9E39-E27E37E6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C1770B-8457-41AF-1FD7-F4F434E8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8818EA-8BA4-842F-DFB6-184A5C9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60835-AC6E-0CAE-32E4-A11C7DC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4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E195A-CE31-BB3C-19E2-0FAF05CD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12F7B3-6A30-C2FB-5AF0-DA3317ED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5B28CF-1D5F-5314-0AB4-EEE0014C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97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2E0C1-216F-46F5-BBC4-341DDE97D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67120-965A-C061-B2FB-3006FC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902373-B50F-0F9F-E943-9E018CE89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FBB63-1153-79F0-61D2-345EFB14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1CA20-2C04-1E9F-313A-D220D88B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0BCC77-C806-1FFC-7E04-8A8FBEB58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E1F7E-ACF1-46F4-EF7D-228438D9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C6EB86-01A2-5F64-9D56-ED32CA62A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F2039-52D5-26C5-0DB2-6C1B5D879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0B443-0A01-AC04-BC8E-6139A976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35884-9BEA-A066-AA64-09493750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E3E69-E9C3-D110-AB7A-074E342F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78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6B324-39B5-3D43-2661-F6D163A6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D787C8-BDBA-07EF-4134-299ABD9A8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89616-7BB9-E89D-365F-5EDACF2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E7605-2B6C-BA97-46FF-38CA1E2C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AC9E4-5159-62B7-3AEB-81C09E3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83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686F7F-0796-DD3A-8B75-F58F05934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3CD355-979B-0C03-A3FD-6D319F72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FDD13-A5E6-E74B-6369-2EE88D88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8E4A-18C4-B829-32D1-572D837F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65E4B-0D18-E84E-449A-556E0F8B5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62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75CB89-6AA0-7C00-4A7B-3702971D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949B4-0B15-6782-62E5-3363B73D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0240F-5677-675A-834E-62A407E27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3930-65C8-43FA-8080-9609EAB9FD3E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7500-6A3E-50AF-EEA7-CEFB8E89D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57973C-DDC6-E097-806A-5A47F46B5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4D0D-EE65-4B72-AE7D-9D3F95BE1F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9B9DB-B8BF-1D23-1CB8-0CE52228F4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ALU Factorial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CF16FA-592B-D41B-A891-49ED5BBC2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04629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ECC5A-8AD8-1C02-6B25-87A0196E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</a:t>
            </a:r>
            <a:r>
              <a:rPr lang="ko-KR" altLang="en-US" dirty="0"/>
              <a:t>언어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3DCC3-EB75-23DC-2388-EF6BDA2680C0}"/>
              </a:ext>
            </a:extLst>
          </p:cNvPr>
          <p:cNvSpPr txBox="1"/>
          <p:nvPr/>
        </p:nvSpPr>
        <p:spPr>
          <a:xfrm>
            <a:off x="7199083" y="2862249"/>
            <a:ext cx="133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20" y="1643021"/>
            <a:ext cx="4229699" cy="441709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6" y="3332892"/>
            <a:ext cx="151468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1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5B51-D7E5-4FFC-AE5A-3B3E6B150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5D6C0-353F-EDF3-9F1F-20AB4B0B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DATAPATH </a:t>
            </a:r>
            <a:r>
              <a:rPr lang="ko-KR" altLang="en-US" dirty="0"/>
              <a:t>설계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EE39BF-F29B-F907-BC07-0A0E27152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983190"/>
              </p:ext>
            </p:extLst>
          </p:nvPr>
        </p:nvGraphicFramePr>
        <p:xfrm>
          <a:off x="7469841" y="3207372"/>
          <a:ext cx="38264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479">
                  <a:extLst>
                    <a:ext uri="{9D8B030D-6E8A-4147-A177-3AD203B41FA5}">
                      <a16:colId xmlns:a16="http://schemas.microsoft.com/office/drawing/2014/main" val="2407538849"/>
                    </a:ext>
                  </a:extLst>
                </a:gridCol>
                <a:gridCol w="1275479">
                  <a:extLst>
                    <a:ext uri="{9D8B030D-6E8A-4147-A177-3AD203B41FA5}">
                      <a16:colId xmlns:a16="http://schemas.microsoft.com/office/drawing/2014/main" val="1851716472"/>
                    </a:ext>
                  </a:extLst>
                </a:gridCol>
                <a:gridCol w="1275479">
                  <a:extLst>
                    <a:ext uri="{9D8B030D-6E8A-4147-A177-3AD203B41FA5}">
                      <a16:colId xmlns:a16="http://schemas.microsoft.com/office/drawing/2014/main" val="1407221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ALU Out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A_in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B_in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77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Sum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Sum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19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61816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31D5DB0-DB2C-12C3-BFE1-CFEC487B61F4}"/>
              </a:ext>
            </a:extLst>
          </p:cNvPr>
          <p:cNvSpPr txBox="1"/>
          <p:nvPr/>
        </p:nvSpPr>
        <p:spPr>
          <a:xfrm>
            <a:off x="6878472" y="4578723"/>
            <a:ext cx="53135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ALU </a:t>
            </a:r>
            <a:r>
              <a:rPr lang="ko-KR" altLang="en-US" dirty="0"/>
              <a:t>연산 </a:t>
            </a:r>
            <a:r>
              <a:rPr lang="ko-KR" altLang="en-US" dirty="0" smtClean="0"/>
              <a:t>대상</a:t>
            </a:r>
            <a:endParaRPr lang="en-US" altLang="ko-KR" dirty="0"/>
          </a:p>
          <a:p>
            <a:r>
              <a:rPr lang="en-US" altLang="ko-KR" dirty="0" err="1"/>
              <a:t>B_in</a:t>
            </a:r>
            <a:r>
              <a:rPr lang="ko-KR" altLang="en-US" dirty="0"/>
              <a:t>의 값이 </a:t>
            </a:r>
            <a:r>
              <a:rPr lang="en-US" altLang="ko-KR" dirty="0"/>
              <a:t>1 or SUM </a:t>
            </a:r>
            <a:r>
              <a:rPr lang="ko-KR" altLang="en-US" dirty="0"/>
              <a:t>값으로 치환 가능하게 </a:t>
            </a:r>
            <a:r>
              <a:rPr lang="ko-KR" altLang="en-US" dirty="0" smtClean="0"/>
              <a:t>설계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ALU </a:t>
            </a:r>
            <a:r>
              <a:rPr lang="ko-KR" altLang="en-US" dirty="0" smtClean="0"/>
              <a:t>연산 값</a:t>
            </a:r>
            <a:endParaRPr lang="en-US" altLang="ko-KR" dirty="0" smtClean="0"/>
          </a:p>
          <a:p>
            <a:r>
              <a:rPr lang="en-US" altLang="ko-KR" dirty="0" err="1" smtClean="0"/>
              <a:t>src_sel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0 or 1</a:t>
            </a:r>
            <a:r>
              <a:rPr lang="ko-KR" altLang="en-US" dirty="0" smtClean="0"/>
              <a:t>을</a:t>
            </a:r>
            <a:r>
              <a:rPr lang="en-US" altLang="ko-KR" dirty="0"/>
              <a:t> </a:t>
            </a:r>
            <a:r>
              <a:rPr lang="en-US" altLang="ko-KR" dirty="0" err="1" smtClean="0"/>
              <a:t>src_sel</a:t>
            </a:r>
            <a:r>
              <a:rPr lang="ko-KR" altLang="en-US" dirty="0" smtClean="0"/>
              <a:t>를 택하게 제어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en-US" altLang="ko-KR" dirty="0" err="1" smtClean="0"/>
              <a:t>reg</a:t>
            </a:r>
            <a:r>
              <a:rPr lang="en-US" altLang="ko-KR" dirty="0" smtClean="0"/>
              <a:t> load</a:t>
            </a:r>
          </a:p>
          <a:p>
            <a:r>
              <a:rPr lang="en-US" altLang="ko-KR" dirty="0" err="1" smtClean="0"/>
              <a:t>aload,sumload</a:t>
            </a:r>
            <a:r>
              <a:rPr lang="ko-KR" altLang="en-US" dirty="0" smtClean="0"/>
              <a:t>로 각 </a:t>
            </a:r>
            <a:r>
              <a:rPr lang="en-US" altLang="ko-KR" dirty="0" err="1" smtClean="0"/>
              <a:t>reg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할 타이밍 제어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466" y="0"/>
            <a:ext cx="5077534" cy="242921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34" y="1847201"/>
            <a:ext cx="6558367" cy="40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9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9C25-C43D-CE29-5BE4-3052A199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ABB22-BC5C-8A9F-4970-FFDB00CD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ASM </a:t>
            </a:r>
            <a:r>
              <a:rPr lang="ko-KR" altLang="en-US" dirty="0"/>
              <a:t>차트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C5962-69E1-F9E0-44ED-BE47C3F298FC}"/>
              </a:ext>
            </a:extLst>
          </p:cNvPr>
          <p:cNvSpPr txBox="1"/>
          <p:nvPr/>
        </p:nvSpPr>
        <p:spPr>
          <a:xfrm>
            <a:off x="5006066" y="4240798"/>
            <a:ext cx="262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IDLE : Sum = 0, a = 0</a:t>
            </a:r>
          </a:p>
          <a:p>
            <a:r>
              <a:rPr lang="en-US" altLang="ko-KR" dirty="0"/>
              <a:t>S1 : while(a&lt;10)</a:t>
            </a:r>
          </a:p>
          <a:p>
            <a:r>
              <a:rPr lang="en-US" altLang="ko-KR" dirty="0"/>
              <a:t>S2 : a = a + 1</a:t>
            </a:r>
          </a:p>
          <a:p>
            <a:r>
              <a:rPr lang="en-US" altLang="ko-KR" dirty="0"/>
              <a:t>S3 : sum = sum + a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A1AF42-06FD-3545-79BB-9E7EE44DC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066" y="872654"/>
            <a:ext cx="2938802" cy="313680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B441FCC-3EDF-C8AF-2374-62A524EC4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687" y="0"/>
            <a:ext cx="342062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604" y="1515609"/>
            <a:ext cx="3470853" cy="463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9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79C25-C43D-CE29-5BE4-3052A199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ABB22-BC5C-8A9F-4970-FFDB00CDA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smtClean="0"/>
              <a:t>simulation - </a:t>
            </a:r>
            <a:r>
              <a:rPr lang="ko-KR" altLang="en-US" dirty="0" smtClean="0"/>
              <a:t>시나리오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11754" y="2892490"/>
            <a:ext cx="6102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입력 이 존재하지 않기 때문에 </a:t>
            </a:r>
            <a:r>
              <a:rPr lang="en-US" altLang="ko-KR" dirty="0" smtClean="0"/>
              <a:t>dataflow</a:t>
            </a:r>
            <a:r>
              <a:rPr lang="ko-KR" altLang="en-US" dirty="0" smtClean="0"/>
              <a:t>를 보며 분석 예정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모듈이 동작하는 시간을 고려하여 충분한 </a:t>
            </a:r>
            <a:r>
              <a:rPr lang="en-US" altLang="ko-KR" dirty="0" smtClean="0"/>
              <a:t>delay </a:t>
            </a:r>
            <a:r>
              <a:rPr lang="ko-KR" altLang="en-US" dirty="0" smtClean="0"/>
              <a:t>후 </a:t>
            </a:r>
            <a:r>
              <a:rPr lang="en-US" altLang="ko-KR" dirty="0" smtClean="0"/>
              <a:t>stop</a:t>
            </a:r>
            <a:r>
              <a:rPr lang="ko-KR" altLang="en-US" dirty="0" smtClean="0"/>
              <a:t>발생함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(11cycle * 3 state)*10 + </a:t>
            </a:r>
            <a:r>
              <a:rPr lang="ko-KR" altLang="en-US" dirty="0" smtClean="0"/>
              <a:t>여유시간</a:t>
            </a:r>
            <a:r>
              <a:rPr lang="en-US" altLang="ko-KR" dirty="0" smtClean="0"/>
              <a:t>(70)</a:t>
            </a:r>
            <a:r>
              <a:rPr lang="ko-KR" altLang="en-US" dirty="0" smtClean="0"/>
              <a:t> </a:t>
            </a:r>
            <a:r>
              <a:rPr lang="en-US" altLang="ko-KR" dirty="0" smtClean="0"/>
              <a:t>= 400 delay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75" y="1558839"/>
            <a:ext cx="2267266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3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D53B-723A-4BE9-C7DF-A50328A44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787804"/>
            <a:ext cx="11290023" cy="1724266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9" y="1681621"/>
            <a:ext cx="10857324" cy="17528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F50376-1381-287A-69E5-918B6C3E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89188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AD6A468-8D85-B6F8-76AE-A0D332F7768D}"/>
              </a:ext>
            </a:extLst>
          </p:cNvPr>
          <p:cNvSpPr txBox="1"/>
          <p:nvPr/>
        </p:nvSpPr>
        <p:spPr>
          <a:xfrm>
            <a:off x="1606924" y="6123543"/>
            <a:ext cx="779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</a:t>
            </a:r>
            <a:r>
              <a:rPr lang="ko-KR" altLang="en-US" dirty="0"/>
              <a:t>에 따른 </a:t>
            </a:r>
            <a:r>
              <a:rPr lang="en-US" altLang="ko-KR" dirty="0"/>
              <a:t>control unit</a:t>
            </a:r>
            <a:r>
              <a:rPr lang="ko-KR" altLang="en-US" dirty="0"/>
              <a:t>의 </a:t>
            </a:r>
            <a:r>
              <a:rPr lang="en-US" altLang="ko-KR" dirty="0"/>
              <a:t>output </a:t>
            </a:r>
            <a:r>
              <a:rPr lang="ko-KR" altLang="en-US" dirty="0"/>
              <a:t>신호에 대해서 정상 출력 확인</a:t>
            </a:r>
          </a:p>
        </p:txBody>
      </p:sp>
      <p:sp>
        <p:nvSpPr>
          <p:cNvPr id="8" name="타원 7"/>
          <p:cNvSpPr/>
          <p:nvPr/>
        </p:nvSpPr>
        <p:spPr>
          <a:xfrm>
            <a:off x="7259219" y="2068255"/>
            <a:ext cx="1915886" cy="8304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9489236" y="1772816"/>
            <a:ext cx="886405" cy="133418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6568751" y="3890865"/>
            <a:ext cx="1066800" cy="133418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8204711" y="4030825"/>
            <a:ext cx="3085312" cy="133418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8279363" y="1213010"/>
            <a:ext cx="46657" cy="870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 flipV="1">
            <a:off x="9932438" y="1295883"/>
            <a:ext cx="1" cy="482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7259219" y="1251941"/>
            <a:ext cx="3464765" cy="26389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7" idx="0"/>
          </p:cNvCxnSpPr>
          <p:nvPr/>
        </p:nvCxnSpPr>
        <p:spPr>
          <a:xfrm flipV="1">
            <a:off x="9747367" y="1251941"/>
            <a:ext cx="1969301" cy="27788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4774164" y="3871928"/>
            <a:ext cx="1066800" cy="133418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5436637" y="1295883"/>
            <a:ext cx="3682481" cy="25760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75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11EF-D793-4150-40A3-DD0027BB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298"/>
            <a:ext cx="12192000" cy="3134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EA4291-E041-377E-2906-CBAC335E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56A37D-04CF-757E-02D0-61B09A75A1CC}"/>
              </a:ext>
            </a:extLst>
          </p:cNvPr>
          <p:cNvSpPr txBox="1"/>
          <p:nvPr/>
        </p:nvSpPr>
        <p:spPr>
          <a:xfrm>
            <a:off x="63071" y="5754639"/>
            <a:ext cx="11447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(</a:t>
            </a:r>
            <a:r>
              <a:rPr lang="ko-KR" altLang="en-US" dirty="0"/>
              <a:t>각 모듈의 </a:t>
            </a:r>
            <a:r>
              <a:rPr lang="en-US" altLang="ko-KR" dirty="0"/>
              <a:t>output port</a:t>
            </a:r>
            <a:r>
              <a:rPr lang="ko-KR" altLang="en-US" dirty="0"/>
              <a:t>를 그룹으로 묶은 이미지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IDLE : A_REG, SUM_REG </a:t>
            </a:r>
            <a:r>
              <a:rPr lang="ko-KR" altLang="en-US" dirty="0"/>
              <a:t>초기화 확인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5DCDFA-4633-D48F-1DC0-4718D6ED0798}"/>
              </a:ext>
            </a:extLst>
          </p:cNvPr>
          <p:cNvSpPr/>
          <p:nvPr/>
        </p:nvSpPr>
        <p:spPr>
          <a:xfrm>
            <a:off x="5461864" y="1742276"/>
            <a:ext cx="1377643" cy="323220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948302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90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B125-5D6C-8738-A703-6402E29C6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298"/>
            <a:ext cx="12192000" cy="3134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0AAE433-96EB-2A11-7252-90436729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8F016-28D6-90A7-72BC-BFB1AE8DF69F}"/>
              </a:ext>
            </a:extLst>
          </p:cNvPr>
          <p:cNvSpPr txBox="1"/>
          <p:nvPr/>
        </p:nvSpPr>
        <p:spPr>
          <a:xfrm>
            <a:off x="174310" y="5754638"/>
            <a:ext cx="11447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(</a:t>
            </a:r>
            <a:r>
              <a:rPr lang="ko-KR" altLang="en-US" dirty="0"/>
              <a:t>각 모듈의 </a:t>
            </a:r>
            <a:r>
              <a:rPr lang="en-US" altLang="ko-KR" dirty="0"/>
              <a:t>output port</a:t>
            </a:r>
            <a:r>
              <a:rPr lang="ko-KR" altLang="en-US" dirty="0"/>
              <a:t>를 그룹으로 묶은 이미지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S1 :</a:t>
            </a:r>
            <a:r>
              <a:rPr lang="en-US" altLang="ko-KR" dirty="0" err="1"/>
              <a:t>O_sumload</a:t>
            </a:r>
            <a:r>
              <a:rPr lang="en-US" altLang="ko-KR" dirty="0"/>
              <a:t> = 0</a:t>
            </a:r>
            <a:r>
              <a:rPr lang="ko-KR" altLang="en-US" dirty="0"/>
              <a:t> 이기 때문에 </a:t>
            </a:r>
            <a:r>
              <a:rPr lang="en-US" altLang="ko-KR" dirty="0"/>
              <a:t>SUM_MUX</a:t>
            </a:r>
            <a:r>
              <a:rPr lang="ko-KR" altLang="en-US" dirty="0"/>
              <a:t>가 상수</a:t>
            </a:r>
            <a:r>
              <a:rPr lang="en-US" altLang="ko-KR" dirty="0"/>
              <a:t>1</a:t>
            </a:r>
            <a:r>
              <a:rPr lang="ko-KR" altLang="en-US" dirty="0"/>
              <a:t>을 출력하는 것을 확인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9E5F1A-F9E5-9BCD-DD71-CA380C1DE894}"/>
              </a:ext>
            </a:extLst>
          </p:cNvPr>
          <p:cNvSpPr/>
          <p:nvPr/>
        </p:nvSpPr>
        <p:spPr>
          <a:xfrm>
            <a:off x="8140577" y="3912636"/>
            <a:ext cx="702236" cy="1063691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72497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84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1449-32A6-2252-0C78-75A98734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1298"/>
            <a:ext cx="12192000" cy="3134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C1E9E5-A947-43C8-2AAE-6495298A4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9678DB-A239-7EC3-F705-78E9B5D88E75}"/>
              </a:ext>
            </a:extLst>
          </p:cNvPr>
          <p:cNvSpPr txBox="1"/>
          <p:nvPr/>
        </p:nvSpPr>
        <p:spPr>
          <a:xfrm>
            <a:off x="160864" y="5638799"/>
            <a:ext cx="11447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(</a:t>
            </a:r>
            <a:r>
              <a:rPr lang="ko-KR" altLang="en-US" dirty="0"/>
              <a:t>각 모듈의 </a:t>
            </a:r>
            <a:r>
              <a:rPr lang="en-US" altLang="ko-KR" dirty="0"/>
              <a:t>output port</a:t>
            </a:r>
            <a:r>
              <a:rPr lang="ko-KR" altLang="en-US" dirty="0"/>
              <a:t>를 그룹으로 묶은 이미지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S2: </a:t>
            </a:r>
            <a:r>
              <a:rPr lang="en-US" altLang="ko-KR" dirty="0" err="1" smtClean="0"/>
              <a:t>O_sumload</a:t>
            </a:r>
            <a:r>
              <a:rPr lang="en-US" altLang="ko-KR" dirty="0" smtClean="0"/>
              <a:t> </a:t>
            </a:r>
            <a:r>
              <a:rPr lang="en-US" altLang="ko-KR" dirty="0"/>
              <a:t>= 1, </a:t>
            </a:r>
            <a:r>
              <a:rPr lang="en-US" altLang="ko-KR" dirty="0" err="1"/>
              <a:t>O_src_sel</a:t>
            </a:r>
            <a:r>
              <a:rPr lang="en-US" altLang="ko-KR" dirty="0"/>
              <a:t> = 1</a:t>
            </a:r>
            <a:r>
              <a:rPr lang="ko-KR" altLang="en-US" dirty="0"/>
              <a:t>  이기 때문에 </a:t>
            </a:r>
            <a:r>
              <a:rPr lang="en-US" altLang="ko-KR" dirty="0"/>
              <a:t>A</a:t>
            </a:r>
            <a:r>
              <a:rPr lang="en-US" altLang="ko-KR" dirty="0" smtClean="0"/>
              <a:t> </a:t>
            </a:r>
            <a:r>
              <a:rPr lang="en-US" altLang="ko-KR" dirty="0"/>
              <a:t>= 0 SUM_MUX =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</a:t>
            </a:r>
            <a:r>
              <a:rPr lang="ko-KR" altLang="en-US" dirty="0" smtClean="0"/>
              <a:t> </a:t>
            </a:r>
            <a:r>
              <a:rPr lang="en-US" altLang="ko-KR" dirty="0"/>
              <a:t>ALU</a:t>
            </a:r>
            <a:r>
              <a:rPr lang="ko-KR" altLang="en-US" dirty="0"/>
              <a:t>의 합으로 </a:t>
            </a:r>
            <a:r>
              <a:rPr lang="ko-KR" altLang="en-US" dirty="0" err="1"/>
              <a:t>연산되어</a:t>
            </a:r>
            <a:r>
              <a:rPr lang="ko-KR" altLang="en-US" dirty="0"/>
              <a:t> </a:t>
            </a:r>
            <a:r>
              <a:rPr lang="en-US" altLang="ko-KR" dirty="0"/>
              <a:t>SRC_MUX</a:t>
            </a:r>
            <a:r>
              <a:rPr lang="ko-KR" altLang="en-US" dirty="0"/>
              <a:t>를 거쳐 </a:t>
            </a:r>
            <a:r>
              <a:rPr lang="en-US" altLang="ko-KR" dirty="0" err="1" smtClean="0"/>
              <a:t>Sum_REG</a:t>
            </a:r>
            <a:r>
              <a:rPr lang="ko-KR" altLang="en-US" dirty="0" err="1"/>
              <a:t>에들어가는</a:t>
            </a:r>
            <a:r>
              <a:rPr lang="ko-KR" altLang="en-US" dirty="0"/>
              <a:t> 것을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A700E-33F3-A77D-8EAC-A9359836B1BE}"/>
              </a:ext>
            </a:extLst>
          </p:cNvPr>
          <p:cNvSpPr txBox="1"/>
          <p:nvPr/>
        </p:nvSpPr>
        <p:spPr>
          <a:xfrm>
            <a:off x="10494168" y="3814014"/>
            <a:ext cx="99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sum</a:t>
            </a:r>
            <a:r>
              <a:rPr lang="en-US" altLang="ko-KR" dirty="0" smtClean="0">
                <a:highlight>
                  <a:srgbClr val="FFFF00"/>
                </a:highlight>
              </a:rPr>
              <a:t>=0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5C32A-38FE-A06F-1EFA-11796C48848D}"/>
              </a:ext>
            </a:extLst>
          </p:cNvPr>
          <p:cNvSpPr txBox="1"/>
          <p:nvPr/>
        </p:nvSpPr>
        <p:spPr>
          <a:xfrm>
            <a:off x="9343049" y="4832444"/>
            <a:ext cx="71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0+ </a:t>
            </a:r>
            <a:r>
              <a:rPr lang="en-US" altLang="ko-KR" dirty="0" smtClean="0">
                <a:highlight>
                  <a:srgbClr val="FFFF00"/>
                </a:highlight>
              </a:rPr>
              <a:t>0</a:t>
            </a:r>
            <a:endParaRPr lang="ko-KR" altLang="en-US" dirty="0">
              <a:highlight>
                <a:srgbClr val="FFFF00"/>
              </a:highlight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FEF3002-EE3D-70A6-FA44-A97DF896C730}"/>
              </a:ext>
            </a:extLst>
          </p:cNvPr>
          <p:cNvCxnSpPr>
            <a:cxnSpLocks/>
          </p:cNvCxnSpPr>
          <p:nvPr/>
        </p:nvCxnSpPr>
        <p:spPr>
          <a:xfrm>
            <a:off x="9630650" y="2934150"/>
            <a:ext cx="919163" cy="73589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2D469964-760A-27C9-D32E-99348F0A97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27656" y="3778866"/>
            <a:ext cx="1689431" cy="2"/>
          </a:xfrm>
          <a:prstGeom prst="bentConnector3">
            <a:avLst>
              <a:gd name="adj1" fmla="val 50000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3161C1B-0B89-F7F3-5124-F6EF6D8276A9}"/>
              </a:ext>
            </a:extLst>
          </p:cNvPr>
          <p:cNvCxnSpPr>
            <a:cxnSpLocks/>
          </p:cNvCxnSpPr>
          <p:nvPr/>
        </p:nvCxnSpPr>
        <p:spPr>
          <a:xfrm>
            <a:off x="9072369" y="4635679"/>
            <a:ext cx="360082" cy="18466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346343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34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D1F7C-427F-D9FF-5F49-5EFD89C2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8168"/>
            <a:ext cx="12192000" cy="321037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9BEBF70-84AC-8C49-C8A1-E2D67604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30A3E-25C9-CB8C-C41A-73E02C9023E4}"/>
              </a:ext>
            </a:extLst>
          </p:cNvPr>
          <p:cNvSpPr txBox="1"/>
          <p:nvPr/>
        </p:nvSpPr>
        <p:spPr>
          <a:xfrm>
            <a:off x="154644" y="5224532"/>
            <a:ext cx="11447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(</a:t>
            </a:r>
            <a:r>
              <a:rPr lang="ko-KR" altLang="en-US" dirty="0"/>
              <a:t>각 모듈의 </a:t>
            </a:r>
            <a:r>
              <a:rPr lang="en-US" altLang="ko-KR" dirty="0"/>
              <a:t>output port</a:t>
            </a:r>
            <a:r>
              <a:rPr lang="ko-KR" altLang="en-US" dirty="0"/>
              <a:t>를 그룹으로 묶은 이미지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S3: </a:t>
            </a:r>
            <a:r>
              <a:rPr lang="en-US" altLang="ko-KR" dirty="0" err="1"/>
              <a:t>O_aload</a:t>
            </a:r>
            <a:r>
              <a:rPr lang="en-US" altLang="ko-KR" dirty="0"/>
              <a:t> = 1, </a:t>
            </a:r>
            <a:r>
              <a:rPr lang="en-US" altLang="ko-KR" dirty="0" err="1" smtClean="0"/>
              <a:t>O_src_sel</a:t>
            </a:r>
            <a:r>
              <a:rPr lang="en-US" altLang="ko-KR" dirty="0" smtClean="0"/>
              <a:t> </a:t>
            </a:r>
            <a:r>
              <a:rPr lang="en-US" altLang="ko-KR" dirty="0"/>
              <a:t>= 1</a:t>
            </a:r>
            <a:r>
              <a:rPr lang="ko-KR" altLang="en-US" dirty="0"/>
              <a:t>  이기 때문에 </a:t>
            </a:r>
            <a:endParaRPr lang="en-US" altLang="ko-KR" dirty="0"/>
          </a:p>
          <a:p>
            <a:r>
              <a:rPr lang="en-US" altLang="ko-KR" dirty="0"/>
              <a:t>A = 0 SUM_MUX = </a:t>
            </a:r>
            <a:r>
              <a:rPr lang="en-US" altLang="ko-KR" dirty="0" smtClean="0"/>
              <a:t>1(</a:t>
            </a:r>
            <a:r>
              <a:rPr lang="ko-KR" altLang="en-US" dirty="0" smtClean="0"/>
              <a:t>상수</a:t>
            </a:r>
            <a:r>
              <a:rPr lang="en-US" altLang="ko-KR" dirty="0" smtClean="0"/>
              <a:t>1)</a:t>
            </a:r>
            <a:r>
              <a:rPr lang="ko-KR" altLang="en-US" dirty="0"/>
              <a:t>이 </a:t>
            </a:r>
            <a:r>
              <a:rPr lang="en-US" altLang="ko-KR" dirty="0"/>
              <a:t>ALU</a:t>
            </a:r>
            <a:r>
              <a:rPr lang="ko-KR" altLang="en-US" dirty="0"/>
              <a:t>의 합으로 </a:t>
            </a:r>
            <a:r>
              <a:rPr lang="ko-KR" altLang="en-US" dirty="0" err="1"/>
              <a:t>연산되어</a:t>
            </a:r>
            <a:r>
              <a:rPr lang="ko-KR" altLang="en-US" dirty="0"/>
              <a:t> </a:t>
            </a:r>
            <a:r>
              <a:rPr lang="en-US" altLang="ko-KR" dirty="0" smtClean="0"/>
              <a:t>SRC_MUX</a:t>
            </a:r>
            <a:r>
              <a:rPr lang="ko-KR" altLang="en-US" dirty="0"/>
              <a:t>를 거쳐</a:t>
            </a:r>
            <a:endParaRPr lang="en-US" altLang="ko-KR" dirty="0"/>
          </a:p>
          <a:p>
            <a:r>
              <a:rPr lang="en-US" altLang="ko-KR" dirty="0"/>
              <a:t>A_REG</a:t>
            </a:r>
            <a:r>
              <a:rPr lang="ko-KR" altLang="en-US" dirty="0" smtClean="0"/>
              <a:t>에 들어가는 </a:t>
            </a:r>
            <a:r>
              <a:rPr lang="ko-KR" altLang="en-US" dirty="0"/>
              <a:t>것을 </a:t>
            </a:r>
            <a:r>
              <a:rPr lang="ko-KR" altLang="en-US" dirty="0" smtClean="0"/>
              <a:t>확인</a:t>
            </a:r>
            <a:endParaRPr lang="en-US" altLang="ko-KR" dirty="0" smtClean="0"/>
          </a:p>
          <a:p>
            <a:r>
              <a:rPr lang="en-US" altLang="ko-KR" dirty="0" err="1" smtClean="0"/>
              <a:t>Sum_reg</a:t>
            </a:r>
            <a:r>
              <a:rPr lang="en-US" altLang="ko-KR" dirty="0" smtClean="0"/>
              <a:t> =0</a:t>
            </a:r>
            <a:r>
              <a:rPr lang="ko-KR" altLang="en-US" dirty="0" smtClean="0"/>
              <a:t>을 출력하는 것을 확인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DC921-6595-3B4C-C5DF-6F1EF999C724}"/>
              </a:ext>
            </a:extLst>
          </p:cNvPr>
          <p:cNvSpPr txBox="1"/>
          <p:nvPr/>
        </p:nvSpPr>
        <p:spPr>
          <a:xfrm>
            <a:off x="9596555" y="4295205"/>
            <a:ext cx="113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1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2F81-5104-FFE6-39C8-A95F18AC8633}"/>
              </a:ext>
            </a:extLst>
          </p:cNvPr>
          <p:cNvSpPr txBox="1"/>
          <p:nvPr/>
        </p:nvSpPr>
        <p:spPr>
          <a:xfrm>
            <a:off x="9384202" y="4834768"/>
            <a:ext cx="71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0+ 1</a:t>
            </a:r>
            <a:endParaRPr lang="ko-KR" altLang="en-US" dirty="0">
              <a:highlight>
                <a:srgbClr val="FFFF00"/>
              </a:highlight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D214E1-5A66-4A6F-5673-F65147664588}"/>
              </a:ext>
            </a:extLst>
          </p:cNvPr>
          <p:cNvCxnSpPr>
            <a:cxnSpLocks/>
          </p:cNvCxnSpPr>
          <p:nvPr/>
        </p:nvCxnSpPr>
        <p:spPr>
          <a:xfrm>
            <a:off x="9855971" y="2895383"/>
            <a:ext cx="793369" cy="32679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FC784BC-B040-B974-2170-52AC2622707F}"/>
              </a:ext>
            </a:extLst>
          </p:cNvPr>
          <p:cNvSpPr txBox="1"/>
          <p:nvPr/>
        </p:nvSpPr>
        <p:spPr>
          <a:xfrm>
            <a:off x="9384202" y="3356035"/>
            <a:ext cx="78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A=0</a:t>
            </a:r>
            <a:endParaRPr lang="ko-KR" altLang="en-US" dirty="0">
              <a:highlight>
                <a:srgbClr val="FFFF00"/>
              </a:highlight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AE07847-5BCC-4D25-F6F2-F602533D162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89395" y="3588400"/>
            <a:ext cx="1737674" cy="351640"/>
          </a:xfrm>
          <a:prstGeom prst="bentConnector3">
            <a:avLst>
              <a:gd name="adj1" fmla="val 100116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256ABFE-C107-4129-0261-48E69F834B49}"/>
              </a:ext>
            </a:extLst>
          </p:cNvPr>
          <p:cNvCxnSpPr>
            <a:cxnSpLocks/>
          </p:cNvCxnSpPr>
          <p:nvPr/>
        </p:nvCxnSpPr>
        <p:spPr>
          <a:xfrm>
            <a:off x="9073970" y="4650102"/>
            <a:ext cx="360082" cy="18466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20674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FC784BC-B040-B974-2170-52AC2622707F}"/>
              </a:ext>
            </a:extLst>
          </p:cNvPr>
          <p:cNvSpPr txBox="1"/>
          <p:nvPr/>
        </p:nvSpPr>
        <p:spPr>
          <a:xfrm>
            <a:off x="8928710" y="1987693"/>
            <a:ext cx="162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highlight>
                  <a:srgbClr val="FFFF00"/>
                </a:highlight>
              </a:rPr>
              <a:t>Sum_reg</a:t>
            </a:r>
            <a:r>
              <a:rPr lang="en-US" altLang="ko-KR" dirty="0" smtClean="0">
                <a:highlight>
                  <a:srgbClr val="FFFF00"/>
                </a:highlight>
              </a:rPr>
              <a:t> </a:t>
            </a:r>
            <a:r>
              <a:rPr lang="ko-KR" altLang="en-US" dirty="0" smtClean="0">
                <a:highlight>
                  <a:srgbClr val="FFFF00"/>
                </a:highlight>
              </a:rPr>
              <a:t>출력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569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3920-1D19-E405-6C2C-83DD5118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" y="1340316"/>
            <a:ext cx="12132907" cy="41054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398E38-B320-D937-7435-212BEF41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130D4-478A-9929-AF63-A42412DC44E2}"/>
              </a:ext>
            </a:extLst>
          </p:cNvPr>
          <p:cNvSpPr txBox="1"/>
          <p:nvPr/>
        </p:nvSpPr>
        <p:spPr>
          <a:xfrm>
            <a:off x="173305" y="5584574"/>
            <a:ext cx="11447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Data_path</a:t>
            </a:r>
            <a:r>
              <a:rPr lang="en-US" altLang="ko-KR" dirty="0"/>
              <a:t>(</a:t>
            </a:r>
            <a:r>
              <a:rPr lang="ko-KR" altLang="en-US" dirty="0"/>
              <a:t>각 모듈의 </a:t>
            </a:r>
            <a:r>
              <a:rPr lang="en-US" altLang="ko-KR" dirty="0"/>
              <a:t>output port</a:t>
            </a:r>
            <a:r>
              <a:rPr lang="ko-KR" altLang="en-US" dirty="0"/>
              <a:t>를 그룹으로 묶은 이미지</a:t>
            </a:r>
            <a:r>
              <a:rPr lang="en-US" altLang="ko-KR" dirty="0"/>
              <a:t>)</a:t>
            </a:r>
          </a:p>
          <a:p>
            <a:r>
              <a:rPr lang="en-US" altLang="ko-KR" dirty="0" smtClean="0"/>
              <a:t>S3 -&gt; S1 -&gt; S4</a:t>
            </a:r>
          </a:p>
          <a:p>
            <a:r>
              <a:rPr lang="en-US" altLang="ko-KR" dirty="0" smtClean="0"/>
              <a:t>S1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a_reg</a:t>
            </a:r>
            <a:r>
              <a:rPr lang="en-US" altLang="ko-KR" dirty="0" smtClean="0"/>
              <a:t> == 11</a:t>
            </a:r>
            <a:r>
              <a:rPr lang="ko-KR" altLang="en-US" dirty="0" smtClean="0"/>
              <a:t>이기 때문에 </a:t>
            </a:r>
            <a:r>
              <a:rPr lang="en-US" altLang="ko-KR" dirty="0" smtClean="0"/>
              <a:t>equal </a:t>
            </a:r>
            <a:r>
              <a:rPr lang="ko-KR" altLang="en-US" dirty="0" smtClean="0"/>
              <a:t>신호 발생</a:t>
            </a:r>
            <a:endParaRPr lang="en-US" altLang="ko-KR" dirty="0" smtClean="0"/>
          </a:p>
          <a:p>
            <a:r>
              <a:rPr lang="en-US" altLang="ko-KR" dirty="0" smtClean="0"/>
              <a:t>S1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equal </a:t>
            </a:r>
            <a:r>
              <a:rPr lang="ko-KR" altLang="en-US" dirty="0" smtClean="0"/>
              <a:t>신호에 의해 </a:t>
            </a:r>
            <a:r>
              <a:rPr lang="en-US" altLang="ko-KR" dirty="0" smtClean="0"/>
              <a:t>S4</a:t>
            </a:r>
            <a:r>
              <a:rPr lang="ko-KR" altLang="en-US" dirty="0" smtClean="0"/>
              <a:t>로 이동 및 </a:t>
            </a:r>
            <a:r>
              <a:rPr lang="en-US" altLang="ko-KR" dirty="0" smtClean="0"/>
              <a:t>out </a:t>
            </a:r>
            <a:r>
              <a:rPr lang="ko-KR" altLang="en-US" dirty="0" smtClean="0"/>
              <a:t>출력</a:t>
            </a:r>
            <a:endParaRPr lang="en-US" altLang="ko-KR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35187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FEF3002-EE3D-70A6-FA44-A97DF896C730}"/>
              </a:ext>
            </a:extLst>
          </p:cNvPr>
          <p:cNvCxnSpPr>
            <a:cxnSpLocks/>
          </p:cNvCxnSpPr>
          <p:nvPr/>
        </p:nvCxnSpPr>
        <p:spPr>
          <a:xfrm flipV="1">
            <a:off x="8248261" y="3342607"/>
            <a:ext cx="1561323" cy="110101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34DC921-6595-3B4C-C5DF-6F1EF999C724}"/>
              </a:ext>
            </a:extLst>
          </p:cNvPr>
          <p:cNvSpPr txBox="1"/>
          <p:nvPr/>
        </p:nvSpPr>
        <p:spPr>
          <a:xfrm>
            <a:off x="8003023" y="3893113"/>
            <a:ext cx="113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11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DC921-6595-3B4C-C5DF-6F1EF999C724}"/>
              </a:ext>
            </a:extLst>
          </p:cNvPr>
          <p:cNvSpPr txBox="1"/>
          <p:nvPr/>
        </p:nvSpPr>
        <p:spPr>
          <a:xfrm>
            <a:off x="9346631" y="3014239"/>
            <a:ext cx="113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highlight>
                  <a:srgbClr val="FFFF00"/>
                </a:highlight>
              </a:rPr>
              <a:t>출력 </a:t>
            </a:r>
            <a:r>
              <a:rPr lang="en-US" altLang="ko-KR" dirty="0" smtClean="0">
                <a:highlight>
                  <a:srgbClr val="FFFF00"/>
                </a:highlight>
              </a:rPr>
              <a:t>55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4DC921-6595-3B4C-C5DF-6F1EF999C724}"/>
              </a:ext>
            </a:extLst>
          </p:cNvPr>
          <p:cNvSpPr txBox="1"/>
          <p:nvPr/>
        </p:nvSpPr>
        <p:spPr>
          <a:xfrm>
            <a:off x="1175657" y="1340316"/>
            <a:ext cx="1125895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ctrl _unit</a:t>
            </a:r>
          </a:p>
          <a:p>
            <a:endParaRPr lang="en-US" altLang="ko-KR" dirty="0" smtClean="0">
              <a:highlight>
                <a:srgbClr val="FFFF00"/>
              </a:highlight>
            </a:endParaRPr>
          </a:p>
          <a:p>
            <a:pPr algn="ctr"/>
            <a:r>
              <a:rPr lang="en-US" altLang="ko-KR" dirty="0" smtClean="0">
                <a:highlight>
                  <a:srgbClr val="FFFF00"/>
                </a:highlight>
              </a:rPr>
              <a:t>i/o</a:t>
            </a:r>
          </a:p>
          <a:p>
            <a:pPr algn="ctr"/>
            <a:endParaRPr lang="en-US" altLang="ko-KR" dirty="0" smtClean="0">
              <a:highlight>
                <a:srgbClr val="FFFF00"/>
              </a:highlight>
            </a:endParaRPr>
          </a:p>
          <a:p>
            <a:pPr algn="ctr"/>
            <a:r>
              <a:rPr lang="en-US" altLang="ko-KR" dirty="0" smtClean="0">
                <a:highlight>
                  <a:srgbClr val="FFFF00"/>
                </a:highlight>
              </a:rPr>
              <a:t>signals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FEF3002-EE3D-70A6-FA44-A97DF896C730}"/>
              </a:ext>
            </a:extLst>
          </p:cNvPr>
          <p:cNvCxnSpPr>
            <a:cxnSpLocks/>
          </p:cNvCxnSpPr>
          <p:nvPr/>
        </p:nvCxnSpPr>
        <p:spPr>
          <a:xfrm flipV="1">
            <a:off x="8360228" y="2665879"/>
            <a:ext cx="1" cy="1227235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4DC921-6595-3B4C-C5DF-6F1EF999C724}"/>
              </a:ext>
            </a:extLst>
          </p:cNvPr>
          <p:cNvSpPr txBox="1"/>
          <p:nvPr/>
        </p:nvSpPr>
        <p:spPr>
          <a:xfrm>
            <a:off x="7884835" y="4490718"/>
            <a:ext cx="113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ighlight>
                  <a:srgbClr val="FFFF00"/>
                </a:highlight>
              </a:rPr>
              <a:t>55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7919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3920-1D19-E405-6C2C-83DD5118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388"/>
            <a:ext cx="12192000" cy="402671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9398E38-B320-D937-7435-212BEF41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simulation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130D4-478A-9929-AF63-A42412DC44E2}"/>
              </a:ext>
            </a:extLst>
          </p:cNvPr>
          <p:cNvSpPr txBox="1"/>
          <p:nvPr/>
        </p:nvSpPr>
        <p:spPr>
          <a:xfrm>
            <a:off x="328073" y="5925621"/>
            <a:ext cx="1144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0 , 1, 3, 6,10,15,21,28,36,45,55</a:t>
            </a:r>
            <a:r>
              <a:rPr lang="ko-KR" altLang="en-US" dirty="0" smtClean="0"/>
              <a:t>를 순차적으로 출력하는 것을 확인</a:t>
            </a:r>
            <a:endParaRPr lang="en-US" altLang="ko-KR" dirty="0" smtClean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09765E-A71E-A827-6E34-21BFF9C8C02D}"/>
              </a:ext>
            </a:extLst>
          </p:cNvPr>
          <p:cNvSpPr/>
          <p:nvPr/>
        </p:nvSpPr>
        <p:spPr>
          <a:xfrm>
            <a:off x="3123513" y="1817127"/>
            <a:ext cx="8651720" cy="47737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E12ED-50A6-0045-2E82-0217A3D62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542185"/>
              </p:ext>
            </p:extLst>
          </p:nvPr>
        </p:nvGraphicFramePr>
        <p:xfrm>
          <a:off x="7164294" y="0"/>
          <a:ext cx="502770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951">
                  <a:extLst>
                    <a:ext uri="{9D8B030D-6E8A-4147-A177-3AD203B41FA5}">
                      <a16:colId xmlns:a16="http://schemas.microsoft.com/office/drawing/2014/main" val="3688659816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9106075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2852900162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810204028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1575175893"/>
                    </a:ext>
                  </a:extLst>
                </a:gridCol>
                <a:gridCol w="837951">
                  <a:extLst>
                    <a:ext uri="{9D8B030D-6E8A-4147-A177-3AD203B41FA5}">
                      <a16:colId xmlns:a16="http://schemas.microsoft.com/office/drawing/2014/main" val="3204013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IDLE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47183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O_src_sel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557906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O_aload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66291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O_sumload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20255"/>
                  </a:ext>
                </a:extLst>
              </a:tr>
              <a:tr h="162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O_out_sel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6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69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578</Words>
  <Application>Microsoft Office PowerPoint</Application>
  <PresentationFormat>와이드스크린</PresentationFormat>
  <Paragraphs>276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ALU Factorial</vt:lpstr>
      <vt:lpstr>1. C언어 설계</vt:lpstr>
      <vt:lpstr>2. DATAPATH 설계</vt:lpstr>
      <vt:lpstr>3. ASM 차트</vt:lpstr>
      <vt:lpstr>4. simulation - 시나리오</vt:lpstr>
      <vt:lpstr>4. simulation</vt:lpstr>
      <vt:lpstr>4. simulation</vt:lpstr>
      <vt:lpstr>4. simulation</vt:lpstr>
      <vt:lpstr>4. simulation</vt:lpstr>
      <vt:lpstr>4. simulation</vt:lpstr>
      <vt:lpstr>4. simulation</vt:lpstr>
      <vt:lpstr>4.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Factorial</dc:title>
  <dc:creator>준형 이</dc:creator>
  <cp:lastModifiedBy>kccistc</cp:lastModifiedBy>
  <cp:revision>15</cp:revision>
  <dcterms:created xsi:type="dcterms:W3CDTF">2026-03-05T13:56:16Z</dcterms:created>
  <dcterms:modified xsi:type="dcterms:W3CDTF">2026-03-06T01:48:02Z</dcterms:modified>
</cp:coreProperties>
</file>