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>
        <p:scale>
          <a:sx n="150" d="100"/>
          <a:sy n="150" d="100"/>
        </p:scale>
        <p:origin x="62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3D625D-AD7D-1BC5-2A69-13CC1DEF69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CE4BCF-4423-C01E-43CC-927C8605C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373901-D311-1034-1B53-224A56CA3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785CFC-FE81-A3DF-84B7-8FC26C695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2C575A-A5FA-1B52-D3C7-7D37BBB61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96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3DD188-A1D3-E70C-22B9-09FF713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2711EC-CCB0-1CBA-EF05-1C54DF550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0A47C8-9A28-047E-8B3D-B59E94397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91BDFF-CAD6-144F-7445-5D8FFC5D7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15DF67-AC0B-421F-9B29-69F7401CA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771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286FA-A14C-6278-DD06-06315E100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32F12B-44CF-FDAC-4E75-8AFCF667F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29AED3-8A19-3E05-616D-23D27DF2A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6F7E7B-504B-20F4-C595-A799435D4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2B0879-E7F5-F11B-FCDB-25578A4FC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5194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C8759C-C818-1D60-AECE-4083104E1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3339E4-4BA9-6593-06BA-3739199790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F63B497-0D86-8201-00A2-C2CDEEE421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4725E4-B597-2B6E-7318-6A97A84C1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08D474-0CC4-8969-459C-CF4E2A5B1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1256E44-57EB-F06D-1A08-A5E165F91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471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D5D6C1-D29B-DF40-AC79-E28180E23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3BB4AF-887C-C71F-76AB-EA81A790C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055C49-CB2C-5433-6E78-AAB574A59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40DEA60-1B44-6367-5130-AC0F66167E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E3C98C5-28AC-03FF-16E8-203E9D2EB0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7D2BF17-4709-B93C-B786-9690FFA73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B227546-A2A7-DCBC-5FE3-5E1560FF6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BDCD8A5-3055-25FB-28FB-95577ADC6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591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947C6-C388-427C-9E39-E27E37E68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BC1770B-8457-41AF-1FD7-F4F434E8C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A8818EA-8BA4-842F-DFB6-184A5C9B9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4860835-AC6E-0CAE-32E4-A11C7DCB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497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35E195A-CE31-BB3C-19E2-0FAF05CD9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12F7B3-6A30-C2FB-5AF0-DA3317ED1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5B28CF-1D5F-5314-0AB4-EEE0014CA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4976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F2E0C1-216F-46F5-BBC4-341DDE97D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067120-965A-C061-B2FB-3006FC59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902373-B50F-0F9F-E943-9E018CE89A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2FBB63-1153-79F0-61D2-345EFB141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AF1CA20-2C04-1E9F-313A-D220D88B8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0BCC77-C806-1FFC-7E04-8A8FBEB58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63943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8E1F7E-ACF1-46F4-EF7D-228438D92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C6EB86-01A2-5F64-9D56-ED32CA62AF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6F2039-52D5-26C5-0DB2-6C1B5D8798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40B443-0A01-AC04-BC8E-6139A9760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535884-9BEA-A066-AA64-09493750E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DCE3E69-E9C3-D110-AB7A-074E342F4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780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16B324-39B5-3D43-2661-F6D163A69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D787C8-BDBA-07EF-4134-299ABD9A83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889616-7BB9-E89D-365F-5EDACF2E0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E7605-2B6C-BA97-46FF-38CA1E2CD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FAC9E4-5159-62B7-3AEB-81C09E314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0835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686F7F-0796-DD3A-8B75-F58F059349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3CD355-979B-0C03-A3FD-6D319F72D8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FFDD13-A5E6-E74B-6369-2EE88D88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6D8E4A-18C4-B829-32D1-572D837F7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165E4B-0D18-E84E-449A-556E0F8B5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1622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675CB89-6AA0-7C00-4A7B-3702971D9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78949B4-0B15-6782-62E5-3363B73D21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F0240F-5677-675A-834E-62A407E276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AD3930-65C8-43FA-8080-9609EAB9FD3E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387500-6A3E-50AF-EEA7-CEFB8E89D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57973C-DDC6-E097-806A-5A47F46B5D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484D0D-EE65-4B72-AE7D-9D3F95BE1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2635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F9B9DB-B8BF-1D23-1CB8-0CE52228F4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ALU Factorial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6CF16FA-592B-D41B-A891-49ED5BBC2E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ko-KR" altLang="en-US" dirty="0"/>
              <a:t>이준형</a:t>
            </a:r>
          </a:p>
        </p:txBody>
      </p:sp>
    </p:spTree>
    <p:extLst>
      <p:ext uri="{BB962C8B-B14F-4D97-AF65-F5344CB8AC3E}">
        <p14:creationId xmlns:p14="http://schemas.microsoft.com/office/powerpoint/2010/main" val="1046296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0ECC5A-8AD8-1C02-6B25-87A0196EC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C</a:t>
            </a:r>
            <a:r>
              <a:rPr lang="ko-KR" altLang="en-US" dirty="0"/>
              <a:t>언어 설계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2704FB0-EF1E-4C31-50E1-E11C5DC77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500" y="1690688"/>
            <a:ext cx="4097787" cy="437387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47A91A0-FA7C-131C-32D0-C001CF8D9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913" y="3458468"/>
            <a:ext cx="4372585" cy="8383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933DCC3-EB75-23DC-2388-EF6BDA2680C0}"/>
              </a:ext>
            </a:extLst>
          </p:cNvPr>
          <p:cNvSpPr txBox="1"/>
          <p:nvPr/>
        </p:nvSpPr>
        <p:spPr>
          <a:xfrm>
            <a:off x="6441740" y="3030200"/>
            <a:ext cx="1330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 결과</a:t>
            </a:r>
          </a:p>
        </p:txBody>
      </p:sp>
    </p:spTree>
    <p:extLst>
      <p:ext uri="{BB962C8B-B14F-4D97-AF65-F5344CB8AC3E}">
        <p14:creationId xmlns:p14="http://schemas.microsoft.com/office/powerpoint/2010/main" val="3239221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75B51-D7E5-4FFC-AE5A-3B3E6B150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05D6C0-353F-EDF3-9F1F-20AB4B0BC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DATAPATH </a:t>
            </a:r>
            <a:r>
              <a:rPr lang="ko-KR" altLang="en-US" dirty="0"/>
              <a:t>설계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98ABAB-8111-B269-3ECB-6C2509E820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521" y="0"/>
            <a:ext cx="3610479" cy="2429214"/>
          </a:xfrm>
          <a:prstGeom prst="rect">
            <a:avLst/>
          </a:prstGeom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5EE39BF-F29B-F907-BC07-0A0E271521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983190"/>
              </p:ext>
            </p:extLst>
          </p:nvPr>
        </p:nvGraphicFramePr>
        <p:xfrm>
          <a:off x="7469841" y="3207372"/>
          <a:ext cx="382643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479">
                  <a:extLst>
                    <a:ext uri="{9D8B030D-6E8A-4147-A177-3AD203B41FA5}">
                      <a16:colId xmlns:a16="http://schemas.microsoft.com/office/drawing/2014/main" val="2407538849"/>
                    </a:ext>
                  </a:extLst>
                </a:gridCol>
                <a:gridCol w="1275479">
                  <a:extLst>
                    <a:ext uri="{9D8B030D-6E8A-4147-A177-3AD203B41FA5}">
                      <a16:colId xmlns:a16="http://schemas.microsoft.com/office/drawing/2014/main" val="1851716472"/>
                    </a:ext>
                  </a:extLst>
                </a:gridCol>
                <a:gridCol w="1275479">
                  <a:extLst>
                    <a:ext uri="{9D8B030D-6E8A-4147-A177-3AD203B41FA5}">
                      <a16:colId xmlns:a16="http://schemas.microsoft.com/office/drawing/2014/main" val="14072219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ALU Out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A_in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B_in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0377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Sum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Sum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319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618161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831D5DB0-DB2C-12C3-BFE1-CFEC487B61F4}"/>
              </a:ext>
            </a:extLst>
          </p:cNvPr>
          <p:cNvSpPr txBox="1"/>
          <p:nvPr/>
        </p:nvSpPr>
        <p:spPr>
          <a:xfrm>
            <a:off x="6878472" y="4578723"/>
            <a:ext cx="5313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1. ALU </a:t>
            </a:r>
            <a:r>
              <a:rPr lang="ko-KR" altLang="en-US" dirty="0"/>
              <a:t>연산 </a:t>
            </a:r>
            <a:endParaRPr lang="en-US" altLang="ko-KR" dirty="0"/>
          </a:p>
          <a:p>
            <a:r>
              <a:rPr lang="en-US" altLang="ko-KR" dirty="0" err="1"/>
              <a:t>B_in</a:t>
            </a:r>
            <a:r>
              <a:rPr lang="ko-KR" altLang="en-US" dirty="0"/>
              <a:t>의 값이 </a:t>
            </a:r>
            <a:r>
              <a:rPr lang="en-US" altLang="ko-KR" dirty="0"/>
              <a:t>1 or SUM </a:t>
            </a:r>
            <a:r>
              <a:rPr lang="ko-KR" altLang="en-US" dirty="0"/>
              <a:t>값으로 치환 가능하게 설계</a:t>
            </a:r>
            <a:endParaRPr lang="en-US" altLang="ko-KR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751543FE-150A-81D7-40E2-289795C81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4" y="1885950"/>
            <a:ext cx="6179017" cy="389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192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79C25-C43D-CE29-5BE4-3052A1997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ABB22-BC5C-8A9F-4970-FFDB00CDA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ASM </a:t>
            </a:r>
            <a:r>
              <a:rPr lang="ko-KR" altLang="en-US" dirty="0"/>
              <a:t>차트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4C5962-69E1-F9E0-44ED-BE47C3F298FC}"/>
              </a:ext>
            </a:extLst>
          </p:cNvPr>
          <p:cNvSpPr txBox="1"/>
          <p:nvPr/>
        </p:nvSpPr>
        <p:spPr>
          <a:xfrm>
            <a:off x="5006066" y="4240798"/>
            <a:ext cx="2629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IDLE : Sum = 0, a = 0</a:t>
            </a:r>
          </a:p>
          <a:p>
            <a:r>
              <a:rPr lang="en-US" altLang="ko-KR" dirty="0"/>
              <a:t>S1 : while(a&lt;10)</a:t>
            </a:r>
          </a:p>
          <a:p>
            <a:r>
              <a:rPr lang="en-US" altLang="ko-KR" dirty="0"/>
              <a:t>S2 : a = a + 1</a:t>
            </a:r>
          </a:p>
          <a:p>
            <a:r>
              <a:rPr lang="en-US" altLang="ko-KR" dirty="0"/>
              <a:t>S3 : sum = sum + a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EA1AF42-06FD-3545-79BB-9E7EE44DC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066" y="872654"/>
            <a:ext cx="2938802" cy="313680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B441FCC-3EDF-C8AF-2374-62A524EC4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8687" y="0"/>
            <a:ext cx="3420620" cy="685800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4C7528E-5704-AEA4-E803-00D81705D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692" y="1338062"/>
            <a:ext cx="4166251" cy="5342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3935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5D53B-723A-4BE9-C7DF-A50328A44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50376-1381-287A-69E5-918B6C3EA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simulation</a:t>
            </a:r>
            <a:endParaRPr lang="ko-KR" altLang="en-US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2BE12ED-50A6-0045-2E82-0217A3D627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1821089"/>
              </p:ext>
            </p:extLst>
          </p:nvPr>
        </p:nvGraphicFramePr>
        <p:xfrm>
          <a:off x="7164294" y="0"/>
          <a:ext cx="5027706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951">
                  <a:extLst>
                    <a:ext uri="{9D8B030D-6E8A-4147-A177-3AD203B41FA5}">
                      <a16:colId xmlns:a16="http://schemas.microsoft.com/office/drawing/2014/main" val="3688659816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9106075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2852900162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810204028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5175893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2040134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IDLE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S4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347183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O_src_sel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6557906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O_aload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4266291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O_sumload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620255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O_out_sel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266656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0FC068EA-03FA-1D18-B70F-660D523921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564"/>
          <a:stretch>
            <a:fillRect/>
          </a:stretch>
        </p:blipFill>
        <p:spPr>
          <a:xfrm>
            <a:off x="838200" y="1498228"/>
            <a:ext cx="10564699" cy="22803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F883A6B-7830-E23F-4297-D28B368E7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73134"/>
            <a:ext cx="10564699" cy="194271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D6A468-8D85-B6F8-76AE-A0D332F7768D}"/>
              </a:ext>
            </a:extLst>
          </p:cNvPr>
          <p:cNvSpPr txBox="1"/>
          <p:nvPr/>
        </p:nvSpPr>
        <p:spPr>
          <a:xfrm>
            <a:off x="1606924" y="6123543"/>
            <a:ext cx="7792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</a:t>
            </a:r>
            <a:r>
              <a:rPr lang="ko-KR" altLang="en-US" dirty="0"/>
              <a:t>에 따른 </a:t>
            </a:r>
            <a:r>
              <a:rPr lang="en-US" altLang="ko-KR" dirty="0"/>
              <a:t>control unit</a:t>
            </a:r>
            <a:r>
              <a:rPr lang="ko-KR" altLang="en-US" dirty="0"/>
              <a:t>의 </a:t>
            </a:r>
            <a:r>
              <a:rPr lang="en-US" altLang="ko-KR" dirty="0"/>
              <a:t>output </a:t>
            </a:r>
            <a:r>
              <a:rPr lang="ko-KR" altLang="en-US" dirty="0"/>
              <a:t>신호에 대해서 정상 출력 확인</a:t>
            </a:r>
          </a:p>
        </p:txBody>
      </p:sp>
    </p:spTree>
    <p:extLst>
      <p:ext uri="{BB962C8B-B14F-4D97-AF65-F5344CB8AC3E}">
        <p14:creationId xmlns:p14="http://schemas.microsoft.com/office/powerpoint/2010/main" val="1394758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D11EF-D793-4150-40A3-DD0027BBA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AE8A1256-524E-080B-931B-C0A37DB13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9391"/>
            <a:ext cx="12192000" cy="423921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6EA4291-E041-377E-2906-CBAC335EC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simulation</a:t>
            </a:r>
            <a:endParaRPr lang="ko-KR" altLang="en-US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62783A6-5F57-AA48-F713-CBFF1C48FCA0}"/>
              </a:ext>
            </a:extLst>
          </p:cNvPr>
          <p:cNvGraphicFramePr>
            <a:graphicFrameLocks noGrp="1"/>
          </p:cNvGraphicFramePr>
          <p:nvPr/>
        </p:nvGraphicFramePr>
        <p:xfrm>
          <a:off x="7164294" y="0"/>
          <a:ext cx="5027706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951">
                  <a:extLst>
                    <a:ext uri="{9D8B030D-6E8A-4147-A177-3AD203B41FA5}">
                      <a16:colId xmlns:a16="http://schemas.microsoft.com/office/drawing/2014/main" val="3688659816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9106075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2852900162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810204028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5175893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2040134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IDLE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S4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347183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O_src_sel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6557906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O_aload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4266291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O_sumload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620255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O_out_sel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266656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156A37D-04CF-757E-02D0-61B09A75A1CC}"/>
              </a:ext>
            </a:extLst>
          </p:cNvPr>
          <p:cNvSpPr txBox="1"/>
          <p:nvPr/>
        </p:nvSpPr>
        <p:spPr>
          <a:xfrm>
            <a:off x="63071" y="5754639"/>
            <a:ext cx="11447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Data_path</a:t>
            </a:r>
            <a:r>
              <a:rPr lang="en-US" altLang="ko-KR" dirty="0"/>
              <a:t>(</a:t>
            </a:r>
            <a:r>
              <a:rPr lang="ko-KR" altLang="en-US" dirty="0"/>
              <a:t>각 모듈의 </a:t>
            </a:r>
            <a:r>
              <a:rPr lang="en-US" altLang="ko-KR" dirty="0"/>
              <a:t>output port</a:t>
            </a:r>
            <a:r>
              <a:rPr lang="ko-KR" altLang="en-US" dirty="0"/>
              <a:t>를 그룹으로 묶은 이미지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IDLE : A_REG, SUM_REG </a:t>
            </a:r>
            <a:r>
              <a:rPr lang="ko-KR" altLang="en-US" dirty="0"/>
              <a:t>초기화 확인</a:t>
            </a:r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25DCDFA-4633-D48F-1DC0-4718D6ED0798}"/>
              </a:ext>
            </a:extLst>
          </p:cNvPr>
          <p:cNvSpPr/>
          <p:nvPr/>
        </p:nvSpPr>
        <p:spPr>
          <a:xfrm>
            <a:off x="5685799" y="2548218"/>
            <a:ext cx="1377643" cy="3000390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1900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3B125-5D6C-8738-A703-6402E29C6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0A6075E-C756-0224-0684-560233FA3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9391"/>
            <a:ext cx="12192000" cy="423921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0AAE433-96EB-2A11-7252-90436729E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simulation</a:t>
            </a:r>
            <a:endParaRPr lang="ko-KR" altLang="en-US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4AD4E6B-6DEF-3B95-090A-19E27AB238FD}"/>
              </a:ext>
            </a:extLst>
          </p:cNvPr>
          <p:cNvGraphicFramePr>
            <a:graphicFrameLocks noGrp="1"/>
          </p:cNvGraphicFramePr>
          <p:nvPr/>
        </p:nvGraphicFramePr>
        <p:xfrm>
          <a:off x="7164294" y="0"/>
          <a:ext cx="5027706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951">
                  <a:extLst>
                    <a:ext uri="{9D8B030D-6E8A-4147-A177-3AD203B41FA5}">
                      <a16:colId xmlns:a16="http://schemas.microsoft.com/office/drawing/2014/main" val="3688659816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9106075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2852900162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810204028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5175893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2040134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IDLE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S4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347183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O_src_sel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6557906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O_aload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4266291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O_sumload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620255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O_out_sel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266656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F48F016-28D6-90A7-72BC-BFB1AE8DF69F}"/>
              </a:ext>
            </a:extLst>
          </p:cNvPr>
          <p:cNvSpPr txBox="1"/>
          <p:nvPr/>
        </p:nvSpPr>
        <p:spPr>
          <a:xfrm>
            <a:off x="174310" y="5754638"/>
            <a:ext cx="11447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Data_path</a:t>
            </a:r>
            <a:r>
              <a:rPr lang="en-US" altLang="ko-KR" dirty="0"/>
              <a:t>(</a:t>
            </a:r>
            <a:r>
              <a:rPr lang="ko-KR" altLang="en-US" dirty="0"/>
              <a:t>각 모듈의 </a:t>
            </a:r>
            <a:r>
              <a:rPr lang="en-US" altLang="ko-KR" dirty="0"/>
              <a:t>output port</a:t>
            </a:r>
            <a:r>
              <a:rPr lang="ko-KR" altLang="en-US" dirty="0"/>
              <a:t>를 그룹으로 묶은 이미지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S1 :</a:t>
            </a:r>
            <a:r>
              <a:rPr lang="en-US" altLang="ko-KR" dirty="0" err="1"/>
              <a:t>O_sumload</a:t>
            </a:r>
            <a:r>
              <a:rPr lang="en-US" altLang="ko-KR" dirty="0"/>
              <a:t> = 0</a:t>
            </a:r>
            <a:r>
              <a:rPr lang="ko-KR" altLang="en-US" dirty="0"/>
              <a:t> 이기 때문에 </a:t>
            </a:r>
            <a:r>
              <a:rPr lang="en-US" altLang="ko-KR" dirty="0"/>
              <a:t>SUM_MUX</a:t>
            </a:r>
            <a:r>
              <a:rPr lang="ko-KR" altLang="en-US" dirty="0"/>
              <a:t>가 상수</a:t>
            </a:r>
            <a:r>
              <a:rPr lang="en-US" altLang="ko-KR" dirty="0"/>
              <a:t>1</a:t>
            </a:r>
            <a:r>
              <a:rPr lang="ko-KR" altLang="en-US" dirty="0"/>
              <a:t>을 출력하는 것을 확인</a:t>
            </a:r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69E5F1A-F9E5-9BCD-DD71-CA380C1DE894}"/>
              </a:ext>
            </a:extLst>
          </p:cNvPr>
          <p:cNvSpPr/>
          <p:nvPr/>
        </p:nvSpPr>
        <p:spPr>
          <a:xfrm>
            <a:off x="7076887" y="1219200"/>
            <a:ext cx="702236" cy="4297533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842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F1449-32A6-2252-0C78-75A98734B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E340ECC-90B4-2B5B-C92C-5EC9B1BD9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9391"/>
            <a:ext cx="12192000" cy="423921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7C1E9E5-A947-43C8-2AAE-6495298A4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simulation</a:t>
            </a:r>
            <a:endParaRPr lang="ko-KR" altLang="en-US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BD255AB-BD14-BAA4-FC39-7BB2BDBFD387}"/>
              </a:ext>
            </a:extLst>
          </p:cNvPr>
          <p:cNvGraphicFramePr>
            <a:graphicFrameLocks noGrp="1"/>
          </p:cNvGraphicFramePr>
          <p:nvPr/>
        </p:nvGraphicFramePr>
        <p:xfrm>
          <a:off x="7164294" y="0"/>
          <a:ext cx="5027706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951">
                  <a:extLst>
                    <a:ext uri="{9D8B030D-6E8A-4147-A177-3AD203B41FA5}">
                      <a16:colId xmlns:a16="http://schemas.microsoft.com/office/drawing/2014/main" val="3688659816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9106075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2852900162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810204028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5175893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2040134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IDLE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S4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347183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O_src_sel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6557906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O_aload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4266291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O_sumload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620255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O_out_sel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266656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EC9678DB-A239-7EC3-F705-78E9B5D88E75}"/>
              </a:ext>
            </a:extLst>
          </p:cNvPr>
          <p:cNvSpPr txBox="1"/>
          <p:nvPr/>
        </p:nvSpPr>
        <p:spPr>
          <a:xfrm>
            <a:off x="160864" y="5638799"/>
            <a:ext cx="114471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Data_path</a:t>
            </a:r>
            <a:r>
              <a:rPr lang="en-US" altLang="ko-KR" dirty="0"/>
              <a:t>(</a:t>
            </a:r>
            <a:r>
              <a:rPr lang="ko-KR" altLang="en-US" dirty="0"/>
              <a:t>각 모듈의 </a:t>
            </a:r>
            <a:r>
              <a:rPr lang="en-US" altLang="ko-KR" dirty="0"/>
              <a:t>output port</a:t>
            </a:r>
            <a:r>
              <a:rPr lang="ko-KR" altLang="en-US" dirty="0"/>
              <a:t>를 그룹으로 묶은 이미지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S2: </a:t>
            </a:r>
            <a:r>
              <a:rPr lang="en-US" altLang="ko-KR" dirty="0" err="1"/>
              <a:t>O_aload</a:t>
            </a:r>
            <a:r>
              <a:rPr lang="en-US" altLang="ko-KR" dirty="0"/>
              <a:t> = 1, </a:t>
            </a:r>
            <a:r>
              <a:rPr lang="en-US" altLang="ko-KR" dirty="0" err="1"/>
              <a:t>O_src_sel</a:t>
            </a:r>
            <a:r>
              <a:rPr lang="en-US" altLang="ko-KR" dirty="0"/>
              <a:t> = 1</a:t>
            </a:r>
            <a:r>
              <a:rPr lang="ko-KR" altLang="en-US" dirty="0"/>
              <a:t>  이기 때문에 </a:t>
            </a:r>
            <a:r>
              <a:rPr lang="en-US" altLang="ko-KR" dirty="0"/>
              <a:t>A = 0 SUM_MUX = </a:t>
            </a:r>
            <a:r>
              <a:rPr lang="ko-KR" altLang="en-US" dirty="0"/>
              <a:t>상수</a:t>
            </a:r>
            <a:r>
              <a:rPr lang="en-US" altLang="ko-KR" dirty="0"/>
              <a:t>1</a:t>
            </a:r>
            <a:r>
              <a:rPr lang="ko-KR" altLang="en-US" dirty="0"/>
              <a:t>가 </a:t>
            </a:r>
            <a:r>
              <a:rPr lang="en-US" altLang="ko-KR" dirty="0"/>
              <a:t>ALU</a:t>
            </a:r>
            <a:r>
              <a:rPr lang="ko-KR" altLang="en-US" dirty="0"/>
              <a:t>의 합으로 </a:t>
            </a:r>
            <a:r>
              <a:rPr lang="ko-KR" altLang="en-US" dirty="0" err="1"/>
              <a:t>연산되어</a:t>
            </a:r>
            <a:r>
              <a:rPr lang="ko-KR" altLang="en-US" dirty="0"/>
              <a:t> </a:t>
            </a:r>
            <a:r>
              <a:rPr lang="en-US" altLang="ko-KR" dirty="0"/>
              <a:t>SRC_MUX</a:t>
            </a:r>
            <a:r>
              <a:rPr lang="ko-KR" altLang="en-US" dirty="0"/>
              <a:t>를 거쳐 </a:t>
            </a:r>
            <a:endParaRPr lang="en-US" altLang="ko-KR" dirty="0"/>
          </a:p>
          <a:p>
            <a:r>
              <a:rPr lang="en-US" altLang="ko-KR" dirty="0"/>
              <a:t>A_REG</a:t>
            </a:r>
            <a:r>
              <a:rPr lang="ko-KR" altLang="en-US" dirty="0" err="1"/>
              <a:t>에들어가는</a:t>
            </a:r>
            <a:r>
              <a:rPr lang="ko-KR" altLang="en-US" dirty="0"/>
              <a:t> 것을 확인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AA700E-33F3-A77D-8EAC-A9359836B1BE}"/>
              </a:ext>
            </a:extLst>
          </p:cNvPr>
          <p:cNvSpPr txBox="1"/>
          <p:nvPr/>
        </p:nvSpPr>
        <p:spPr>
          <a:xfrm>
            <a:off x="7715250" y="3966304"/>
            <a:ext cx="665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A=0</a:t>
            </a:r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757E3-2639-D5E6-2468-ED7691CA175C}"/>
              </a:ext>
            </a:extLst>
          </p:cNvPr>
          <p:cNvSpPr txBox="1"/>
          <p:nvPr/>
        </p:nvSpPr>
        <p:spPr>
          <a:xfrm>
            <a:off x="7784726" y="4910570"/>
            <a:ext cx="596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1</a:t>
            </a:r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05C32A-38FE-A06F-1EFA-11796C48848D}"/>
              </a:ext>
            </a:extLst>
          </p:cNvPr>
          <p:cNvSpPr txBox="1"/>
          <p:nvPr/>
        </p:nvSpPr>
        <p:spPr>
          <a:xfrm>
            <a:off x="7641664" y="5471746"/>
            <a:ext cx="714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0+ 1</a:t>
            </a:r>
            <a:endParaRPr lang="ko-KR" altLang="en-US" dirty="0">
              <a:highlight>
                <a:srgbClr val="FFFF00"/>
              </a:highlight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BFEF3002-EE3D-70A6-FA44-A97DF896C730}"/>
              </a:ext>
            </a:extLst>
          </p:cNvPr>
          <p:cNvCxnSpPr>
            <a:cxnSpLocks/>
          </p:cNvCxnSpPr>
          <p:nvPr/>
        </p:nvCxnSpPr>
        <p:spPr>
          <a:xfrm>
            <a:off x="8193740" y="3459895"/>
            <a:ext cx="244289" cy="416219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2D469964-760A-27C9-D32E-99348F0A972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692935" y="4122502"/>
            <a:ext cx="1862718" cy="537507"/>
          </a:xfrm>
          <a:prstGeom prst="bentConnector3">
            <a:avLst>
              <a:gd name="adj1" fmla="val 99451"/>
            </a:avLst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3161C1B-0B89-F7F3-5124-F6EF6D8276A9}"/>
              </a:ext>
            </a:extLst>
          </p:cNvPr>
          <p:cNvCxnSpPr>
            <a:cxnSpLocks/>
          </p:cNvCxnSpPr>
          <p:nvPr/>
        </p:nvCxnSpPr>
        <p:spPr>
          <a:xfrm>
            <a:off x="7355541" y="5322614"/>
            <a:ext cx="360082" cy="184666"/>
          </a:xfrm>
          <a:prstGeom prst="line">
            <a:avLst/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6346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D1F7C-427F-D9FF-5F49-5EFD89C2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0122711-2C9A-73DE-E9BE-E7156A059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9391"/>
            <a:ext cx="12192000" cy="423921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9BEBF70-84AC-8C49-C8A1-E2D676044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simulation</a:t>
            </a:r>
            <a:endParaRPr lang="ko-KR" altLang="en-US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EAC0266-4151-5DC4-BE3C-98EBAC74C31B}"/>
              </a:ext>
            </a:extLst>
          </p:cNvPr>
          <p:cNvGraphicFramePr>
            <a:graphicFrameLocks noGrp="1"/>
          </p:cNvGraphicFramePr>
          <p:nvPr/>
        </p:nvGraphicFramePr>
        <p:xfrm>
          <a:off x="7164294" y="0"/>
          <a:ext cx="5027706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951">
                  <a:extLst>
                    <a:ext uri="{9D8B030D-6E8A-4147-A177-3AD203B41FA5}">
                      <a16:colId xmlns:a16="http://schemas.microsoft.com/office/drawing/2014/main" val="3688659816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9106075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2852900162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810204028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5175893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2040134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IDLE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S4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347183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O_src_sel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6557906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O_aload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4266291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O_sumload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620255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O_out_sel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266656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5C30A3E-25C9-CB8C-C41A-73E02C9023E4}"/>
              </a:ext>
            </a:extLst>
          </p:cNvPr>
          <p:cNvSpPr txBox="1"/>
          <p:nvPr/>
        </p:nvSpPr>
        <p:spPr>
          <a:xfrm>
            <a:off x="160864" y="5638799"/>
            <a:ext cx="114471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Data_path</a:t>
            </a:r>
            <a:r>
              <a:rPr lang="en-US" altLang="ko-KR" dirty="0"/>
              <a:t>(</a:t>
            </a:r>
            <a:r>
              <a:rPr lang="ko-KR" altLang="en-US" dirty="0"/>
              <a:t>각 모듈의 </a:t>
            </a:r>
            <a:r>
              <a:rPr lang="en-US" altLang="ko-KR" dirty="0"/>
              <a:t>output port</a:t>
            </a:r>
            <a:r>
              <a:rPr lang="ko-KR" altLang="en-US" dirty="0"/>
              <a:t>를 그룹으로 묶은 이미지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S3: </a:t>
            </a:r>
            <a:r>
              <a:rPr lang="en-US" altLang="ko-KR" dirty="0" err="1"/>
              <a:t>O_aload</a:t>
            </a:r>
            <a:r>
              <a:rPr lang="en-US" altLang="ko-KR" dirty="0"/>
              <a:t> = 1, </a:t>
            </a:r>
            <a:r>
              <a:rPr lang="en-US" altLang="ko-KR" dirty="0" err="1"/>
              <a:t>O_sumload</a:t>
            </a:r>
            <a:r>
              <a:rPr lang="en-US" altLang="ko-KR" dirty="0"/>
              <a:t> = 1, </a:t>
            </a:r>
            <a:r>
              <a:rPr lang="en-US" altLang="ko-KR" dirty="0" err="1"/>
              <a:t>O_src_sel</a:t>
            </a:r>
            <a:r>
              <a:rPr lang="en-US" altLang="ko-KR" dirty="0"/>
              <a:t> = 1</a:t>
            </a:r>
            <a:r>
              <a:rPr lang="ko-KR" altLang="en-US" dirty="0"/>
              <a:t>  이기 때문에 </a:t>
            </a:r>
            <a:endParaRPr lang="en-US" altLang="ko-KR" dirty="0"/>
          </a:p>
          <a:p>
            <a:r>
              <a:rPr lang="en-US" altLang="ko-KR" dirty="0"/>
              <a:t>A = 0 SUM_MUX = 0(sum</a:t>
            </a:r>
            <a:r>
              <a:rPr lang="ko-KR" altLang="en-US" dirty="0"/>
              <a:t>값</a:t>
            </a:r>
            <a:r>
              <a:rPr lang="en-US" altLang="ko-KR" dirty="0"/>
              <a:t>)</a:t>
            </a:r>
            <a:r>
              <a:rPr lang="ko-KR" altLang="en-US" dirty="0"/>
              <a:t>이 </a:t>
            </a:r>
            <a:r>
              <a:rPr lang="en-US" altLang="ko-KR" dirty="0"/>
              <a:t>ALU</a:t>
            </a:r>
            <a:r>
              <a:rPr lang="ko-KR" altLang="en-US" dirty="0"/>
              <a:t>의 합으로 </a:t>
            </a:r>
            <a:r>
              <a:rPr lang="ko-KR" altLang="en-US" dirty="0" err="1"/>
              <a:t>연산되어</a:t>
            </a:r>
            <a:r>
              <a:rPr lang="ko-KR" altLang="en-US" dirty="0"/>
              <a:t> </a:t>
            </a:r>
            <a:r>
              <a:rPr lang="en-US" altLang="ko-KR" dirty="0"/>
              <a:t>SRC_MUX</a:t>
            </a:r>
            <a:r>
              <a:rPr lang="ko-KR" altLang="en-US" dirty="0"/>
              <a:t>를 거쳐</a:t>
            </a:r>
            <a:endParaRPr lang="en-US" altLang="ko-KR" dirty="0"/>
          </a:p>
          <a:p>
            <a:r>
              <a:rPr lang="en-US" altLang="ko-KR" dirty="0"/>
              <a:t>A_REG</a:t>
            </a:r>
            <a:r>
              <a:rPr lang="ko-KR" altLang="en-US" dirty="0" err="1"/>
              <a:t>에들어가는</a:t>
            </a:r>
            <a:r>
              <a:rPr lang="ko-KR" altLang="en-US" dirty="0"/>
              <a:t> 것을 확인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4DC921-6595-3B4C-C5DF-6F1EF999C724}"/>
              </a:ext>
            </a:extLst>
          </p:cNvPr>
          <p:cNvSpPr txBox="1"/>
          <p:nvPr/>
        </p:nvSpPr>
        <p:spPr>
          <a:xfrm>
            <a:off x="8193740" y="4942383"/>
            <a:ext cx="1137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Sum=0</a:t>
            </a:r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142F81-5104-FFE6-39C8-A95F18AC8633}"/>
              </a:ext>
            </a:extLst>
          </p:cNvPr>
          <p:cNvSpPr txBox="1"/>
          <p:nvPr/>
        </p:nvSpPr>
        <p:spPr>
          <a:xfrm>
            <a:off x="8193740" y="5356810"/>
            <a:ext cx="714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0+ 1</a:t>
            </a:r>
            <a:endParaRPr lang="ko-KR" altLang="en-US" dirty="0">
              <a:highlight>
                <a:srgbClr val="FFFF00"/>
              </a:highlight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7D214E1-5A66-4A6F-5673-F65147664588}"/>
              </a:ext>
            </a:extLst>
          </p:cNvPr>
          <p:cNvCxnSpPr>
            <a:cxnSpLocks/>
          </p:cNvCxnSpPr>
          <p:nvPr/>
        </p:nvCxnSpPr>
        <p:spPr>
          <a:xfrm>
            <a:off x="8684557" y="3503746"/>
            <a:ext cx="324972" cy="859825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FC784BC-B040-B974-2170-52AC2622707F}"/>
              </a:ext>
            </a:extLst>
          </p:cNvPr>
          <p:cNvSpPr txBox="1"/>
          <p:nvPr/>
        </p:nvSpPr>
        <p:spPr>
          <a:xfrm>
            <a:off x="8407771" y="4146639"/>
            <a:ext cx="781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A=1</a:t>
            </a:r>
            <a:endParaRPr lang="ko-KR" altLang="en-US" dirty="0">
              <a:highlight>
                <a:srgbClr val="FFFF00"/>
              </a:highlight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3AE07847-5BCC-4D25-F6F2-F602533D162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223645" y="4107592"/>
            <a:ext cx="1787972" cy="580280"/>
          </a:xfrm>
          <a:prstGeom prst="bentConnector3">
            <a:avLst>
              <a:gd name="adj1" fmla="val 50000"/>
            </a:avLst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256ABFE-C107-4129-0261-48E69F834B49}"/>
              </a:ext>
            </a:extLst>
          </p:cNvPr>
          <p:cNvCxnSpPr>
            <a:cxnSpLocks/>
          </p:cNvCxnSpPr>
          <p:nvPr/>
        </p:nvCxnSpPr>
        <p:spPr>
          <a:xfrm>
            <a:off x="7827493" y="5291718"/>
            <a:ext cx="360082" cy="184666"/>
          </a:xfrm>
          <a:prstGeom prst="line">
            <a:avLst/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5698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53920-1D19-E405-6C2C-83DD5118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398E38-B320-D937-7435-212BEF41A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simulation</a:t>
            </a:r>
            <a:endParaRPr lang="ko-KR" altLang="en-US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E8F6C8C-B97A-D50E-F25E-978F4FCD4F40}"/>
              </a:ext>
            </a:extLst>
          </p:cNvPr>
          <p:cNvGraphicFramePr>
            <a:graphicFrameLocks noGrp="1"/>
          </p:cNvGraphicFramePr>
          <p:nvPr/>
        </p:nvGraphicFramePr>
        <p:xfrm>
          <a:off x="7164294" y="0"/>
          <a:ext cx="5027706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951">
                  <a:extLst>
                    <a:ext uri="{9D8B030D-6E8A-4147-A177-3AD203B41FA5}">
                      <a16:colId xmlns:a16="http://schemas.microsoft.com/office/drawing/2014/main" val="3688659816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9106075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2852900162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810204028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1575175893"/>
                    </a:ext>
                  </a:extLst>
                </a:gridCol>
                <a:gridCol w="837951">
                  <a:extLst>
                    <a:ext uri="{9D8B030D-6E8A-4147-A177-3AD203B41FA5}">
                      <a16:colId xmlns:a16="http://schemas.microsoft.com/office/drawing/2014/main" val="32040134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IDLE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S4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347183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O_src_sel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6557906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O_aload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4266291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O_sumload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620255"/>
                  </a:ext>
                </a:extLst>
              </a:tr>
              <a:tr h="1626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O_out_sel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266656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64A130D4-478A-9929-AF63-A42412DC44E2}"/>
              </a:ext>
            </a:extLst>
          </p:cNvPr>
          <p:cNvSpPr txBox="1"/>
          <p:nvPr/>
        </p:nvSpPr>
        <p:spPr>
          <a:xfrm>
            <a:off x="160864" y="5638799"/>
            <a:ext cx="11447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Data_path</a:t>
            </a:r>
            <a:r>
              <a:rPr lang="en-US" altLang="ko-KR" dirty="0"/>
              <a:t>(</a:t>
            </a:r>
            <a:r>
              <a:rPr lang="ko-KR" altLang="en-US" dirty="0"/>
              <a:t>각 모듈의 </a:t>
            </a:r>
            <a:r>
              <a:rPr lang="en-US" altLang="ko-KR" dirty="0"/>
              <a:t>output port</a:t>
            </a:r>
            <a:r>
              <a:rPr lang="ko-KR" altLang="en-US" dirty="0"/>
              <a:t>를 그룹으로 묶은 이미지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S4: </a:t>
            </a:r>
            <a:r>
              <a:rPr lang="en-US" altLang="ko-KR" dirty="0" err="1"/>
              <a:t>o_out</a:t>
            </a:r>
            <a:r>
              <a:rPr lang="ko-KR" altLang="en-US" dirty="0"/>
              <a:t>은 </a:t>
            </a:r>
            <a:r>
              <a:rPr lang="en-US" altLang="ko-KR" dirty="0"/>
              <a:t>S4</a:t>
            </a:r>
            <a:r>
              <a:rPr lang="ko-KR" altLang="en-US" dirty="0"/>
              <a:t>에서만 출력하는 것을 확인 및 </a:t>
            </a:r>
            <a:endParaRPr lang="en-US" altLang="ko-KR" dirty="0"/>
          </a:p>
          <a:p>
            <a:r>
              <a:rPr lang="en-US" altLang="ko-KR" dirty="0"/>
              <a:t>55</a:t>
            </a:r>
            <a:r>
              <a:rPr lang="ko-KR" altLang="en-US" dirty="0"/>
              <a:t>값을 출력하는 것으로 정상적인 연산 값을 출력하는 것을 확인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C57B5BC-7498-4040-0F68-EB25EB228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79468"/>
            <a:ext cx="12192000" cy="309906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C509765E-A71E-A827-6E34-21BFF9C8C02D}"/>
              </a:ext>
            </a:extLst>
          </p:cNvPr>
          <p:cNvSpPr/>
          <p:nvPr/>
        </p:nvSpPr>
        <p:spPr>
          <a:xfrm>
            <a:off x="11427758" y="2732468"/>
            <a:ext cx="601382" cy="477371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9191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581</Words>
  <Application>Microsoft Office PowerPoint</Application>
  <PresentationFormat>와이드스크린</PresentationFormat>
  <Paragraphs>224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ALU Factorial</vt:lpstr>
      <vt:lpstr>1. C언어 설계</vt:lpstr>
      <vt:lpstr>2. DATAPATH 설계</vt:lpstr>
      <vt:lpstr>3. ASM 차트</vt:lpstr>
      <vt:lpstr>4. simulation</vt:lpstr>
      <vt:lpstr>4. simulation</vt:lpstr>
      <vt:lpstr>4. simulation</vt:lpstr>
      <vt:lpstr>4. simulation</vt:lpstr>
      <vt:lpstr>4. simulation</vt:lpstr>
      <vt:lpstr>4. simulation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준형 이</dc:creator>
  <cp:lastModifiedBy>준형 이</cp:lastModifiedBy>
  <cp:revision>1</cp:revision>
  <dcterms:created xsi:type="dcterms:W3CDTF">2026-03-05T13:56:16Z</dcterms:created>
  <dcterms:modified xsi:type="dcterms:W3CDTF">2026-03-05T16:05:01Z</dcterms:modified>
</cp:coreProperties>
</file>